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81" r:id="rId21"/>
    <p:sldId id="282" r:id="rId22"/>
    <p:sldId id="283" r:id="rId23"/>
    <p:sldId id="284" r:id="rId24"/>
    <p:sldId id="285" r:id="rId25"/>
    <p:sldId id="286" r:id="rId26"/>
    <p:sldId id="287" r:id="rId27"/>
    <p:sldId id="288" r:id="rId28"/>
    <p:sldId id="290" r:id="rId29"/>
    <p:sldId id="291" r:id="rId30"/>
    <p:sldId id="292" r:id="rId31"/>
    <p:sldId id="293" r:id="rId32"/>
    <p:sldId id="294" r:id="rId33"/>
    <p:sldId id="289" r:id="rId34"/>
    <p:sldId id="275" r:id="rId35"/>
    <p:sldId id="276" r:id="rId36"/>
    <p:sldId id="277" r:id="rId37"/>
    <p:sldId id="278" r:id="rId38"/>
    <p:sldId id="279" r:id="rId39"/>
    <p:sldId id="280" r:id="rId4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61830" autoAdjust="0"/>
  </p:normalViewPr>
  <p:slideViewPr>
    <p:cSldViewPr snapToGrid="0">
      <p:cViewPr varScale="1">
        <p:scale>
          <a:sx n="51" d="100"/>
          <a:sy n="51" d="100"/>
        </p:scale>
        <p:origin x="1877" y="29"/>
      </p:cViewPr>
      <p:guideLst/>
    </p:cSldViewPr>
  </p:slideViewPr>
  <p:notesTextViewPr>
    <p:cViewPr>
      <p:scale>
        <a:sx n="1" d="1"/>
        <a:sy n="1" d="1"/>
      </p:scale>
      <p:origin x="0" y="-317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H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F0C7A2B-4258-4842-ADBD-6F50B0998435}" type="datetimeFigureOut">
              <a:rPr lang="en-PH" smtClean="0"/>
              <a:t>13/03/2026</a:t>
            </a:fld>
            <a:endParaRPr lang="en-PH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PH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95E93F-2514-4B81-921C-6961CBA23D3B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8876260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bain.com/insights/customer-loyalty-in-retail-banking-2013/" TargetMode="External"/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Acquisition Cost (₱5,000 – ₱15,000 per client)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Bain &amp; Company —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Value of Customer Loyalty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(acquiring a new customer costs 5–25x more than retaining one)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General banking industry benchmark</a:t>
            </a:r>
          </a:p>
          <a:p>
            <a:r>
              <a:rPr lang="en-PH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Source</a:t>
            </a:r>
            <a:r>
              <a:rPr lang="en-PH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: </a:t>
            </a:r>
            <a:r>
              <a:rPr lang="en-PH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https://hbr.org/1990/09/zero-defections-quality-comes-to-services</a:t>
            </a: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PH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Customer Lifetime Value 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(₱30,000 – ₱60,000 CLV, ~₱9,000/yr net)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Source: https://www.bsp.gov.ph/Media_And_Research/FSR/FSR2024.pdf</a:t>
            </a: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b="1" dirty="0"/>
              <a:t>Net annual revenue per cardholder (</a:t>
            </a:r>
            <a:r>
              <a:rPr lang="en-PH" dirty="0"/>
              <a:t>~₱9,000 / yr)</a:t>
            </a:r>
            <a:endParaRPr lang="en-US" b="1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Source: https://www.bsp.gov.ph/Media_And_Research/Consumer%20Finance%20Survey/CFS_2021.pdf</a:t>
            </a: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Retention Program Success Rate (40%)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Bain &amp; Company — proactive retention interventions in financial services typically convert 30–50% of at-risk customers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₱6,950,000 net EV figure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was derived from the formula we built: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EV = (Predicted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Attriters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× Success Rate × CLV saved) − (Intervention Cost × Predicted 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Source: https://www.bain.com/insights/customer-loyalty-in-retail-banking-2013/</a:t>
            </a:r>
          </a:p>
          <a:p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95E93F-2514-4B81-921C-6961CBA23D3B}" type="slidenum">
              <a:rPr lang="en-PH" smtClean="0"/>
              <a:t>4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90001954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95E93F-2514-4B81-921C-6961CBA23D3B}" type="slidenum">
              <a:rPr lang="en-PH" smtClean="0"/>
              <a:t>8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9142830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rgbClr val="9E9E9E"/>
                </a:solidFill>
                <a:latin typeface="Arial" panose="020B0604020202020204" pitchFamily="34" charset="0"/>
              </a:rPr>
              <a:t>Three depth configurations tested  |  Purpose: find simple split rules</a:t>
            </a:r>
            <a:endParaRPr lang="en-PH" sz="1200" dirty="0">
              <a:solidFill>
                <a:srgbClr val="9E9E9E"/>
              </a:solidFill>
              <a:latin typeface="Arial" panose="020B0604020202020204" pitchFamily="34" charset="0"/>
            </a:endParaRPr>
          </a:p>
          <a:p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95E93F-2514-4B81-921C-6961CBA23D3B}" type="slidenum">
              <a:rPr lang="en-PH" smtClean="0"/>
              <a:t>36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94379939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rgbClr val="9E9E9E"/>
                </a:solidFill>
                <a:latin typeface="Arial" panose="020B0604020202020204" pitchFamily="34" charset="0"/>
              </a:rPr>
              <a:t>4,000 rounds with early stopping  |  </a:t>
            </a:r>
            <a:r>
              <a:rPr lang="en-US" sz="1200" dirty="0" err="1">
                <a:solidFill>
                  <a:srgbClr val="9E9E9E"/>
                </a:solidFill>
                <a:latin typeface="Arial" panose="020B0604020202020204" pitchFamily="34" charset="0"/>
              </a:rPr>
              <a:t>scale_pos_weight</a:t>
            </a:r>
            <a:r>
              <a:rPr lang="en-US" sz="1200" dirty="0">
                <a:solidFill>
                  <a:srgbClr val="9E9E9E"/>
                </a:solidFill>
                <a:latin typeface="Arial" panose="020B0604020202020204" pitchFamily="34" charset="0"/>
              </a:rPr>
              <a:t> = 19.14</a:t>
            </a:r>
            <a:endParaRPr lang="en-PH" sz="1200" dirty="0">
              <a:solidFill>
                <a:srgbClr val="9E9E9E"/>
              </a:solidFill>
              <a:latin typeface="Arial" panose="020B0604020202020204" pitchFamily="34" charset="0"/>
            </a:endParaRPr>
          </a:p>
          <a:p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95E93F-2514-4B81-921C-6961CBA23D3B}" type="slidenum">
              <a:rPr lang="en-PH" smtClean="0"/>
              <a:t>37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10559758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54015B-AB89-10F2-BBD9-BF5B228AADB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FBF86A6-2E2F-6140-F0AE-32004E3FFB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CBC78D-AA96-FC75-1359-C623E276F1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E25AAC-E67F-4BC5-ADA8-09D7F4F5F138}" type="datetimeFigureOut">
              <a:rPr lang="en-PH" smtClean="0"/>
              <a:t>13/03/2026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281E87-51C7-6DAD-9F1F-043B714E16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F55C23-0D8F-6CA6-5384-674DFB6741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1F820C-7A2C-4EF4-B3D3-59524D89D1A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3082726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B1BC4B-3625-4A8C-95C1-AFF19FC90E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445614-120A-CDC2-19B4-B02A61CE36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B97703-783F-90DC-8A4B-2CD140671E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E25AAC-E67F-4BC5-ADA8-09D7F4F5F138}" type="datetimeFigureOut">
              <a:rPr lang="en-PH" smtClean="0"/>
              <a:t>13/03/2026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778C01-4F8C-6364-8F83-03B3E8BE3D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EB38FF-BAE8-5722-D3D0-90B4222AF1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1F820C-7A2C-4EF4-B3D3-59524D89D1A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5943787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208719-A9A8-CF5A-B4BB-7DFD3475B2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C7686EC-EAA9-8043-E1A4-2476038CC9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E09951-48CE-0E6B-A88C-8074A3710F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E25AAC-E67F-4BC5-ADA8-09D7F4F5F138}" type="datetimeFigureOut">
              <a:rPr lang="en-PH" smtClean="0"/>
              <a:t>13/03/2026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1F8D3A-6BA8-D3E7-4188-91B3A0393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2D5667-E787-B1DF-21EA-73A57873DF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1F820C-7A2C-4EF4-B3D3-59524D89D1A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0806448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EDC2F1-4156-1128-C51F-1F9FB09C53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A8DB7D-A73E-B22E-10BB-5CF5E9DDA01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63AEBF-A32A-5F42-E28D-186790C5814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B533B5A-4BB6-D7ED-61FC-1D267931C0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E25AAC-E67F-4BC5-ADA8-09D7F4F5F138}" type="datetimeFigureOut">
              <a:rPr lang="en-PH" smtClean="0"/>
              <a:t>13/03/2026</a:t>
            </a:fld>
            <a:endParaRPr lang="en-P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1E3541C-270B-F40E-23AD-7BB8191406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3875A11-6A89-C219-6E07-99FDA1C8AB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1F820C-7A2C-4EF4-B3D3-59524D89D1A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6448765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CFF9F5-9DDC-26BC-DAA1-F4CDEC9ADF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233504-6A46-3D78-1C21-C86B286D31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8E6FA5A-3D74-4A40-470E-BA2B6014FBD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67D7DE7-F8C1-E444-66DD-46EBC687C1D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FA8791E-C37C-7C90-16AF-E5556674C06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1D6F40A-5731-B339-9A1A-47CDA36482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E25AAC-E67F-4BC5-ADA8-09D7F4F5F138}" type="datetimeFigureOut">
              <a:rPr lang="en-PH" smtClean="0"/>
              <a:t>13/03/2026</a:t>
            </a:fld>
            <a:endParaRPr lang="en-PH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DEB6CDA-2BDE-68C9-804B-D4AA6A534E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6A0ABA9-316E-53C9-8102-5F98A7585F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1F820C-7A2C-4EF4-B3D3-59524D89D1A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8038664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5859BC-7DAE-DC52-23DF-B8F17645DC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2E1E60F-2551-13FF-2977-9C0256CECC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E25AAC-E67F-4BC5-ADA8-09D7F4F5F138}" type="datetimeFigureOut">
              <a:rPr lang="en-PH" smtClean="0"/>
              <a:t>13/03/2026</a:t>
            </a:fld>
            <a:endParaRPr lang="en-P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83EEE19-48E0-46A1-6D77-EDF9DDC29D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DDE6048-D145-5013-1C18-421A447771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1F820C-7A2C-4EF4-B3D3-59524D89D1A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3062952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5C2F06E-E787-F8EC-B085-0445B3B66B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E25AAC-E67F-4BC5-ADA8-09D7F4F5F138}" type="datetimeFigureOut">
              <a:rPr lang="en-PH" smtClean="0"/>
              <a:t>13/03/2026</a:t>
            </a:fld>
            <a:endParaRPr lang="en-PH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4B31E9F-3F36-8A42-0B36-135E086000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A74BCB-4BBD-1B08-076A-4F1A04EA51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1F820C-7A2C-4EF4-B3D3-59524D89D1A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2615602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978786-5263-36B0-91F9-0F0E8FACE3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AE16FE-297F-7FFE-BBDD-3A1A46E101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034ECBF-5596-48DF-F32A-F3C0DA9ABA9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23F3503-1C97-4ED5-E1B8-8F45AB6803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E25AAC-E67F-4BC5-ADA8-09D7F4F5F138}" type="datetimeFigureOut">
              <a:rPr lang="en-PH" smtClean="0"/>
              <a:t>13/03/2026</a:t>
            </a:fld>
            <a:endParaRPr lang="en-P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D7AD452-5984-C5BA-5E8E-ECE2DF29E3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FD6653A-EC78-1797-8B4D-FAF9843359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1F820C-7A2C-4EF4-B3D3-59524D89D1A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3117415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590163-88FC-44E9-C1AE-742D28C8D4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A0105A8-B5A3-5C78-45FA-8B0924198F5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P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EC89FF7-42D5-735E-3EAC-89B146839D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5FDAE8-C25A-BF99-8E09-5FDBDCCB92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E25AAC-E67F-4BC5-ADA8-09D7F4F5F138}" type="datetimeFigureOut">
              <a:rPr lang="en-PH" smtClean="0"/>
              <a:t>13/03/2026</a:t>
            </a:fld>
            <a:endParaRPr lang="en-P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443C2F-7522-A24F-4E79-6CF321F607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591A4A8-115D-DB65-D1B9-3765C05FC9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1F820C-7A2C-4EF4-B3D3-59524D89D1A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2878498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8D723F-7E93-1F12-F1CC-6AF6D15A49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794E325-39BA-331B-31D7-582A2D7002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951E37-6961-5336-22DD-A6FB58DD3C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E25AAC-E67F-4BC5-ADA8-09D7F4F5F138}" type="datetimeFigureOut">
              <a:rPr lang="en-PH" smtClean="0"/>
              <a:t>13/03/2026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AD3EF1-1065-0FAE-DC84-C90124855F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818B10-6914-4C2D-D9F5-AB17011C6E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1F820C-7A2C-4EF4-B3D3-59524D89D1A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1144379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B37BCD2-8511-5F07-E281-C8DD1928890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9D258F1-DF1D-5EBF-D02E-1BB24B250D3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C0ABED-6654-E696-A82C-76D71993DA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E25AAC-E67F-4BC5-ADA8-09D7F4F5F138}" type="datetimeFigureOut">
              <a:rPr lang="en-PH" smtClean="0"/>
              <a:t>13/03/2026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723E25-A2DA-F2E5-BABB-137E73B412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5466C3-D725-52A0-744B-7748E4EE0E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1F820C-7A2C-4EF4-B3D3-59524D89D1A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9595809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2DD285D-8AD3-FFB7-7C4E-C1108011F4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D9D123C-0759-66EC-6B6C-26F96A4BFB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C3A276-B6CC-8B9B-9E84-4D1B4E9C8CD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1E25AAC-E67F-4BC5-ADA8-09D7F4F5F138}" type="datetimeFigureOut">
              <a:rPr lang="en-PH" smtClean="0"/>
              <a:t>13/03/2026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4165A5-E39F-46A8-FF85-14844B75121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37A089-D9B8-1319-1791-AA1244A1D5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61F820C-7A2C-4EF4-B3D3-59524D89D1A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347482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A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C732303-6ACD-CA59-1E53-C8BB13A6DFC1}"/>
              </a:ext>
            </a:extLst>
          </p:cNvPr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F0824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1A73BDE-36C8-2C4D-496E-E3B72373213B}"/>
              </a:ext>
            </a:extLst>
          </p:cNvPr>
          <p:cNvSpPr/>
          <p:nvPr/>
        </p:nvSpPr>
        <p:spPr>
          <a:xfrm>
            <a:off x="457200" y="2377440"/>
            <a:ext cx="4114800" cy="9144"/>
          </a:xfrm>
          <a:prstGeom prst="rect">
            <a:avLst/>
          </a:prstGeom>
          <a:solidFill>
            <a:srgbClr val="F0824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7B70225-555C-DCD6-3F41-B69CD7AC5846}"/>
              </a:ext>
            </a:extLst>
          </p:cNvPr>
          <p:cNvSpPr/>
          <p:nvPr/>
        </p:nvSpPr>
        <p:spPr>
          <a:xfrm>
            <a:off x="457200" y="4754880"/>
            <a:ext cx="2743200" cy="9144"/>
          </a:xfrm>
          <a:prstGeom prst="rect">
            <a:avLst/>
          </a:prstGeom>
          <a:solidFill>
            <a:srgbClr val="F0824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84AF05D-EBC4-F4DD-3870-57E5DD6961A0}"/>
              </a:ext>
            </a:extLst>
          </p:cNvPr>
          <p:cNvSpPr txBox="1"/>
          <p:nvPr/>
        </p:nvSpPr>
        <p:spPr>
          <a:xfrm>
            <a:off x="731520" y="1097280"/>
            <a:ext cx="9144000" cy="83099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4800" b="1">
                <a:solidFill>
                  <a:srgbClr val="FFFFFF"/>
                </a:solidFill>
                <a:latin typeface="Arial" panose="020B0604020202020204" pitchFamily="34" charset="0"/>
              </a:rPr>
              <a:t>CREDIT CARD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0E18455-D882-EA9D-B306-ABDD44E9D78E}"/>
              </a:ext>
            </a:extLst>
          </p:cNvPr>
          <p:cNvSpPr txBox="1"/>
          <p:nvPr/>
        </p:nvSpPr>
        <p:spPr>
          <a:xfrm>
            <a:off x="731520" y="1691640"/>
            <a:ext cx="9144000" cy="83099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4800" b="1">
                <a:solidFill>
                  <a:srgbClr val="F08248"/>
                </a:solidFill>
                <a:latin typeface="Arial" panose="020B0604020202020204" pitchFamily="34" charset="0"/>
              </a:rPr>
              <a:t>CUSTOMER ATTRITION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10008F7-81DE-E67A-CE3B-52C7AC358EB8}"/>
              </a:ext>
            </a:extLst>
          </p:cNvPr>
          <p:cNvSpPr txBox="1"/>
          <p:nvPr/>
        </p:nvSpPr>
        <p:spPr>
          <a:xfrm>
            <a:off x="731520" y="2606040"/>
            <a:ext cx="7315200" cy="43088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2200">
                <a:solidFill>
                  <a:srgbClr val="C8DCFC"/>
                </a:solidFill>
                <a:latin typeface="Arial" panose="020B0604020202020204" pitchFamily="34" charset="0"/>
              </a:rPr>
              <a:t>Predictive Modeling &amp; Analysis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5A75882-065B-6BA2-653F-7486670C9C9C}"/>
              </a:ext>
            </a:extLst>
          </p:cNvPr>
          <p:cNvSpPr txBox="1"/>
          <p:nvPr/>
        </p:nvSpPr>
        <p:spPr>
          <a:xfrm>
            <a:off x="914400" y="3931920"/>
            <a:ext cx="2286000" cy="646331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3600" b="1">
                <a:solidFill>
                  <a:srgbClr val="F08248"/>
                </a:solidFill>
                <a:latin typeface="Arial" panose="020B0604020202020204" pitchFamily="34" charset="0"/>
              </a:rPr>
              <a:t>100K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8932428-0242-EF97-BB95-69BC80119391}"/>
              </a:ext>
            </a:extLst>
          </p:cNvPr>
          <p:cNvSpPr txBox="1"/>
          <p:nvPr/>
        </p:nvSpPr>
        <p:spPr>
          <a:xfrm>
            <a:off x="914400" y="4434840"/>
            <a:ext cx="2286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1200">
                <a:solidFill>
                  <a:srgbClr val="9E9E9E"/>
                </a:solidFill>
                <a:latin typeface="Arial" panose="020B0604020202020204" pitchFamily="34" charset="0"/>
              </a:rPr>
              <a:t>Customer Records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F763818-2B81-54CE-8DC5-381E0A61C8B0}"/>
              </a:ext>
            </a:extLst>
          </p:cNvPr>
          <p:cNvSpPr txBox="1"/>
          <p:nvPr/>
        </p:nvSpPr>
        <p:spPr>
          <a:xfrm>
            <a:off x="3474720" y="3931920"/>
            <a:ext cx="2286000" cy="646331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3600" b="1">
                <a:solidFill>
                  <a:srgbClr val="F08248"/>
                </a:solidFill>
                <a:latin typeface="Arial" panose="020B0604020202020204" pitchFamily="34" charset="0"/>
              </a:rPr>
              <a:t>13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D71FC2B-A975-C6E6-C954-703FA7C499E8}"/>
              </a:ext>
            </a:extLst>
          </p:cNvPr>
          <p:cNvSpPr txBox="1"/>
          <p:nvPr/>
        </p:nvSpPr>
        <p:spPr>
          <a:xfrm>
            <a:off x="3474720" y="4434840"/>
            <a:ext cx="2286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1200">
                <a:solidFill>
                  <a:srgbClr val="9E9E9E"/>
                </a:solidFill>
                <a:latin typeface="Arial" panose="020B0604020202020204" pitchFamily="34" charset="0"/>
              </a:rPr>
              <a:t>Core Features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03F8A1C-6E21-50EA-60E6-1CE135FF1E8C}"/>
              </a:ext>
            </a:extLst>
          </p:cNvPr>
          <p:cNvSpPr txBox="1"/>
          <p:nvPr/>
        </p:nvSpPr>
        <p:spPr>
          <a:xfrm>
            <a:off x="6035040" y="3931920"/>
            <a:ext cx="2286000" cy="646331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3600" b="1">
                <a:solidFill>
                  <a:srgbClr val="F08248"/>
                </a:solidFill>
                <a:latin typeface="Arial" panose="020B0604020202020204" pitchFamily="34" charset="0"/>
              </a:rPr>
              <a:t>~5%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4322AE6-CF1B-DE83-3A69-567904B10160}"/>
              </a:ext>
            </a:extLst>
          </p:cNvPr>
          <p:cNvSpPr txBox="1"/>
          <p:nvPr/>
        </p:nvSpPr>
        <p:spPr>
          <a:xfrm>
            <a:off x="6035040" y="4434840"/>
            <a:ext cx="2286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1200">
                <a:solidFill>
                  <a:srgbClr val="9E9E9E"/>
                </a:solidFill>
                <a:latin typeface="Arial" panose="020B0604020202020204" pitchFamily="34" charset="0"/>
              </a:rPr>
              <a:t>Churn Rate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423E857-49A3-0812-A260-5C686D04BDBD}"/>
              </a:ext>
            </a:extLst>
          </p:cNvPr>
          <p:cNvSpPr txBox="1"/>
          <p:nvPr/>
        </p:nvSpPr>
        <p:spPr>
          <a:xfrm>
            <a:off x="8595360" y="3931920"/>
            <a:ext cx="2286000" cy="646331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3600" b="1">
                <a:solidFill>
                  <a:srgbClr val="F08248"/>
                </a:solidFill>
                <a:latin typeface="Arial" panose="020B0604020202020204" pitchFamily="34" charset="0"/>
              </a:rPr>
              <a:t>0.05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167A5EB-0A2F-FA9E-4CA3-4EFF94F80937}"/>
              </a:ext>
            </a:extLst>
          </p:cNvPr>
          <p:cNvSpPr txBox="1"/>
          <p:nvPr/>
        </p:nvSpPr>
        <p:spPr>
          <a:xfrm>
            <a:off x="8595360" y="4434840"/>
            <a:ext cx="2286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1200">
                <a:solidFill>
                  <a:srgbClr val="9E9E9E"/>
                </a:solidFill>
                <a:latin typeface="Arial" panose="020B0604020202020204" pitchFamily="34" charset="0"/>
              </a:rPr>
              <a:t>Best PR-AUC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10DD29B-BC6C-44AC-1A9F-BDDCEDAFE3E2}"/>
              </a:ext>
            </a:extLst>
          </p:cNvPr>
          <p:cNvSpPr txBox="1"/>
          <p:nvPr/>
        </p:nvSpPr>
        <p:spPr>
          <a:xfrm>
            <a:off x="731520" y="6217920"/>
            <a:ext cx="5486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200" dirty="0">
                <a:solidFill>
                  <a:srgbClr val="9E9E9E"/>
                </a:solidFill>
                <a:latin typeface="Arial" panose="020B0604020202020204" pitchFamily="34" charset="0"/>
              </a:rPr>
              <a:t>Copino, Roland D. | UBP Data Science Applicant</a:t>
            </a:r>
          </a:p>
        </p:txBody>
      </p:sp>
    </p:spTree>
    <p:extLst>
      <p:ext uri="{BB962C8B-B14F-4D97-AF65-F5344CB8AC3E}">
        <p14:creationId xmlns:p14="http://schemas.microsoft.com/office/powerpoint/2010/main" val="24783767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A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7649C45-F6A0-95AE-7E57-AED239DECB35}"/>
              </a:ext>
            </a:extLst>
          </p:cNvPr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F0824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AC88CE6-926E-A38B-04A2-9B16FB4CFBA5}"/>
              </a:ext>
            </a:extLst>
          </p:cNvPr>
          <p:cNvSpPr txBox="1"/>
          <p:nvPr/>
        </p:nvSpPr>
        <p:spPr>
          <a:xfrm>
            <a:off x="731520" y="762765"/>
            <a:ext cx="9144000" cy="58477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3200" b="1" dirty="0">
                <a:solidFill>
                  <a:srgbClr val="FFFFFF"/>
                </a:solidFill>
                <a:latin typeface="Arial" panose="020B0604020202020204" pitchFamily="34" charset="0"/>
              </a:rPr>
              <a:t>OUTLINE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8DB2A8A9-D245-E1E0-56B7-BCD3275D3329}"/>
              </a:ext>
            </a:extLst>
          </p:cNvPr>
          <p:cNvSpPr/>
          <p:nvPr/>
        </p:nvSpPr>
        <p:spPr>
          <a:xfrm>
            <a:off x="731520" y="1786231"/>
            <a:ext cx="10515600" cy="731520"/>
          </a:xfrm>
          <a:prstGeom prst="roundRect">
            <a:avLst>
              <a:gd name="adj" fmla="val 6000"/>
            </a:avLst>
          </a:prstGeom>
          <a:solidFill>
            <a:srgbClr val="283A4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E8674C6-6169-18CD-7C8F-C909D2500C44}"/>
              </a:ext>
            </a:extLst>
          </p:cNvPr>
          <p:cNvSpPr txBox="1"/>
          <p:nvPr/>
        </p:nvSpPr>
        <p:spPr>
          <a:xfrm>
            <a:off x="1005840" y="1877671"/>
            <a:ext cx="731520" cy="46166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2400" b="1">
                <a:solidFill>
                  <a:srgbClr val="F08248"/>
                </a:solidFill>
                <a:latin typeface="Arial" panose="020B0604020202020204" pitchFamily="34" charset="0"/>
              </a:rPr>
              <a:t>01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30C6F04-1B50-D091-F11F-FCACDD64F966}"/>
              </a:ext>
            </a:extLst>
          </p:cNvPr>
          <p:cNvSpPr txBox="1"/>
          <p:nvPr/>
        </p:nvSpPr>
        <p:spPr>
          <a:xfrm>
            <a:off x="1920240" y="1831951"/>
            <a:ext cx="4572000" cy="338554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600" b="1">
                <a:solidFill>
                  <a:srgbClr val="FFFFFF"/>
                </a:solidFill>
                <a:latin typeface="Arial" panose="020B0604020202020204" pitchFamily="34" charset="0"/>
              </a:rPr>
              <a:t>Statistical Analysis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F012981-F1D0-E41A-2302-2FE558BD32C9}"/>
              </a:ext>
            </a:extLst>
          </p:cNvPr>
          <p:cNvSpPr txBox="1"/>
          <p:nvPr/>
        </p:nvSpPr>
        <p:spPr>
          <a:xfrm>
            <a:off x="1920240" y="2170279"/>
            <a:ext cx="64008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it-IT" sz="1200" dirty="0">
                <a:solidFill>
                  <a:srgbClr val="9E9E9E"/>
                </a:solidFill>
                <a:latin typeface="Arial" panose="020B0604020202020204" pitchFamily="34" charset="0"/>
              </a:rPr>
              <a:t>Univariate, Bivariate, Multivariate, Significance Tests</a:t>
            </a:r>
            <a:endParaRPr lang="en-PH" sz="1200" dirty="0">
              <a:solidFill>
                <a:srgbClr val="9E9E9E"/>
              </a:solidFill>
              <a:latin typeface="Arial" panose="020B0604020202020204" pitchFamily="34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25E542A-21DB-25EE-F48C-677B4919A2B6}"/>
              </a:ext>
            </a:extLst>
          </p:cNvPr>
          <p:cNvSpPr/>
          <p:nvPr/>
        </p:nvSpPr>
        <p:spPr>
          <a:xfrm>
            <a:off x="731520" y="2654911"/>
            <a:ext cx="10515600" cy="731520"/>
          </a:xfrm>
          <a:prstGeom prst="roundRect">
            <a:avLst>
              <a:gd name="adj" fmla="val 6000"/>
            </a:avLst>
          </a:prstGeom>
          <a:solidFill>
            <a:srgbClr val="283A4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D2EFB0D-C8F2-B9C8-A6DA-97E9EB50D9C7}"/>
              </a:ext>
            </a:extLst>
          </p:cNvPr>
          <p:cNvSpPr txBox="1"/>
          <p:nvPr/>
        </p:nvSpPr>
        <p:spPr>
          <a:xfrm>
            <a:off x="1005840" y="2746351"/>
            <a:ext cx="731520" cy="46166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2400" b="1">
                <a:solidFill>
                  <a:srgbClr val="F08248"/>
                </a:solidFill>
                <a:latin typeface="Arial" panose="020B0604020202020204" pitchFamily="34" charset="0"/>
              </a:rPr>
              <a:t>02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CB4E6C9-5431-02BC-15C7-B6DDE43FCB45}"/>
              </a:ext>
            </a:extLst>
          </p:cNvPr>
          <p:cNvSpPr txBox="1"/>
          <p:nvPr/>
        </p:nvSpPr>
        <p:spPr>
          <a:xfrm>
            <a:off x="1920240" y="2700631"/>
            <a:ext cx="4572000" cy="338554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600" b="1">
                <a:solidFill>
                  <a:srgbClr val="FFFFFF"/>
                </a:solidFill>
                <a:latin typeface="Arial" panose="020B0604020202020204" pitchFamily="34" charset="0"/>
              </a:rPr>
              <a:t>Exploratory Data Analysis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61A4E35-1944-8DA2-8165-F63FAA658EC2}"/>
              </a:ext>
            </a:extLst>
          </p:cNvPr>
          <p:cNvSpPr txBox="1"/>
          <p:nvPr/>
        </p:nvSpPr>
        <p:spPr>
          <a:xfrm>
            <a:off x="1920240" y="3038959"/>
            <a:ext cx="64008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200">
                <a:solidFill>
                  <a:srgbClr val="9E9E9E"/>
                </a:solidFill>
                <a:latin typeface="Arial" panose="020B0604020202020204" pitchFamily="34" charset="0"/>
              </a:rPr>
              <a:t>Behavioral, Lifecycle, Demographic, Geographic deep-dive</a:t>
            </a:r>
            <a:endParaRPr lang="en-PH" sz="1200">
              <a:solidFill>
                <a:srgbClr val="9E9E9E"/>
              </a:solidFill>
              <a:latin typeface="Arial" panose="020B0604020202020204" pitchFamily="34" charset="0"/>
            </a:endParaRP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7C6BD3B4-4815-7D7B-6C41-24B1AF584179}"/>
              </a:ext>
            </a:extLst>
          </p:cNvPr>
          <p:cNvSpPr/>
          <p:nvPr/>
        </p:nvSpPr>
        <p:spPr>
          <a:xfrm>
            <a:off x="731520" y="3523591"/>
            <a:ext cx="10515600" cy="731520"/>
          </a:xfrm>
          <a:prstGeom prst="roundRect">
            <a:avLst>
              <a:gd name="adj" fmla="val 6000"/>
            </a:avLst>
          </a:prstGeom>
          <a:solidFill>
            <a:srgbClr val="283A4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729303B-9D12-53B2-B43A-E868801E6F9F}"/>
              </a:ext>
            </a:extLst>
          </p:cNvPr>
          <p:cNvSpPr txBox="1"/>
          <p:nvPr/>
        </p:nvSpPr>
        <p:spPr>
          <a:xfrm>
            <a:off x="1005840" y="3615031"/>
            <a:ext cx="731520" cy="46166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2400" b="1" dirty="0">
                <a:solidFill>
                  <a:srgbClr val="F08248"/>
                </a:solidFill>
                <a:latin typeface="Arial" panose="020B0604020202020204" pitchFamily="34" charset="0"/>
              </a:rPr>
              <a:t>03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3FD6226-E145-26F6-D2D6-DFA805B8DDD1}"/>
              </a:ext>
            </a:extLst>
          </p:cNvPr>
          <p:cNvSpPr txBox="1"/>
          <p:nvPr/>
        </p:nvSpPr>
        <p:spPr>
          <a:xfrm>
            <a:off x="1920240" y="3569311"/>
            <a:ext cx="4572000" cy="338554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600" b="1">
                <a:solidFill>
                  <a:srgbClr val="FFFFFF"/>
                </a:solidFill>
                <a:latin typeface="Arial" panose="020B0604020202020204" pitchFamily="34" charset="0"/>
              </a:rPr>
              <a:t>Pre-processing Pipeline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5F6648D-9F10-1204-8A5D-B5273469CB9D}"/>
              </a:ext>
            </a:extLst>
          </p:cNvPr>
          <p:cNvSpPr txBox="1"/>
          <p:nvPr/>
        </p:nvSpPr>
        <p:spPr>
          <a:xfrm>
            <a:off x="1920240" y="3907639"/>
            <a:ext cx="64008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200">
                <a:solidFill>
                  <a:srgbClr val="9E9E9E"/>
                </a:solidFill>
                <a:latin typeface="Arial" panose="020B0604020202020204" pitchFamily="34" charset="0"/>
              </a:rPr>
              <a:t>Three model-specific data tables, shared split</a:t>
            </a:r>
            <a:endParaRPr lang="en-PH" sz="1200">
              <a:solidFill>
                <a:srgbClr val="9E9E9E"/>
              </a:solidFill>
              <a:latin typeface="Arial" panose="020B0604020202020204" pitchFamily="34" charset="0"/>
            </a:endParaRP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C1B10854-DFD5-94E8-4386-F0CBD0653319}"/>
              </a:ext>
            </a:extLst>
          </p:cNvPr>
          <p:cNvSpPr/>
          <p:nvPr/>
        </p:nvSpPr>
        <p:spPr>
          <a:xfrm>
            <a:off x="731520" y="4392271"/>
            <a:ext cx="10515600" cy="731520"/>
          </a:xfrm>
          <a:prstGeom prst="roundRect">
            <a:avLst>
              <a:gd name="adj" fmla="val 6000"/>
            </a:avLst>
          </a:prstGeom>
          <a:solidFill>
            <a:srgbClr val="283A4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C7A4791-EED5-1AA8-19E7-2FE86FFB31B7}"/>
              </a:ext>
            </a:extLst>
          </p:cNvPr>
          <p:cNvSpPr txBox="1"/>
          <p:nvPr/>
        </p:nvSpPr>
        <p:spPr>
          <a:xfrm>
            <a:off x="1005840" y="4483711"/>
            <a:ext cx="731520" cy="46166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400" b="1" dirty="0">
                <a:solidFill>
                  <a:srgbClr val="F08248"/>
                </a:solidFill>
                <a:latin typeface="Arial" panose="020B0604020202020204" pitchFamily="34" charset="0"/>
              </a:rPr>
              <a:t>0</a:t>
            </a:r>
            <a:r>
              <a:rPr lang="en-PH" sz="2400" b="1" dirty="0">
                <a:solidFill>
                  <a:srgbClr val="F08248"/>
                </a:solidFill>
                <a:latin typeface="Arial" panose="020B0604020202020204" pitchFamily="34" charset="0"/>
              </a:rPr>
              <a:t>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BC050F5-DF0D-92A5-16B7-FBDD38220D56}"/>
              </a:ext>
            </a:extLst>
          </p:cNvPr>
          <p:cNvSpPr txBox="1"/>
          <p:nvPr/>
        </p:nvSpPr>
        <p:spPr>
          <a:xfrm>
            <a:off x="1920240" y="4437991"/>
            <a:ext cx="4572000" cy="338554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600" b="1">
                <a:solidFill>
                  <a:srgbClr val="FFFFFF"/>
                </a:solidFill>
                <a:latin typeface="Arial" panose="020B0604020202020204" pitchFamily="34" charset="0"/>
              </a:rPr>
              <a:t>Model Development &amp; Evaluation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D2DFFEA-F0CE-9338-8735-240D2A0C3ACC}"/>
              </a:ext>
            </a:extLst>
          </p:cNvPr>
          <p:cNvSpPr txBox="1"/>
          <p:nvPr/>
        </p:nvSpPr>
        <p:spPr>
          <a:xfrm>
            <a:off x="1920240" y="4776319"/>
            <a:ext cx="64008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200" dirty="0">
                <a:solidFill>
                  <a:srgbClr val="9E9E9E"/>
                </a:solidFill>
                <a:latin typeface="Arial" panose="020B0604020202020204" pitchFamily="34" charset="0"/>
              </a:rPr>
              <a:t>LR, EBM, </a:t>
            </a:r>
            <a:r>
              <a:rPr lang="en-US" sz="1200" dirty="0" err="1">
                <a:solidFill>
                  <a:srgbClr val="9E9E9E"/>
                </a:solidFill>
                <a:latin typeface="Arial" panose="020B0604020202020204" pitchFamily="34" charset="0"/>
              </a:rPr>
              <a:t>XGBoost</a:t>
            </a:r>
            <a:endParaRPr lang="en-PH" sz="1200" dirty="0">
              <a:solidFill>
                <a:srgbClr val="9E9E9E"/>
              </a:solidFill>
              <a:latin typeface="Arial" panose="020B0604020202020204" pitchFamily="34" charset="0"/>
            </a:endParaRP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58EAA754-6D6B-2E85-DC9F-92765AC94B99}"/>
              </a:ext>
            </a:extLst>
          </p:cNvPr>
          <p:cNvSpPr/>
          <p:nvPr/>
        </p:nvSpPr>
        <p:spPr>
          <a:xfrm>
            <a:off x="731520" y="5260951"/>
            <a:ext cx="10515600" cy="731520"/>
          </a:xfrm>
          <a:prstGeom prst="roundRect">
            <a:avLst>
              <a:gd name="adj" fmla="val 6000"/>
            </a:avLst>
          </a:prstGeom>
          <a:solidFill>
            <a:srgbClr val="283A4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327444A-2F0B-9D59-E220-0C86AA982D61}"/>
              </a:ext>
            </a:extLst>
          </p:cNvPr>
          <p:cNvSpPr txBox="1"/>
          <p:nvPr/>
        </p:nvSpPr>
        <p:spPr>
          <a:xfrm>
            <a:off x="1005840" y="5352391"/>
            <a:ext cx="731520" cy="46166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2400" b="1" dirty="0">
                <a:solidFill>
                  <a:srgbClr val="F08248"/>
                </a:solidFill>
                <a:latin typeface="Arial" panose="020B0604020202020204" pitchFamily="34" charset="0"/>
              </a:rPr>
              <a:t>05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2078290-0CB1-E86B-CE87-0945DA39BE06}"/>
              </a:ext>
            </a:extLst>
          </p:cNvPr>
          <p:cNvSpPr txBox="1"/>
          <p:nvPr/>
        </p:nvSpPr>
        <p:spPr>
          <a:xfrm>
            <a:off x="1920240" y="5306671"/>
            <a:ext cx="4572000" cy="338554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600" b="1">
                <a:solidFill>
                  <a:srgbClr val="FFFFFF"/>
                </a:solidFill>
                <a:latin typeface="Arial" panose="020B0604020202020204" pitchFamily="34" charset="0"/>
              </a:rPr>
              <a:t>Production Pipeline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9CCCF41-18C8-C914-53C8-B71FE1CFFAA9}"/>
              </a:ext>
            </a:extLst>
          </p:cNvPr>
          <p:cNvSpPr txBox="1"/>
          <p:nvPr/>
        </p:nvSpPr>
        <p:spPr>
          <a:xfrm>
            <a:off x="1920240" y="5644999"/>
            <a:ext cx="64008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200">
                <a:solidFill>
                  <a:srgbClr val="9E9E9E"/>
                </a:solidFill>
                <a:latin typeface="Arial" panose="020B0604020202020204" pitchFamily="34" charset="0"/>
              </a:rPr>
              <a:t>FastAPI, PSI Drift Monitoring, Rule-Based Recommender, Docker</a:t>
            </a:r>
          </a:p>
        </p:txBody>
      </p:sp>
    </p:spTree>
    <p:extLst>
      <p:ext uri="{BB962C8B-B14F-4D97-AF65-F5344CB8AC3E}">
        <p14:creationId xmlns:p14="http://schemas.microsoft.com/office/powerpoint/2010/main" val="37780250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5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EB18D48-46EA-0A8E-77C5-3B7FB36B46CC}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824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E1E158B-4D06-9590-E835-EF90F910FECB}"/>
              </a:ext>
            </a:extLst>
          </p:cNvPr>
          <p:cNvSpPr txBox="1"/>
          <p:nvPr/>
        </p:nvSpPr>
        <p:spPr>
          <a:xfrm>
            <a:off x="731520" y="586770"/>
            <a:ext cx="10058400" cy="52322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2800" b="1" dirty="0">
                <a:solidFill>
                  <a:srgbClr val="1A2A3D"/>
                </a:solidFill>
                <a:latin typeface="Arial" panose="020B0604020202020204" pitchFamily="34" charset="0"/>
              </a:rPr>
              <a:t>Problem Statement &amp; Background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52A28ACE-F4C7-0D67-4CDD-11B92A313440}"/>
              </a:ext>
            </a:extLst>
          </p:cNvPr>
          <p:cNvSpPr/>
          <p:nvPr/>
        </p:nvSpPr>
        <p:spPr>
          <a:xfrm>
            <a:off x="731520" y="1463040"/>
            <a:ext cx="530352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BA66162-E0C5-4972-39A4-08D707DB186C}"/>
              </a:ext>
            </a:extLst>
          </p:cNvPr>
          <p:cNvSpPr/>
          <p:nvPr/>
        </p:nvSpPr>
        <p:spPr>
          <a:xfrm>
            <a:off x="731520" y="1463040"/>
            <a:ext cx="54864" cy="2011680"/>
          </a:xfrm>
          <a:prstGeom prst="rect">
            <a:avLst/>
          </a:prstGeom>
          <a:solidFill>
            <a:srgbClr val="F0824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E735674-2593-5AED-5797-BAA6CC3D124B}"/>
              </a:ext>
            </a:extLst>
          </p:cNvPr>
          <p:cNvSpPr txBox="1"/>
          <p:nvPr/>
        </p:nvSpPr>
        <p:spPr>
          <a:xfrm>
            <a:off x="1097280" y="1600200"/>
            <a:ext cx="4572000" cy="32316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600" b="1" dirty="0">
                <a:solidFill>
                  <a:srgbClr val="F08248"/>
                </a:solidFill>
                <a:latin typeface="Arial" panose="020B0604020202020204" pitchFamily="34" charset="0"/>
              </a:rPr>
              <a:t>BUSINESS CHALLENGE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723839A-ACD1-9015-C84C-568CEABEF862}"/>
              </a:ext>
            </a:extLst>
          </p:cNvPr>
          <p:cNvSpPr txBox="1"/>
          <p:nvPr/>
        </p:nvSpPr>
        <p:spPr>
          <a:xfrm>
            <a:off x="1097280" y="2011680"/>
            <a:ext cx="4572000" cy="95410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 dirty="0">
                <a:latin typeface="Arial" panose="020B0604020202020204" pitchFamily="34" charset="0"/>
              </a:rPr>
              <a:t>A major bank is experiencing customer churn in its credit card division. </a:t>
            </a:r>
            <a:r>
              <a:rPr lang="en-US" sz="1400" b="1" dirty="0">
                <a:latin typeface="Arial" panose="020B0604020202020204" pitchFamily="34" charset="0"/>
              </a:rPr>
              <a:t>Understanding the drivers of attrition</a:t>
            </a:r>
            <a:r>
              <a:rPr lang="en-US" sz="1400" dirty="0">
                <a:latin typeface="Arial" panose="020B0604020202020204" pitchFamily="34" charset="0"/>
              </a:rPr>
              <a:t> is critical for retention strategy design and improving customer satisfaction.</a:t>
            </a:r>
            <a:endParaRPr lang="en-PH" sz="1400" dirty="0">
              <a:latin typeface="Arial" panose="020B0604020202020204" pitchFamily="34" charset="0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1A658C2F-0100-C452-2D40-5A85E1349F5D}"/>
              </a:ext>
            </a:extLst>
          </p:cNvPr>
          <p:cNvSpPr/>
          <p:nvPr/>
        </p:nvSpPr>
        <p:spPr>
          <a:xfrm>
            <a:off x="6400800" y="1463040"/>
            <a:ext cx="502920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F7F2C39-4809-E1A9-11E1-E7298AF312A6}"/>
              </a:ext>
            </a:extLst>
          </p:cNvPr>
          <p:cNvSpPr/>
          <p:nvPr/>
        </p:nvSpPr>
        <p:spPr>
          <a:xfrm>
            <a:off x="6400800" y="1463040"/>
            <a:ext cx="54864" cy="2011680"/>
          </a:xfrm>
          <a:prstGeom prst="rect">
            <a:avLst/>
          </a:prstGeom>
          <a:solidFill>
            <a:srgbClr val="20809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4F5E404-4DF5-45D1-C3ED-33B6A94C557D}"/>
              </a:ext>
            </a:extLst>
          </p:cNvPr>
          <p:cNvSpPr txBox="1"/>
          <p:nvPr/>
        </p:nvSpPr>
        <p:spPr>
          <a:xfrm>
            <a:off x="6766560" y="1600200"/>
            <a:ext cx="4389120" cy="32316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600" b="1" dirty="0">
                <a:solidFill>
                  <a:srgbClr val="208090"/>
                </a:solidFill>
                <a:latin typeface="Arial" panose="020B0604020202020204" pitchFamily="34" charset="0"/>
              </a:rPr>
              <a:t>OBJECTIVE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9BB43F6-857F-CD34-0F47-C4A8DD158AEE}"/>
              </a:ext>
            </a:extLst>
          </p:cNvPr>
          <p:cNvSpPr txBox="1"/>
          <p:nvPr/>
        </p:nvSpPr>
        <p:spPr>
          <a:xfrm>
            <a:off x="6766560" y="2011680"/>
            <a:ext cx="4389120" cy="738664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 dirty="0">
                <a:latin typeface="Arial" panose="020B0604020202020204" pitchFamily="34" charset="0"/>
              </a:rPr>
              <a:t>Build a predictive model to </a:t>
            </a:r>
            <a:r>
              <a:rPr lang="en-US" sz="1400" b="1" dirty="0">
                <a:latin typeface="Arial" panose="020B0604020202020204" pitchFamily="34" charset="0"/>
              </a:rPr>
              <a:t>identify customers likely to close their credit card accounts</a:t>
            </a:r>
            <a:r>
              <a:rPr lang="en-US" sz="1400" dirty="0">
                <a:latin typeface="Arial" panose="020B0604020202020204" pitchFamily="34" charset="0"/>
              </a:rPr>
              <a:t>, enabling proactive intervention before attrition occurs.</a:t>
            </a:r>
            <a:endParaRPr lang="en-PH" sz="1400" dirty="0">
              <a:latin typeface="Arial" panose="020B0604020202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46FD83A-AAD1-14E2-F805-0785B44945E4}"/>
              </a:ext>
            </a:extLst>
          </p:cNvPr>
          <p:cNvSpPr txBox="1"/>
          <p:nvPr/>
        </p:nvSpPr>
        <p:spPr>
          <a:xfrm>
            <a:off x="731520" y="3749040"/>
            <a:ext cx="4572000" cy="338554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600" b="1">
                <a:solidFill>
                  <a:srgbClr val="1A2A3D"/>
                </a:solidFill>
                <a:latin typeface="Arial" panose="020B0604020202020204" pitchFamily="34" charset="0"/>
              </a:rPr>
              <a:t>TASK SCOPE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38976913-3A75-98E1-959E-68F708151F23}"/>
              </a:ext>
            </a:extLst>
          </p:cNvPr>
          <p:cNvSpPr/>
          <p:nvPr/>
        </p:nvSpPr>
        <p:spPr>
          <a:xfrm>
            <a:off x="731520" y="4160520"/>
            <a:ext cx="3474720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DCB93D9-2324-E255-C917-14B0C6A863F4}"/>
              </a:ext>
            </a:extLst>
          </p:cNvPr>
          <p:cNvSpPr txBox="1"/>
          <p:nvPr/>
        </p:nvSpPr>
        <p:spPr>
          <a:xfrm>
            <a:off x="1005840" y="4251960"/>
            <a:ext cx="301752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400" b="1">
                <a:solidFill>
                  <a:srgbClr val="1A2A3D"/>
                </a:solidFill>
                <a:latin typeface="Arial" panose="020B0604020202020204" pitchFamily="34" charset="0"/>
              </a:rPr>
              <a:t>1. Data Understanding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749E37C-75CB-761D-85AC-2FD130CCBBC4}"/>
              </a:ext>
            </a:extLst>
          </p:cNvPr>
          <p:cNvSpPr txBox="1"/>
          <p:nvPr/>
        </p:nvSpPr>
        <p:spPr>
          <a:xfrm>
            <a:off x="1005840" y="4599432"/>
            <a:ext cx="3017520" cy="46166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200">
                <a:solidFill>
                  <a:srgbClr val="9E9E9E"/>
                </a:solidFill>
                <a:latin typeface="Arial" panose="020B0604020202020204" pitchFamily="34" charset="0"/>
              </a:rPr>
              <a:t>Missing values, outliers, duplicates, imbalance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089E3554-E5BB-3ED6-341E-C8CB2F8A3C64}"/>
              </a:ext>
            </a:extLst>
          </p:cNvPr>
          <p:cNvSpPr/>
          <p:nvPr/>
        </p:nvSpPr>
        <p:spPr>
          <a:xfrm>
            <a:off x="4480560" y="4160520"/>
            <a:ext cx="3474720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DFDE267-E9AF-8458-06D5-AC7AEEA8B7D0}"/>
              </a:ext>
            </a:extLst>
          </p:cNvPr>
          <p:cNvSpPr txBox="1"/>
          <p:nvPr/>
        </p:nvSpPr>
        <p:spPr>
          <a:xfrm>
            <a:off x="4754880" y="4251960"/>
            <a:ext cx="301752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400" b="1">
                <a:solidFill>
                  <a:srgbClr val="1A2A3D"/>
                </a:solidFill>
                <a:latin typeface="Arial" panose="020B0604020202020204" pitchFamily="34" charset="0"/>
              </a:rPr>
              <a:t>2. Feature Engineering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7BFD739-86C3-649E-B19B-BEAFB3A56339}"/>
              </a:ext>
            </a:extLst>
          </p:cNvPr>
          <p:cNvSpPr txBox="1"/>
          <p:nvPr/>
        </p:nvSpPr>
        <p:spPr>
          <a:xfrm>
            <a:off x="4754880" y="4599432"/>
            <a:ext cx="3017520" cy="46166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200">
                <a:solidFill>
                  <a:srgbClr val="9E9E9E"/>
                </a:solidFill>
                <a:latin typeface="Arial" panose="020B0604020202020204" pitchFamily="34" charset="0"/>
              </a:rPr>
              <a:t>Ratio features, log transforms, interactions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630A9E65-394E-3AAF-4133-0EA606FA1EAA}"/>
              </a:ext>
            </a:extLst>
          </p:cNvPr>
          <p:cNvSpPr/>
          <p:nvPr/>
        </p:nvSpPr>
        <p:spPr>
          <a:xfrm>
            <a:off x="8229600" y="4160520"/>
            <a:ext cx="3474720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506130D-582A-0B2A-3546-53574DBB3D00}"/>
              </a:ext>
            </a:extLst>
          </p:cNvPr>
          <p:cNvSpPr txBox="1"/>
          <p:nvPr/>
        </p:nvSpPr>
        <p:spPr>
          <a:xfrm>
            <a:off x="8503920" y="4251960"/>
            <a:ext cx="301752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400" b="1">
                <a:solidFill>
                  <a:srgbClr val="1A2A3D"/>
                </a:solidFill>
                <a:latin typeface="Arial" panose="020B0604020202020204" pitchFamily="34" charset="0"/>
              </a:rPr>
              <a:t>3. Model Development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991BB3F-3B7C-4819-14FF-EF9F18054B16}"/>
              </a:ext>
            </a:extLst>
          </p:cNvPr>
          <p:cNvSpPr txBox="1"/>
          <p:nvPr/>
        </p:nvSpPr>
        <p:spPr>
          <a:xfrm>
            <a:off x="8503920" y="4599432"/>
            <a:ext cx="301752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200">
                <a:solidFill>
                  <a:srgbClr val="9E9E9E"/>
                </a:solidFill>
                <a:latin typeface="Arial" panose="020B0604020202020204" pitchFamily="34" charset="0"/>
              </a:rPr>
              <a:t>LR, EBM, XGBoost, Random Forest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4F7A8D1C-F1F6-B63B-F2BE-00AD5EF4159D}"/>
              </a:ext>
            </a:extLst>
          </p:cNvPr>
          <p:cNvSpPr/>
          <p:nvPr/>
        </p:nvSpPr>
        <p:spPr>
          <a:xfrm>
            <a:off x="731520" y="5212080"/>
            <a:ext cx="3474720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E964E4E-78AA-9024-938F-252B8DCF3559}"/>
              </a:ext>
            </a:extLst>
          </p:cNvPr>
          <p:cNvSpPr txBox="1"/>
          <p:nvPr/>
        </p:nvSpPr>
        <p:spPr>
          <a:xfrm>
            <a:off x="1005840" y="5303520"/>
            <a:ext cx="301752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400" b="1">
                <a:solidFill>
                  <a:srgbClr val="1A2A3D"/>
                </a:solidFill>
                <a:latin typeface="Arial" panose="020B0604020202020204" pitchFamily="34" charset="0"/>
              </a:rPr>
              <a:t>4. Model Evaluation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57D43B4-2DD5-13E6-C291-2AB701CE8F41}"/>
              </a:ext>
            </a:extLst>
          </p:cNvPr>
          <p:cNvSpPr txBox="1"/>
          <p:nvPr/>
        </p:nvSpPr>
        <p:spPr>
          <a:xfrm>
            <a:off x="1005840" y="5650992"/>
            <a:ext cx="3017520" cy="46166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200">
                <a:solidFill>
                  <a:srgbClr val="9E9E9E"/>
                </a:solidFill>
                <a:latin typeface="Arial" panose="020B0604020202020204" pitchFamily="34" charset="0"/>
              </a:rPr>
              <a:t>Accuracy, Precision, Recall, F1, ROC-AUC</a:t>
            </a:r>
            <a:endParaRPr lang="en-PH" sz="1200">
              <a:solidFill>
                <a:srgbClr val="9E9E9E"/>
              </a:solidFill>
              <a:latin typeface="Arial" panose="020B0604020202020204" pitchFamily="34" charset="0"/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A90B7578-26C6-9D78-F390-1A9D54DA437A}"/>
              </a:ext>
            </a:extLst>
          </p:cNvPr>
          <p:cNvSpPr/>
          <p:nvPr/>
        </p:nvSpPr>
        <p:spPr>
          <a:xfrm>
            <a:off x="4480560" y="5212080"/>
            <a:ext cx="3474720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B2ED5B3-0BDF-2195-C2AD-0F19CAACD6CD}"/>
              </a:ext>
            </a:extLst>
          </p:cNvPr>
          <p:cNvSpPr txBox="1"/>
          <p:nvPr/>
        </p:nvSpPr>
        <p:spPr>
          <a:xfrm>
            <a:off x="4754880" y="5303520"/>
            <a:ext cx="301752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400" b="1">
                <a:solidFill>
                  <a:srgbClr val="1A2A3D"/>
                </a:solidFill>
                <a:latin typeface="Arial" panose="020B0604020202020204" pitchFamily="34" charset="0"/>
              </a:rPr>
              <a:t>5. Insights &amp; Strategy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271A3E5-43D0-824F-9BF0-68B6EE4CD347}"/>
              </a:ext>
            </a:extLst>
          </p:cNvPr>
          <p:cNvSpPr txBox="1"/>
          <p:nvPr/>
        </p:nvSpPr>
        <p:spPr>
          <a:xfrm>
            <a:off x="4754880" y="5650992"/>
            <a:ext cx="301752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200">
                <a:solidFill>
                  <a:srgbClr val="9E9E9E"/>
                </a:solidFill>
                <a:latin typeface="Arial" panose="020B0604020202020204" pitchFamily="34" charset="0"/>
              </a:rPr>
              <a:t>Key drivers, actionable bank strategies</a:t>
            </a:r>
            <a:endParaRPr lang="en-PH" sz="1200">
              <a:solidFill>
                <a:srgbClr val="9E9E9E"/>
              </a:solidFill>
              <a:latin typeface="Arial" panose="020B0604020202020204" pitchFamily="34" charset="0"/>
            </a:endParaRP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A7CE920C-A78C-E67C-8BE4-CDD67F4E61D4}"/>
              </a:ext>
            </a:extLst>
          </p:cNvPr>
          <p:cNvSpPr/>
          <p:nvPr/>
        </p:nvSpPr>
        <p:spPr>
          <a:xfrm>
            <a:off x="8229600" y="5212080"/>
            <a:ext cx="3474720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44F8244-0D39-5DCB-602A-89B7177AE01C}"/>
              </a:ext>
            </a:extLst>
          </p:cNvPr>
          <p:cNvSpPr txBox="1"/>
          <p:nvPr/>
        </p:nvSpPr>
        <p:spPr>
          <a:xfrm>
            <a:off x="8503920" y="5303520"/>
            <a:ext cx="301752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400" b="1">
                <a:solidFill>
                  <a:srgbClr val="1A2A3D"/>
                </a:solidFill>
                <a:latin typeface="Arial" panose="020B0604020202020204" pitchFamily="34" charset="0"/>
              </a:rPr>
              <a:t>6. Dashboard (Bonus)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FA921B0-8DC6-5434-DEC7-0B1A9314FC15}"/>
              </a:ext>
            </a:extLst>
          </p:cNvPr>
          <p:cNvSpPr txBox="1"/>
          <p:nvPr/>
        </p:nvSpPr>
        <p:spPr>
          <a:xfrm>
            <a:off x="8503920" y="5650992"/>
            <a:ext cx="301752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200">
                <a:solidFill>
                  <a:srgbClr val="9E9E9E"/>
                </a:solidFill>
                <a:latin typeface="Arial" panose="020B0604020202020204" pitchFamily="34" charset="0"/>
              </a:rPr>
              <a:t>Streamlit interactive dashboard</a:t>
            </a:r>
          </a:p>
        </p:txBody>
      </p:sp>
    </p:spTree>
    <p:extLst>
      <p:ext uri="{BB962C8B-B14F-4D97-AF65-F5344CB8AC3E}">
        <p14:creationId xmlns:p14="http://schemas.microsoft.com/office/powerpoint/2010/main" val="8563336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5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CD6EF86-E38A-D77F-6453-BF4757103EF9}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824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D38B814-588B-5E72-87EC-EA93EA72D77E}"/>
              </a:ext>
            </a:extLst>
          </p:cNvPr>
          <p:cNvSpPr txBox="1"/>
          <p:nvPr/>
        </p:nvSpPr>
        <p:spPr>
          <a:xfrm>
            <a:off x="731520" y="365760"/>
            <a:ext cx="10058400" cy="52322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800" b="1" dirty="0">
                <a:latin typeface="Arial" panose="020B0604020202020204" pitchFamily="34" charset="0"/>
              </a:rPr>
              <a:t>Why Prediction Has Monetary Value</a:t>
            </a:r>
            <a:endParaRPr lang="en-PH" sz="2800" b="1" dirty="0">
              <a:latin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DBA46DB-C62C-1F23-CE35-EBF45C30140B}"/>
              </a:ext>
            </a:extLst>
          </p:cNvPr>
          <p:cNvSpPr txBox="1"/>
          <p:nvPr/>
        </p:nvSpPr>
        <p:spPr>
          <a:xfrm>
            <a:off x="731520" y="868680"/>
            <a:ext cx="100584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 b="1" dirty="0">
                <a:latin typeface="Arial" panose="020B0604020202020204" pitchFamily="34" charset="0"/>
              </a:rPr>
              <a:t>A model that identifies the right 500 clients out of 100,000 - before they leave - is worth ₱6.95M in preserved revenue per cycle.</a:t>
            </a:r>
            <a:endParaRPr lang="en-PH" sz="1400" b="1" dirty="0">
              <a:latin typeface="Arial" panose="020B0604020202020204" pitchFamily="34" charset="0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964880B-0AE1-CD3C-5310-ECD1F803BA56}"/>
              </a:ext>
            </a:extLst>
          </p:cNvPr>
          <p:cNvSpPr/>
          <p:nvPr/>
        </p:nvSpPr>
        <p:spPr>
          <a:xfrm>
            <a:off x="731520" y="1587043"/>
            <a:ext cx="3383280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8518758-B533-7B87-952D-9B57AF3B8D6F}"/>
              </a:ext>
            </a:extLst>
          </p:cNvPr>
          <p:cNvSpPr/>
          <p:nvPr/>
        </p:nvSpPr>
        <p:spPr>
          <a:xfrm>
            <a:off x="731520" y="1587043"/>
            <a:ext cx="3383280" cy="64008"/>
          </a:xfrm>
          <a:prstGeom prst="rect">
            <a:avLst/>
          </a:prstGeom>
          <a:solidFill>
            <a:srgbClr val="E8474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A35E440-4AB7-360C-DD66-4EEBB1B5B0EB}"/>
              </a:ext>
            </a:extLst>
          </p:cNvPr>
          <p:cNvSpPr txBox="1"/>
          <p:nvPr/>
        </p:nvSpPr>
        <p:spPr>
          <a:xfrm>
            <a:off x="1005840" y="1769923"/>
            <a:ext cx="2834640" cy="292388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300">
                <a:solidFill>
                  <a:srgbClr val="9E9E9E"/>
                </a:solidFill>
                <a:latin typeface="Arial" panose="020B0604020202020204" pitchFamily="34" charset="0"/>
              </a:rPr>
              <a:t>Cost to Acquire 1 Client</a:t>
            </a:r>
            <a:endParaRPr lang="en-PH" sz="1300">
              <a:solidFill>
                <a:srgbClr val="9E9E9E"/>
              </a:solidFill>
              <a:latin typeface="Arial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A21C3F0-53D3-630D-C32D-39C5C6A3E46D}"/>
              </a:ext>
            </a:extLst>
          </p:cNvPr>
          <p:cNvSpPr txBox="1"/>
          <p:nvPr/>
        </p:nvSpPr>
        <p:spPr>
          <a:xfrm>
            <a:off x="1005840" y="2089963"/>
            <a:ext cx="2834640" cy="52322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2800" b="1">
                <a:solidFill>
                  <a:srgbClr val="E84747"/>
                </a:solidFill>
                <a:latin typeface="Arial" panose="020B0604020202020204" pitchFamily="34" charset="0"/>
              </a:rPr>
              <a:t>₱5K – ₱15K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B01AD46-C78B-80AA-0296-DD4696ACC314}"/>
              </a:ext>
            </a:extLst>
          </p:cNvPr>
          <p:cNvSpPr txBox="1"/>
          <p:nvPr/>
        </p:nvSpPr>
        <p:spPr>
          <a:xfrm>
            <a:off x="1005840" y="2684323"/>
            <a:ext cx="283464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200" dirty="0">
                <a:solidFill>
                  <a:srgbClr val="9E9E9E"/>
                </a:solidFill>
                <a:latin typeface="Arial" panose="020B0604020202020204" pitchFamily="34" charset="0"/>
              </a:rPr>
              <a:t>vs. ~₱500 to retain  (BSP, 2023)</a:t>
            </a:r>
            <a:endParaRPr lang="en-PH" sz="1200" dirty="0">
              <a:solidFill>
                <a:srgbClr val="9E9E9E"/>
              </a:solidFill>
              <a:latin typeface="Arial" panose="020B0604020202020204" pitchFamily="34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D28C9978-AE10-2A17-CC80-FBC7A1A1DAD6}"/>
              </a:ext>
            </a:extLst>
          </p:cNvPr>
          <p:cNvSpPr/>
          <p:nvPr/>
        </p:nvSpPr>
        <p:spPr>
          <a:xfrm>
            <a:off x="4389120" y="1587043"/>
            <a:ext cx="3383280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7F25929-0B0B-F72F-B8BD-5E81D9E8FEFA}"/>
              </a:ext>
            </a:extLst>
          </p:cNvPr>
          <p:cNvSpPr/>
          <p:nvPr/>
        </p:nvSpPr>
        <p:spPr>
          <a:xfrm>
            <a:off x="4389120" y="1587043"/>
            <a:ext cx="3383280" cy="64008"/>
          </a:xfrm>
          <a:prstGeom prst="rect">
            <a:avLst/>
          </a:prstGeom>
          <a:solidFill>
            <a:srgbClr val="E8B839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60D64BE-5D93-A874-7B7F-99B48EA29B76}"/>
              </a:ext>
            </a:extLst>
          </p:cNvPr>
          <p:cNvSpPr txBox="1"/>
          <p:nvPr/>
        </p:nvSpPr>
        <p:spPr>
          <a:xfrm>
            <a:off x="4663440" y="1769923"/>
            <a:ext cx="2834640" cy="292388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300">
                <a:solidFill>
                  <a:srgbClr val="9E9E9E"/>
                </a:solidFill>
                <a:latin typeface="Arial" panose="020B0604020202020204" pitchFamily="34" charset="0"/>
              </a:rPr>
              <a:t>Avg. Credit Card CLV (PH)</a:t>
            </a:r>
            <a:endParaRPr lang="en-PH" sz="1300">
              <a:solidFill>
                <a:srgbClr val="9E9E9E"/>
              </a:solidFill>
              <a:latin typeface="Arial" panose="020B0604020202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348657D-423B-0D23-C27F-94A2838F2BBA}"/>
              </a:ext>
            </a:extLst>
          </p:cNvPr>
          <p:cNvSpPr txBox="1"/>
          <p:nvPr/>
        </p:nvSpPr>
        <p:spPr>
          <a:xfrm>
            <a:off x="4663440" y="2089963"/>
            <a:ext cx="2834640" cy="52322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2800" b="1">
                <a:solidFill>
                  <a:srgbClr val="E8B839"/>
                </a:solidFill>
                <a:latin typeface="Arial" panose="020B0604020202020204" pitchFamily="34" charset="0"/>
              </a:rPr>
              <a:t>₱30K – ₱60K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BC454D0-236D-4E38-B69A-01A17C6EFFDE}"/>
              </a:ext>
            </a:extLst>
          </p:cNvPr>
          <p:cNvSpPr txBox="1"/>
          <p:nvPr/>
        </p:nvSpPr>
        <p:spPr>
          <a:xfrm>
            <a:off x="4663440" y="2684323"/>
            <a:ext cx="283464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fr-FR" sz="1200">
                <a:solidFill>
                  <a:srgbClr val="9E9E9E"/>
                </a:solidFill>
                <a:latin typeface="Arial" panose="020B0604020202020204" pitchFamily="34" charset="0"/>
              </a:rPr>
              <a:t>3–5 yr tenure × ~₱9K/yr net revenue</a:t>
            </a:r>
            <a:endParaRPr lang="en-PH" sz="1200">
              <a:solidFill>
                <a:srgbClr val="9E9E9E"/>
              </a:solidFill>
              <a:latin typeface="Arial" panose="020B0604020202020204" pitchFamily="34" charset="0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541978DB-ED87-9BE8-1FC2-74ECA0707296}"/>
              </a:ext>
            </a:extLst>
          </p:cNvPr>
          <p:cNvSpPr/>
          <p:nvPr/>
        </p:nvSpPr>
        <p:spPr>
          <a:xfrm>
            <a:off x="8046720" y="1587043"/>
            <a:ext cx="3383280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7F9D44B-1717-71C5-655A-15ED6B5E7590}"/>
              </a:ext>
            </a:extLst>
          </p:cNvPr>
          <p:cNvSpPr/>
          <p:nvPr/>
        </p:nvSpPr>
        <p:spPr>
          <a:xfrm>
            <a:off x="8046720" y="1587043"/>
            <a:ext cx="3383280" cy="64008"/>
          </a:xfrm>
          <a:prstGeom prst="rect">
            <a:avLst/>
          </a:prstGeom>
          <a:solidFill>
            <a:srgbClr val="F0824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ED6CAA7-86D3-479E-A696-FC3CF6919840}"/>
              </a:ext>
            </a:extLst>
          </p:cNvPr>
          <p:cNvSpPr txBox="1"/>
          <p:nvPr/>
        </p:nvSpPr>
        <p:spPr>
          <a:xfrm>
            <a:off x="8321040" y="1769923"/>
            <a:ext cx="2834640" cy="292388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1300">
                <a:solidFill>
                  <a:srgbClr val="9E9E9E"/>
                </a:solidFill>
                <a:latin typeface="Arial" panose="020B0604020202020204" pitchFamily="34" charset="0"/>
              </a:rPr>
              <a:t>Retention ↑5%  →  Profit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6B42481-ED35-FFF1-8491-25A6FF222438}"/>
              </a:ext>
            </a:extLst>
          </p:cNvPr>
          <p:cNvSpPr txBox="1"/>
          <p:nvPr/>
        </p:nvSpPr>
        <p:spPr>
          <a:xfrm>
            <a:off x="8321040" y="2089963"/>
            <a:ext cx="2834640" cy="52322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2800" b="1">
                <a:solidFill>
                  <a:srgbClr val="F08248"/>
                </a:solidFill>
                <a:latin typeface="Arial" panose="020B0604020202020204" pitchFamily="34" charset="0"/>
              </a:rPr>
              <a:t>+25 – 55%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89CE3B1-5047-F42E-941B-50C3B810BF14}"/>
              </a:ext>
            </a:extLst>
          </p:cNvPr>
          <p:cNvSpPr txBox="1"/>
          <p:nvPr/>
        </p:nvSpPr>
        <p:spPr>
          <a:xfrm>
            <a:off x="8321040" y="2684323"/>
            <a:ext cx="283464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1200">
                <a:solidFill>
                  <a:srgbClr val="9E9E9E"/>
                </a:solidFill>
                <a:latin typeface="Arial" panose="020B0604020202020204" pitchFamily="34" charset="0"/>
              </a:rPr>
              <a:t>Bain &amp; Company (2013)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830DB66-C233-0A75-E6EB-4DBBC37EE06B}"/>
              </a:ext>
            </a:extLst>
          </p:cNvPr>
          <p:cNvSpPr txBox="1"/>
          <p:nvPr/>
        </p:nvSpPr>
        <p:spPr>
          <a:xfrm>
            <a:off x="731520" y="3415843"/>
            <a:ext cx="82296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 b="1">
                <a:solidFill>
                  <a:srgbClr val="1A2A3D"/>
                </a:solidFill>
                <a:latin typeface="Arial" panose="020B0604020202020204" pitchFamily="34" charset="0"/>
              </a:rPr>
              <a:t>EXPECTED VALUE FRAMEWORK  —  100K Portfolio  |  5% Annual Churn  |  Avg CLV ₱36,000</a:t>
            </a:r>
            <a:endParaRPr lang="en-PH" sz="1400" b="1">
              <a:solidFill>
                <a:srgbClr val="1A2A3D"/>
              </a:solidFill>
              <a:latin typeface="Arial" panose="020B0604020202020204" pitchFamily="34" charset="0"/>
            </a:endParaRP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A6D21D86-D8E4-7B60-3E7F-F88BB105E984}"/>
              </a:ext>
            </a:extLst>
          </p:cNvPr>
          <p:cNvSpPr/>
          <p:nvPr/>
        </p:nvSpPr>
        <p:spPr>
          <a:xfrm>
            <a:off x="731520" y="3873043"/>
            <a:ext cx="10698479" cy="384048"/>
          </a:xfrm>
          <a:prstGeom prst="roundRect">
            <a:avLst>
              <a:gd name="adj" fmla="val 6000"/>
            </a:avLst>
          </a:prstGeom>
          <a:solidFill>
            <a:srgbClr val="F0F5F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D27A8DF-79C6-448D-0A64-9CDA5ABCE492}"/>
              </a:ext>
            </a:extLst>
          </p:cNvPr>
          <p:cNvSpPr txBox="1"/>
          <p:nvPr/>
        </p:nvSpPr>
        <p:spPr>
          <a:xfrm>
            <a:off x="1005840" y="3927907"/>
            <a:ext cx="6583680" cy="292388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4B4B4B"/>
                </a:solidFill>
                <a:latin typeface="Arial" panose="020B0604020202020204" pitchFamily="34" charset="0"/>
              </a:rPr>
              <a:t>At-risk clients (5% of 100K)</a:t>
            </a:r>
            <a:endParaRPr lang="en-PH" sz="1300">
              <a:solidFill>
                <a:srgbClr val="4B4B4B"/>
              </a:solidFill>
              <a:latin typeface="Arial" panose="020B0604020202020204" pitchFamily="34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A56F006-21A7-78EA-2E30-1ADBCAAF6187}"/>
              </a:ext>
            </a:extLst>
          </p:cNvPr>
          <p:cNvSpPr txBox="1"/>
          <p:nvPr/>
        </p:nvSpPr>
        <p:spPr>
          <a:xfrm>
            <a:off x="7772400" y="3927907"/>
            <a:ext cx="201168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en-PH" sz="1400" b="1">
                <a:solidFill>
                  <a:srgbClr val="1A2A3D"/>
                </a:solidFill>
                <a:latin typeface="Arial" panose="020B0604020202020204" pitchFamily="34" charset="0"/>
              </a:rPr>
              <a:t>5,000 clients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1DF10A8-BA38-A690-E03D-685FEF37E4D2}"/>
              </a:ext>
            </a:extLst>
          </p:cNvPr>
          <p:cNvSpPr txBox="1"/>
          <p:nvPr/>
        </p:nvSpPr>
        <p:spPr>
          <a:xfrm>
            <a:off x="9966960" y="3927907"/>
            <a:ext cx="1371600" cy="26161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endParaRPr lang="en-PH" sz="1100">
              <a:solidFill>
                <a:srgbClr val="9E9E9E"/>
              </a:solidFill>
              <a:latin typeface="Arial" panose="020B0604020202020204" pitchFamily="34" charset="0"/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EB77BDCC-05E0-ABD2-B908-949BA73F9C45}"/>
              </a:ext>
            </a:extLst>
          </p:cNvPr>
          <p:cNvSpPr/>
          <p:nvPr/>
        </p:nvSpPr>
        <p:spPr>
          <a:xfrm>
            <a:off x="731520" y="4311955"/>
            <a:ext cx="10698479" cy="384048"/>
          </a:xfrm>
          <a:prstGeom prst="roundRect">
            <a:avLst>
              <a:gd name="adj" fmla="val 6000"/>
            </a:avLst>
          </a:prstGeom>
          <a:solidFill>
            <a:srgbClr val="F0F5F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4DD0DAD-14E1-2C7C-1479-4E8A10B667B0}"/>
              </a:ext>
            </a:extLst>
          </p:cNvPr>
          <p:cNvSpPr txBox="1"/>
          <p:nvPr/>
        </p:nvSpPr>
        <p:spPr>
          <a:xfrm>
            <a:off x="1005840" y="4366819"/>
            <a:ext cx="6583680" cy="292388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4B4B4B"/>
                </a:solidFill>
                <a:latin typeface="Arial" panose="020B0604020202020204" pitchFamily="34" charset="0"/>
              </a:rPr>
              <a:t>Revenue at risk (5,000 × ₱36,000 avg CLV)</a:t>
            </a:r>
            <a:endParaRPr lang="en-PH" sz="1300">
              <a:solidFill>
                <a:srgbClr val="4B4B4B"/>
              </a:solidFill>
              <a:latin typeface="Arial" panose="020B0604020202020204" pitchFamily="34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65E9E3B-8A07-93E7-319D-4142A0AC8E89}"/>
              </a:ext>
            </a:extLst>
          </p:cNvPr>
          <p:cNvSpPr txBox="1"/>
          <p:nvPr/>
        </p:nvSpPr>
        <p:spPr>
          <a:xfrm>
            <a:off x="7772400" y="4366819"/>
            <a:ext cx="201168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en-PH" sz="1400" b="1">
                <a:solidFill>
                  <a:srgbClr val="1A2A3D"/>
                </a:solidFill>
                <a:latin typeface="Arial" panose="020B0604020202020204" pitchFamily="34" charset="0"/>
              </a:rPr>
              <a:t>₱180,000,000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1D74D47-2B1C-80C6-5E32-2BB9ADCA4F55}"/>
              </a:ext>
            </a:extLst>
          </p:cNvPr>
          <p:cNvSpPr txBox="1"/>
          <p:nvPr/>
        </p:nvSpPr>
        <p:spPr>
          <a:xfrm>
            <a:off x="9966960" y="4366819"/>
            <a:ext cx="1371600" cy="26161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100">
                <a:solidFill>
                  <a:srgbClr val="9E9E9E"/>
                </a:solidFill>
                <a:latin typeface="Arial" panose="020B0604020202020204" pitchFamily="34" charset="0"/>
              </a:rPr>
              <a:t>annually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707E5F6F-4036-1CB6-C549-AB9FF3416EF1}"/>
              </a:ext>
            </a:extLst>
          </p:cNvPr>
          <p:cNvSpPr/>
          <p:nvPr/>
        </p:nvSpPr>
        <p:spPr>
          <a:xfrm>
            <a:off x="731520" y="4750867"/>
            <a:ext cx="10698479" cy="384048"/>
          </a:xfrm>
          <a:prstGeom prst="roundRect">
            <a:avLst>
              <a:gd name="adj" fmla="val 6000"/>
            </a:avLst>
          </a:prstGeom>
          <a:solidFill>
            <a:srgbClr val="F0F5F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478777D-D5EA-F939-ED1E-439926502936}"/>
              </a:ext>
            </a:extLst>
          </p:cNvPr>
          <p:cNvSpPr txBox="1"/>
          <p:nvPr/>
        </p:nvSpPr>
        <p:spPr>
          <a:xfrm>
            <a:off x="1005840" y="4805731"/>
            <a:ext cx="6583680" cy="292388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4B4B4B"/>
                </a:solidFill>
                <a:latin typeface="Arial" panose="020B0604020202020204" pitchFamily="34" charset="0"/>
              </a:rPr>
              <a:t>Targeted intervention (top decile, 40% success rate)</a:t>
            </a:r>
            <a:endParaRPr lang="en-PH" sz="1300">
              <a:solidFill>
                <a:srgbClr val="4B4B4B"/>
              </a:solidFill>
              <a:latin typeface="Arial" panose="020B0604020202020204" pitchFamily="34" charset="0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3AEC6B6-828C-DB5B-CDDF-9A50C0355812}"/>
              </a:ext>
            </a:extLst>
          </p:cNvPr>
          <p:cNvSpPr txBox="1"/>
          <p:nvPr/>
        </p:nvSpPr>
        <p:spPr>
          <a:xfrm>
            <a:off x="7772400" y="4805731"/>
            <a:ext cx="201168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en-PH" sz="1400" b="1">
                <a:solidFill>
                  <a:srgbClr val="1A2A3D"/>
                </a:solidFill>
                <a:latin typeface="Arial" panose="020B0604020202020204" pitchFamily="34" charset="0"/>
              </a:rPr>
              <a:t>~200 retained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AABC481-C768-89C9-F05F-428DF8F84672}"/>
              </a:ext>
            </a:extLst>
          </p:cNvPr>
          <p:cNvSpPr txBox="1"/>
          <p:nvPr/>
        </p:nvSpPr>
        <p:spPr>
          <a:xfrm>
            <a:off x="9966960" y="4805731"/>
            <a:ext cx="1371600" cy="43088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100">
                <a:solidFill>
                  <a:srgbClr val="9E9E9E"/>
                </a:solidFill>
                <a:latin typeface="Arial" panose="020B0604020202020204" pitchFamily="34" charset="0"/>
              </a:rPr>
              <a:t>500 contacted × 40%</a:t>
            </a:r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2D4FFC3F-1ECB-6992-14BE-24741D1F8D30}"/>
              </a:ext>
            </a:extLst>
          </p:cNvPr>
          <p:cNvSpPr/>
          <p:nvPr/>
        </p:nvSpPr>
        <p:spPr>
          <a:xfrm>
            <a:off x="731520" y="5189779"/>
            <a:ext cx="10698479" cy="384047"/>
          </a:xfrm>
          <a:prstGeom prst="roundRect">
            <a:avLst>
              <a:gd name="adj" fmla="val 6000"/>
            </a:avLst>
          </a:prstGeom>
          <a:solidFill>
            <a:srgbClr val="59AA6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20F3BD9-A499-F5C1-807C-8B42BD322766}"/>
              </a:ext>
            </a:extLst>
          </p:cNvPr>
          <p:cNvSpPr txBox="1"/>
          <p:nvPr/>
        </p:nvSpPr>
        <p:spPr>
          <a:xfrm>
            <a:off x="1005840" y="5244643"/>
            <a:ext cx="6583680" cy="292388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4B4B4B"/>
                </a:solidFill>
                <a:latin typeface="Arial" panose="020B0604020202020204" pitchFamily="34" charset="0"/>
              </a:rPr>
              <a:t>Net revenue preserved (200 × ₱36K CLV − ₱250K cost)</a:t>
            </a:r>
            <a:endParaRPr lang="en-PH" sz="1300" b="1">
              <a:solidFill>
                <a:srgbClr val="4B4B4B"/>
              </a:solidFill>
              <a:latin typeface="Arial" panose="020B0604020202020204" pitchFamily="34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716233B-7836-B02B-A0F2-14E40E78BC9A}"/>
              </a:ext>
            </a:extLst>
          </p:cNvPr>
          <p:cNvSpPr txBox="1"/>
          <p:nvPr/>
        </p:nvSpPr>
        <p:spPr>
          <a:xfrm>
            <a:off x="7772400" y="5244643"/>
            <a:ext cx="201168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en-PH" sz="1400" b="1">
                <a:solidFill>
                  <a:srgbClr val="1A2A3D"/>
                </a:solidFill>
                <a:latin typeface="Arial" panose="020B0604020202020204" pitchFamily="34" charset="0"/>
              </a:rPr>
              <a:t>~₱6,950,000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DBE55D7-4DFB-D006-AA25-DF20FAFDE47B}"/>
              </a:ext>
            </a:extLst>
          </p:cNvPr>
          <p:cNvSpPr txBox="1"/>
          <p:nvPr/>
        </p:nvSpPr>
        <p:spPr>
          <a:xfrm>
            <a:off x="9966960" y="5244643"/>
            <a:ext cx="1371600" cy="43088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100" dirty="0">
                <a:solidFill>
                  <a:schemeClr val="bg1"/>
                </a:solidFill>
                <a:latin typeface="Arial" panose="020B0604020202020204" pitchFamily="34" charset="0"/>
              </a:rPr>
              <a:t>per intervention cycle</a:t>
            </a: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4453F008-210F-57D6-33A5-B23697C8AD30}"/>
              </a:ext>
            </a:extLst>
          </p:cNvPr>
          <p:cNvSpPr/>
          <p:nvPr/>
        </p:nvSpPr>
        <p:spPr>
          <a:xfrm>
            <a:off x="731520" y="5747563"/>
            <a:ext cx="10698479" cy="594360"/>
          </a:xfrm>
          <a:prstGeom prst="roundRect">
            <a:avLst>
              <a:gd name="adj" fmla="val 6000"/>
            </a:avLst>
          </a:prstGeom>
          <a:solidFill>
            <a:srgbClr val="1A2A3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A1CF8FF-4F95-0BB3-3AC5-0C1BD37D82D9}"/>
              </a:ext>
            </a:extLst>
          </p:cNvPr>
          <p:cNvSpPr txBox="1"/>
          <p:nvPr/>
        </p:nvSpPr>
        <p:spPr>
          <a:xfrm>
            <a:off x="1005840" y="5899892"/>
            <a:ext cx="10058400" cy="292388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i="1" dirty="0">
                <a:solidFill>
                  <a:srgbClr val="C8DCFC"/>
                </a:solidFill>
                <a:latin typeface="Arial" panose="020B0604020202020204" pitchFamily="34" charset="0"/>
              </a:rPr>
              <a:t>Note: This calculation assumes 5% churn out of 100k customers with 40% real-world success rate (McKinsey estimate). </a:t>
            </a:r>
            <a:endParaRPr lang="en-PH" sz="1300" i="1" dirty="0">
              <a:solidFill>
                <a:srgbClr val="C8DCFC"/>
              </a:solidFill>
              <a:latin typeface="Arial" panose="020B0604020202020204" pitchFamily="34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9A1C825-23DC-2ED4-B55C-6CB3C2BA4B33}"/>
              </a:ext>
            </a:extLst>
          </p:cNvPr>
          <p:cNvSpPr txBox="1"/>
          <p:nvPr/>
        </p:nvSpPr>
        <p:spPr>
          <a:xfrm>
            <a:off x="731520" y="6629400"/>
            <a:ext cx="10698480" cy="353943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850">
                <a:solidFill>
                  <a:srgbClr val="9E9E9E"/>
                </a:solidFill>
                <a:latin typeface="Arial" panose="020B0604020202020204" pitchFamily="34" charset="0"/>
              </a:rPr>
              <a:t>Sources:  (1) BSP, "Credit Card Industry Report &amp; Financial Stability Report," 2023  ·  (2) Bangko Sentral ng Pilipinas, "Consumer Finance Survey," 2022  ·  (3) Bain &amp; Company, "Customer Loyalty in Retail Banking," 2013  ·  (4) McKinsey &amp; Company, "Remaking the bank for an ecosystem world," 2017  ·  (5) Reichheld &amp; Sasser, "Zero Defections: Quality Comes to Services," Harvard Business Review, 1990</a:t>
            </a:r>
          </a:p>
        </p:txBody>
      </p:sp>
    </p:spTree>
    <p:extLst>
      <p:ext uri="{BB962C8B-B14F-4D97-AF65-F5344CB8AC3E}">
        <p14:creationId xmlns:p14="http://schemas.microsoft.com/office/powerpoint/2010/main" val="36563502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5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7E8839A-2BB8-A161-E01E-1ABA4BE7CA7D}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824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4FC8F6E-091A-514E-AD4B-7C3CB1645DD4}"/>
              </a:ext>
            </a:extLst>
          </p:cNvPr>
          <p:cNvSpPr txBox="1"/>
          <p:nvPr/>
        </p:nvSpPr>
        <p:spPr>
          <a:xfrm>
            <a:off x="731520" y="701070"/>
            <a:ext cx="10058400" cy="52322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2800" b="1" dirty="0">
                <a:solidFill>
                  <a:srgbClr val="1A2A3D"/>
                </a:solidFill>
                <a:latin typeface="Arial" panose="020B0604020202020204" pitchFamily="34" charset="0"/>
              </a:rPr>
              <a:t>Dataset Overview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EAA3DCA-E5D4-0ECC-2974-EA78B51D5ED6}"/>
              </a:ext>
            </a:extLst>
          </p:cNvPr>
          <p:cNvSpPr/>
          <p:nvPr/>
        </p:nvSpPr>
        <p:spPr>
          <a:xfrm>
            <a:off x="632308" y="1554480"/>
            <a:ext cx="256032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483477B-0E7C-1569-A939-C29B4D90DC94}"/>
              </a:ext>
            </a:extLst>
          </p:cNvPr>
          <p:cNvSpPr/>
          <p:nvPr/>
        </p:nvSpPr>
        <p:spPr>
          <a:xfrm>
            <a:off x="632308" y="1554480"/>
            <a:ext cx="2560320" cy="64008"/>
          </a:xfrm>
          <a:prstGeom prst="rect">
            <a:avLst/>
          </a:prstGeom>
          <a:solidFill>
            <a:srgbClr val="F0824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93AF8D4-7443-6CEC-DF12-A6F57EEF3C80}"/>
              </a:ext>
            </a:extLst>
          </p:cNvPr>
          <p:cNvSpPr txBox="1"/>
          <p:nvPr/>
        </p:nvSpPr>
        <p:spPr>
          <a:xfrm>
            <a:off x="906628" y="1783080"/>
            <a:ext cx="201168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400" b="1">
                <a:solidFill>
                  <a:srgbClr val="F08248"/>
                </a:solidFill>
                <a:latin typeface="Arial" panose="020B0604020202020204" pitchFamily="34" charset="0"/>
              </a:rPr>
              <a:t>DEMOGRAPHIC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F4B2F7F-DC2B-06F9-1CE1-71542A5922E2}"/>
              </a:ext>
            </a:extLst>
          </p:cNvPr>
          <p:cNvSpPr txBox="1"/>
          <p:nvPr/>
        </p:nvSpPr>
        <p:spPr>
          <a:xfrm>
            <a:off x="906628" y="2194560"/>
            <a:ext cx="2011680" cy="69249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 dirty="0">
                <a:solidFill>
                  <a:srgbClr val="4B4B4B"/>
                </a:solidFill>
                <a:latin typeface="Arial" panose="020B0604020202020204" pitchFamily="34" charset="0"/>
              </a:rPr>
              <a:t>Age, Gender, </a:t>
            </a:r>
            <a:r>
              <a:rPr lang="en-US" sz="1400" dirty="0" err="1">
                <a:solidFill>
                  <a:srgbClr val="4B4B4B"/>
                </a:solidFill>
                <a:latin typeface="Arial" panose="020B0604020202020204" pitchFamily="34" charset="0"/>
              </a:rPr>
              <a:t>MaritalStatus</a:t>
            </a:r>
            <a:r>
              <a:rPr lang="en-US" sz="1400" dirty="0">
                <a:solidFill>
                  <a:srgbClr val="4B4B4B"/>
                </a:solidFill>
                <a:latin typeface="Arial" panose="020B0604020202020204" pitchFamily="34" charset="0"/>
              </a:rPr>
              <a:t>,</a:t>
            </a:r>
          </a:p>
          <a:p>
            <a:r>
              <a:rPr lang="en-US" sz="1400" dirty="0" err="1">
                <a:solidFill>
                  <a:srgbClr val="4B4B4B"/>
                </a:solidFill>
                <a:latin typeface="Arial" panose="020B0604020202020204" pitchFamily="34" charset="0"/>
              </a:rPr>
              <a:t>EducationLevel</a:t>
            </a:r>
            <a:r>
              <a:rPr lang="en-US" sz="1400" dirty="0">
                <a:solidFill>
                  <a:srgbClr val="4B4B4B"/>
                </a:solidFill>
                <a:latin typeface="Arial" panose="020B0604020202020204" pitchFamily="34" charset="0"/>
              </a:rPr>
              <a:t>, Country</a:t>
            </a:r>
            <a:endParaRPr lang="en-PH" sz="1400" dirty="0">
              <a:solidFill>
                <a:srgbClr val="4B4B4B"/>
              </a:solidFill>
              <a:latin typeface="Arial" panose="020B0604020202020204" pitchFamily="34" charset="0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9B7D2518-2B29-8DD8-AF6B-D33C4968B2B5}"/>
              </a:ext>
            </a:extLst>
          </p:cNvPr>
          <p:cNvSpPr/>
          <p:nvPr/>
        </p:nvSpPr>
        <p:spPr>
          <a:xfrm>
            <a:off x="3421228" y="1554480"/>
            <a:ext cx="2560319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8639F75-7C97-69B7-60AB-D1D651A57B82}"/>
              </a:ext>
            </a:extLst>
          </p:cNvPr>
          <p:cNvSpPr/>
          <p:nvPr/>
        </p:nvSpPr>
        <p:spPr>
          <a:xfrm>
            <a:off x="3421228" y="1554480"/>
            <a:ext cx="2560319" cy="64008"/>
          </a:xfrm>
          <a:prstGeom prst="rect">
            <a:avLst/>
          </a:prstGeom>
          <a:solidFill>
            <a:srgbClr val="20809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09AAA4B-E9B5-1ED9-B181-5176BA0DABD0}"/>
              </a:ext>
            </a:extLst>
          </p:cNvPr>
          <p:cNvSpPr txBox="1"/>
          <p:nvPr/>
        </p:nvSpPr>
        <p:spPr>
          <a:xfrm>
            <a:off x="3695548" y="1783080"/>
            <a:ext cx="201168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400" b="1">
                <a:solidFill>
                  <a:srgbClr val="208090"/>
                </a:solidFill>
                <a:latin typeface="Arial" panose="020B0604020202020204" pitchFamily="34" charset="0"/>
              </a:rPr>
              <a:t>FINANCIAL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33669C9-AC13-E16E-279B-53A07DEB3199}"/>
              </a:ext>
            </a:extLst>
          </p:cNvPr>
          <p:cNvSpPr txBox="1"/>
          <p:nvPr/>
        </p:nvSpPr>
        <p:spPr>
          <a:xfrm>
            <a:off x="3695548" y="2194560"/>
            <a:ext cx="2011680" cy="492443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400" dirty="0">
                <a:solidFill>
                  <a:srgbClr val="4B4B4B"/>
                </a:solidFill>
                <a:latin typeface="Arial" panose="020B0604020202020204" pitchFamily="34" charset="0"/>
              </a:rPr>
              <a:t>Income, </a:t>
            </a:r>
            <a:r>
              <a:rPr lang="en-PH" sz="1400" dirty="0" err="1">
                <a:solidFill>
                  <a:srgbClr val="4B4B4B"/>
                </a:solidFill>
                <a:latin typeface="Arial" panose="020B0604020202020204" pitchFamily="34" charset="0"/>
              </a:rPr>
              <a:t>CreditLimit</a:t>
            </a:r>
            <a:r>
              <a:rPr lang="en-PH" sz="1400" dirty="0">
                <a:solidFill>
                  <a:srgbClr val="4B4B4B"/>
                </a:solidFill>
                <a:latin typeface="Arial" panose="020B0604020202020204" pitchFamily="34" charset="0"/>
              </a:rPr>
              <a:t>,</a:t>
            </a:r>
          </a:p>
          <a:p>
            <a:r>
              <a:rPr lang="en-PH" sz="1400" dirty="0" err="1">
                <a:solidFill>
                  <a:srgbClr val="4B4B4B"/>
                </a:solidFill>
                <a:latin typeface="Arial" panose="020B0604020202020204" pitchFamily="34" charset="0"/>
              </a:rPr>
              <a:t>TotalSpend</a:t>
            </a:r>
            <a:endParaRPr lang="en-PH" sz="1400" dirty="0">
              <a:solidFill>
                <a:srgbClr val="4B4B4B"/>
              </a:solidFill>
              <a:latin typeface="Arial" panose="020B0604020202020204" pitchFamily="34" charset="0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43F56BD2-0BF7-DF3D-9C60-78691C4B3FC5}"/>
              </a:ext>
            </a:extLst>
          </p:cNvPr>
          <p:cNvSpPr/>
          <p:nvPr/>
        </p:nvSpPr>
        <p:spPr>
          <a:xfrm>
            <a:off x="6210148" y="1554480"/>
            <a:ext cx="256032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EB928D3-582A-92F8-0053-E87FE5F5305D}"/>
              </a:ext>
            </a:extLst>
          </p:cNvPr>
          <p:cNvSpPr/>
          <p:nvPr/>
        </p:nvSpPr>
        <p:spPr>
          <a:xfrm>
            <a:off x="6210148" y="1554480"/>
            <a:ext cx="2560320" cy="64008"/>
          </a:xfrm>
          <a:prstGeom prst="rect">
            <a:avLst/>
          </a:prstGeom>
          <a:solidFill>
            <a:srgbClr val="16276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A5A8D3B-F21E-5F1D-D1FC-77ECFDBFA019}"/>
              </a:ext>
            </a:extLst>
          </p:cNvPr>
          <p:cNvSpPr txBox="1"/>
          <p:nvPr/>
        </p:nvSpPr>
        <p:spPr>
          <a:xfrm>
            <a:off x="6484468" y="1783080"/>
            <a:ext cx="201168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400" b="1">
                <a:solidFill>
                  <a:srgbClr val="162761"/>
                </a:solidFill>
                <a:latin typeface="Arial" panose="020B0604020202020204" pitchFamily="34" charset="0"/>
              </a:rPr>
              <a:t>BEHAVIORAL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34A6B75-D7F8-0482-F3AA-7E6BF307C36A}"/>
              </a:ext>
            </a:extLst>
          </p:cNvPr>
          <p:cNvSpPr txBox="1"/>
          <p:nvPr/>
        </p:nvSpPr>
        <p:spPr>
          <a:xfrm>
            <a:off x="6484468" y="2194560"/>
            <a:ext cx="2011680" cy="492443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400" dirty="0" err="1">
                <a:solidFill>
                  <a:srgbClr val="4B4B4B"/>
                </a:solidFill>
                <a:latin typeface="Arial" panose="020B0604020202020204" pitchFamily="34" charset="0"/>
              </a:rPr>
              <a:t>TotalTransactions</a:t>
            </a:r>
            <a:r>
              <a:rPr lang="en-PH" sz="1400" dirty="0">
                <a:solidFill>
                  <a:srgbClr val="4B4B4B"/>
                </a:solidFill>
                <a:latin typeface="Arial" panose="020B0604020202020204" pitchFamily="34" charset="0"/>
              </a:rPr>
              <a:t>,</a:t>
            </a:r>
          </a:p>
          <a:p>
            <a:r>
              <a:rPr lang="en-PH" sz="1400" dirty="0">
                <a:solidFill>
                  <a:srgbClr val="4B4B4B"/>
                </a:solidFill>
                <a:latin typeface="Arial" panose="020B0604020202020204" pitchFamily="34" charset="0"/>
              </a:rPr>
              <a:t>Tenure, </a:t>
            </a:r>
            <a:r>
              <a:rPr lang="en-PH" sz="1400" dirty="0" err="1">
                <a:solidFill>
                  <a:srgbClr val="4B4B4B"/>
                </a:solidFill>
                <a:latin typeface="Arial" panose="020B0604020202020204" pitchFamily="34" charset="0"/>
              </a:rPr>
              <a:t>CardType</a:t>
            </a:r>
            <a:endParaRPr lang="en-PH" sz="1400" dirty="0">
              <a:solidFill>
                <a:srgbClr val="4B4B4B"/>
              </a:solidFill>
              <a:latin typeface="Arial" panose="020B0604020202020204" pitchFamily="34" charset="0"/>
            </a:endParaRP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8BE3BAB1-1FD0-49CA-27B0-288B67350D5D}"/>
              </a:ext>
            </a:extLst>
          </p:cNvPr>
          <p:cNvSpPr/>
          <p:nvPr/>
        </p:nvSpPr>
        <p:spPr>
          <a:xfrm>
            <a:off x="8999068" y="1554480"/>
            <a:ext cx="2560319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7053E9E-3A32-426C-F954-BAFD587B0A6A}"/>
              </a:ext>
            </a:extLst>
          </p:cNvPr>
          <p:cNvSpPr/>
          <p:nvPr/>
        </p:nvSpPr>
        <p:spPr>
          <a:xfrm>
            <a:off x="8999068" y="1554480"/>
            <a:ext cx="2560319" cy="64008"/>
          </a:xfrm>
          <a:prstGeom prst="rect">
            <a:avLst/>
          </a:prstGeom>
          <a:solidFill>
            <a:srgbClr val="E8474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8A52357-5545-C4C8-58E0-7CBED19C0FE7}"/>
              </a:ext>
            </a:extLst>
          </p:cNvPr>
          <p:cNvSpPr txBox="1"/>
          <p:nvPr/>
        </p:nvSpPr>
        <p:spPr>
          <a:xfrm>
            <a:off x="9273388" y="1783080"/>
            <a:ext cx="201168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400" b="1">
                <a:solidFill>
                  <a:srgbClr val="E84747"/>
                </a:solidFill>
                <a:latin typeface="Arial" panose="020B0604020202020204" pitchFamily="34" charset="0"/>
              </a:rPr>
              <a:t>TARGET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C5DB2A9-E20B-854C-A35E-F54972D2F3B1}"/>
              </a:ext>
            </a:extLst>
          </p:cNvPr>
          <p:cNvSpPr txBox="1"/>
          <p:nvPr/>
        </p:nvSpPr>
        <p:spPr>
          <a:xfrm>
            <a:off x="9273388" y="2194560"/>
            <a:ext cx="2011680" cy="492443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 dirty="0" err="1">
                <a:solidFill>
                  <a:srgbClr val="4B4B4B"/>
                </a:solidFill>
                <a:latin typeface="Arial" panose="020B0604020202020204" pitchFamily="34" charset="0"/>
              </a:rPr>
              <a:t>AttritionFlag</a:t>
            </a:r>
            <a:r>
              <a:rPr lang="en-US" sz="1400" dirty="0">
                <a:solidFill>
                  <a:srgbClr val="4B4B4B"/>
                </a:solidFill>
                <a:latin typeface="Arial" panose="020B0604020202020204" pitchFamily="34" charset="0"/>
              </a:rPr>
              <a:t> (binary:</a:t>
            </a:r>
          </a:p>
          <a:p>
            <a:r>
              <a:rPr lang="en-US" sz="1400" dirty="0">
                <a:solidFill>
                  <a:srgbClr val="4B4B4B"/>
                </a:solidFill>
                <a:latin typeface="Arial" panose="020B0604020202020204" pitchFamily="34" charset="0"/>
              </a:rPr>
              <a:t>0 = Stayed, 1 = </a:t>
            </a:r>
            <a:r>
              <a:rPr lang="en-US" sz="1400" dirty="0" err="1">
                <a:solidFill>
                  <a:srgbClr val="4B4B4B"/>
                </a:solidFill>
                <a:latin typeface="Arial" panose="020B0604020202020204" pitchFamily="34" charset="0"/>
              </a:rPr>
              <a:t>Attrited</a:t>
            </a:r>
            <a:r>
              <a:rPr lang="en-US" sz="1400" dirty="0">
                <a:solidFill>
                  <a:srgbClr val="4B4B4B"/>
                </a:solidFill>
                <a:latin typeface="Arial" panose="020B0604020202020204" pitchFamily="34" charset="0"/>
              </a:rPr>
              <a:t>)</a:t>
            </a:r>
            <a:endParaRPr lang="en-PH" sz="1400" dirty="0">
              <a:solidFill>
                <a:srgbClr val="4B4B4B"/>
              </a:solidFill>
              <a:latin typeface="Arial" panose="020B0604020202020204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0D35969-378E-B622-D4CD-399E321CE9DD}"/>
              </a:ext>
            </a:extLst>
          </p:cNvPr>
          <p:cNvSpPr txBox="1"/>
          <p:nvPr/>
        </p:nvSpPr>
        <p:spPr>
          <a:xfrm>
            <a:off x="731520" y="3931920"/>
            <a:ext cx="4572000" cy="338554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600" b="1">
                <a:solidFill>
                  <a:srgbClr val="1A2A3D"/>
                </a:solidFill>
                <a:latin typeface="Arial" panose="020B0604020202020204" pitchFamily="34" charset="0"/>
              </a:rPr>
              <a:t>KEY NUMBERS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3C34109-760C-DD45-A797-C6FBD22E4426}"/>
              </a:ext>
            </a:extLst>
          </p:cNvPr>
          <p:cNvSpPr/>
          <p:nvPr/>
        </p:nvSpPr>
        <p:spPr>
          <a:xfrm>
            <a:off x="731520" y="4434840"/>
            <a:ext cx="10698479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3EBB1F4-46AF-EB51-25F2-7168F27D869B}"/>
              </a:ext>
            </a:extLst>
          </p:cNvPr>
          <p:cNvSpPr txBox="1"/>
          <p:nvPr/>
        </p:nvSpPr>
        <p:spPr>
          <a:xfrm>
            <a:off x="1188720" y="4572000"/>
            <a:ext cx="2011680" cy="646331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3600" b="1" dirty="0">
                <a:solidFill>
                  <a:srgbClr val="1A2A3D"/>
                </a:solidFill>
                <a:latin typeface="Arial" panose="020B0604020202020204" pitchFamily="34" charset="0"/>
              </a:rPr>
              <a:t>100,000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BF2391C-9B59-1F49-3237-480E8A3D2005}"/>
              </a:ext>
            </a:extLst>
          </p:cNvPr>
          <p:cNvSpPr txBox="1"/>
          <p:nvPr/>
        </p:nvSpPr>
        <p:spPr>
          <a:xfrm>
            <a:off x="1188720" y="5074920"/>
            <a:ext cx="2011680" cy="46166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1100" b="1" dirty="0">
                <a:solidFill>
                  <a:srgbClr val="9E9E9E"/>
                </a:solidFill>
                <a:latin typeface="Arial" panose="020B0604020202020204" pitchFamily="34" charset="0"/>
              </a:rPr>
              <a:t>Clean Records (post-</a:t>
            </a:r>
            <a:r>
              <a:rPr lang="en-PH" sz="1100" b="1" dirty="0" err="1">
                <a:solidFill>
                  <a:srgbClr val="9E9E9E"/>
                </a:solidFill>
                <a:latin typeface="Arial" panose="020B0604020202020204" pitchFamily="34" charset="0"/>
              </a:rPr>
              <a:t>dedup</a:t>
            </a:r>
            <a:r>
              <a:rPr lang="en-PH" sz="1100" b="1" dirty="0">
                <a:solidFill>
                  <a:srgbClr val="9E9E9E"/>
                </a:solidFill>
                <a:latin typeface="Arial" panose="020B0604020202020204" pitchFamily="34" charset="0"/>
              </a:rPr>
              <a:t>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9454ADB-550B-EFE9-4A0B-8653EF3D2D03}"/>
              </a:ext>
            </a:extLst>
          </p:cNvPr>
          <p:cNvSpPr txBox="1"/>
          <p:nvPr/>
        </p:nvSpPr>
        <p:spPr>
          <a:xfrm>
            <a:off x="3474720" y="4572000"/>
            <a:ext cx="2011680" cy="646331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3600" b="1">
                <a:solidFill>
                  <a:srgbClr val="E84747"/>
                </a:solidFill>
                <a:latin typeface="Arial" panose="020B0604020202020204" pitchFamily="34" charset="0"/>
              </a:rPr>
              <a:t>95 / 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8AF7C51-4438-9DC8-D4D3-937E2FC24C0C}"/>
              </a:ext>
            </a:extLst>
          </p:cNvPr>
          <p:cNvSpPr txBox="1"/>
          <p:nvPr/>
        </p:nvSpPr>
        <p:spPr>
          <a:xfrm>
            <a:off x="3474720" y="5074920"/>
            <a:ext cx="201168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1200" b="1" dirty="0">
                <a:solidFill>
                  <a:srgbClr val="9E9E9E"/>
                </a:solidFill>
                <a:latin typeface="Arial" panose="020B0604020202020204" pitchFamily="34" charset="0"/>
              </a:rPr>
              <a:t>Stayed vs. </a:t>
            </a:r>
            <a:r>
              <a:rPr lang="en-PH" sz="1200" b="1" dirty="0" err="1">
                <a:solidFill>
                  <a:srgbClr val="9E9E9E"/>
                </a:solidFill>
                <a:latin typeface="Arial" panose="020B0604020202020204" pitchFamily="34" charset="0"/>
              </a:rPr>
              <a:t>Attrited</a:t>
            </a:r>
            <a:r>
              <a:rPr lang="en-PH" sz="1200" b="1" dirty="0">
                <a:solidFill>
                  <a:srgbClr val="9E9E9E"/>
                </a:solidFill>
                <a:latin typeface="Arial" panose="020B0604020202020204" pitchFamily="34" charset="0"/>
              </a:rPr>
              <a:t> (%)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34F1DCB-FF24-2A4B-0B2D-B060C95F3FAF}"/>
              </a:ext>
            </a:extLst>
          </p:cNvPr>
          <p:cNvSpPr txBox="1"/>
          <p:nvPr/>
        </p:nvSpPr>
        <p:spPr>
          <a:xfrm>
            <a:off x="5760720" y="4572000"/>
            <a:ext cx="2011680" cy="646331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3600" b="1">
                <a:solidFill>
                  <a:srgbClr val="208090"/>
                </a:solidFill>
                <a:latin typeface="Arial" panose="020B0604020202020204" pitchFamily="34" charset="0"/>
              </a:rPr>
              <a:t>13 + 50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515310A-D457-A590-48AE-4E43570A04E6}"/>
              </a:ext>
            </a:extLst>
          </p:cNvPr>
          <p:cNvSpPr txBox="1"/>
          <p:nvPr/>
        </p:nvSpPr>
        <p:spPr>
          <a:xfrm>
            <a:off x="5760720" y="5074920"/>
            <a:ext cx="2011680" cy="46166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1100" b="1" dirty="0">
                <a:solidFill>
                  <a:srgbClr val="9E9E9E"/>
                </a:solidFill>
                <a:latin typeface="Arial" panose="020B0604020202020204" pitchFamily="34" charset="0"/>
              </a:rPr>
              <a:t>Core + Anonymous Features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18A743A-6A81-BDE7-3E1D-6C1E2B3DE3C8}"/>
              </a:ext>
            </a:extLst>
          </p:cNvPr>
          <p:cNvSpPr txBox="1"/>
          <p:nvPr/>
        </p:nvSpPr>
        <p:spPr>
          <a:xfrm>
            <a:off x="8046720" y="4572000"/>
            <a:ext cx="2560320" cy="646331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3600" b="1">
                <a:solidFill>
                  <a:srgbClr val="F08248"/>
                </a:solidFill>
                <a:latin typeface="Arial" panose="020B0604020202020204" pitchFamily="34" charset="0"/>
              </a:rPr>
              <a:t>~5,000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DCB58BC-3E03-C13C-E301-87C092294012}"/>
              </a:ext>
            </a:extLst>
          </p:cNvPr>
          <p:cNvSpPr txBox="1"/>
          <p:nvPr/>
        </p:nvSpPr>
        <p:spPr>
          <a:xfrm>
            <a:off x="8046720" y="5074920"/>
            <a:ext cx="256032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1200" b="1" dirty="0">
                <a:solidFill>
                  <a:srgbClr val="9E9E9E"/>
                </a:solidFill>
                <a:latin typeface="Arial" panose="020B0604020202020204" pitchFamily="34" charset="0"/>
              </a:rPr>
              <a:t>Missing per Column (~5%)</a:t>
            </a:r>
          </a:p>
        </p:txBody>
      </p:sp>
    </p:spTree>
    <p:extLst>
      <p:ext uri="{BB962C8B-B14F-4D97-AF65-F5344CB8AC3E}">
        <p14:creationId xmlns:p14="http://schemas.microsoft.com/office/powerpoint/2010/main" val="5866155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A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5796412-5A82-A86D-C9D6-18BE3357E4BF}"/>
              </a:ext>
            </a:extLst>
          </p:cNvPr>
          <p:cNvSpPr txBox="1"/>
          <p:nvPr/>
        </p:nvSpPr>
        <p:spPr>
          <a:xfrm>
            <a:off x="731520" y="1371600"/>
            <a:ext cx="4572000" cy="156966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9600" b="1">
                <a:solidFill>
                  <a:srgbClr val="F08248"/>
                </a:solidFill>
                <a:latin typeface="Arial" panose="020B0604020202020204" pitchFamily="34" charset="0"/>
              </a:rPr>
              <a:t>01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6C716CB-55FC-2F71-846F-9228BE3C431E}"/>
              </a:ext>
            </a:extLst>
          </p:cNvPr>
          <p:cNvSpPr/>
          <p:nvPr/>
        </p:nvSpPr>
        <p:spPr>
          <a:xfrm>
            <a:off x="731520" y="2743200"/>
            <a:ext cx="2743200" cy="36576"/>
          </a:xfrm>
          <a:prstGeom prst="rect">
            <a:avLst/>
          </a:prstGeom>
          <a:solidFill>
            <a:srgbClr val="F0824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1BB72DD-227A-8F6E-32F5-3FFFB5B5449D}"/>
              </a:ext>
            </a:extLst>
          </p:cNvPr>
          <p:cNvSpPr txBox="1"/>
          <p:nvPr/>
        </p:nvSpPr>
        <p:spPr>
          <a:xfrm>
            <a:off x="731520" y="3017520"/>
            <a:ext cx="9144000" cy="646331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3600" b="1">
                <a:solidFill>
                  <a:srgbClr val="FFFFFF"/>
                </a:solidFill>
                <a:latin typeface="Arial" panose="020B0604020202020204" pitchFamily="34" charset="0"/>
              </a:rPr>
              <a:t>Statistical Analysis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F6B3149-FD42-01F4-B1D2-1425A9E2E60B}"/>
              </a:ext>
            </a:extLst>
          </p:cNvPr>
          <p:cNvSpPr txBox="1"/>
          <p:nvPr/>
        </p:nvSpPr>
        <p:spPr>
          <a:xfrm>
            <a:off x="731520" y="3840480"/>
            <a:ext cx="73152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it-IT">
                <a:solidFill>
                  <a:srgbClr val="C8DCFC"/>
                </a:solidFill>
                <a:latin typeface="Arial" panose="020B0604020202020204" pitchFamily="34" charset="0"/>
              </a:rPr>
              <a:t>Univariate, Bivariate, Multivariate &amp; Significance Tests</a:t>
            </a:r>
            <a:endParaRPr lang="en-PH">
              <a:solidFill>
                <a:srgbClr val="C8DCFC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20184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5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8F53F50-3255-8A0F-5448-AD05520BBDE9}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824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BA468A4-1560-1303-3512-1CA59EFCEDA4}"/>
              </a:ext>
            </a:extLst>
          </p:cNvPr>
          <p:cNvSpPr txBox="1"/>
          <p:nvPr/>
        </p:nvSpPr>
        <p:spPr>
          <a:xfrm>
            <a:off x="731520" y="705642"/>
            <a:ext cx="10058400" cy="52322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2800" b="1" dirty="0">
                <a:solidFill>
                  <a:srgbClr val="1A2A3D"/>
                </a:solidFill>
                <a:latin typeface="Arial" panose="020B0604020202020204" pitchFamily="34" charset="0"/>
              </a:rPr>
              <a:t>1.1  Class Imbalance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AAEBCA6-5727-4420-1A4C-D42A0560036E}"/>
              </a:ext>
            </a:extLst>
          </p:cNvPr>
          <p:cNvSpPr/>
          <p:nvPr/>
        </p:nvSpPr>
        <p:spPr>
          <a:xfrm>
            <a:off x="731520" y="1645920"/>
            <a:ext cx="8686800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B330802-0835-4933-D02E-628A6044F8E0}"/>
              </a:ext>
            </a:extLst>
          </p:cNvPr>
          <p:cNvSpPr/>
          <p:nvPr/>
        </p:nvSpPr>
        <p:spPr>
          <a:xfrm>
            <a:off x="731520" y="1645920"/>
            <a:ext cx="8183879" cy="1097280"/>
          </a:xfrm>
          <a:prstGeom prst="rect">
            <a:avLst/>
          </a:prstGeom>
          <a:solidFill>
            <a:srgbClr val="20809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BE83910-3418-774B-9C95-7AE8F420C7D4}"/>
              </a:ext>
            </a:extLst>
          </p:cNvPr>
          <p:cNvSpPr txBox="1"/>
          <p:nvPr/>
        </p:nvSpPr>
        <p:spPr>
          <a:xfrm>
            <a:off x="1005840" y="1755648"/>
            <a:ext cx="2743200" cy="40011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2000" b="1">
                <a:solidFill>
                  <a:srgbClr val="FFFFFF"/>
                </a:solidFill>
                <a:latin typeface="Arial" panose="020B0604020202020204" pitchFamily="34" charset="0"/>
              </a:rPr>
              <a:t>STAYED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824544B-4509-11BD-A0D7-7C4BA2B99227}"/>
              </a:ext>
            </a:extLst>
          </p:cNvPr>
          <p:cNvSpPr txBox="1"/>
          <p:nvPr/>
        </p:nvSpPr>
        <p:spPr>
          <a:xfrm>
            <a:off x="1005840" y="2148840"/>
            <a:ext cx="4572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600" dirty="0">
                <a:solidFill>
                  <a:srgbClr val="FFFFFF"/>
                </a:solidFill>
                <a:latin typeface="Arial" panose="020B0604020202020204" pitchFamily="34" charset="0"/>
              </a:rPr>
              <a:t>95,040 customers  (95.04%)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ADC1C3B3-A91B-F32D-F507-AD32FFC0F3CE}"/>
              </a:ext>
            </a:extLst>
          </p:cNvPr>
          <p:cNvSpPr/>
          <p:nvPr/>
        </p:nvSpPr>
        <p:spPr>
          <a:xfrm>
            <a:off x="731520" y="2926080"/>
            <a:ext cx="8686800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EDEC22D-A315-DF2F-FAB9-9C611CB86964}"/>
              </a:ext>
            </a:extLst>
          </p:cNvPr>
          <p:cNvSpPr/>
          <p:nvPr/>
        </p:nvSpPr>
        <p:spPr>
          <a:xfrm>
            <a:off x="731520" y="2926080"/>
            <a:ext cx="448056" cy="1097280"/>
          </a:xfrm>
          <a:prstGeom prst="rect">
            <a:avLst/>
          </a:prstGeom>
          <a:solidFill>
            <a:srgbClr val="E8474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28BB1AE-DBFA-13FD-FCE8-97A3023B3FB9}"/>
              </a:ext>
            </a:extLst>
          </p:cNvPr>
          <p:cNvSpPr txBox="1"/>
          <p:nvPr/>
        </p:nvSpPr>
        <p:spPr>
          <a:xfrm>
            <a:off x="1371600" y="3035808"/>
            <a:ext cx="2743200" cy="40011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2000" b="1">
                <a:solidFill>
                  <a:srgbClr val="E84747"/>
                </a:solidFill>
                <a:latin typeface="Arial" panose="020B0604020202020204" pitchFamily="34" charset="0"/>
              </a:rPr>
              <a:t>ATTRITED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07CF9CD-8D6E-9488-F7F6-F83DDF6FB98C}"/>
              </a:ext>
            </a:extLst>
          </p:cNvPr>
          <p:cNvSpPr txBox="1"/>
          <p:nvPr/>
        </p:nvSpPr>
        <p:spPr>
          <a:xfrm>
            <a:off x="1371600" y="3429000"/>
            <a:ext cx="4572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600" dirty="0">
                <a:solidFill>
                  <a:srgbClr val="4B4B4B"/>
                </a:solidFill>
                <a:latin typeface="Arial" panose="020B0604020202020204" pitchFamily="34" charset="0"/>
              </a:rPr>
              <a:t>4,960 customers  (4.96%)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26F2533E-C667-757A-B45F-1E293A5069F4}"/>
              </a:ext>
            </a:extLst>
          </p:cNvPr>
          <p:cNvSpPr/>
          <p:nvPr/>
        </p:nvSpPr>
        <p:spPr>
          <a:xfrm>
            <a:off x="731520" y="4389120"/>
            <a:ext cx="5120640" cy="1645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FE0B8D7-0D9C-7398-AFA3-4605E7972D36}"/>
              </a:ext>
            </a:extLst>
          </p:cNvPr>
          <p:cNvSpPr/>
          <p:nvPr/>
        </p:nvSpPr>
        <p:spPr>
          <a:xfrm>
            <a:off x="731520" y="4389120"/>
            <a:ext cx="54864" cy="1645920"/>
          </a:xfrm>
          <a:prstGeom prst="rect">
            <a:avLst/>
          </a:prstGeom>
          <a:solidFill>
            <a:srgbClr val="E8474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84F44F6-BD52-0E4D-B8C7-80B43CFFB02E}"/>
              </a:ext>
            </a:extLst>
          </p:cNvPr>
          <p:cNvSpPr txBox="1"/>
          <p:nvPr/>
        </p:nvSpPr>
        <p:spPr>
          <a:xfrm>
            <a:off x="1097280" y="4526280"/>
            <a:ext cx="4572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400" b="1">
                <a:solidFill>
                  <a:srgbClr val="E84747"/>
                </a:solidFill>
                <a:latin typeface="Arial" panose="020B0604020202020204" pitchFamily="34" charset="0"/>
              </a:rPr>
              <a:t>IMPLICATION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08BDFA4-7E1F-A9C5-2F13-B1099D06E3DD}"/>
              </a:ext>
            </a:extLst>
          </p:cNvPr>
          <p:cNvSpPr txBox="1"/>
          <p:nvPr/>
        </p:nvSpPr>
        <p:spPr>
          <a:xfrm>
            <a:off x="1097280" y="4892040"/>
            <a:ext cx="4572000" cy="69249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 dirty="0">
                <a:solidFill>
                  <a:srgbClr val="4B4B4B"/>
                </a:solidFill>
                <a:latin typeface="Arial" panose="020B0604020202020204" pitchFamily="34" charset="0"/>
              </a:rPr>
              <a:t>Model must not default to always predicting the majority class. Oversampling and class-weighting strategies are required.</a:t>
            </a:r>
            <a:endParaRPr lang="en-PH" sz="1300" b="1" dirty="0">
              <a:solidFill>
                <a:srgbClr val="4B4B4B"/>
              </a:solidFill>
              <a:latin typeface="Arial" panose="020B0604020202020204" pitchFamily="34" charset="0"/>
            </a:endParaRP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56CFAD54-B865-9C94-40D2-A753E5B08645}"/>
              </a:ext>
            </a:extLst>
          </p:cNvPr>
          <p:cNvSpPr/>
          <p:nvPr/>
        </p:nvSpPr>
        <p:spPr>
          <a:xfrm>
            <a:off x="6217920" y="4389120"/>
            <a:ext cx="5212080" cy="1645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DA50090-8F2F-D38B-E091-77CC36B98F2F}"/>
              </a:ext>
            </a:extLst>
          </p:cNvPr>
          <p:cNvSpPr/>
          <p:nvPr/>
        </p:nvSpPr>
        <p:spPr>
          <a:xfrm>
            <a:off x="6217920" y="4389120"/>
            <a:ext cx="54864" cy="1645920"/>
          </a:xfrm>
          <a:prstGeom prst="rect">
            <a:avLst/>
          </a:prstGeom>
          <a:solidFill>
            <a:srgbClr val="20809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C68CD0D-5041-E6FF-D1B0-699C2D6495EC}"/>
              </a:ext>
            </a:extLst>
          </p:cNvPr>
          <p:cNvSpPr txBox="1"/>
          <p:nvPr/>
        </p:nvSpPr>
        <p:spPr>
          <a:xfrm>
            <a:off x="6583680" y="4526280"/>
            <a:ext cx="4572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 b="1" dirty="0">
                <a:solidFill>
                  <a:srgbClr val="208090"/>
                </a:solidFill>
                <a:latin typeface="Arial" panose="020B0604020202020204" pitchFamily="34" charset="0"/>
              </a:rPr>
              <a:t>N</a:t>
            </a:r>
            <a:r>
              <a:rPr lang="en-PH" sz="1400" b="1" dirty="0">
                <a:solidFill>
                  <a:srgbClr val="208090"/>
                </a:solidFill>
                <a:latin typeface="Arial" panose="020B0604020202020204" pitchFamily="34" charset="0"/>
              </a:rPr>
              <a:t>OTE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10D918E-FDBC-170B-1B4F-A5B61CAEB38A}"/>
              </a:ext>
            </a:extLst>
          </p:cNvPr>
          <p:cNvSpPr txBox="1"/>
          <p:nvPr/>
        </p:nvSpPr>
        <p:spPr>
          <a:xfrm>
            <a:off x="6583680" y="4892040"/>
            <a:ext cx="4572000" cy="492443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 dirty="0">
                <a:solidFill>
                  <a:srgbClr val="4B4B4B"/>
                </a:solidFill>
                <a:latin typeface="Arial" panose="020B0604020202020204" pitchFamily="34" charset="0"/>
              </a:rPr>
              <a:t>After </a:t>
            </a:r>
            <a:r>
              <a:rPr lang="en-US" sz="1300" b="1" dirty="0" err="1">
                <a:solidFill>
                  <a:srgbClr val="4B4B4B"/>
                </a:solidFill>
                <a:latin typeface="Arial" panose="020B0604020202020204" pitchFamily="34" charset="0"/>
              </a:rPr>
              <a:t>drop_duplicates</a:t>
            </a:r>
            <a:r>
              <a:rPr lang="en-US" sz="1300" b="1" dirty="0">
                <a:solidFill>
                  <a:srgbClr val="4B4B4B"/>
                </a:solidFill>
                <a:latin typeface="Arial" panose="020B0604020202020204" pitchFamily="34" charset="0"/>
              </a:rPr>
              <a:t>(), 1,000 duplicate rows removed. 100,000 clean records remain. </a:t>
            </a:r>
            <a:endParaRPr lang="en-PH" sz="1300" b="1" dirty="0">
              <a:solidFill>
                <a:srgbClr val="4B4B4B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708599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5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90A948E-1609-15BC-5379-5621E1F81074}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824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B0A6A59-617F-3091-1A7E-499423CF3203}"/>
              </a:ext>
            </a:extLst>
          </p:cNvPr>
          <p:cNvSpPr txBox="1"/>
          <p:nvPr/>
        </p:nvSpPr>
        <p:spPr>
          <a:xfrm>
            <a:off x="731520" y="574061"/>
            <a:ext cx="10058400" cy="52322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2800" b="1" dirty="0">
                <a:solidFill>
                  <a:srgbClr val="1A2A3D"/>
                </a:solidFill>
                <a:latin typeface="Arial" panose="020B0604020202020204" pitchFamily="34" charset="0"/>
              </a:rPr>
              <a:t>1.2  Univariate Analysis (Continuous Features)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F1D64E80-6699-A802-0FB7-E4AF10E13C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98106210"/>
              </p:ext>
            </p:extLst>
          </p:nvPr>
        </p:nvGraphicFramePr>
        <p:xfrm>
          <a:off x="731520" y="1463040"/>
          <a:ext cx="10698480" cy="329184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9696">
                  <a:extLst>
                    <a:ext uri="{9D8B030D-6E8A-4147-A177-3AD203B41FA5}">
                      <a16:colId xmlns:a16="http://schemas.microsoft.com/office/drawing/2014/main" val="4280153726"/>
                    </a:ext>
                  </a:extLst>
                </a:gridCol>
                <a:gridCol w="2139696">
                  <a:extLst>
                    <a:ext uri="{9D8B030D-6E8A-4147-A177-3AD203B41FA5}">
                      <a16:colId xmlns:a16="http://schemas.microsoft.com/office/drawing/2014/main" val="3779617053"/>
                    </a:ext>
                  </a:extLst>
                </a:gridCol>
                <a:gridCol w="2139696">
                  <a:extLst>
                    <a:ext uri="{9D8B030D-6E8A-4147-A177-3AD203B41FA5}">
                      <a16:colId xmlns:a16="http://schemas.microsoft.com/office/drawing/2014/main" val="301493826"/>
                    </a:ext>
                  </a:extLst>
                </a:gridCol>
                <a:gridCol w="2139696">
                  <a:extLst>
                    <a:ext uri="{9D8B030D-6E8A-4147-A177-3AD203B41FA5}">
                      <a16:colId xmlns:a16="http://schemas.microsoft.com/office/drawing/2014/main" val="2206180655"/>
                    </a:ext>
                  </a:extLst>
                </a:gridCol>
                <a:gridCol w="2139696">
                  <a:extLst>
                    <a:ext uri="{9D8B030D-6E8A-4147-A177-3AD203B41FA5}">
                      <a16:colId xmlns:a16="http://schemas.microsoft.com/office/drawing/2014/main" val="1445964569"/>
                    </a:ext>
                  </a:extLst>
                </a:gridCol>
              </a:tblGrid>
              <a:tr h="470263">
                <a:tc>
                  <a:txBody>
                    <a:bodyPr/>
                    <a:lstStyle/>
                    <a:p>
                      <a:pPr algn="ctr"/>
                      <a:r>
                        <a:rPr lang="en-PH" sz="14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Feature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38100" cmpd="sng">
                      <a:solidFill>
                        <a:srgbClr val="D0D0D0"/>
                      </a:solidFill>
                    </a:lnB>
                    <a:solidFill>
                      <a:srgbClr val="1A2A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4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Mean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38100" cmpd="sng">
                      <a:solidFill>
                        <a:srgbClr val="D0D0D0"/>
                      </a:solidFill>
                    </a:lnB>
                    <a:solidFill>
                      <a:srgbClr val="1A2A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4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Median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38100" cmpd="sng">
                      <a:solidFill>
                        <a:srgbClr val="D0D0D0"/>
                      </a:solidFill>
                    </a:lnB>
                    <a:solidFill>
                      <a:srgbClr val="1A2A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4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Skewness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38100" cmpd="sng">
                      <a:solidFill>
                        <a:srgbClr val="D0D0D0"/>
                      </a:solidFill>
                    </a:lnB>
                    <a:solidFill>
                      <a:srgbClr val="1A2A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4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Distribution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38100" cmpd="sng">
                      <a:solidFill>
                        <a:srgbClr val="D0D0D0"/>
                      </a:solidFill>
                    </a:lnB>
                    <a:solidFill>
                      <a:srgbClr val="1A2A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1492285"/>
                  </a:ext>
                </a:extLst>
              </a:tr>
              <a:tr h="470263">
                <a:tc>
                  <a:txBody>
                    <a:bodyPr/>
                    <a:lstStyle/>
                    <a:p>
                      <a:pPr algn="ctr"/>
                      <a:r>
                        <a:rPr lang="en-PH" sz="13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Age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381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3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44.51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381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3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45.0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381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3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-0.002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381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3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Symmetric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381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3099969"/>
                  </a:ext>
                </a:extLst>
              </a:tr>
              <a:tr h="470263">
                <a:tc>
                  <a:txBody>
                    <a:bodyPr/>
                    <a:lstStyle/>
                    <a:p>
                      <a:pPr algn="ctr"/>
                      <a:r>
                        <a:rPr lang="en-PH" sz="13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Income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3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75,907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3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70,263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3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10.01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3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Highly Right-Skewed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0F5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61134097"/>
                  </a:ext>
                </a:extLst>
              </a:tr>
              <a:tr h="470263">
                <a:tc>
                  <a:txBody>
                    <a:bodyPr/>
                    <a:lstStyle/>
                    <a:p>
                      <a:pPr algn="ctr"/>
                      <a:r>
                        <a:rPr lang="en-PH" sz="13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TotalSpend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3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5,191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3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5,029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3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5.09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3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Highly Right-Skewed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2840622"/>
                  </a:ext>
                </a:extLst>
              </a:tr>
              <a:tr h="470263">
                <a:tc>
                  <a:txBody>
                    <a:bodyPr/>
                    <a:lstStyle/>
                    <a:p>
                      <a:pPr algn="ctr"/>
                      <a:r>
                        <a:rPr lang="en-PH" sz="13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TotalTransactions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3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99.99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3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100.0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3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0.10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3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Symmetric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0F5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44256715"/>
                  </a:ext>
                </a:extLst>
              </a:tr>
              <a:tr h="470263">
                <a:tc>
                  <a:txBody>
                    <a:bodyPr/>
                    <a:lstStyle/>
                    <a:p>
                      <a:pPr algn="ctr"/>
                      <a:r>
                        <a:rPr lang="en-PH" sz="13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CreditLimit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300" dirty="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14981.00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3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14,964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300" dirty="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0.00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300" dirty="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Symmetric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42515031"/>
                  </a:ext>
                </a:extLst>
              </a:tr>
              <a:tr h="470263">
                <a:tc>
                  <a:txBody>
                    <a:bodyPr/>
                    <a:lstStyle/>
                    <a:p>
                      <a:pPr algn="ctr"/>
                      <a:r>
                        <a:rPr lang="en-PH" sz="13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Tenure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1</a:t>
                      </a:r>
                      <a:r>
                        <a:rPr lang="en-PH" sz="1300" dirty="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0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3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10 yrs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0</a:t>
                      </a:r>
                      <a:r>
                        <a:rPr lang="en-PH" sz="1300" dirty="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.00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300" dirty="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Symmetric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0F5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841803"/>
                  </a:ext>
                </a:extLst>
              </a:tr>
            </a:tbl>
          </a:graphicData>
        </a:graphic>
      </p:graphicFrame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5ED1CE70-1F83-2629-7A41-9AC62E705D84}"/>
              </a:ext>
            </a:extLst>
          </p:cNvPr>
          <p:cNvSpPr/>
          <p:nvPr/>
        </p:nvSpPr>
        <p:spPr>
          <a:xfrm>
            <a:off x="731520" y="5120640"/>
            <a:ext cx="10698479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3F94154-7054-B94A-8C4F-7BA3D1C67624}"/>
              </a:ext>
            </a:extLst>
          </p:cNvPr>
          <p:cNvSpPr/>
          <p:nvPr/>
        </p:nvSpPr>
        <p:spPr>
          <a:xfrm>
            <a:off x="731520" y="5120640"/>
            <a:ext cx="54864" cy="1097280"/>
          </a:xfrm>
          <a:prstGeom prst="rect">
            <a:avLst/>
          </a:prstGeom>
          <a:solidFill>
            <a:srgbClr val="E8B839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260003B-E870-2BC0-74B9-CD851D55F6E9}"/>
              </a:ext>
            </a:extLst>
          </p:cNvPr>
          <p:cNvSpPr txBox="1"/>
          <p:nvPr/>
        </p:nvSpPr>
        <p:spPr>
          <a:xfrm>
            <a:off x="1097280" y="5193792"/>
            <a:ext cx="1097280" cy="292388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300" b="1">
                <a:solidFill>
                  <a:srgbClr val="E8B839"/>
                </a:solidFill>
                <a:latin typeface="Arial" panose="020B0604020202020204" pitchFamily="34" charset="0"/>
              </a:rPr>
              <a:t>INSIGHT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6739371-CB57-F4B5-25D9-BF69EDDC9BC1}"/>
              </a:ext>
            </a:extLst>
          </p:cNvPr>
          <p:cNvSpPr txBox="1"/>
          <p:nvPr/>
        </p:nvSpPr>
        <p:spPr>
          <a:xfrm>
            <a:off x="2286000" y="5193792"/>
            <a:ext cx="8686800" cy="492443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dirty="0">
                <a:solidFill>
                  <a:srgbClr val="4B4B4B"/>
                </a:solidFill>
                <a:highlight>
                  <a:srgbClr val="FFFF00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Income</a:t>
            </a:r>
            <a:r>
              <a:rPr lang="en-US" sz="1600" dirty="0">
                <a:solidFill>
                  <a:srgbClr val="4B4B4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sz="1600" dirty="0" err="1">
                <a:solidFill>
                  <a:srgbClr val="4B4B4B"/>
                </a:solidFill>
                <a:highlight>
                  <a:srgbClr val="FFFF00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TotalSpend</a:t>
            </a:r>
            <a:r>
              <a:rPr lang="en-US" sz="1600" dirty="0">
                <a:solidFill>
                  <a:srgbClr val="4B4B4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exhibit extreme right skew (&gt;5) with leptokurtic tails. This drives the decision to </a:t>
            </a:r>
            <a:r>
              <a:rPr lang="en-US" sz="1600" b="1" dirty="0">
                <a:solidFill>
                  <a:srgbClr val="4B4B4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use median imputation for missing values </a:t>
            </a:r>
            <a:r>
              <a:rPr lang="en-US" sz="1600" dirty="0">
                <a:solidFill>
                  <a:srgbClr val="4B4B4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and </a:t>
            </a:r>
            <a:r>
              <a:rPr lang="en-US" sz="1600" b="1" dirty="0" err="1">
                <a:solidFill>
                  <a:srgbClr val="4B4B4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winsorization</a:t>
            </a:r>
            <a:r>
              <a:rPr lang="en-US" sz="1600" b="1" dirty="0">
                <a:solidFill>
                  <a:srgbClr val="4B4B4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for the outliers</a:t>
            </a:r>
            <a:r>
              <a:rPr lang="en-US" sz="1600" dirty="0">
                <a:solidFill>
                  <a:srgbClr val="4B4B4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(will be used for Logistic Regression). </a:t>
            </a:r>
            <a:endParaRPr lang="en-PH" sz="1600" dirty="0">
              <a:solidFill>
                <a:srgbClr val="4B4B4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634560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5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87DF40E-E899-E28C-1CB2-FD3466F647BB}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824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7AF3F08-512E-4EC6-40C5-E8B7A1A80E84}"/>
              </a:ext>
            </a:extLst>
          </p:cNvPr>
          <p:cNvSpPr txBox="1"/>
          <p:nvPr/>
        </p:nvSpPr>
        <p:spPr>
          <a:xfrm>
            <a:off x="731520" y="665500"/>
            <a:ext cx="10058400" cy="52322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800" b="1" dirty="0">
                <a:solidFill>
                  <a:srgbClr val="1A2A3D"/>
                </a:solidFill>
                <a:latin typeface="Arial" panose="020B0604020202020204" pitchFamily="34" charset="0"/>
              </a:rPr>
              <a:t>1.3  Data Quality Issues Identified</a:t>
            </a:r>
            <a:endParaRPr lang="en-PH" sz="2800" b="1" dirty="0">
              <a:solidFill>
                <a:srgbClr val="1A2A3D"/>
              </a:solidFill>
              <a:latin typeface="Arial" panose="020B0604020202020204" pitchFamily="34" charset="0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41F68D5F-24F0-5EA8-1F8A-2F08817E5616}"/>
              </a:ext>
            </a:extLst>
          </p:cNvPr>
          <p:cNvSpPr/>
          <p:nvPr/>
        </p:nvSpPr>
        <p:spPr>
          <a:xfrm>
            <a:off x="731520" y="1463040"/>
            <a:ext cx="347472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4866F27-8023-DA11-B403-9E19CB9E164C}"/>
              </a:ext>
            </a:extLst>
          </p:cNvPr>
          <p:cNvSpPr/>
          <p:nvPr/>
        </p:nvSpPr>
        <p:spPr>
          <a:xfrm>
            <a:off x="731520" y="1463040"/>
            <a:ext cx="3474720" cy="54864"/>
          </a:xfrm>
          <a:prstGeom prst="rect">
            <a:avLst/>
          </a:prstGeom>
          <a:solidFill>
            <a:srgbClr val="F0824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C0A2B56-0348-3FAC-2410-45A0CAEC9A69}"/>
              </a:ext>
            </a:extLst>
          </p:cNvPr>
          <p:cNvSpPr txBox="1"/>
          <p:nvPr/>
        </p:nvSpPr>
        <p:spPr>
          <a:xfrm>
            <a:off x="1005840" y="1691640"/>
            <a:ext cx="2926080" cy="32316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500" b="1">
                <a:solidFill>
                  <a:srgbClr val="F08248"/>
                </a:solidFill>
                <a:latin typeface="Arial" panose="020B0604020202020204" pitchFamily="34" charset="0"/>
              </a:rPr>
              <a:t>Missing Values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421D6E7-42A4-FDB2-3041-F806BC2DEC82}"/>
              </a:ext>
            </a:extLst>
          </p:cNvPr>
          <p:cNvSpPr txBox="1"/>
          <p:nvPr/>
        </p:nvSpPr>
        <p:spPr>
          <a:xfrm>
            <a:off x="1005840" y="2103120"/>
            <a:ext cx="2926080" cy="40011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2000" b="1">
                <a:solidFill>
                  <a:srgbClr val="1A2A3D"/>
                </a:solidFill>
                <a:latin typeface="Arial" panose="020B0604020202020204" pitchFamily="34" charset="0"/>
              </a:rPr>
              <a:t>~5,000 each (~5%)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4238DCE-8F4A-BDB8-5981-69CBFFB950A7}"/>
              </a:ext>
            </a:extLst>
          </p:cNvPr>
          <p:cNvSpPr txBox="1"/>
          <p:nvPr/>
        </p:nvSpPr>
        <p:spPr>
          <a:xfrm>
            <a:off x="1005840" y="2606040"/>
            <a:ext cx="2926080" cy="46166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200" dirty="0">
                <a:solidFill>
                  <a:srgbClr val="9E9E9E"/>
                </a:solidFill>
                <a:latin typeface="Arial" panose="020B0604020202020204" pitchFamily="34" charset="0"/>
              </a:rPr>
              <a:t>Action: Median imputation + _</a:t>
            </a:r>
            <a:r>
              <a:rPr lang="en-US" sz="1200" dirty="0" err="1">
                <a:solidFill>
                  <a:srgbClr val="9E9E9E"/>
                </a:solidFill>
                <a:latin typeface="Arial" panose="020B0604020202020204" pitchFamily="34" charset="0"/>
              </a:rPr>
              <a:t>is_missing</a:t>
            </a:r>
            <a:r>
              <a:rPr lang="en-US" sz="1200" dirty="0">
                <a:solidFill>
                  <a:srgbClr val="9E9E9E"/>
                </a:solidFill>
                <a:latin typeface="Arial" panose="020B0604020202020204" pitchFamily="34" charset="0"/>
              </a:rPr>
              <a:t> flag</a:t>
            </a:r>
            <a:endParaRPr lang="en-PH" sz="1200" dirty="0">
              <a:solidFill>
                <a:srgbClr val="9E9E9E"/>
              </a:solidFill>
              <a:latin typeface="Arial" panose="020B0604020202020204" pitchFamily="34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975D6AC8-63C2-239D-47AA-97B6E4FFAB23}"/>
              </a:ext>
            </a:extLst>
          </p:cNvPr>
          <p:cNvSpPr/>
          <p:nvPr/>
        </p:nvSpPr>
        <p:spPr>
          <a:xfrm>
            <a:off x="4434840" y="1463040"/>
            <a:ext cx="347472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7C82BA5-15E2-6E7E-FE19-A1583665133D}"/>
              </a:ext>
            </a:extLst>
          </p:cNvPr>
          <p:cNvSpPr/>
          <p:nvPr/>
        </p:nvSpPr>
        <p:spPr>
          <a:xfrm>
            <a:off x="4434840" y="1463040"/>
            <a:ext cx="3474720" cy="54864"/>
          </a:xfrm>
          <a:prstGeom prst="rect">
            <a:avLst/>
          </a:prstGeom>
          <a:solidFill>
            <a:srgbClr val="E8474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481E991-E167-E534-C227-BD8AADE8BE03}"/>
              </a:ext>
            </a:extLst>
          </p:cNvPr>
          <p:cNvSpPr txBox="1"/>
          <p:nvPr/>
        </p:nvSpPr>
        <p:spPr>
          <a:xfrm>
            <a:off x="4709160" y="1691640"/>
            <a:ext cx="2926080" cy="32316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500" b="1">
                <a:solidFill>
                  <a:srgbClr val="E84747"/>
                </a:solidFill>
                <a:latin typeface="Arial" panose="020B0604020202020204" pitchFamily="34" charset="0"/>
              </a:rPr>
              <a:t>Negative Income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3046118-DDEF-CE46-F9F2-A1903EEA07D2}"/>
              </a:ext>
            </a:extLst>
          </p:cNvPr>
          <p:cNvSpPr txBox="1"/>
          <p:nvPr/>
        </p:nvSpPr>
        <p:spPr>
          <a:xfrm>
            <a:off x="4709160" y="2103120"/>
            <a:ext cx="2926080" cy="40011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2000" b="1">
                <a:solidFill>
                  <a:srgbClr val="1A2A3D"/>
                </a:solidFill>
                <a:latin typeface="Arial" panose="020B0604020202020204" pitchFamily="34" charset="0"/>
              </a:rPr>
              <a:t>23 records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7C61186-E60E-B953-E2A0-67DB5E370D66}"/>
              </a:ext>
            </a:extLst>
          </p:cNvPr>
          <p:cNvSpPr txBox="1"/>
          <p:nvPr/>
        </p:nvSpPr>
        <p:spPr>
          <a:xfrm>
            <a:off x="4709160" y="2606040"/>
            <a:ext cx="292608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200" dirty="0">
                <a:solidFill>
                  <a:srgbClr val="9E9E9E"/>
                </a:solidFill>
                <a:latin typeface="Arial" panose="020B0604020202020204" pitchFamily="34" charset="0"/>
              </a:rPr>
              <a:t>Action: Flagged as </a:t>
            </a:r>
            <a:r>
              <a:rPr lang="en-US" sz="1200" dirty="0" err="1">
                <a:solidFill>
                  <a:srgbClr val="9E9E9E"/>
                </a:solidFill>
                <a:latin typeface="Arial" panose="020B0604020202020204" pitchFamily="34" charset="0"/>
              </a:rPr>
              <a:t>Income_is_negative</a:t>
            </a:r>
            <a:endParaRPr lang="en-PH" sz="1200" dirty="0">
              <a:solidFill>
                <a:srgbClr val="9E9E9E"/>
              </a:solidFill>
              <a:latin typeface="Arial" panose="020B0604020202020204" pitchFamily="34" charset="0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B05FEF43-4085-F544-69CE-AB0FD10570BC}"/>
              </a:ext>
            </a:extLst>
          </p:cNvPr>
          <p:cNvSpPr/>
          <p:nvPr/>
        </p:nvSpPr>
        <p:spPr>
          <a:xfrm>
            <a:off x="8138160" y="1463040"/>
            <a:ext cx="347472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587903A-93DE-8B97-E9BC-56FF1A75C477}"/>
              </a:ext>
            </a:extLst>
          </p:cNvPr>
          <p:cNvSpPr/>
          <p:nvPr/>
        </p:nvSpPr>
        <p:spPr>
          <a:xfrm>
            <a:off x="8138160" y="1463040"/>
            <a:ext cx="3474720" cy="54864"/>
          </a:xfrm>
          <a:prstGeom prst="rect">
            <a:avLst/>
          </a:prstGeom>
          <a:solidFill>
            <a:srgbClr val="E8474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50FB657-F738-12FA-B711-95CF2ABFCCEF}"/>
              </a:ext>
            </a:extLst>
          </p:cNvPr>
          <p:cNvSpPr txBox="1"/>
          <p:nvPr/>
        </p:nvSpPr>
        <p:spPr>
          <a:xfrm>
            <a:off x="8412480" y="1691640"/>
            <a:ext cx="2926080" cy="32316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500" b="1">
                <a:solidFill>
                  <a:srgbClr val="E84747"/>
                </a:solidFill>
                <a:latin typeface="Arial" panose="020B0604020202020204" pitchFamily="34" charset="0"/>
              </a:rPr>
              <a:t>Negative CreditLimit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DBE3E4E-6C15-685F-FBCE-D346C278384B}"/>
              </a:ext>
            </a:extLst>
          </p:cNvPr>
          <p:cNvSpPr txBox="1"/>
          <p:nvPr/>
        </p:nvSpPr>
        <p:spPr>
          <a:xfrm>
            <a:off x="8412480" y="2103120"/>
            <a:ext cx="2926080" cy="40011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2000" b="1">
                <a:solidFill>
                  <a:srgbClr val="1A2A3D"/>
                </a:solidFill>
                <a:latin typeface="Arial" panose="020B0604020202020204" pitchFamily="34" charset="0"/>
              </a:rPr>
              <a:t>142 records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70C6BE9-4CDD-3E48-1D21-274229B6FDA5}"/>
              </a:ext>
            </a:extLst>
          </p:cNvPr>
          <p:cNvSpPr txBox="1"/>
          <p:nvPr/>
        </p:nvSpPr>
        <p:spPr>
          <a:xfrm>
            <a:off x="8412480" y="2606040"/>
            <a:ext cx="2926080" cy="46166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200">
                <a:solidFill>
                  <a:srgbClr val="9E9E9E"/>
                </a:solidFill>
                <a:latin typeface="Arial" panose="020B0604020202020204" pitchFamily="34" charset="0"/>
              </a:rPr>
              <a:t>Action: Flagged as CreditLimit_is_negative</a:t>
            </a:r>
            <a:endParaRPr lang="en-PH" sz="1200">
              <a:solidFill>
                <a:srgbClr val="9E9E9E"/>
              </a:solidFill>
              <a:latin typeface="Arial" panose="020B0604020202020204" pitchFamily="34" charset="0"/>
            </a:endParaRP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3E8C76FB-C056-E8D1-EA65-EF36A6E29065}"/>
              </a:ext>
            </a:extLst>
          </p:cNvPr>
          <p:cNvSpPr/>
          <p:nvPr/>
        </p:nvSpPr>
        <p:spPr>
          <a:xfrm>
            <a:off x="731520" y="3840480"/>
            <a:ext cx="347472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605BADF-C70D-D02A-59E5-5E188A56F3C9}"/>
              </a:ext>
            </a:extLst>
          </p:cNvPr>
          <p:cNvSpPr/>
          <p:nvPr/>
        </p:nvSpPr>
        <p:spPr>
          <a:xfrm>
            <a:off x="731520" y="3840480"/>
            <a:ext cx="3474720" cy="54864"/>
          </a:xfrm>
          <a:prstGeom prst="rect">
            <a:avLst/>
          </a:prstGeom>
          <a:solidFill>
            <a:srgbClr val="E8474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54DB7ED-2F52-200A-B5DE-79CADC5131A1}"/>
              </a:ext>
            </a:extLst>
          </p:cNvPr>
          <p:cNvSpPr txBox="1"/>
          <p:nvPr/>
        </p:nvSpPr>
        <p:spPr>
          <a:xfrm>
            <a:off x="1005840" y="4069080"/>
            <a:ext cx="2926080" cy="32316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500" b="1">
                <a:solidFill>
                  <a:srgbClr val="E84747"/>
                </a:solidFill>
                <a:latin typeface="Arial" panose="020B0604020202020204" pitchFamily="34" charset="0"/>
              </a:rPr>
              <a:t>Negative TotalSpend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9A6B8AE-C72B-3D88-E20C-5A407C0C264F}"/>
              </a:ext>
            </a:extLst>
          </p:cNvPr>
          <p:cNvSpPr txBox="1"/>
          <p:nvPr/>
        </p:nvSpPr>
        <p:spPr>
          <a:xfrm>
            <a:off x="1005840" y="4480560"/>
            <a:ext cx="2926080" cy="40011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2000" b="1">
                <a:solidFill>
                  <a:srgbClr val="1A2A3D"/>
                </a:solidFill>
                <a:latin typeface="Arial" panose="020B0604020202020204" pitchFamily="34" charset="0"/>
              </a:rPr>
              <a:t>578 (~0.5%)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4A3B362-938A-FEA6-36F1-8C36600A2B74}"/>
              </a:ext>
            </a:extLst>
          </p:cNvPr>
          <p:cNvSpPr txBox="1"/>
          <p:nvPr/>
        </p:nvSpPr>
        <p:spPr>
          <a:xfrm>
            <a:off x="1005840" y="4983480"/>
            <a:ext cx="2926080" cy="46166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200">
                <a:solidFill>
                  <a:srgbClr val="9E9E9E"/>
                </a:solidFill>
                <a:latin typeface="Arial" panose="020B0604020202020204" pitchFamily="34" charset="0"/>
              </a:rPr>
              <a:t>Action: Flagged as TotalSpend_is_negative</a:t>
            </a:r>
            <a:endParaRPr lang="en-PH" sz="1200">
              <a:solidFill>
                <a:srgbClr val="9E9E9E"/>
              </a:solidFill>
              <a:latin typeface="Arial" panose="020B0604020202020204" pitchFamily="34" charset="0"/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12A08A82-2106-3953-F128-56D38BEB21D0}"/>
              </a:ext>
            </a:extLst>
          </p:cNvPr>
          <p:cNvSpPr/>
          <p:nvPr/>
        </p:nvSpPr>
        <p:spPr>
          <a:xfrm>
            <a:off x="4434840" y="3840480"/>
            <a:ext cx="347472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711AFC17-FF8F-29AB-4FD7-A85ACBD8C874}"/>
              </a:ext>
            </a:extLst>
          </p:cNvPr>
          <p:cNvSpPr/>
          <p:nvPr/>
        </p:nvSpPr>
        <p:spPr>
          <a:xfrm>
            <a:off x="4434840" y="3840480"/>
            <a:ext cx="3474720" cy="54864"/>
          </a:xfrm>
          <a:prstGeom prst="rect">
            <a:avLst/>
          </a:prstGeom>
          <a:solidFill>
            <a:srgbClr val="20809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AFDC2B7-5845-54EC-1012-F4D6EFE40CEB}"/>
              </a:ext>
            </a:extLst>
          </p:cNvPr>
          <p:cNvSpPr txBox="1"/>
          <p:nvPr/>
        </p:nvSpPr>
        <p:spPr>
          <a:xfrm>
            <a:off x="4709160" y="4069080"/>
            <a:ext cx="2926080" cy="32316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500" b="1">
                <a:solidFill>
                  <a:srgbClr val="208090"/>
                </a:solidFill>
                <a:latin typeface="Arial" panose="020B0604020202020204" pitchFamily="34" charset="0"/>
              </a:rPr>
              <a:t>Duplicate Records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F23C243-54AF-2870-FF1B-3589271DF175}"/>
              </a:ext>
            </a:extLst>
          </p:cNvPr>
          <p:cNvSpPr txBox="1"/>
          <p:nvPr/>
        </p:nvSpPr>
        <p:spPr>
          <a:xfrm>
            <a:off x="4709160" y="4480560"/>
            <a:ext cx="2926080" cy="40011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2000" b="1">
                <a:solidFill>
                  <a:srgbClr val="1A2A3D"/>
                </a:solidFill>
                <a:latin typeface="Arial" panose="020B0604020202020204" pitchFamily="34" charset="0"/>
              </a:rPr>
              <a:t>1,000 exact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308D0DB-381A-4816-E293-71EFEB139110}"/>
              </a:ext>
            </a:extLst>
          </p:cNvPr>
          <p:cNvSpPr txBox="1"/>
          <p:nvPr/>
        </p:nvSpPr>
        <p:spPr>
          <a:xfrm>
            <a:off x="4709160" y="4983480"/>
            <a:ext cx="292608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200">
                <a:solidFill>
                  <a:srgbClr val="9E9E9E"/>
                </a:solidFill>
                <a:latin typeface="Arial" panose="020B0604020202020204" pitchFamily="34" charset="0"/>
              </a:rPr>
              <a:t>Action: Dropped via drop_duplicates()</a:t>
            </a:r>
            <a:endParaRPr lang="en-PH" sz="1200">
              <a:solidFill>
                <a:srgbClr val="9E9E9E"/>
              </a:solidFill>
              <a:latin typeface="Arial" panose="020B0604020202020204" pitchFamily="34" charset="0"/>
            </a:endParaRP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FFFB56C3-0F53-AAC9-A8AF-41932B3FF604}"/>
              </a:ext>
            </a:extLst>
          </p:cNvPr>
          <p:cNvSpPr/>
          <p:nvPr/>
        </p:nvSpPr>
        <p:spPr>
          <a:xfrm>
            <a:off x="8138160" y="3840480"/>
            <a:ext cx="347472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C6B11896-E4BF-AC9B-4F37-2B029C719258}"/>
              </a:ext>
            </a:extLst>
          </p:cNvPr>
          <p:cNvSpPr/>
          <p:nvPr/>
        </p:nvSpPr>
        <p:spPr>
          <a:xfrm>
            <a:off x="8138160" y="3840480"/>
            <a:ext cx="3474720" cy="54864"/>
          </a:xfrm>
          <a:prstGeom prst="rect">
            <a:avLst/>
          </a:prstGeom>
          <a:solidFill>
            <a:srgbClr val="16276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5867BE4-CC42-15B9-D5DB-4D81C48CF6EE}"/>
              </a:ext>
            </a:extLst>
          </p:cNvPr>
          <p:cNvSpPr txBox="1"/>
          <p:nvPr/>
        </p:nvSpPr>
        <p:spPr>
          <a:xfrm>
            <a:off x="8412480" y="4069080"/>
            <a:ext cx="2926080" cy="32316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500" b="1">
                <a:solidFill>
                  <a:srgbClr val="162761"/>
                </a:solidFill>
                <a:latin typeface="Arial" panose="020B0604020202020204" pitchFamily="34" charset="0"/>
              </a:rPr>
              <a:t>High Cardinality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19446C2-8F16-697F-B99B-3F6623F0C98E}"/>
              </a:ext>
            </a:extLst>
          </p:cNvPr>
          <p:cNvSpPr txBox="1"/>
          <p:nvPr/>
        </p:nvSpPr>
        <p:spPr>
          <a:xfrm>
            <a:off x="8412480" y="4480560"/>
            <a:ext cx="2926080" cy="40011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2000" b="1">
                <a:solidFill>
                  <a:srgbClr val="1A2A3D"/>
                </a:solidFill>
                <a:latin typeface="Arial" panose="020B0604020202020204" pitchFamily="34" charset="0"/>
              </a:rPr>
              <a:t>Country: 100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A37E864-ADDE-22A2-EFE2-888D711749CB}"/>
              </a:ext>
            </a:extLst>
          </p:cNvPr>
          <p:cNvSpPr txBox="1"/>
          <p:nvPr/>
        </p:nvSpPr>
        <p:spPr>
          <a:xfrm>
            <a:off x="8412480" y="4983480"/>
            <a:ext cx="292608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200">
                <a:solidFill>
                  <a:srgbClr val="9E9E9E"/>
                </a:solidFill>
                <a:latin typeface="Arial" panose="020B0604020202020204" pitchFamily="34" charset="0"/>
              </a:rPr>
              <a:t>Action: Target Encoding (smoothed)</a:t>
            </a:r>
          </a:p>
        </p:txBody>
      </p:sp>
    </p:spTree>
    <p:extLst>
      <p:ext uri="{BB962C8B-B14F-4D97-AF65-F5344CB8AC3E}">
        <p14:creationId xmlns:p14="http://schemas.microsoft.com/office/powerpoint/2010/main" val="21759040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5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AB1174A-BD83-A620-9195-79FE98EB8661}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824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C2364F7-3E36-743F-245F-08B6DE4E8446}"/>
              </a:ext>
            </a:extLst>
          </p:cNvPr>
          <p:cNvSpPr txBox="1"/>
          <p:nvPr/>
        </p:nvSpPr>
        <p:spPr>
          <a:xfrm>
            <a:off x="731520" y="365760"/>
            <a:ext cx="10058400" cy="52322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800" b="1" dirty="0">
                <a:solidFill>
                  <a:srgbClr val="1A2A3D"/>
                </a:solidFill>
                <a:latin typeface="Arial" panose="020B0604020202020204" pitchFamily="34" charset="0"/>
              </a:rPr>
              <a:t>1.4  Univariate Analysis (Categorical Features)</a:t>
            </a:r>
            <a:endParaRPr lang="en-PH" sz="2800" b="1" dirty="0">
              <a:solidFill>
                <a:srgbClr val="1A2A3D"/>
              </a:solidFill>
              <a:latin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65881EC-5EB9-2773-68AB-6FCA9A4B4444}"/>
              </a:ext>
            </a:extLst>
          </p:cNvPr>
          <p:cNvSpPr txBox="1"/>
          <p:nvPr/>
        </p:nvSpPr>
        <p:spPr>
          <a:xfrm>
            <a:off x="731520" y="868680"/>
            <a:ext cx="100584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 dirty="0">
                <a:latin typeface="Arial" panose="020B0604020202020204" pitchFamily="34" charset="0"/>
              </a:rPr>
              <a:t>Chi-square tests reveal NO significant association with attrition</a:t>
            </a:r>
            <a:endParaRPr lang="en-PH" sz="1600" b="1" dirty="0">
              <a:latin typeface="Arial" panose="020B0604020202020204" pitchFamily="34" charset="0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D594B5AE-9EF4-6CE2-6EE9-B27F020DF1AF}"/>
              </a:ext>
            </a:extLst>
          </p:cNvPr>
          <p:cNvSpPr/>
          <p:nvPr/>
        </p:nvSpPr>
        <p:spPr>
          <a:xfrm>
            <a:off x="792328" y="1554480"/>
            <a:ext cx="2514600" cy="2926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10DFAE2-8640-03AF-0FC3-910B887B41AC}"/>
              </a:ext>
            </a:extLst>
          </p:cNvPr>
          <p:cNvSpPr txBox="1"/>
          <p:nvPr/>
        </p:nvSpPr>
        <p:spPr>
          <a:xfrm>
            <a:off x="1020928" y="1737360"/>
            <a:ext cx="2057400" cy="36576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700" b="1">
                <a:solidFill>
                  <a:srgbClr val="1A2A3D"/>
                </a:solidFill>
                <a:latin typeface="Arial" panose="020B0604020202020204" pitchFamily="34" charset="0"/>
              </a:rPr>
              <a:t>Gender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AD7AE59-F477-7277-55DA-11D2B751A92C}"/>
              </a:ext>
            </a:extLst>
          </p:cNvPr>
          <p:cNvSpPr/>
          <p:nvPr/>
        </p:nvSpPr>
        <p:spPr>
          <a:xfrm>
            <a:off x="1020928" y="2148840"/>
            <a:ext cx="1371600" cy="18288"/>
          </a:xfrm>
          <a:prstGeom prst="rect">
            <a:avLst/>
          </a:prstGeom>
          <a:solidFill>
            <a:srgbClr val="F0824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7FAA9DB-535D-9AC5-3420-8ECEE7DCE80F}"/>
              </a:ext>
            </a:extLst>
          </p:cNvPr>
          <p:cNvSpPr txBox="1"/>
          <p:nvPr/>
        </p:nvSpPr>
        <p:spPr>
          <a:xfrm>
            <a:off x="1020928" y="2331720"/>
            <a:ext cx="2057400" cy="46166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200">
                <a:solidFill>
                  <a:srgbClr val="4B4B4B"/>
                </a:solidFill>
                <a:latin typeface="Arial" panose="020B0604020202020204" pitchFamily="34" charset="0"/>
              </a:rPr>
              <a:t>Male 5.02%  |  Female 4.91%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9AD169F-3A21-8772-E660-2DF97A737072}"/>
              </a:ext>
            </a:extLst>
          </p:cNvPr>
          <p:cNvSpPr txBox="1"/>
          <p:nvPr/>
        </p:nvSpPr>
        <p:spPr>
          <a:xfrm>
            <a:off x="1020928" y="3063240"/>
            <a:ext cx="2057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200">
                <a:solidFill>
                  <a:srgbClr val="9E9E9E"/>
                </a:solidFill>
                <a:latin typeface="Arial" panose="020B0604020202020204" pitchFamily="34" charset="0"/>
              </a:rPr>
              <a:t>Chi2 p = 0.43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29D825E-AA32-0E82-C6F8-E5EA83DD9325}"/>
              </a:ext>
            </a:extLst>
          </p:cNvPr>
          <p:cNvSpPr/>
          <p:nvPr/>
        </p:nvSpPr>
        <p:spPr>
          <a:xfrm>
            <a:off x="1020928" y="3520440"/>
            <a:ext cx="2057400" cy="411480"/>
          </a:xfrm>
          <a:prstGeom prst="roundRect">
            <a:avLst>
              <a:gd name="adj" fmla="val 6000"/>
            </a:avLst>
          </a:prstGeom>
          <a:solidFill>
            <a:srgbClr val="E8474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A6004F3-E890-BA74-BECF-C5FB5041BA14}"/>
              </a:ext>
            </a:extLst>
          </p:cNvPr>
          <p:cNvSpPr txBox="1"/>
          <p:nvPr/>
        </p:nvSpPr>
        <p:spPr>
          <a:xfrm>
            <a:off x="1020928" y="3547872"/>
            <a:ext cx="2057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1200" b="1">
                <a:solidFill>
                  <a:srgbClr val="FFFFFF"/>
                </a:solidFill>
                <a:latin typeface="Arial" panose="020B0604020202020204" pitchFamily="34" charset="0"/>
              </a:rPr>
              <a:t>NOT SIGNIFICANT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93BA3B8F-C9FE-985D-BA7C-CEB6EB87FFFD}"/>
              </a:ext>
            </a:extLst>
          </p:cNvPr>
          <p:cNvSpPr/>
          <p:nvPr/>
        </p:nvSpPr>
        <p:spPr>
          <a:xfrm>
            <a:off x="3489808" y="1554480"/>
            <a:ext cx="2514600" cy="2926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2DD96AB-3087-FC52-5A08-9023C41D9354}"/>
              </a:ext>
            </a:extLst>
          </p:cNvPr>
          <p:cNvSpPr txBox="1"/>
          <p:nvPr/>
        </p:nvSpPr>
        <p:spPr>
          <a:xfrm>
            <a:off x="3718408" y="1737360"/>
            <a:ext cx="2057400" cy="36576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700" b="1">
                <a:solidFill>
                  <a:srgbClr val="1A2A3D"/>
                </a:solidFill>
                <a:latin typeface="Arial" panose="020B0604020202020204" pitchFamily="34" charset="0"/>
              </a:rPr>
              <a:t>MaritalStatus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EECF4EB-7CD3-B8BA-8BB5-800D117B9014}"/>
              </a:ext>
            </a:extLst>
          </p:cNvPr>
          <p:cNvSpPr/>
          <p:nvPr/>
        </p:nvSpPr>
        <p:spPr>
          <a:xfrm>
            <a:off x="3718408" y="2148840"/>
            <a:ext cx="1371600" cy="18288"/>
          </a:xfrm>
          <a:prstGeom prst="rect">
            <a:avLst/>
          </a:prstGeom>
          <a:solidFill>
            <a:srgbClr val="F0824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D81D112-09F6-0901-FBF4-52F7FF9AEAD9}"/>
              </a:ext>
            </a:extLst>
          </p:cNvPr>
          <p:cNvSpPr txBox="1"/>
          <p:nvPr/>
        </p:nvSpPr>
        <p:spPr>
          <a:xfrm>
            <a:off x="3718408" y="2331720"/>
            <a:ext cx="2057400" cy="46166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200">
                <a:solidFill>
                  <a:srgbClr val="4B4B4B"/>
                </a:solidFill>
                <a:latin typeface="Arial" panose="020B0604020202020204" pitchFamily="34" charset="0"/>
              </a:rPr>
              <a:t>Widowed 5.12%  |  Single 4.86%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5AF5F42-7900-8EB9-6D22-D054FE2C3A44}"/>
              </a:ext>
            </a:extLst>
          </p:cNvPr>
          <p:cNvSpPr txBox="1"/>
          <p:nvPr/>
        </p:nvSpPr>
        <p:spPr>
          <a:xfrm>
            <a:off x="3718408" y="3063240"/>
            <a:ext cx="2057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200">
                <a:solidFill>
                  <a:srgbClr val="9E9E9E"/>
                </a:solidFill>
                <a:latin typeface="Arial" panose="020B0604020202020204" pitchFamily="34" charset="0"/>
              </a:rPr>
              <a:t>Chi2 p = 0.47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0F046DC3-05E2-1D9E-595D-CF7118A2F57A}"/>
              </a:ext>
            </a:extLst>
          </p:cNvPr>
          <p:cNvSpPr/>
          <p:nvPr/>
        </p:nvSpPr>
        <p:spPr>
          <a:xfrm>
            <a:off x="3718408" y="3520440"/>
            <a:ext cx="2057400" cy="411480"/>
          </a:xfrm>
          <a:prstGeom prst="roundRect">
            <a:avLst>
              <a:gd name="adj" fmla="val 6000"/>
            </a:avLst>
          </a:prstGeom>
          <a:solidFill>
            <a:srgbClr val="E8474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CF92DFD-1F06-08CE-272C-96ABA7055366}"/>
              </a:ext>
            </a:extLst>
          </p:cNvPr>
          <p:cNvSpPr txBox="1"/>
          <p:nvPr/>
        </p:nvSpPr>
        <p:spPr>
          <a:xfrm>
            <a:off x="3718408" y="3547872"/>
            <a:ext cx="2057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1200" b="1">
                <a:solidFill>
                  <a:srgbClr val="FFFFFF"/>
                </a:solidFill>
                <a:latin typeface="Arial" panose="020B0604020202020204" pitchFamily="34" charset="0"/>
              </a:rPr>
              <a:t>NOT SIGNIFICANT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80FC032D-1819-9C29-AB48-B4120ACF7452}"/>
              </a:ext>
            </a:extLst>
          </p:cNvPr>
          <p:cNvSpPr/>
          <p:nvPr/>
        </p:nvSpPr>
        <p:spPr>
          <a:xfrm>
            <a:off x="6187287" y="1554480"/>
            <a:ext cx="2514600" cy="2926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C4166C0-35B4-8819-F56E-B82BB61EEFC5}"/>
              </a:ext>
            </a:extLst>
          </p:cNvPr>
          <p:cNvSpPr txBox="1"/>
          <p:nvPr/>
        </p:nvSpPr>
        <p:spPr>
          <a:xfrm>
            <a:off x="6415887" y="1737360"/>
            <a:ext cx="2057400" cy="36576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700" b="1">
                <a:solidFill>
                  <a:srgbClr val="1A2A3D"/>
                </a:solidFill>
                <a:latin typeface="Arial" panose="020B0604020202020204" pitchFamily="34" charset="0"/>
              </a:rPr>
              <a:t>EducationLevel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8D52377-A53C-11F5-B7E1-C587707BEFA7}"/>
              </a:ext>
            </a:extLst>
          </p:cNvPr>
          <p:cNvSpPr/>
          <p:nvPr/>
        </p:nvSpPr>
        <p:spPr>
          <a:xfrm>
            <a:off x="6415887" y="2148840"/>
            <a:ext cx="1371600" cy="18288"/>
          </a:xfrm>
          <a:prstGeom prst="rect">
            <a:avLst/>
          </a:prstGeom>
          <a:solidFill>
            <a:srgbClr val="F0824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33533EA-51D5-FC61-412E-31AB103D42E9}"/>
              </a:ext>
            </a:extLst>
          </p:cNvPr>
          <p:cNvSpPr txBox="1"/>
          <p:nvPr/>
        </p:nvSpPr>
        <p:spPr>
          <a:xfrm>
            <a:off x="6415887" y="2331720"/>
            <a:ext cx="2057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200">
                <a:solidFill>
                  <a:srgbClr val="4B4B4B"/>
                </a:solidFill>
                <a:latin typeface="Arial" panose="020B0604020202020204" pitchFamily="34" charset="0"/>
              </a:rPr>
              <a:t>Master 5.12%  |  HS 4.80%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B8BE7CD-D9DE-FA58-A6A8-965E8FC66E74}"/>
              </a:ext>
            </a:extLst>
          </p:cNvPr>
          <p:cNvSpPr txBox="1"/>
          <p:nvPr/>
        </p:nvSpPr>
        <p:spPr>
          <a:xfrm>
            <a:off x="6415887" y="3063240"/>
            <a:ext cx="2057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200">
                <a:solidFill>
                  <a:srgbClr val="9E9E9E"/>
                </a:solidFill>
                <a:latin typeface="Arial" panose="020B0604020202020204" pitchFamily="34" charset="0"/>
              </a:rPr>
              <a:t>Chi2 p = 0.33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CE3CAA17-23B5-39ED-F162-08F497B82576}"/>
              </a:ext>
            </a:extLst>
          </p:cNvPr>
          <p:cNvSpPr/>
          <p:nvPr/>
        </p:nvSpPr>
        <p:spPr>
          <a:xfrm>
            <a:off x="6415887" y="3520440"/>
            <a:ext cx="2057400" cy="411480"/>
          </a:xfrm>
          <a:prstGeom prst="roundRect">
            <a:avLst>
              <a:gd name="adj" fmla="val 6000"/>
            </a:avLst>
          </a:prstGeom>
          <a:solidFill>
            <a:srgbClr val="E8474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E79DD98-01ED-B238-265D-17D6B50BCD2B}"/>
              </a:ext>
            </a:extLst>
          </p:cNvPr>
          <p:cNvSpPr txBox="1"/>
          <p:nvPr/>
        </p:nvSpPr>
        <p:spPr>
          <a:xfrm>
            <a:off x="6415887" y="3547872"/>
            <a:ext cx="2057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1200" b="1">
                <a:solidFill>
                  <a:srgbClr val="FFFFFF"/>
                </a:solidFill>
                <a:latin typeface="Arial" panose="020B0604020202020204" pitchFamily="34" charset="0"/>
              </a:rPr>
              <a:t>NOT SIGNIFICANT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AF10817A-4D42-3DD1-6297-82E569597F8F}"/>
              </a:ext>
            </a:extLst>
          </p:cNvPr>
          <p:cNvSpPr/>
          <p:nvPr/>
        </p:nvSpPr>
        <p:spPr>
          <a:xfrm>
            <a:off x="8884768" y="1554480"/>
            <a:ext cx="2514600" cy="2926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C4405A7-38FF-690E-53C8-EB8F3DB546C9}"/>
              </a:ext>
            </a:extLst>
          </p:cNvPr>
          <p:cNvSpPr txBox="1"/>
          <p:nvPr/>
        </p:nvSpPr>
        <p:spPr>
          <a:xfrm>
            <a:off x="9113368" y="1737360"/>
            <a:ext cx="2057400" cy="36576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700" b="1">
                <a:solidFill>
                  <a:srgbClr val="1A2A3D"/>
                </a:solidFill>
                <a:latin typeface="Arial" panose="020B0604020202020204" pitchFamily="34" charset="0"/>
              </a:rPr>
              <a:t>CardType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EF33204C-D235-5B73-173A-2D0C9D4F661D}"/>
              </a:ext>
            </a:extLst>
          </p:cNvPr>
          <p:cNvSpPr/>
          <p:nvPr/>
        </p:nvSpPr>
        <p:spPr>
          <a:xfrm>
            <a:off x="9113368" y="2148840"/>
            <a:ext cx="1371600" cy="18288"/>
          </a:xfrm>
          <a:prstGeom prst="rect">
            <a:avLst/>
          </a:prstGeom>
          <a:solidFill>
            <a:srgbClr val="F0824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314DA9D-1EDD-83C0-8F2E-F7238A182C8B}"/>
              </a:ext>
            </a:extLst>
          </p:cNvPr>
          <p:cNvSpPr txBox="1"/>
          <p:nvPr/>
        </p:nvSpPr>
        <p:spPr>
          <a:xfrm>
            <a:off x="9113368" y="2331720"/>
            <a:ext cx="2057400" cy="46166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200">
                <a:solidFill>
                  <a:srgbClr val="4B4B4B"/>
                </a:solidFill>
                <a:latin typeface="Arial" panose="020B0604020202020204" pitchFamily="34" charset="0"/>
              </a:rPr>
              <a:t>Marginal spread across types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0AF5F49-F64E-815E-A15D-F29630573585}"/>
              </a:ext>
            </a:extLst>
          </p:cNvPr>
          <p:cNvSpPr txBox="1"/>
          <p:nvPr/>
        </p:nvSpPr>
        <p:spPr>
          <a:xfrm>
            <a:off x="9113368" y="3063240"/>
            <a:ext cx="2057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200">
                <a:solidFill>
                  <a:srgbClr val="9E9E9E"/>
                </a:solidFill>
                <a:latin typeface="Arial" panose="020B0604020202020204" pitchFamily="34" charset="0"/>
              </a:rPr>
              <a:t>Cramer's V negligible</a:t>
            </a: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1D93AFBB-27C4-1C7D-3C88-E23D4FDF1892}"/>
              </a:ext>
            </a:extLst>
          </p:cNvPr>
          <p:cNvSpPr/>
          <p:nvPr/>
        </p:nvSpPr>
        <p:spPr>
          <a:xfrm>
            <a:off x="9113368" y="3520440"/>
            <a:ext cx="2057400" cy="411480"/>
          </a:xfrm>
          <a:prstGeom prst="roundRect">
            <a:avLst>
              <a:gd name="adj" fmla="val 6000"/>
            </a:avLst>
          </a:prstGeom>
          <a:solidFill>
            <a:srgbClr val="E8474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21867B9-D327-6EAF-CDAC-FA5E2C2BF968}"/>
              </a:ext>
            </a:extLst>
          </p:cNvPr>
          <p:cNvSpPr txBox="1"/>
          <p:nvPr/>
        </p:nvSpPr>
        <p:spPr>
          <a:xfrm>
            <a:off x="9113368" y="3547872"/>
            <a:ext cx="2057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1200" b="1">
                <a:solidFill>
                  <a:srgbClr val="FFFFFF"/>
                </a:solidFill>
                <a:latin typeface="Arial" panose="020B0604020202020204" pitchFamily="34" charset="0"/>
              </a:rPr>
              <a:t>NOT SIGNIFICANT</a:t>
            </a:r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5B89D5C8-521D-E018-A0D4-63F53318A643}"/>
              </a:ext>
            </a:extLst>
          </p:cNvPr>
          <p:cNvSpPr/>
          <p:nvPr/>
        </p:nvSpPr>
        <p:spPr>
          <a:xfrm>
            <a:off x="731520" y="4846320"/>
            <a:ext cx="10698479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26296D1B-184D-7730-B210-A1F33291D06A}"/>
              </a:ext>
            </a:extLst>
          </p:cNvPr>
          <p:cNvSpPr/>
          <p:nvPr/>
        </p:nvSpPr>
        <p:spPr>
          <a:xfrm>
            <a:off x="731520" y="4846320"/>
            <a:ext cx="54864" cy="1280160"/>
          </a:xfrm>
          <a:prstGeom prst="rect">
            <a:avLst/>
          </a:prstGeom>
          <a:solidFill>
            <a:srgbClr val="F0824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F3636E7-B39A-F3BE-E468-4F8E6D471796}"/>
              </a:ext>
            </a:extLst>
          </p:cNvPr>
          <p:cNvSpPr txBox="1"/>
          <p:nvPr/>
        </p:nvSpPr>
        <p:spPr>
          <a:xfrm>
            <a:off x="1097280" y="4983480"/>
            <a:ext cx="3347398" cy="32004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 b="1" dirty="0">
                <a:solidFill>
                  <a:srgbClr val="1A2A3D"/>
                </a:solidFill>
                <a:latin typeface="Arial" panose="020B0604020202020204" pitchFamily="34" charset="0"/>
              </a:rPr>
              <a:t>N</a:t>
            </a:r>
            <a:r>
              <a:rPr lang="en-PH" sz="1400" b="1" dirty="0" err="1">
                <a:solidFill>
                  <a:srgbClr val="1A2A3D"/>
                </a:solidFill>
                <a:latin typeface="Arial" panose="020B0604020202020204" pitchFamily="34" charset="0"/>
              </a:rPr>
              <a:t>ote</a:t>
            </a:r>
            <a:r>
              <a:rPr lang="en-PH" sz="1400" b="1" dirty="0">
                <a:solidFill>
                  <a:srgbClr val="1A2A3D"/>
                </a:solidFill>
                <a:latin typeface="Arial" panose="020B0604020202020204" pitchFamily="34" charset="0"/>
              </a:rPr>
              <a:t> for Country (100 unique values)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71237B9-7A9E-755A-0942-5D61DF105699}"/>
              </a:ext>
            </a:extLst>
          </p:cNvPr>
          <p:cNvSpPr txBox="1"/>
          <p:nvPr/>
        </p:nvSpPr>
        <p:spPr>
          <a:xfrm>
            <a:off x="1097280" y="5349240"/>
            <a:ext cx="9601200" cy="492443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 dirty="0">
                <a:solidFill>
                  <a:srgbClr val="4B4B4B"/>
                </a:solidFill>
                <a:latin typeface="Arial" panose="020B0604020202020204" pitchFamily="34" charset="0"/>
              </a:rPr>
              <a:t>Target Encoding std dev = 0.0068 (extremely narrow). Zero high-risk countries identified (0 countries exceed 1.5x global churn rate). Geography adds no predictive value.</a:t>
            </a:r>
            <a:endParaRPr lang="en-PH" sz="1300" b="1" dirty="0">
              <a:solidFill>
                <a:srgbClr val="4B4B4B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0805662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5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21BB262-82FE-767B-C43A-32906FFE2895}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824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4177BF2-4731-C1F0-E503-D2F172C10D2F}"/>
              </a:ext>
            </a:extLst>
          </p:cNvPr>
          <p:cNvSpPr txBox="1"/>
          <p:nvPr/>
        </p:nvSpPr>
        <p:spPr>
          <a:xfrm>
            <a:off x="731520" y="365760"/>
            <a:ext cx="10058400" cy="52322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sv-SE" sz="2800" b="1" dirty="0">
                <a:solidFill>
                  <a:srgbClr val="1A2A3D"/>
                </a:solidFill>
                <a:latin typeface="Arial" panose="020B0604020202020204" pitchFamily="34" charset="0"/>
              </a:rPr>
              <a:t>1.5  Bivariate Analysis (Numeric vs. Attrition)</a:t>
            </a:r>
            <a:endParaRPr lang="en-PH" sz="2800" b="1" dirty="0">
              <a:solidFill>
                <a:srgbClr val="1A2A3D"/>
              </a:solidFill>
              <a:latin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DC2F2F2-4E31-A3E0-DC1D-98929711F0D3}"/>
              </a:ext>
            </a:extLst>
          </p:cNvPr>
          <p:cNvSpPr txBox="1"/>
          <p:nvPr/>
        </p:nvSpPr>
        <p:spPr>
          <a:xfrm>
            <a:off x="731520" y="868680"/>
            <a:ext cx="100584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 b="1" dirty="0">
                <a:latin typeface="Arial" panose="020B0604020202020204" pitchFamily="34" charset="0"/>
              </a:rPr>
              <a:t>Median comparisons reveal near-zero difference across all features</a:t>
            </a:r>
            <a:endParaRPr lang="en-PH" sz="1400" b="1" dirty="0">
              <a:latin typeface="Arial" panose="020B0604020202020204" pitchFamily="34" charset="0"/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1C50F32-3FAD-82C2-4322-C6272B6A739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13130569"/>
              </p:ext>
            </p:extLst>
          </p:nvPr>
        </p:nvGraphicFramePr>
        <p:xfrm>
          <a:off x="731520" y="1463040"/>
          <a:ext cx="10698480" cy="292607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9696">
                  <a:extLst>
                    <a:ext uri="{9D8B030D-6E8A-4147-A177-3AD203B41FA5}">
                      <a16:colId xmlns:a16="http://schemas.microsoft.com/office/drawing/2014/main" val="2007866615"/>
                    </a:ext>
                  </a:extLst>
                </a:gridCol>
                <a:gridCol w="2139696">
                  <a:extLst>
                    <a:ext uri="{9D8B030D-6E8A-4147-A177-3AD203B41FA5}">
                      <a16:colId xmlns:a16="http://schemas.microsoft.com/office/drawing/2014/main" val="681417500"/>
                    </a:ext>
                  </a:extLst>
                </a:gridCol>
                <a:gridCol w="2139696">
                  <a:extLst>
                    <a:ext uri="{9D8B030D-6E8A-4147-A177-3AD203B41FA5}">
                      <a16:colId xmlns:a16="http://schemas.microsoft.com/office/drawing/2014/main" val="1441881520"/>
                    </a:ext>
                  </a:extLst>
                </a:gridCol>
                <a:gridCol w="2139696">
                  <a:extLst>
                    <a:ext uri="{9D8B030D-6E8A-4147-A177-3AD203B41FA5}">
                      <a16:colId xmlns:a16="http://schemas.microsoft.com/office/drawing/2014/main" val="2762079961"/>
                    </a:ext>
                  </a:extLst>
                </a:gridCol>
                <a:gridCol w="2139696">
                  <a:extLst>
                    <a:ext uri="{9D8B030D-6E8A-4147-A177-3AD203B41FA5}">
                      <a16:colId xmlns:a16="http://schemas.microsoft.com/office/drawing/2014/main" val="2656414560"/>
                    </a:ext>
                  </a:extLst>
                </a:gridCol>
              </a:tblGrid>
              <a:tr h="418011">
                <a:tc>
                  <a:txBody>
                    <a:bodyPr/>
                    <a:lstStyle/>
                    <a:p>
                      <a:pPr algn="ctr"/>
                      <a:r>
                        <a:rPr lang="en-PH" sz="13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Feature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38100" cmpd="sng">
                      <a:solidFill>
                        <a:srgbClr val="D0D0D0"/>
                      </a:solidFill>
                    </a:lnB>
                    <a:solidFill>
                      <a:srgbClr val="1A2A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3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Median (Stayed)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38100" cmpd="sng">
                      <a:solidFill>
                        <a:srgbClr val="D0D0D0"/>
                      </a:solidFill>
                    </a:lnB>
                    <a:solidFill>
                      <a:srgbClr val="1A2A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3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Median (Attrited)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38100" cmpd="sng">
                      <a:solidFill>
                        <a:srgbClr val="D0D0D0"/>
                      </a:solidFill>
                    </a:lnB>
                    <a:solidFill>
                      <a:srgbClr val="1A2A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3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T-Test p-value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38100" cmpd="sng">
                      <a:solidFill>
                        <a:srgbClr val="D0D0D0"/>
                      </a:solidFill>
                    </a:lnB>
                    <a:solidFill>
                      <a:srgbClr val="1A2A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3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Cohen's d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38100" cmpd="sng">
                      <a:solidFill>
                        <a:srgbClr val="D0D0D0"/>
                      </a:solidFill>
                    </a:lnB>
                    <a:solidFill>
                      <a:srgbClr val="1A2A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40465082"/>
                  </a:ext>
                </a:extLst>
              </a:tr>
              <a:tr h="418011">
                <a:tc>
                  <a:txBody>
                    <a:bodyPr/>
                    <a:lstStyle/>
                    <a:p>
                      <a:pPr algn="ctr"/>
                      <a:r>
                        <a:rPr lang="en-PH" sz="13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Age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381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3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45.0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381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3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44.0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381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3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p = 0.128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381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3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Negligible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381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17552904"/>
                  </a:ext>
                </a:extLst>
              </a:tr>
              <a:tr h="418011">
                <a:tc>
                  <a:txBody>
                    <a:bodyPr/>
                    <a:lstStyle/>
                    <a:p>
                      <a:pPr algn="ctr"/>
                      <a:r>
                        <a:rPr lang="en-PH" sz="13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Income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3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70,263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3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70,263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3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Not Sig.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3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Negligible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0F5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96289004"/>
                  </a:ext>
                </a:extLst>
              </a:tr>
              <a:tr h="418011">
                <a:tc>
                  <a:txBody>
                    <a:bodyPr/>
                    <a:lstStyle/>
                    <a:p>
                      <a:pPr algn="ctr"/>
                      <a:r>
                        <a:rPr lang="en-PH" sz="13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CreditLimit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3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14,964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3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14,964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3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Not Sig.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3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Negligible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6773411"/>
                  </a:ext>
                </a:extLst>
              </a:tr>
              <a:tr h="418011">
                <a:tc>
                  <a:txBody>
                    <a:bodyPr/>
                    <a:lstStyle/>
                    <a:p>
                      <a:pPr algn="ctr"/>
                      <a:r>
                        <a:rPr lang="en-PH" sz="13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TotalTransactions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3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100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3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100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3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p = 0.499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3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d = -0.010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0F5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6001313"/>
                  </a:ext>
                </a:extLst>
              </a:tr>
              <a:tr h="418011">
                <a:tc>
                  <a:txBody>
                    <a:bodyPr/>
                    <a:lstStyle/>
                    <a:p>
                      <a:pPr algn="ctr"/>
                      <a:r>
                        <a:rPr lang="en-PH" sz="13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TotalSpend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3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5,029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3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5,029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3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p = 0.186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3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d = +0.020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8540855"/>
                  </a:ext>
                </a:extLst>
              </a:tr>
              <a:tr h="418011">
                <a:tc>
                  <a:txBody>
                    <a:bodyPr/>
                    <a:lstStyle/>
                    <a:p>
                      <a:pPr algn="ctr"/>
                      <a:r>
                        <a:rPr lang="en-PH" sz="13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Tenure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3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10.0 yrs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3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10.0 yrs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3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p = 0.104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3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d = -0.024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0F5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56891274"/>
                  </a:ext>
                </a:extLst>
              </a:tr>
            </a:tbl>
          </a:graphicData>
        </a:graphic>
      </p:graphicFrame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EB168892-C466-58C5-47F4-2393A220D0F1}"/>
              </a:ext>
            </a:extLst>
          </p:cNvPr>
          <p:cNvSpPr/>
          <p:nvPr/>
        </p:nvSpPr>
        <p:spPr>
          <a:xfrm>
            <a:off x="731520" y="4754880"/>
            <a:ext cx="10698479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CA39C02-CE11-4D3E-3E0B-84A1ADED482C}"/>
              </a:ext>
            </a:extLst>
          </p:cNvPr>
          <p:cNvSpPr/>
          <p:nvPr/>
        </p:nvSpPr>
        <p:spPr>
          <a:xfrm>
            <a:off x="731520" y="4754880"/>
            <a:ext cx="54864" cy="1371600"/>
          </a:xfrm>
          <a:prstGeom prst="rect">
            <a:avLst/>
          </a:prstGeom>
          <a:solidFill>
            <a:srgbClr val="E8474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3209131-285B-6EEE-C405-22F0006419AD}"/>
              </a:ext>
            </a:extLst>
          </p:cNvPr>
          <p:cNvSpPr txBox="1"/>
          <p:nvPr/>
        </p:nvSpPr>
        <p:spPr>
          <a:xfrm>
            <a:off x="1097280" y="4846320"/>
            <a:ext cx="27432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400" b="1">
                <a:solidFill>
                  <a:srgbClr val="E84747"/>
                </a:solidFill>
                <a:latin typeface="Arial" panose="020B0604020202020204" pitchFamily="34" charset="0"/>
              </a:rPr>
              <a:t>KEY FINDING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4218160-1169-C0A4-91B9-7922DF7C046B}"/>
              </a:ext>
            </a:extLst>
          </p:cNvPr>
          <p:cNvSpPr txBox="1"/>
          <p:nvPr/>
        </p:nvSpPr>
        <p:spPr>
          <a:xfrm>
            <a:off x="1097280" y="5212080"/>
            <a:ext cx="9875520" cy="492443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 dirty="0">
                <a:solidFill>
                  <a:srgbClr val="4B4B4B"/>
                </a:solidFill>
                <a:latin typeface="Arial" panose="020B0604020202020204" pitchFamily="34" charset="0"/>
              </a:rPr>
              <a:t>All features show statistically identical medians between groups. Cohen's d values are uniformly below 0.1, confirming negligible effect sizes. No raw feature separates the two classes.</a:t>
            </a:r>
            <a:endParaRPr lang="en-PH" sz="1300" b="1" dirty="0">
              <a:solidFill>
                <a:srgbClr val="4B4B4B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356156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5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264B7BA-A2FE-8E4B-8ABC-A941B53356CA}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824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30D6A87-71B6-DF88-E1ED-8B0D465D5872}"/>
              </a:ext>
            </a:extLst>
          </p:cNvPr>
          <p:cNvSpPr txBox="1"/>
          <p:nvPr/>
        </p:nvSpPr>
        <p:spPr>
          <a:xfrm>
            <a:off x="731520" y="365760"/>
            <a:ext cx="10058400" cy="52322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fr-FR" sz="2800" b="1" dirty="0">
                <a:solidFill>
                  <a:srgbClr val="1A2A3D"/>
                </a:solidFill>
                <a:latin typeface="Arial" panose="020B0604020202020204" pitchFamily="34" charset="0"/>
              </a:rPr>
              <a:t>1.6  </a:t>
            </a:r>
            <a:r>
              <a:rPr lang="fr-FR" sz="2800" b="1" dirty="0" err="1">
                <a:solidFill>
                  <a:srgbClr val="1A2A3D"/>
                </a:solidFill>
                <a:latin typeface="Arial" panose="020B0604020202020204" pitchFamily="34" charset="0"/>
              </a:rPr>
              <a:t>Multivariate</a:t>
            </a:r>
            <a:r>
              <a:rPr lang="fr-FR" sz="2800" b="1" dirty="0">
                <a:solidFill>
                  <a:srgbClr val="1A2A3D"/>
                </a:solidFill>
                <a:latin typeface="Arial" panose="020B0604020202020204" pitchFamily="34" charset="0"/>
              </a:rPr>
              <a:t> </a:t>
            </a:r>
            <a:r>
              <a:rPr lang="fr-FR" sz="2800" b="1" dirty="0" err="1">
                <a:solidFill>
                  <a:srgbClr val="1A2A3D"/>
                </a:solidFill>
                <a:latin typeface="Arial" panose="020B0604020202020204" pitchFamily="34" charset="0"/>
              </a:rPr>
              <a:t>Analysis</a:t>
            </a:r>
            <a:r>
              <a:rPr lang="fr-FR" sz="2800" b="1" dirty="0">
                <a:solidFill>
                  <a:srgbClr val="1A2A3D"/>
                </a:solidFill>
                <a:latin typeface="Arial" panose="020B0604020202020204" pitchFamily="34" charset="0"/>
              </a:rPr>
              <a:t> (</a:t>
            </a:r>
            <a:r>
              <a:rPr lang="fr-FR" sz="2800" b="1" dirty="0" err="1">
                <a:solidFill>
                  <a:srgbClr val="1A2A3D"/>
                </a:solidFill>
                <a:latin typeface="Arial" panose="020B0604020202020204" pitchFamily="34" charset="0"/>
              </a:rPr>
              <a:t>Correlation</a:t>
            </a:r>
            <a:r>
              <a:rPr lang="fr-FR" sz="2800" b="1" dirty="0">
                <a:solidFill>
                  <a:srgbClr val="1A2A3D"/>
                </a:solidFill>
                <a:latin typeface="Arial" panose="020B0604020202020204" pitchFamily="34" charset="0"/>
              </a:rPr>
              <a:t> Matrix)</a:t>
            </a:r>
            <a:endParaRPr lang="en-PH" sz="2800" b="1" dirty="0">
              <a:solidFill>
                <a:srgbClr val="1A2A3D"/>
              </a:solidFill>
              <a:latin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57F9FA8-2120-881A-CCE0-6A8E634AE954}"/>
              </a:ext>
            </a:extLst>
          </p:cNvPr>
          <p:cNvSpPr txBox="1"/>
          <p:nvPr/>
        </p:nvSpPr>
        <p:spPr>
          <a:xfrm>
            <a:off x="731520" y="868680"/>
            <a:ext cx="100584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 b="1" dirty="0">
                <a:latin typeface="Arial" panose="020B0604020202020204" pitchFamily="34" charset="0"/>
              </a:rPr>
              <a:t>All correlations with </a:t>
            </a:r>
            <a:r>
              <a:rPr lang="en-US" sz="1400" b="1" dirty="0" err="1">
                <a:latin typeface="Arial" panose="020B0604020202020204" pitchFamily="34" charset="0"/>
              </a:rPr>
              <a:t>AttritionFlag</a:t>
            </a:r>
            <a:r>
              <a:rPr lang="en-US" sz="1400" b="1" dirty="0">
                <a:latin typeface="Arial" panose="020B0604020202020204" pitchFamily="34" charset="0"/>
              </a:rPr>
              <a:t> are at noise level</a:t>
            </a:r>
            <a:endParaRPr lang="en-PH" sz="1400" b="1" dirty="0">
              <a:latin typeface="Arial" panose="020B0604020202020204" pitchFamily="34" charset="0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36E8AFC-6EDF-736B-7868-9061AC9FDB74}"/>
              </a:ext>
            </a:extLst>
          </p:cNvPr>
          <p:cNvSpPr/>
          <p:nvPr/>
        </p:nvSpPr>
        <p:spPr>
          <a:xfrm>
            <a:off x="731520" y="1554480"/>
            <a:ext cx="246888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072E4CF-7012-AD25-5F8C-D0621F3FCEA2}"/>
              </a:ext>
            </a:extLst>
          </p:cNvPr>
          <p:cNvSpPr txBox="1"/>
          <p:nvPr/>
        </p:nvSpPr>
        <p:spPr>
          <a:xfrm>
            <a:off x="914400" y="1737360"/>
            <a:ext cx="210312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400" b="1">
                <a:solidFill>
                  <a:srgbClr val="1A2A3D"/>
                </a:solidFill>
                <a:latin typeface="Arial" panose="020B0604020202020204" pitchFamily="34" charset="0"/>
              </a:rPr>
              <a:t>Age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65D4165-DBC0-D578-647A-901D28DF03C1}"/>
              </a:ext>
            </a:extLst>
          </p:cNvPr>
          <p:cNvSpPr txBox="1"/>
          <p:nvPr/>
        </p:nvSpPr>
        <p:spPr>
          <a:xfrm>
            <a:off x="914400" y="2148840"/>
            <a:ext cx="210312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1200">
                <a:solidFill>
                  <a:srgbClr val="9E9E9E"/>
                </a:solidFill>
                <a:latin typeface="Arial" panose="020B0604020202020204" pitchFamily="34" charset="0"/>
              </a:rPr>
              <a:t>Pearson 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69404CA-18AE-4AF2-0629-5C4B33592E83}"/>
              </a:ext>
            </a:extLst>
          </p:cNvPr>
          <p:cNvSpPr txBox="1"/>
          <p:nvPr/>
        </p:nvSpPr>
        <p:spPr>
          <a:xfrm>
            <a:off x="914400" y="2468880"/>
            <a:ext cx="2103120" cy="52322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2800" b="1">
                <a:solidFill>
                  <a:srgbClr val="E84747"/>
                </a:solidFill>
                <a:latin typeface="Arial" panose="020B0604020202020204" pitchFamily="34" charset="0"/>
              </a:rPr>
              <a:t>-0.005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465DC84-21CA-E09A-59CE-F83F2436611F}"/>
              </a:ext>
            </a:extLst>
          </p:cNvPr>
          <p:cNvSpPr txBox="1"/>
          <p:nvPr/>
        </p:nvSpPr>
        <p:spPr>
          <a:xfrm>
            <a:off x="914400" y="3017520"/>
            <a:ext cx="210312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1200">
                <a:solidFill>
                  <a:srgbClr val="9E9E9E"/>
                </a:solidFill>
                <a:latin typeface="Arial" panose="020B0604020202020204" pitchFamily="34" charset="0"/>
              </a:rPr>
              <a:t>Noise-level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39CACEB3-A22C-A5A1-50AE-0ABF904A6920}"/>
              </a:ext>
            </a:extLst>
          </p:cNvPr>
          <p:cNvSpPr/>
          <p:nvPr/>
        </p:nvSpPr>
        <p:spPr>
          <a:xfrm>
            <a:off x="3337560" y="1554480"/>
            <a:ext cx="246888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ED1F057-3014-AC93-B6A4-445F29D9E667}"/>
              </a:ext>
            </a:extLst>
          </p:cNvPr>
          <p:cNvSpPr txBox="1"/>
          <p:nvPr/>
        </p:nvSpPr>
        <p:spPr>
          <a:xfrm>
            <a:off x="3520440" y="1737360"/>
            <a:ext cx="210312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400" b="1">
                <a:solidFill>
                  <a:srgbClr val="1A2A3D"/>
                </a:solidFill>
                <a:latin typeface="Arial" panose="020B0604020202020204" pitchFamily="34" charset="0"/>
              </a:rPr>
              <a:t>Income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1EAC621-8E27-B6CE-3445-F8844D42C754}"/>
              </a:ext>
            </a:extLst>
          </p:cNvPr>
          <p:cNvSpPr txBox="1"/>
          <p:nvPr/>
        </p:nvSpPr>
        <p:spPr>
          <a:xfrm>
            <a:off x="3520440" y="2148840"/>
            <a:ext cx="210312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1200">
                <a:solidFill>
                  <a:srgbClr val="9E9E9E"/>
                </a:solidFill>
                <a:latin typeface="Arial" panose="020B0604020202020204" pitchFamily="34" charset="0"/>
              </a:rPr>
              <a:t>Pearson 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154821A-A067-2081-FDCE-85F2A9D22486}"/>
              </a:ext>
            </a:extLst>
          </p:cNvPr>
          <p:cNvSpPr txBox="1"/>
          <p:nvPr/>
        </p:nvSpPr>
        <p:spPr>
          <a:xfrm>
            <a:off x="3520440" y="2468880"/>
            <a:ext cx="2103120" cy="52322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2800" b="1">
                <a:solidFill>
                  <a:srgbClr val="E84747"/>
                </a:solidFill>
                <a:latin typeface="Arial" panose="020B0604020202020204" pitchFamily="34" charset="0"/>
              </a:rPr>
              <a:t>~0.00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8AD10E0-B9C7-A0F7-77AF-1CFAC2EBA73C}"/>
              </a:ext>
            </a:extLst>
          </p:cNvPr>
          <p:cNvSpPr txBox="1"/>
          <p:nvPr/>
        </p:nvSpPr>
        <p:spPr>
          <a:xfrm>
            <a:off x="3520440" y="3017520"/>
            <a:ext cx="210312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1200">
                <a:solidFill>
                  <a:srgbClr val="9E9E9E"/>
                </a:solidFill>
                <a:latin typeface="Arial" panose="020B0604020202020204" pitchFamily="34" charset="0"/>
              </a:rPr>
              <a:t>Noise-level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B86AAD13-685C-CAC4-77FC-E68213EB714E}"/>
              </a:ext>
            </a:extLst>
          </p:cNvPr>
          <p:cNvSpPr/>
          <p:nvPr/>
        </p:nvSpPr>
        <p:spPr>
          <a:xfrm>
            <a:off x="5943600" y="1554480"/>
            <a:ext cx="246888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6FC3EE8-8CBA-5C26-450E-DF4A4D925E90}"/>
              </a:ext>
            </a:extLst>
          </p:cNvPr>
          <p:cNvSpPr txBox="1"/>
          <p:nvPr/>
        </p:nvSpPr>
        <p:spPr>
          <a:xfrm>
            <a:off x="6126480" y="1737360"/>
            <a:ext cx="210312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400" b="1">
                <a:solidFill>
                  <a:srgbClr val="1A2A3D"/>
                </a:solidFill>
                <a:latin typeface="Arial" panose="020B0604020202020204" pitchFamily="34" charset="0"/>
              </a:rPr>
              <a:t>CreditLimit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F81CE3B-1D37-3544-0B92-A2AACEE3C263}"/>
              </a:ext>
            </a:extLst>
          </p:cNvPr>
          <p:cNvSpPr txBox="1"/>
          <p:nvPr/>
        </p:nvSpPr>
        <p:spPr>
          <a:xfrm>
            <a:off x="6126480" y="2148840"/>
            <a:ext cx="210312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1200">
                <a:solidFill>
                  <a:srgbClr val="9E9E9E"/>
                </a:solidFill>
                <a:latin typeface="Arial" panose="020B0604020202020204" pitchFamily="34" charset="0"/>
              </a:rPr>
              <a:t>Pearson r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1792E83-6BA9-E8F4-8213-07893919BCAA}"/>
              </a:ext>
            </a:extLst>
          </p:cNvPr>
          <p:cNvSpPr txBox="1"/>
          <p:nvPr/>
        </p:nvSpPr>
        <p:spPr>
          <a:xfrm>
            <a:off x="6126480" y="2468880"/>
            <a:ext cx="2103120" cy="52322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2800" b="1">
                <a:solidFill>
                  <a:srgbClr val="E84747"/>
                </a:solidFill>
                <a:latin typeface="Arial" panose="020B0604020202020204" pitchFamily="34" charset="0"/>
              </a:rPr>
              <a:t>~0.00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999041A-CD19-C6A5-6A3C-192D0CD92A01}"/>
              </a:ext>
            </a:extLst>
          </p:cNvPr>
          <p:cNvSpPr txBox="1"/>
          <p:nvPr/>
        </p:nvSpPr>
        <p:spPr>
          <a:xfrm>
            <a:off x="6126480" y="3017520"/>
            <a:ext cx="210312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1200">
                <a:solidFill>
                  <a:srgbClr val="9E9E9E"/>
                </a:solidFill>
                <a:latin typeface="Arial" panose="020B0604020202020204" pitchFamily="34" charset="0"/>
              </a:rPr>
              <a:t>Noise-level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5EB5A32C-1E69-747D-4EC5-F5C5A0C37816}"/>
              </a:ext>
            </a:extLst>
          </p:cNvPr>
          <p:cNvSpPr/>
          <p:nvPr/>
        </p:nvSpPr>
        <p:spPr>
          <a:xfrm>
            <a:off x="8549640" y="1554480"/>
            <a:ext cx="246888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8B48B80-23F7-51BB-1A1E-6759D714F058}"/>
              </a:ext>
            </a:extLst>
          </p:cNvPr>
          <p:cNvSpPr txBox="1"/>
          <p:nvPr/>
        </p:nvSpPr>
        <p:spPr>
          <a:xfrm>
            <a:off x="8732520" y="1737360"/>
            <a:ext cx="210312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400" b="1">
                <a:solidFill>
                  <a:srgbClr val="1A2A3D"/>
                </a:solidFill>
                <a:latin typeface="Arial" panose="020B0604020202020204" pitchFamily="34" charset="0"/>
              </a:rPr>
              <a:t>TotalTxns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5D2B901-EFC7-807D-649F-B4580840895C}"/>
              </a:ext>
            </a:extLst>
          </p:cNvPr>
          <p:cNvSpPr txBox="1"/>
          <p:nvPr/>
        </p:nvSpPr>
        <p:spPr>
          <a:xfrm>
            <a:off x="8732520" y="2148840"/>
            <a:ext cx="210312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1200">
                <a:solidFill>
                  <a:srgbClr val="9E9E9E"/>
                </a:solidFill>
                <a:latin typeface="Arial" panose="020B0604020202020204" pitchFamily="34" charset="0"/>
              </a:rPr>
              <a:t>Pearson r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D3DD392-471D-E832-1B09-F4B6F4C3DE66}"/>
              </a:ext>
            </a:extLst>
          </p:cNvPr>
          <p:cNvSpPr txBox="1"/>
          <p:nvPr/>
        </p:nvSpPr>
        <p:spPr>
          <a:xfrm>
            <a:off x="8732520" y="2468880"/>
            <a:ext cx="2103120" cy="52322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2800" b="1">
                <a:solidFill>
                  <a:srgbClr val="E84747"/>
                </a:solidFill>
                <a:latin typeface="Arial" panose="020B0604020202020204" pitchFamily="34" charset="0"/>
              </a:rPr>
              <a:t>~0.00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C0FB21F-A54D-ED1E-FDDB-C56C75A1B03A}"/>
              </a:ext>
            </a:extLst>
          </p:cNvPr>
          <p:cNvSpPr txBox="1"/>
          <p:nvPr/>
        </p:nvSpPr>
        <p:spPr>
          <a:xfrm>
            <a:off x="8732520" y="3017520"/>
            <a:ext cx="210312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1200">
                <a:solidFill>
                  <a:srgbClr val="9E9E9E"/>
                </a:solidFill>
                <a:latin typeface="Arial" panose="020B0604020202020204" pitchFamily="34" charset="0"/>
              </a:rPr>
              <a:t>Noise-level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1AAB0F37-DB72-CB2C-DEE3-42F56F3ED8DC}"/>
              </a:ext>
            </a:extLst>
          </p:cNvPr>
          <p:cNvSpPr/>
          <p:nvPr/>
        </p:nvSpPr>
        <p:spPr>
          <a:xfrm>
            <a:off x="731520" y="3749040"/>
            <a:ext cx="246888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681C1EB-2DC7-08F5-357E-4894541DC465}"/>
              </a:ext>
            </a:extLst>
          </p:cNvPr>
          <p:cNvSpPr txBox="1"/>
          <p:nvPr/>
        </p:nvSpPr>
        <p:spPr>
          <a:xfrm>
            <a:off x="914400" y="3931920"/>
            <a:ext cx="210312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400" b="1">
                <a:solidFill>
                  <a:srgbClr val="1A2A3D"/>
                </a:solidFill>
                <a:latin typeface="Arial" panose="020B0604020202020204" pitchFamily="34" charset="0"/>
              </a:rPr>
              <a:t>TotalSpend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B594725-C7DF-9D51-D1C8-42A31A1CAAE1}"/>
              </a:ext>
            </a:extLst>
          </p:cNvPr>
          <p:cNvSpPr txBox="1"/>
          <p:nvPr/>
        </p:nvSpPr>
        <p:spPr>
          <a:xfrm>
            <a:off x="914400" y="4343400"/>
            <a:ext cx="210312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1200">
                <a:solidFill>
                  <a:srgbClr val="9E9E9E"/>
                </a:solidFill>
                <a:latin typeface="Arial" panose="020B0604020202020204" pitchFamily="34" charset="0"/>
              </a:rPr>
              <a:t>Pearson r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711187-9899-684C-3B29-B20EEED761B8}"/>
              </a:ext>
            </a:extLst>
          </p:cNvPr>
          <p:cNvSpPr txBox="1"/>
          <p:nvPr/>
        </p:nvSpPr>
        <p:spPr>
          <a:xfrm>
            <a:off x="914400" y="4663440"/>
            <a:ext cx="2103120" cy="52322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2800" b="1">
                <a:solidFill>
                  <a:srgbClr val="E84747"/>
                </a:solidFill>
                <a:latin typeface="Arial" panose="020B0604020202020204" pitchFamily="34" charset="0"/>
              </a:rPr>
              <a:t>~0.00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0695124-8A15-2474-7017-6BDCFE76F3E0}"/>
              </a:ext>
            </a:extLst>
          </p:cNvPr>
          <p:cNvSpPr txBox="1"/>
          <p:nvPr/>
        </p:nvSpPr>
        <p:spPr>
          <a:xfrm>
            <a:off x="914400" y="5212080"/>
            <a:ext cx="210312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1200">
                <a:solidFill>
                  <a:srgbClr val="9E9E9E"/>
                </a:solidFill>
                <a:latin typeface="Arial" panose="020B0604020202020204" pitchFamily="34" charset="0"/>
              </a:rPr>
              <a:t>Noise-level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703637CF-DF51-82E9-E50B-E9B6F1ACF3AD}"/>
              </a:ext>
            </a:extLst>
          </p:cNvPr>
          <p:cNvSpPr/>
          <p:nvPr/>
        </p:nvSpPr>
        <p:spPr>
          <a:xfrm>
            <a:off x="3337560" y="3749040"/>
            <a:ext cx="246888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4BC62E1-7C7B-4C96-B40E-B527386180AB}"/>
              </a:ext>
            </a:extLst>
          </p:cNvPr>
          <p:cNvSpPr txBox="1"/>
          <p:nvPr/>
        </p:nvSpPr>
        <p:spPr>
          <a:xfrm>
            <a:off x="3520440" y="3931920"/>
            <a:ext cx="210312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400" b="1">
                <a:solidFill>
                  <a:srgbClr val="1A2A3D"/>
                </a:solidFill>
                <a:latin typeface="Arial" panose="020B0604020202020204" pitchFamily="34" charset="0"/>
              </a:rPr>
              <a:t>Tenure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E3060AD-5EB6-9582-391F-20A313A2006A}"/>
              </a:ext>
            </a:extLst>
          </p:cNvPr>
          <p:cNvSpPr txBox="1"/>
          <p:nvPr/>
        </p:nvSpPr>
        <p:spPr>
          <a:xfrm>
            <a:off x="3520440" y="4343400"/>
            <a:ext cx="210312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1200">
                <a:solidFill>
                  <a:srgbClr val="9E9E9E"/>
                </a:solidFill>
                <a:latin typeface="Arial" panose="020B0604020202020204" pitchFamily="34" charset="0"/>
              </a:rPr>
              <a:t>Pearson r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2A032FC-AD2D-7B35-A4C8-3AB86EF90E39}"/>
              </a:ext>
            </a:extLst>
          </p:cNvPr>
          <p:cNvSpPr txBox="1"/>
          <p:nvPr/>
        </p:nvSpPr>
        <p:spPr>
          <a:xfrm>
            <a:off x="3520440" y="4663440"/>
            <a:ext cx="2103120" cy="52322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2800" b="1">
                <a:solidFill>
                  <a:srgbClr val="E84747"/>
                </a:solidFill>
                <a:latin typeface="Arial" panose="020B0604020202020204" pitchFamily="34" charset="0"/>
              </a:rPr>
              <a:t>-0.005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3E9FEE0-3ABE-ED01-9CA1-0CF35B5F0093}"/>
              </a:ext>
            </a:extLst>
          </p:cNvPr>
          <p:cNvSpPr txBox="1"/>
          <p:nvPr/>
        </p:nvSpPr>
        <p:spPr>
          <a:xfrm>
            <a:off x="3520440" y="5212080"/>
            <a:ext cx="210312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1200">
                <a:solidFill>
                  <a:srgbClr val="9E9E9E"/>
                </a:solidFill>
                <a:latin typeface="Arial" panose="020B0604020202020204" pitchFamily="34" charset="0"/>
              </a:rPr>
              <a:t>Noise-level</a:t>
            </a: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4BCC19DB-40B7-F37B-6A1D-422FCF10ADB4}"/>
              </a:ext>
            </a:extLst>
          </p:cNvPr>
          <p:cNvSpPr/>
          <p:nvPr/>
        </p:nvSpPr>
        <p:spPr>
          <a:xfrm>
            <a:off x="5943600" y="3749040"/>
            <a:ext cx="246888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16D8859-6519-6E83-B731-E26B60A35F09}"/>
              </a:ext>
            </a:extLst>
          </p:cNvPr>
          <p:cNvSpPr txBox="1"/>
          <p:nvPr/>
        </p:nvSpPr>
        <p:spPr>
          <a:xfrm>
            <a:off x="6126480" y="3931920"/>
            <a:ext cx="210312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400" b="1">
                <a:solidFill>
                  <a:srgbClr val="1A2A3D"/>
                </a:solidFill>
                <a:latin typeface="Arial" panose="020B0604020202020204" pitchFamily="34" charset="0"/>
              </a:rPr>
              <a:t>Avg_Txn/Tenure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D5200C1-CEFA-D570-EAC9-95FC286C4A2F}"/>
              </a:ext>
            </a:extLst>
          </p:cNvPr>
          <p:cNvSpPr txBox="1"/>
          <p:nvPr/>
        </p:nvSpPr>
        <p:spPr>
          <a:xfrm>
            <a:off x="6126480" y="4343400"/>
            <a:ext cx="210312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1200">
                <a:solidFill>
                  <a:srgbClr val="9E9E9E"/>
                </a:solidFill>
                <a:latin typeface="Arial" panose="020B0604020202020204" pitchFamily="34" charset="0"/>
              </a:rPr>
              <a:t>Pearson r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8487E9A-15CD-22DB-2D6C-1043B34F663F}"/>
              </a:ext>
            </a:extLst>
          </p:cNvPr>
          <p:cNvSpPr txBox="1"/>
          <p:nvPr/>
        </p:nvSpPr>
        <p:spPr>
          <a:xfrm>
            <a:off x="6126480" y="4663440"/>
            <a:ext cx="2103120" cy="52322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2800" b="1">
                <a:solidFill>
                  <a:srgbClr val="E84747"/>
                </a:solidFill>
                <a:latin typeface="Arial" panose="020B0604020202020204" pitchFamily="34" charset="0"/>
              </a:rPr>
              <a:t>+0.007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725CEBF-8290-8840-2AF1-A516A0E58AEB}"/>
              </a:ext>
            </a:extLst>
          </p:cNvPr>
          <p:cNvSpPr txBox="1"/>
          <p:nvPr/>
        </p:nvSpPr>
        <p:spPr>
          <a:xfrm>
            <a:off x="6126480" y="5212080"/>
            <a:ext cx="210312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1200">
                <a:solidFill>
                  <a:srgbClr val="9E9E9E"/>
                </a:solidFill>
                <a:latin typeface="Arial" panose="020B0604020202020204" pitchFamily="34" charset="0"/>
              </a:rPr>
              <a:t>Noise-level</a:t>
            </a:r>
          </a:p>
        </p:txBody>
      </p: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05738702-B0CC-CF01-C061-EA5CE2641377}"/>
              </a:ext>
            </a:extLst>
          </p:cNvPr>
          <p:cNvSpPr/>
          <p:nvPr/>
        </p:nvSpPr>
        <p:spPr>
          <a:xfrm>
            <a:off x="8549640" y="3749040"/>
            <a:ext cx="246888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63A498E-279B-A797-C0D5-BE7E7FE4CB8F}"/>
              </a:ext>
            </a:extLst>
          </p:cNvPr>
          <p:cNvSpPr txBox="1"/>
          <p:nvPr/>
        </p:nvSpPr>
        <p:spPr>
          <a:xfrm>
            <a:off x="8732520" y="3931920"/>
            <a:ext cx="210312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400" b="1">
                <a:solidFill>
                  <a:srgbClr val="1A2A3D"/>
                </a:solidFill>
                <a:latin typeface="Arial" panose="020B0604020202020204" pitchFamily="34" charset="0"/>
              </a:rPr>
              <a:t>Credit_Util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BF39EB7-1064-BA3E-E65F-DE46E14047E8}"/>
              </a:ext>
            </a:extLst>
          </p:cNvPr>
          <p:cNvSpPr txBox="1"/>
          <p:nvPr/>
        </p:nvSpPr>
        <p:spPr>
          <a:xfrm>
            <a:off x="8732520" y="4343400"/>
            <a:ext cx="210312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1200">
                <a:solidFill>
                  <a:srgbClr val="9E9E9E"/>
                </a:solidFill>
                <a:latin typeface="Arial" panose="020B0604020202020204" pitchFamily="34" charset="0"/>
              </a:rPr>
              <a:t>Pearson r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9B68E41-178A-69D8-695A-E108E2F59561}"/>
              </a:ext>
            </a:extLst>
          </p:cNvPr>
          <p:cNvSpPr txBox="1"/>
          <p:nvPr/>
        </p:nvSpPr>
        <p:spPr>
          <a:xfrm>
            <a:off x="8732520" y="4663440"/>
            <a:ext cx="2103120" cy="52322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2800" b="1">
                <a:solidFill>
                  <a:srgbClr val="E84747"/>
                </a:solidFill>
                <a:latin typeface="Arial" panose="020B0604020202020204" pitchFamily="34" charset="0"/>
              </a:rPr>
              <a:t>+0.003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6E39A89-3BC2-EE99-269C-446F6AFE5DA1}"/>
              </a:ext>
            </a:extLst>
          </p:cNvPr>
          <p:cNvSpPr txBox="1"/>
          <p:nvPr/>
        </p:nvSpPr>
        <p:spPr>
          <a:xfrm>
            <a:off x="8732520" y="5212080"/>
            <a:ext cx="210312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1200">
                <a:solidFill>
                  <a:srgbClr val="9E9E9E"/>
                </a:solidFill>
                <a:latin typeface="Arial" panose="020B0604020202020204" pitchFamily="34" charset="0"/>
              </a:rPr>
              <a:t>Noise-level</a:t>
            </a:r>
          </a:p>
        </p:txBody>
      </p:sp>
      <p:sp>
        <p:nvSpPr>
          <p:cNvPr id="45" name="Rectangle: Rounded Corners 44">
            <a:extLst>
              <a:ext uri="{FF2B5EF4-FFF2-40B4-BE49-F238E27FC236}">
                <a16:creationId xmlns:a16="http://schemas.microsoft.com/office/drawing/2014/main" id="{2BF8A509-9322-9B4D-7870-84DB7A9560D7}"/>
              </a:ext>
            </a:extLst>
          </p:cNvPr>
          <p:cNvSpPr/>
          <p:nvPr/>
        </p:nvSpPr>
        <p:spPr>
          <a:xfrm>
            <a:off x="731520" y="6035040"/>
            <a:ext cx="10698479" cy="594360"/>
          </a:xfrm>
          <a:prstGeom prst="roundRect">
            <a:avLst>
              <a:gd name="adj" fmla="val 6000"/>
            </a:avLst>
          </a:prstGeom>
          <a:solidFill>
            <a:srgbClr val="1A2A3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223D63A-BFFE-F9DE-846D-CBAABBDAA30C}"/>
              </a:ext>
            </a:extLst>
          </p:cNvPr>
          <p:cNvSpPr txBox="1"/>
          <p:nvPr/>
        </p:nvSpPr>
        <p:spPr>
          <a:xfrm>
            <a:off x="1097280" y="6184463"/>
            <a:ext cx="100584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400" dirty="0">
                <a:solidFill>
                  <a:srgbClr val="C8DCFC"/>
                </a:solidFill>
                <a:latin typeface="Arial" panose="020B0604020202020204" pitchFamily="34" charset="0"/>
              </a:rPr>
              <a:t>Even engineered features yield correlations below |r| = 0.03. Non-linear modeling might help.</a:t>
            </a:r>
            <a:endParaRPr lang="en-PH" sz="1400" dirty="0">
              <a:solidFill>
                <a:srgbClr val="C8DCFC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5505508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A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319396B-6D8D-E052-8E11-3566C0EC0F63}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824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60E0FE6-586F-A880-EC12-2492AE2E8E9F}"/>
              </a:ext>
            </a:extLst>
          </p:cNvPr>
          <p:cNvSpPr txBox="1"/>
          <p:nvPr/>
        </p:nvSpPr>
        <p:spPr>
          <a:xfrm>
            <a:off x="731520" y="365760"/>
            <a:ext cx="10058400" cy="52322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2800" b="1" dirty="0">
                <a:solidFill>
                  <a:srgbClr val="FFFFFF"/>
                </a:solidFill>
                <a:latin typeface="Arial" panose="020B0604020202020204" pitchFamily="34" charset="0"/>
              </a:rPr>
              <a:t>Section 1 Synthesis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C82918D-9F7D-36CF-E3CD-626AA360B4EA}"/>
              </a:ext>
            </a:extLst>
          </p:cNvPr>
          <p:cNvSpPr txBox="1"/>
          <p:nvPr/>
        </p:nvSpPr>
        <p:spPr>
          <a:xfrm>
            <a:off x="731520" y="868680"/>
            <a:ext cx="10058400" cy="36576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 b="1" dirty="0">
                <a:solidFill>
                  <a:srgbClr val="F08248"/>
                </a:solidFill>
                <a:latin typeface="Arial" panose="020B0604020202020204" pitchFamily="34" charset="0"/>
              </a:rPr>
              <a:t>Raw features carry almost no discriminative signal for attrition</a:t>
            </a:r>
            <a:endParaRPr lang="en-PH" sz="1700" b="1" dirty="0">
              <a:solidFill>
                <a:srgbClr val="F08248"/>
              </a:solidFill>
              <a:latin typeface="Arial" panose="020B0604020202020204" pitchFamily="34" charset="0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C996BD38-93D3-A1E0-2A84-DCA429A0DF26}"/>
              </a:ext>
            </a:extLst>
          </p:cNvPr>
          <p:cNvSpPr/>
          <p:nvPr/>
        </p:nvSpPr>
        <p:spPr>
          <a:xfrm>
            <a:off x="731520" y="1554480"/>
            <a:ext cx="5120640" cy="4389120"/>
          </a:xfrm>
          <a:prstGeom prst="roundRect">
            <a:avLst>
              <a:gd name="adj" fmla="val 6000"/>
            </a:avLst>
          </a:prstGeom>
          <a:solidFill>
            <a:srgbClr val="283A4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4C98002-6C3A-C613-2B94-76EA3D4828BC}"/>
              </a:ext>
            </a:extLst>
          </p:cNvPr>
          <p:cNvSpPr txBox="1"/>
          <p:nvPr/>
        </p:nvSpPr>
        <p:spPr>
          <a:xfrm>
            <a:off x="1097280" y="1737360"/>
            <a:ext cx="4389120" cy="32316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600" b="1" dirty="0">
                <a:solidFill>
                  <a:srgbClr val="F08248"/>
                </a:solidFill>
                <a:latin typeface="Arial" panose="020B0604020202020204" pitchFamily="34" charset="0"/>
              </a:rPr>
              <a:t>WHAT THE DATA SHOWS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25AC583-96F7-5D52-9DF1-02B407526B72}"/>
              </a:ext>
            </a:extLst>
          </p:cNvPr>
          <p:cNvSpPr txBox="1"/>
          <p:nvPr/>
        </p:nvSpPr>
        <p:spPr>
          <a:xfrm>
            <a:off x="1097280" y="2240280"/>
            <a:ext cx="4389120" cy="203132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dirty="0">
                <a:solidFill>
                  <a:srgbClr val="C8DCFC"/>
                </a:solidFill>
                <a:latin typeface="Arial" panose="020B0604020202020204" pitchFamily="34" charset="0"/>
              </a:rPr>
              <a:t>Continuous features: near-identical distributions</a:t>
            </a:r>
          </a:p>
          <a:p>
            <a:endParaRPr lang="en-US" sz="1600" dirty="0">
              <a:solidFill>
                <a:srgbClr val="C8DCFC"/>
              </a:solidFill>
              <a:latin typeface="Arial" panose="020B0604020202020204" pitchFamily="34" charset="0"/>
            </a:endParaRPr>
          </a:p>
          <a:p>
            <a:r>
              <a:rPr lang="en-US" sz="1600" dirty="0">
                <a:solidFill>
                  <a:srgbClr val="C8DCFC"/>
                </a:solidFill>
                <a:latin typeface="Arial" panose="020B0604020202020204" pitchFamily="34" charset="0"/>
              </a:rPr>
              <a:t>Categorical features: uniformly balanced</a:t>
            </a:r>
          </a:p>
          <a:p>
            <a:endParaRPr lang="en-US" sz="1600" dirty="0">
              <a:solidFill>
                <a:srgbClr val="C8DCFC"/>
              </a:solidFill>
              <a:latin typeface="Arial" panose="020B0604020202020204" pitchFamily="34" charset="0"/>
            </a:endParaRPr>
          </a:p>
          <a:p>
            <a:r>
              <a:rPr lang="en-US" sz="1600" dirty="0">
                <a:solidFill>
                  <a:srgbClr val="C8DCFC"/>
                </a:solidFill>
                <a:latin typeface="Arial" panose="020B0604020202020204" pitchFamily="34" charset="0"/>
              </a:rPr>
              <a:t>Correlation matrix: all |r| &lt; 0.01</a:t>
            </a:r>
          </a:p>
          <a:p>
            <a:endParaRPr lang="en-US" sz="1600" dirty="0">
              <a:solidFill>
                <a:srgbClr val="C8DCFC"/>
              </a:solidFill>
              <a:latin typeface="Arial" panose="020B0604020202020204" pitchFamily="34" charset="0"/>
            </a:endParaRPr>
          </a:p>
          <a:p>
            <a:r>
              <a:rPr lang="en-US" sz="1600" dirty="0">
                <a:solidFill>
                  <a:srgbClr val="C8DCFC"/>
                </a:solidFill>
                <a:latin typeface="Arial" panose="020B0604020202020204" pitchFamily="34" charset="0"/>
              </a:rPr>
              <a:t>Engineered ratios: still weak</a:t>
            </a:r>
          </a:p>
          <a:p>
            <a:endParaRPr lang="en-US" sz="1600" dirty="0">
              <a:solidFill>
                <a:srgbClr val="C8DCFC"/>
              </a:solidFill>
              <a:latin typeface="Arial" panose="020B0604020202020204" pitchFamily="34" charset="0"/>
            </a:endParaRPr>
          </a:p>
          <a:p>
            <a:r>
              <a:rPr lang="en-US" sz="1600" dirty="0">
                <a:solidFill>
                  <a:srgbClr val="C8DCFC"/>
                </a:solidFill>
                <a:latin typeface="Arial" panose="020B0604020202020204" pitchFamily="34" charset="0"/>
              </a:rPr>
              <a:t>Chi-square: all p &gt; 0.05, Cramer's V negligible</a:t>
            </a:r>
            <a:endParaRPr lang="en-PH" sz="1600" dirty="0">
              <a:solidFill>
                <a:srgbClr val="C8DCFC"/>
              </a:solidFill>
              <a:latin typeface="Arial" panose="020B0604020202020204" pitchFamily="34" charset="0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DEFDA4FA-3083-3584-B277-65AC716FD636}"/>
              </a:ext>
            </a:extLst>
          </p:cNvPr>
          <p:cNvSpPr/>
          <p:nvPr/>
        </p:nvSpPr>
        <p:spPr>
          <a:xfrm>
            <a:off x="6217920" y="1554480"/>
            <a:ext cx="5212080" cy="4389120"/>
          </a:xfrm>
          <a:prstGeom prst="roundRect">
            <a:avLst>
              <a:gd name="adj" fmla="val 6000"/>
            </a:avLst>
          </a:prstGeom>
          <a:solidFill>
            <a:srgbClr val="283A4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8DC1CCE-3547-B8F6-69DB-52208B0A64BB}"/>
              </a:ext>
            </a:extLst>
          </p:cNvPr>
          <p:cNvSpPr txBox="1"/>
          <p:nvPr/>
        </p:nvSpPr>
        <p:spPr>
          <a:xfrm>
            <a:off x="6583680" y="1737360"/>
            <a:ext cx="4572000" cy="32316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600" b="1" dirty="0">
                <a:solidFill>
                  <a:srgbClr val="208090"/>
                </a:solidFill>
                <a:latin typeface="Arial" panose="020B0604020202020204" pitchFamily="34" charset="0"/>
              </a:rPr>
              <a:t>MODELING IMPLICATIONS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5D03D23-6002-F0C8-75BD-1291BAC3E533}"/>
              </a:ext>
            </a:extLst>
          </p:cNvPr>
          <p:cNvSpPr txBox="1"/>
          <p:nvPr/>
        </p:nvSpPr>
        <p:spPr>
          <a:xfrm>
            <a:off x="6583680" y="2240280"/>
            <a:ext cx="4572000" cy="203132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dirty="0">
                <a:solidFill>
                  <a:srgbClr val="C8DCFC"/>
                </a:solidFill>
                <a:latin typeface="Arial" panose="020B0604020202020204" pitchFamily="34" charset="0"/>
              </a:rPr>
              <a:t>Simple rules CANNOT identify churners</a:t>
            </a:r>
          </a:p>
          <a:p>
            <a:endParaRPr lang="en-US" sz="1600" dirty="0">
              <a:solidFill>
                <a:srgbClr val="C8DCFC"/>
              </a:solidFill>
              <a:latin typeface="Arial" panose="020B0604020202020204" pitchFamily="34" charset="0"/>
            </a:endParaRPr>
          </a:p>
          <a:p>
            <a:r>
              <a:rPr lang="en-US" sz="1600" dirty="0">
                <a:solidFill>
                  <a:srgbClr val="C8DCFC"/>
                </a:solidFill>
                <a:latin typeface="Arial" panose="020B0604020202020204" pitchFamily="34" charset="0"/>
              </a:rPr>
              <a:t>Feature engineering: necessary but not sufficient</a:t>
            </a:r>
          </a:p>
          <a:p>
            <a:endParaRPr lang="en-US" sz="1600" dirty="0">
              <a:solidFill>
                <a:srgbClr val="C8DCFC"/>
              </a:solidFill>
              <a:latin typeface="Arial" panose="020B0604020202020204" pitchFamily="34" charset="0"/>
            </a:endParaRPr>
          </a:p>
          <a:p>
            <a:r>
              <a:rPr lang="en-US" sz="1600" dirty="0">
                <a:solidFill>
                  <a:srgbClr val="C8DCFC"/>
                </a:solidFill>
                <a:latin typeface="Arial" panose="020B0604020202020204" pitchFamily="34" charset="0"/>
              </a:rPr>
              <a:t>Non-linear ensembles (</a:t>
            </a:r>
            <a:r>
              <a:rPr lang="en-US" sz="1600" dirty="0" err="1">
                <a:solidFill>
                  <a:srgbClr val="C8DCFC"/>
                </a:solidFill>
                <a:latin typeface="Arial" panose="020B0604020202020204" pitchFamily="34" charset="0"/>
              </a:rPr>
              <a:t>XGBoost</a:t>
            </a:r>
            <a:r>
              <a:rPr lang="en-US" sz="1600" dirty="0">
                <a:solidFill>
                  <a:srgbClr val="C8DCFC"/>
                </a:solidFill>
                <a:latin typeface="Arial" panose="020B0604020202020204" pitchFamily="34" charset="0"/>
              </a:rPr>
              <a:t>, RF) required</a:t>
            </a:r>
          </a:p>
          <a:p>
            <a:endParaRPr lang="en-US" sz="1600" dirty="0">
              <a:solidFill>
                <a:srgbClr val="C8DCFC"/>
              </a:solidFill>
              <a:latin typeface="Arial" panose="020B0604020202020204" pitchFamily="34" charset="0"/>
            </a:endParaRPr>
          </a:p>
          <a:p>
            <a:r>
              <a:rPr lang="en-US" sz="1600" dirty="0">
                <a:solidFill>
                  <a:srgbClr val="C8DCFC"/>
                </a:solidFill>
                <a:latin typeface="Arial" panose="020B0604020202020204" pitchFamily="34" charset="0"/>
              </a:rPr>
              <a:t>Class imbalance (95/5) must be handled</a:t>
            </a:r>
          </a:p>
          <a:p>
            <a:endParaRPr lang="en-US" sz="1600" dirty="0">
              <a:solidFill>
                <a:srgbClr val="C8DCFC"/>
              </a:solidFill>
              <a:latin typeface="Arial" panose="020B0604020202020204" pitchFamily="34" charset="0"/>
            </a:endParaRPr>
          </a:p>
          <a:p>
            <a:r>
              <a:rPr lang="en-US" sz="1600" dirty="0">
                <a:solidFill>
                  <a:srgbClr val="C8DCFC"/>
                </a:solidFill>
                <a:latin typeface="Arial" panose="020B0604020202020204" pitchFamily="34" charset="0"/>
              </a:rPr>
              <a:t>Target encoding needed for Country (100 cats)</a:t>
            </a:r>
            <a:endParaRPr lang="en-PH" sz="1600" dirty="0">
              <a:solidFill>
                <a:srgbClr val="C8DCFC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673459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A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4F25D3-91D9-202E-C9ED-45293741E5CD}"/>
              </a:ext>
            </a:extLst>
          </p:cNvPr>
          <p:cNvSpPr txBox="1"/>
          <p:nvPr/>
        </p:nvSpPr>
        <p:spPr>
          <a:xfrm>
            <a:off x="731520" y="1371600"/>
            <a:ext cx="4572000" cy="156966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9600" b="1">
                <a:solidFill>
                  <a:srgbClr val="F08248"/>
                </a:solidFill>
                <a:latin typeface="Arial" panose="020B0604020202020204" pitchFamily="34" charset="0"/>
              </a:rPr>
              <a:t>02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62FA7FD-B766-4766-DA6F-04B7AEB65577}"/>
              </a:ext>
            </a:extLst>
          </p:cNvPr>
          <p:cNvSpPr/>
          <p:nvPr/>
        </p:nvSpPr>
        <p:spPr>
          <a:xfrm>
            <a:off x="731520" y="2743200"/>
            <a:ext cx="2743200" cy="36576"/>
          </a:xfrm>
          <a:prstGeom prst="rect">
            <a:avLst/>
          </a:prstGeom>
          <a:solidFill>
            <a:srgbClr val="F0824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A1C7B49-6680-C0D0-DC4A-79407C8F21D6}"/>
              </a:ext>
            </a:extLst>
          </p:cNvPr>
          <p:cNvSpPr txBox="1"/>
          <p:nvPr/>
        </p:nvSpPr>
        <p:spPr>
          <a:xfrm>
            <a:off x="731520" y="3017520"/>
            <a:ext cx="9144000" cy="646331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3600" b="1" dirty="0">
                <a:solidFill>
                  <a:srgbClr val="FFFFFF"/>
                </a:solidFill>
                <a:latin typeface="Arial" panose="020B0604020202020204" pitchFamily="34" charset="0"/>
              </a:rPr>
              <a:t>Feature Discovery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8B2F2E-DEA4-0AD8-A6A3-1EF488B2A625}"/>
              </a:ext>
            </a:extLst>
          </p:cNvPr>
          <p:cNvSpPr txBox="1"/>
          <p:nvPr/>
        </p:nvSpPr>
        <p:spPr>
          <a:xfrm>
            <a:off x="731520" y="3840480"/>
            <a:ext cx="7315200" cy="646331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dirty="0">
                <a:solidFill>
                  <a:srgbClr val="C8DCFC"/>
                </a:solidFill>
                <a:latin typeface="Arial" panose="020B0604020202020204" pitchFamily="34" charset="0"/>
              </a:rPr>
              <a:t>Let’s answer business questions.</a:t>
            </a:r>
            <a:endParaRPr lang="en-PH" dirty="0">
              <a:solidFill>
                <a:srgbClr val="C8DCFC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3290337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55C969A-10E6-BC81-4DA7-3B1E3766E708}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824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479C406-0A7D-B636-6F64-86A37B8FC951}"/>
              </a:ext>
            </a:extLst>
          </p:cNvPr>
          <p:cNvSpPr txBox="1"/>
          <p:nvPr/>
        </p:nvSpPr>
        <p:spPr>
          <a:xfrm>
            <a:off x="731520" y="365760"/>
            <a:ext cx="10058400" cy="52322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2800" b="1">
                <a:solidFill>
                  <a:srgbClr val="1A2A3D"/>
                </a:solidFill>
                <a:latin typeface="Arial" panose="020B0604020202020204" pitchFamily="34" charset="0"/>
              </a:rPr>
              <a:t>2.1  Behavioral &amp; Transactional Indicators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57F06E0-821A-4BA1-E25B-DC6EE920D607}"/>
              </a:ext>
            </a:extLst>
          </p:cNvPr>
          <p:cNvSpPr txBox="1"/>
          <p:nvPr/>
        </p:nvSpPr>
        <p:spPr>
          <a:xfrm>
            <a:off x="731520" y="1325880"/>
            <a:ext cx="10698480" cy="246221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100" b="1" dirty="0">
                <a:solidFill>
                  <a:srgbClr val="F08248"/>
                </a:solidFill>
                <a:latin typeface="Arial" panose="020B0604020202020204" pitchFamily="34" charset="0"/>
              </a:rPr>
              <a:t>BUSINESS QUESTION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67BEB66-590D-638E-7823-69DB56D8895F}"/>
              </a:ext>
            </a:extLst>
          </p:cNvPr>
          <p:cNvSpPr txBox="1"/>
          <p:nvPr/>
        </p:nvSpPr>
        <p:spPr>
          <a:xfrm>
            <a:off x="731520" y="1581912"/>
            <a:ext cx="1069848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 b="1" dirty="0">
                <a:latin typeface="Arial" panose="020B0604020202020204" pitchFamily="34" charset="0"/>
              </a:rPr>
              <a:t>Do churners show different transaction or spending patterns before leaving?</a:t>
            </a:r>
            <a:endParaRPr lang="en-PH" sz="1400" b="1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464B91C-6BBB-597E-D728-BE79D5B748F4}"/>
              </a:ext>
            </a:extLst>
          </p:cNvPr>
          <p:cNvSpPr/>
          <p:nvPr/>
        </p:nvSpPr>
        <p:spPr>
          <a:xfrm>
            <a:off x="731520" y="1993392"/>
            <a:ext cx="10698479" cy="18288"/>
          </a:xfrm>
          <a:prstGeom prst="rect">
            <a:avLst/>
          </a:prstGeom>
          <a:solidFill>
            <a:srgbClr val="D0D0D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3D30491-AA02-7346-86A8-A9A239427BA2}"/>
              </a:ext>
            </a:extLst>
          </p:cNvPr>
          <p:cNvSpPr txBox="1"/>
          <p:nvPr/>
        </p:nvSpPr>
        <p:spPr>
          <a:xfrm>
            <a:off x="731519" y="2209502"/>
            <a:ext cx="10698480" cy="553998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 dirty="0">
                <a:solidFill>
                  <a:srgbClr val="1A2A3D"/>
                </a:solidFill>
                <a:latin typeface="Arial" panose="020B0604020202020204" pitchFamily="34" charset="0"/>
              </a:rPr>
              <a:t>Churners and stayers are behaviorally indistinguishable.</a:t>
            </a:r>
            <a:endParaRPr lang="en-PH" sz="3000" b="1" dirty="0">
              <a:solidFill>
                <a:srgbClr val="1A2A3D"/>
              </a:solidFill>
              <a:latin typeface="Arial" panose="020B0604020202020204" pitchFamily="34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93BBB28-E202-ABC1-5B38-6CE9F50D882D}"/>
              </a:ext>
            </a:extLst>
          </p:cNvPr>
          <p:cNvSpPr/>
          <p:nvPr/>
        </p:nvSpPr>
        <p:spPr>
          <a:xfrm>
            <a:off x="731520" y="2926080"/>
            <a:ext cx="10698479" cy="18288"/>
          </a:xfrm>
          <a:prstGeom prst="rect">
            <a:avLst/>
          </a:prstGeom>
          <a:solidFill>
            <a:srgbClr val="D0D0D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AEDE251-E9B4-3351-2A33-2F047BDC637F}"/>
              </a:ext>
            </a:extLst>
          </p:cNvPr>
          <p:cNvSpPr txBox="1"/>
          <p:nvPr/>
        </p:nvSpPr>
        <p:spPr>
          <a:xfrm>
            <a:off x="731520" y="3063240"/>
            <a:ext cx="3291840" cy="246221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000">
                <a:solidFill>
                  <a:srgbClr val="9E9E9E"/>
                </a:solidFill>
                <a:latin typeface="Arial" panose="020B0604020202020204" pitchFamily="34" charset="0"/>
              </a:rPr>
              <a:t>TotalTransactions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FDD0BB9-8AB2-89C6-BAF0-749B79925B40}"/>
              </a:ext>
            </a:extLst>
          </p:cNvPr>
          <p:cNvSpPr txBox="1"/>
          <p:nvPr/>
        </p:nvSpPr>
        <p:spPr>
          <a:xfrm>
            <a:off x="731520" y="3310128"/>
            <a:ext cx="3291840" cy="43088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2200" b="1">
                <a:solidFill>
                  <a:srgbClr val="1A2A3D"/>
                </a:solidFill>
                <a:latin typeface="Arial" panose="020B0604020202020204" pitchFamily="34" charset="0"/>
              </a:rPr>
              <a:t>100 vs 100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2DA66C2-0B47-2F31-0DDD-93DE6A163265}"/>
              </a:ext>
            </a:extLst>
          </p:cNvPr>
          <p:cNvSpPr txBox="1"/>
          <p:nvPr/>
        </p:nvSpPr>
        <p:spPr>
          <a:xfrm>
            <a:off x="731520" y="3840480"/>
            <a:ext cx="3291840" cy="246221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000">
                <a:solidFill>
                  <a:srgbClr val="9E9E9E"/>
                </a:solidFill>
                <a:latin typeface="Arial" panose="020B0604020202020204" pitchFamily="34" charset="0"/>
              </a:rPr>
              <a:t>p = 0.499   |   d = -0.010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696CB7C-CBE0-EF89-AAD9-838B9CBA08EC}"/>
              </a:ext>
            </a:extLst>
          </p:cNvPr>
          <p:cNvSpPr txBox="1"/>
          <p:nvPr/>
        </p:nvSpPr>
        <p:spPr>
          <a:xfrm>
            <a:off x="4480560" y="3063240"/>
            <a:ext cx="3474720" cy="246221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000">
                <a:solidFill>
                  <a:srgbClr val="9E9E9E"/>
                </a:solidFill>
                <a:latin typeface="Arial" panose="020B0604020202020204" pitchFamily="34" charset="0"/>
              </a:rPr>
              <a:t>TotalSpend  (median)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1F8BE2D-4BAF-5E08-A824-C58F2AE2DE97}"/>
              </a:ext>
            </a:extLst>
          </p:cNvPr>
          <p:cNvSpPr txBox="1"/>
          <p:nvPr/>
        </p:nvSpPr>
        <p:spPr>
          <a:xfrm>
            <a:off x="4480560" y="3310128"/>
            <a:ext cx="3474720" cy="43088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2200" b="1">
                <a:solidFill>
                  <a:srgbClr val="1A2A3D"/>
                </a:solidFill>
                <a:latin typeface="Arial" panose="020B0604020202020204" pitchFamily="34" charset="0"/>
              </a:rPr>
              <a:t>₱5,029 vs ₱5,029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D039AD1-D7D2-C689-1FC9-77A8353365EF}"/>
              </a:ext>
            </a:extLst>
          </p:cNvPr>
          <p:cNvSpPr txBox="1"/>
          <p:nvPr/>
        </p:nvSpPr>
        <p:spPr>
          <a:xfrm>
            <a:off x="4480560" y="3840480"/>
            <a:ext cx="3474720" cy="246221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000">
                <a:solidFill>
                  <a:srgbClr val="9E9E9E"/>
                </a:solidFill>
                <a:latin typeface="Arial" panose="020B0604020202020204" pitchFamily="34" charset="0"/>
              </a:rPr>
              <a:t>p = 0.186   |   d = +0.020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9C2B197-F45F-0333-7285-E3E781AEB272}"/>
              </a:ext>
            </a:extLst>
          </p:cNvPr>
          <p:cNvSpPr txBox="1"/>
          <p:nvPr/>
        </p:nvSpPr>
        <p:spPr>
          <a:xfrm>
            <a:off x="8229600" y="3063240"/>
            <a:ext cx="3200400" cy="246221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000">
                <a:solidFill>
                  <a:srgbClr val="9E9E9E"/>
                </a:solidFill>
                <a:latin typeface="Arial" panose="020B0604020202020204" pitchFamily="34" charset="0"/>
              </a:rPr>
              <a:t>Credit Utilization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D7E428D-496B-0432-7B3B-D3DD6CC82C8C}"/>
              </a:ext>
            </a:extLst>
          </p:cNvPr>
          <p:cNvSpPr txBox="1"/>
          <p:nvPr/>
        </p:nvSpPr>
        <p:spPr>
          <a:xfrm>
            <a:off x="8229600" y="3310128"/>
            <a:ext cx="3200400" cy="43088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2200" b="1">
                <a:solidFill>
                  <a:srgbClr val="1A2A3D"/>
                </a:solidFill>
                <a:latin typeface="Arial" panose="020B0604020202020204" pitchFamily="34" charset="0"/>
              </a:rPr>
              <a:t>0.336 vs 0.337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5572CA8-7A25-4953-EF64-8C0DF1E3EEDE}"/>
              </a:ext>
            </a:extLst>
          </p:cNvPr>
          <p:cNvSpPr txBox="1"/>
          <p:nvPr/>
        </p:nvSpPr>
        <p:spPr>
          <a:xfrm>
            <a:off x="8229600" y="3840480"/>
            <a:ext cx="3200400" cy="246221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000">
                <a:solidFill>
                  <a:srgbClr val="9E9E9E"/>
                </a:solidFill>
                <a:latin typeface="Arial" panose="020B0604020202020204" pitchFamily="34" charset="0"/>
              </a:rPr>
              <a:t>p = 0.429   |   r = 0.003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FF8437E-EEDD-B218-87CE-39639B566F71}"/>
              </a:ext>
            </a:extLst>
          </p:cNvPr>
          <p:cNvSpPr/>
          <p:nvPr/>
        </p:nvSpPr>
        <p:spPr>
          <a:xfrm>
            <a:off x="731520" y="4224528"/>
            <a:ext cx="10698479" cy="18288"/>
          </a:xfrm>
          <a:prstGeom prst="rect">
            <a:avLst/>
          </a:prstGeom>
          <a:solidFill>
            <a:srgbClr val="D0D0D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378B78C-67A2-9345-91FB-F9246351AC98}"/>
              </a:ext>
            </a:extLst>
          </p:cNvPr>
          <p:cNvSpPr txBox="1"/>
          <p:nvPr/>
        </p:nvSpPr>
        <p:spPr>
          <a:xfrm>
            <a:off x="731520" y="4343400"/>
            <a:ext cx="10698480" cy="246221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000" b="1">
                <a:solidFill>
                  <a:srgbClr val="F08248"/>
                </a:solidFill>
                <a:latin typeface="Arial" panose="020B0604020202020204" pitchFamily="34" charset="0"/>
              </a:rPr>
              <a:t>ADDITIONAL SIGNAL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6825578-D220-7419-AE6D-C0792B73714A}"/>
              </a:ext>
            </a:extLst>
          </p:cNvPr>
          <p:cNvSpPr txBox="1"/>
          <p:nvPr/>
        </p:nvSpPr>
        <p:spPr>
          <a:xfrm>
            <a:off x="731520" y="4617720"/>
            <a:ext cx="10698480" cy="492443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dirty="0">
                <a:solidFill>
                  <a:srgbClr val="4B4B4B"/>
                </a:solidFill>
                <a:latin typeface="Arial" panose="020B0604020202020204" pitchFamily="34" charset="0"/>
              </a:rPr>
              <a:t>Anomaly flags (missing / negative spend, negative credit limit) produce a maximum lift of +0.67 pp.</a:t>
            </a:r>
          </a:p>
          <a:p>
            <a:r>
              <a:rPr lang="en-US" sz="1300" dirty="0">
                <a:solidFill>
                  <a:srgbClr val="4B4B4B"/>
                </a:solidFill>
                <a:latin typeface="Arial" panose="020B0604020202020204" pitchFamily="34" charset="0"/>
              </a:rPr>
              <a:t>This is below the 1 pp actionability threshold. No flag qualifies as a usable predictor.</a:t>
            </a:r>
            <a:endParaRPr lang="en-PH" sz="1300" dirty="0">
              <a:solidFill>
                <a:srgbClr val="4B4B4B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6910813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0227B9D-3F54-6096-FCE5-532FBD91AEC8}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824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B8FADEA-29D4-47CC-F259-7983EF54541F}"/>
              </a:ext>
            </a:extLst>
          </p:cNvPr>
          <p:cNvSpPr txBox="1"/>
          <p:nvPr/>
        </p:nvSpPr>
        <p:spPr>
          <a:xfrm>
            <a:off x="731520" y="365760"/>
            <a:ext cx="10058400" cy="52322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2800" b="1">
                <a:solidFill>
                  <a:srgbClr val="1A2A3D"/>
                </a:solidFill>
                <a:latin typeface="Arial" panose="020B0604020202020204" pitchFamily="34" charset="0"/>
              </a:rPr>
              <a:t>2.2  Tenure &amp; Customer Lifecycle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78399E-3688-D4C7-3D3D-59A2F96D8196}"/>
              </a:ext>
            </a:extLst>
          </p:cNvPr>
          <p:cNvSpPr txBox="1"/>
          <p:nvPr/>
        </p:nvSpPr>
        <p:spPr>
          <a:xfrm>
            <a:off x="731520" y="1325880"/>
            <a:ext cx="10698480" cy="246221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100" b="1" dirty="0">
                <a:solidFill>
                  <a:srgbClr val="F08248"/>
                </a:solidFill>
                <a:latin typeface="Arial" panose="020B0604020202020204" pitchFamily="34" charset="0"/>
              </a:rPr>
              <a:t>BUSINESS QUESTION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BD44B88-E5E4-39B3-520F-B684A9189E23}"/>
              </a:ext>
            </a:extLst>
          </p:cNvPr>
          <p:cNvSpPr txBox="1"/>
          <p:nvPr/>
        </p:nvSpPr>
        <p:spPr>
          <a:xfrm>
            <a:off x="731520" y="1581912"/>
            <a:ext cx="1069848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 b="1" dirty="0">
                <a:latin typeface="Arial" panose="020B0604020202020204" pitchFamily="34" charset="0"/>
              </a:rPr>
              <a:t>Do customers who are brand new, or have stayed longest, churn at higher rates?</a:t>
            </a:r>
            <a:endParaRPr lang="en-PH" sz="1400" b="1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D810A51-313B-839D-385F-584A8992820C}"/>
              </a:ext>
            </a:extLst>
          </p:cNvPr>
          <p:cNvSpPr/>
          <p:nvPr/>
        </p:nvSpPr>
        <p:spPr>
          <a:xfrm>
            <a:off x="731520" y="1993392"/>
            <a:ext cx="10698479" cy="18288"/>
          </a:xfrm>
          <a:prstGeom prst="rect">
            <a:avLst/>
          </a:prstGeom>
          <a:solidFill>
            <a:srgbClr val="D0D0D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BC8EAB1-CBEA-5B37-8756-F30BC5FBBB67}"/>
              </a:ext>
            </a:extLst>
          </p:cNvPr>
          <p:cNvSpPr txBox="1"/>
          <p:nvPr/>
        </p:nvSpPr>
        <p:spPr>
          <a:xfrm>
            <a:off x="731519" y="2207419"/>
            <a:ext cx="10698480" cy="1015663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A2A3D"/>
                </a:solidFill>
                <a:latin typeface="Arial" panose="020B0604020202020204" pitchFamily="34" charset="0"/>
              </a:rPr>
              <a:t>There is no danger zone. Long tenure offers no protection.</a:t>
            </a:r>
            <a:endParaRPr lang="en-PH" sz="3000" b="1">
              <a:solidFill>
                <a:srgbClr val="1A2A3D"/>
              </a:solidFill>
              <a:latin typeface="Arial" panose="020B0604020202020204" pitchFamily="34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EFAADCB-3850-EDE1-5D41-789F0DEDA564}"/>
              </a:ext>
            </a:extLst>
          </p:cNvPr>
          <p:cNvSpPr/>
          <p:nvPr/>
        </p:nvSpPr>
        <p:spPr>
          <a:xfrm>
            <a:off x="731520" y="2926080"/>
            <a:ext cx="10698479" cy="18288"/>
          </a:xfrm>
          <a:prstGeom prst="rect">
            <a:avLst/>
          </a:prstGeom>
          <a:solidFill>
            <a:srgbClr val="D0D0D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8F4BE31-66BD-5544-2A70-668460DE996F}"/>
              </a:ext>
            </a:extLst>
          </p:cNvPr>
          <p:cNvSpPr txBox="1"/>
          <p:nvPr/>
        </p:nvSpPr>
        <p:spPr>
          <a:xfrm>
            <a:off x="731520" y="3063240"/>
            <a:ext cx="3291840" cy="246221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000">
                <a:solidFill>
                  <a:srgbClr val="9E9E9E"/>
                </a:solidFill>
                <a:latin typeface="Arial" panose="020B0604020202020204" pitchFamily="34" charset="0"/>
              </a:rPr>
              <a:t>Spearman correlation (tenure vs churn)</a:t>
            </a:r>
            <a:endParaRPr lang="en-PH" sz="1000">
              <a:solidFill>
                <a:srgbClr val="9E9E9E"/>
              </a:solidFill>
              <a:latin typeface="Arial" panose="020B060402020202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1BCF6B3-AF68-248E-B50E-555F86B7C281}"/>
              </a:ext>
            </a:extLst>
          </p:cNvPr>
          <p:cNvSpPr txBox="1"/>
          <p:nvPr/>
        </p:nvSpPr>
        <p:spPr>
          <a:xfrm>
            <a:off x="731520" y="3310128"/>
            <a:ext cx="3291840" cy="43088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2200" b="1">
                <a:solidFill>
                  <a:srgbClr val="1A2A3D"/>
                </a:solidFill>
                <a:latin typeface="Arial" panose="020B0604020202020204" pitchFamily="34" charset="0"/>
              </a:rPr>
              <a:t>r = -0.005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3191496-0273-CCE5-D3AC-B296592DD3D2}"/>
              </a:ext>
            </a:extLst>
          </p:cNvPr>
          <p:cNvSpPr txBox="1"/>
          <p:nvPr/>
        </p:nvSpPr>
        <p:spPr>
          <a:xfrm>
            <a:off x="731520" y="3840480"/>
            <a:ext cx="3291840" cy="246221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000">
                <a:solidFill>
                  <a:srgbClr val="9E9E9E"/>
                </a:solidFill>
                <a:latin typeface="Arial" panose="020B0604020202020204" pitchFamily="34" charset="0"/>
              </a:rPr>
              <a:t>Effectively zero — no linear pattern exists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F11ACA5-867F-A3EE-FB0A-79020D400BB8}"/>
              </a:ext>
            </a:extLst>
          </p:cNvPr>
          <p:cNvSpPr txBox="1"/>
          <p:nvPr/>
        </p:nvSpPr>
        <p:spPr>
          <a:xfrm>
            <a:off x="4480560" y="3063240"/>
            <a:ext cx="3474720" cy="246221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000">
                <a:solidFill>
                  <a:srgbClr val="9E9E9E"/>
                </a:solidFill>
                <a:latin typeface="Arial" panose="020B0604020202020204" pitchFamily="34" charset="0"/>
              </a:rPr>
              <a:t>Highest single-year churn rate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3255544-4342-2B81-B399-A95F5D566059}"/>
              </a:ext>
            </a:extLst>
          </p:cNvPr>
          <p:cNvSpPr txBox="1"/>
          <p:nvPr/>
        </p:nvSpPr>
        <p:spPr>
          <a:xfrm>
            <a:off x="4480560" y="3310128"/>
            <a:ext cx="3474720" cy="43088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2200" b="1">
                <a:solidFill>
                  <a:srgbClr val="1A2A3D"/>
                </a:solidFill>
                <a:latin typeface="Arial" panose="020B0604020202020204" pitchFamily="34" charset="0"/>
              </a:rPr>
              <a:t>5.71%  (Year 1)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93CDBDC-F111-239A-F130-E34503FB3A03}"/>
              </a:ext>
            </a:extLst>
          </p:cNvPr>
          <p:cNvSpPr txBox="1"/>
          <p:nvPr/>
        </p:nvSpPr>
        <p:spPr>
          <a:xfrm>
            <a:off x="4480560" y="3840480"/>
            <a:ext cx="3474720" cy="246221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000">
                <a:solidFill>
                  <a:srgbClr val="9E9E9E"/>
                </a:solidFill>
                <a:latin typeface="Arial" panose="020B0604020202020204" pitchFamily="34" charset="0"/>
              </a:rPr>
              <a:t>+0.75 pp above baseline — not actionable</a:t>
            </a:r>
            <a:endParaRPr lang="en-PH" sz="1000">
              <a:solidFill>
                <a:srgbClr val="9E9E9E"/>
              </a:solidFill>
              <a:latin typeface="Arial" panose="020B060402020202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021AF99-DAEE-49DA-618F-6D14426033C6}"/>
              </a:ext>
            </a:extLst>
          </p:cNvPr>
          <p:cNvSpPr txBox="1"/>
          <p:nvPr/>
        </p:nvSpPr>
        <p:spPr>
          <a:xfrm>
            <a:off x="8229600" y="3063240"/>
            <a:ext cx="3200400" cy="246221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000">
                <a:solidFill>
                  <a:srgbClr val="9E9E9E"/>
                </a:solidFill>
                <a:latin typeface="Arial" panose="020B0604020202020204" pitchFamily="34" charset="0"/>
              </a:rPr>
              <a:t>Global baseline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135DBEA-BAAB-B746-9535-54349687105F}"/>
              </a:ext>
            </a:extLst>
          </p:cNvPr>
          <p:cNvSpPr txBox="1"/>
          <p:nvPr/>
        </p:nvSpPr>
        <p:spPr>
          <a:xfrm>
            <a:off x="8229600" y="3310128"/>
            <a:ext cx="3200400" cy="43088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2200" b="1">
                <a:solidFill>
                  <a:srgbClr val="1A2A3D"/>
                </a:solidFill>
                <a:latin typeface="Arial" panose="020B0604020202020204" pitchFamily="34" charset="0"/>
              </a:rPr>
              <a:t>4.96%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D087729-4C1E-0DC8-6C32-2E97DA065EA1}"/>
              </a:ext>
            </a:extLst>
          </p:cNvPr>
          <p:cNvSpPr txBox="1"/>
          <p:nvPr/>
        </p:nvSpPr>
        <p:spPr>
          <a:xfrm>
            <a:off x="8229600" y="3840480"/>
            <a:ext cx="3200400" cy="246221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000">
                <a:solidFill>
                  <a:srgbClr val="9E9E9E"/>
                </a:solidFill>
                <a:latin typeface="Arial" panose="020B0604020202020204" pitchFamily="34" charset="0"/>
              </a:rPr>
              <a:t>50% of all churns occur by Year 10</a:t>
            </a:r>
            <a:endParaRPr lang="en-PH" sz="1000">
              <a:solidFill>
                <a:srgbClr val="9E9E9E"/>
              </a:solidFill>
              <a:latin typeface="Arial" panose="020B0604020202020204" pitchFamily="34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1E3528D-E516-E9FA-6095-2B0F3A53C33C}"/>
              </a:ext>
            </a:extLst>
          </p:cNvPr>
          <p:cNvSpPr/>
          <p:nvPr/>
        </p:nvSpPr>
        <p:spPr>
          <a:xfrm>
            <a:off x="731520" y="4224528"/>
            <a:ext cx="10698479" cy="18288"/>
          </a:xfrm>
          <a:prstGeom prst="rect">
            <a:avLst/>
          </a:prstGeom>
          <a:solidFill>
            <a:srgbClr val="D0D0D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ED051B6-DB23-701F-2676-4F90CF17E30F}"/>
              </a:ext>
            </a:extLst>
          </p:cNvPr>
          <p:cNvSpPr txBox="1"/>
          <p:nvPr/>
        </p:nvSpPr>
        <p:spPr>
          <a:xfrm>
            <a:off x="731520" y="4343400"/>
            <a:ext cx="10698480" cy="246221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000" b="1">
                <a:solidFill>
                  <a:srgbClr val="F08248"/>
                </a:solidFill>
                <a:latin typeface="Arial" panose="020B0604020202020204" pitchFamily="34" charset="0"/>
              </a:rPr>
              <a:t>IMPLICATION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A0524E8-07F5-2FB5-5882-173760292E1B}"/>
              </a:ext>
            </a:extLst>
          </p:cNvPr>
          <p:cNvSpPr txBox="1"/>
          <p:nvPr/>
        </p:nvSpPr>
        <p:spPr>
          <a:xfrm>
            <a:off x="731520" y="4617720"/>
            <a:ext cx="10698480" cy="492443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dirty="0">
                <a:solidFill>
                  <a:srgbClr val="4B4B4B"/>
                </a:solidFill>
                <a:latin typeface="Arial" panose="020B0604020202020204" pitchFamily="34" charset="0"/>
              </a:rPr>
              <a:t>No early-warning signal exists in tenure data. The median cohort sits at the exact global baseline.</a:t>
            </a:r>
          </a:p>
          <a:p>
            <a:r>
              <a:rPr lang="en-US" sz="1300" dirty="0">
                <a:solidFill>
                  <a:srgbClr val="4B4B4B"/>
                </a:solidFill>
                <a:latin typeface="Arial" panose="020B0604020202020204" pitchFamily="34" charset="0"/>
              </a:rPr>
              <a:t>Tenure alone cannot serve as a trigger for retention outreach.</a:t>
            </a:r>
            <a:endParaRPr lang="en-PH" sz="1300" dirty="0">
              <a:solidFill>
                <a:srgbClr val="4B4B4B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2337925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866D3DD-2576-C5C7-5BA9-08E80138771C}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824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BAF8BAD-72B5-94E6-EDA5-E835CB6A7EB2}"/>
              </a:ext>
            </a:extLst>
          </p:cNvPr>
          <p:cNvSpPr txBox="1"/>
          <p:nvPr/>
        </p:nvSpPr>
        <p:spPr>
          <a:xfrm>
            <a:off x="731520" y="365760"/>
            <a:ext cx="10058400" cy="52322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2800" b="1">
                <a:solidFill>
                  <a:srgbClr val="1A2A3D"/>
                </a:solidFill>
                <a:latin typeface="Arial" panose="020B0604020202020204" pitchFamily="34" charset="0"/>
              </a:rPr>
              <a:t>2.3  Financial &amp; Demographic Profiles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A8B6E4D-FF47-F31C-4512-E4EC80782103}"/>
              </a:ext>
            </a:extLst>
          </p:cNvPr>
          <p:cNvSpPr txBox="1"/>
          <p:nvPr/>
        </p:nvSpPr>
        <p:spPr>
          <a:xfrm>
            <a:off x="731520" y="1325880"/>
            <a:ext cx="10698480" cy="246221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100" b="1" dirty="0">
                <a:solidFill>
                  <a:srgbClr val="F08248"/>
                </a:solidFill>
                <a:latin typeface="Arial" panose="020B0604020202020204" pitchFamily="34" charset="0"/>
              </a:rPr>
              <a:t>BUSINESS QUESTION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AA50CB3-26CA-E460-E953-FD7846E3E20D}"/>
              </a:ext>
            </a:extLst>
          </p:cNvPr>
          <p:cNvSpPr txBox="1"/>
          <p:nvPr/>
        </p:nvSpPr>
        <p:spPr>
          <a:xfrm>
            <a:off x="731520" y="1581912"/>
            <a:ext cx="1069848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 b="1" dirty="0">
                <a:latin typeface="Arial" panose="020B0604020202020204" pitchFamily="34" charset="0"/>
              </a:rPr>
              <a:t>Are wealthier clients, older clients, or premium cardholders less likely to churn?</a:t>
            </a:r>
            <a:endParaRPr lang="en-PH" sz="1400" b="1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80FF802-FC32-98A2-3003-C0A6FB6BC3FE}"/>
              </a:ext>
            </a:extLst>
          </p:cNvPr>
          <p:cNvSpPr/>
          <p:nvPr/>
        </p:nvSpPr>
        <p:spPr>
          <a:xfrm>
            <a:off x="731520" y="1993392"/>
            <a:ext cx="10698479" cy="18288"/>
          </a:xfrm>
          <a:prstGeom prst="rect">
            <a:avLst/>
          </a:prstGeom>
          <a:solidFill>
            <a:srgbClr val="D0D0D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EA23440-805E-841C-09BF-67913C3CDB0E}"/>
              </a:ext>
            </a:extLst>
          </p:cNvPr>
          <p:cNvSpPr txBox="1"/>
          <p:nvPr/>
        </p:nvSpPr>
        <p:spPr>
          <a:xfrm>
            <a:off x="731519" y="2195000"/>
            <a:ext cx="10698480" cy="1015663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800" b="1" dirty="0">
                <a:solidFill>
                  <a:srgbClr val="1A2A3D"/>
                </a:solidFill>
                <a:latin typeface="Arial" panose="020B0604020202020204" pitchFamily="34" charset="0"/>
              </a:rPr>
              <a:t>Income, age, and card type produce a perfectly flat churn rate.</a:t>
            </a:r>
            <a:endParaRPr lang="en-PH" sz="2800" b="1" dirty="0">
              <a:solidFill>
                <a:srgbClr val="1A2A3D"/>
              </a:solidFill>
              <a:latin typeface="Arial" panose="020B0604020202020204" pitchFamily="34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3D989BF-9C53-2FFB-EE26-CE28C77D0915}"/>
              </a:ext>
            </a:extLst>
          </p:cNvPr>
          <p:cNvSpPr/>
          <p:nvPr/>
        </p:nvSpPr>
        <p:spPr>
          <a:xfrm>
            <a:off x="731520" y="2926080"/>
            <a:ext cx="10698479" cy="18288"/>
          </a:xfrm>
          <a:prstGeom prst="rect">
            <a:avLst/>
          </a:prstGeom>
          <a:solidFill>
            <a:srgbClr val="D0D0D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D6F37D0-8E1D-D332-48DE-D8F6A24AC801}"/>
              </a:ext>
            </a:extLst>
          </p:cNvPr>
          <p:cNvSpPr txBox="1"/>
          <p:nvPr/>
        </p:nvSpPr>
        <p:spPr>
          <a:xfrm>
            <a:off x="731520" y="3063240"/>
            <a:ext cx="3291840" cy="246221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000">
                <a:solidFill>
                  <a:srgbClr val="9E9E9E"/>
                </a:solidFill>
                <a:latin typeface="Arial" panose="020B0604020202020204" pitchFamily="34" charset="0"/>
              </a:rPr>
              <a:t>Income quintiles  (Q1 to Q5)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951C2B8-9F25-CB39-6A1E-A893E3FC3DC7}"/>
              </a:ext>
            </a:extLst>
          </p:cNvPr>
          <p:cNvSpPr txBox="1"/>
          <p:nvPr/>
        </p:nvSpPr>
        <p:spPr>
          <a:xfrm>
            <a:off x="731520" y="3310128"/>
            <a:ext cx="3291840" cy="43088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2200" b="1">
                <a:solidFill>
                  <a:srgbClr val="1A2A3D"/>
                </a:solidFill>
                <a:latin typeface="Arial" panose="020B0604020202020204" pitchFamily="34" charset="0"/>
              </a:rPr>
              <a:t>All ~4.96%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28BA807-F068-63AB-86A8-56D80B65D383}"/>
              </a:ext>
            </a:extLst>
          </p:cNvPr>
          <p:cNvSpPr txBox="1"/>
          <p:nvPr/>
        </p:nvSpPr>
        <p:spPr>
          <a:xfrm>
            <a:off x="731520" y="3840480"/>
            <a:ext cx="3291840" cy="246221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000">
                <a:solidFill>
                  <a:srgbClr val="9E9E9E"/>
                </a:solidFill>
                <a:latin typeface="Arial" panose="020B0604020202020204" pitchFamily="34" charset="0"/>
              </a:rPr>
              <a:t>Zero gradient from lowest to highest income</a:t>
            </a:r>
            <a:endParaRPr lang="en-PH" sz="1000">
              <a:solidFill>
                <a:srgbClr val="9E9E9E"/>
              </a:solidFill>
              <a:latin typeface="Arial" panose="020B06040202020202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BD54413-AE40-297D-B7F2-93280B6D4AE3}"/>
              </a:ext>
            </a:extLst>
          </p:cNvPr>
          <p:cNvSpPr txBox="1"/>
          <p:nvPr/>
        </p:nvSpPr>
        <p:spPr>
          <a:xfrm>
            <a:off x="4480560" y="3063240"/>
            <a:ext cx="3474720" cy="246221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000">
                <a:solidFill>
                  <a:srgbClr val="9E9E9E"/>
                </a:solidFill>
                <a:latin typeface="Arial" panose="020B0604020202020204" pitchFamily="34" charset="0"/>
              </a:rPr>
              <a:t>Age bands  (&lt;30 to 60+)</a:t>
            </a:r>
            <a:endParaRPr lang="en-PH" sz="1000">
              <a:solidFill>
                <a:srgbClr val="9E9E9E"/>
              </a:solidFill>
              <a:latin typeface="Arial" panose="020B0604020202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8D18468-93E8-5E88-C093-874D7CA3A21A}"/>
              </a:ext>
            </a:extLst>
          </p:cNvPr>
          <p:cNvSpPr txBox="1"/>
          <p:nvPr/>
        </p:nvSpPr>
        <p:spPr>
          <a:xfrm>
            <a:off x="4480560" y="3310128"/>
            <a:ext cx="3474720" cy="43088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2200" b="1">
                <a:solidFill>
                  <a:srgbClr val="1A2A3D"/>
                </a:solidFill>
                <a:latin typeface="Arial" panose="020B0604020202020204" pitchFamily="34" charset="0"/>
              </a:rPr>
              <a:t>All ~4.96%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5C3D2AE-794C-8211-BF64-C4E27E51E33E}"/>
              </a:ext>
            </a:extLst>
          </p:cNvPr>
          <p:cNvSpPr txBox="1"/>
          <p:nvPr/>
        </p:nvSpPr>
        <p:spPr>
          <a:xfrm>
            <a:off x="4480560" y="3840480"/>
            <a:ext cx="3474720" cy="246221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000">
                <a:solidFill>
                  <a:srgbClr val="9E9E9E"/>
                </a:solidFill>
                <a:latin typeface="Arial" panose="020B0604020202020204" pitchFamily="34" charset="0"/>
              </a:rPr>
              <a:t>No lifecycle dip or peak in any age group</a:t>
            </a:r>
            <a:endParaRPr lang="en-PH" sz="1000">
              <a:solidFill>
                <a:srgbClr val="9E9E9E"/>
              </a:solidFill>
              <a:latin typeface="Arial" panose="020B060402020202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BBAD367-0B4D-AE77-4A06-A4326D265175}"/>
              </a:ext>
            </a:extLst>
          </p:cNvPr>
          <p:cNvSpPr txBox="1"/>
          <p:nvPr/>
        </p:nvSpPr>
        <p:spPr>
          <a:xfrm>
            <a:off x="8229600" y="3063240"/>
            <a:ext cx="3200400" cy="246221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000">
                <a:solidFill>
                  <a:srgbClr val="9E9E9E"/>
                </a:solidFill>
                <a:latin typeface="Arial" panose="020B0604020202020204" pitchFamily="34" charset="0"/>
              </a:rPr>
              <a:t>Card tier  (Blue / Silver / Gold / Platinum)</a:t>
            </a:r>
            <a:endParaRPr lang="en-PH" sz="1000">
              <a:solidFill>
                <a:srgbClr val="9E9E9E"/>
              </a:solidFill>
              <a:latin typeface="Arial" panose="020B060402020202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6190D24-E0F3-10D4-FC45-81CF9C4B755E}"/>
              </a:ext>
            </a:extLst>
          </p:cNvPr>
          <p:cNvSpPr txBox="1"/>
          <p:nvPr/>
        </p:nvSpPr>
        <p:spPr>
          <a:xfrm>
            <a:off x="8229600" y="3310128"/>
            <a:ext cx="3200400" cy="43088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2200" b="1">
                <a:solidFill>
                  <a:srgbClr val="1A2A3D"/>
                </a:solidFill>
                <a:latin typeface="Arial" panose="020B0604020202020204" pitchFamily="34" charset="0"/>
              </a:rPr>
              <a:t>All ~4.96%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FEDD78A-5B84-3CB5-E2AE-D8BA481E09D0}"/>
              </a:ext>
            </a:extLst>
          </p:cNvPr>
          <p:cNvSpPr txBox="1"/>
          <p:nvPr/>
        </p:nvSpPr>
        <p:spPr>
          <a:xfrm>
            <a:off x="8229600" y="3840480"/>
            <a:ext cx="3200400" cy="246221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000">
                <a:solidFill>
                  <a:srgbClr val="9E9E9E"/>
                </a:solidFill>
                <a:latin typeface="Arial" panose="020B0604020202020204" pitchFamily="34" charset="0"/>
              </a:rPr>
              <a:t>Premium cardholders churn at the same rate</a:t>
            </a:r>
            <a:endParaRPr lang="en-PH" sz="1000">
              <a:solidFill>
                <a:srgbClr val="9E9E9E"/>
              </a:solidFill>
              <a:latin typeface="Arial" panose="020B0604020202020204" pitchFamily="34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DA62ED6-78C5-E1F3-66CD-C0D494EF4B0D}"/>
              </a:ext>
            </a:extLst>
          </p:cNvPr>
          <p:cNvSpPr/>
          <p:nvPr/>
        </p:nvSpPr>
        <p:spPr>
          <a:xfrm>
            <a:off x="731520" y="4224528"/>
            <a:ext cx="10698479" cy="18288"/>
          </a:xfrm>
          <a:prstGeom prst="rect">
            <a:avLst/>
          </a:prstGeom>
          <a:solidFill>
            <a:srgbClr val="D0D0D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4D72BC2-4C71-D7EC-E377-32ADA5E29EBA}"/>
              </a:ext>
            </a:extLst>
          </p:cNvPr>
          <p:cNvSpPr txBox="1"/>
          <p:nvPr/>
        </p:nvSpPr>
        <p:spPr>
          <a:xfrm>
            <a:off x="731520" y="4343400"/>
            <a:ext cx="10698480" cy="246221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000" b="1">
                <a:solidFill>
                  <a:srgbClr val="F08248"/>
                </a:solidFill>
                <a:latin typeface="Arial" panose="020B0604020202020204" pitchFamily="34" charset="0"/>
              </a:rPr>
              <a:t>IMPLICATION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A9DB041-F934-B818-7FE8-2763FBB2D694}"/>
              </a:ext>
            </a:extLst>
          </p:cNvPr>
          <p:cNvSpPr txBox="1"/>
          <p:nvPr/>
        </p:nvSpPr>
        <p:spPr>
          <a:xfrm>
            <a:off x="731520" y="4617720"/>
            <a:ext cx="10698480" cy="492443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4B4B4B"/>
                </a:solidFill>
                <a:latin typeface="Arial" panose="020B0604020202020204" pitchFamily="34" charset="0"/>
              </a:rPr>
              <a:t>Neither wealth nor age nor card tier predicts attrition. Standard demographic segmentation has no retention value here.</a:t>
            </a:r>
          </a:p>
          <a:p>
            <a:r>
              <a:rPr lang="en-US" sz="1300">
                <a:solidFill>
                  <a:srgbClr val="4B4B4B"/>
                </a:solidFill>
                <a:latin typeface="Arial" panose="020B0604020202020204" pitchFamily="34" charset="0"/>
              </a:rPr>
              <a:t>All quintiles and bands cluster at the 4.96% global baseline.</a:t>
            </a:r>
            <a:endParaRPr lang="en-PH" sz="1300">
              <a:solidFill>
                <a:srgbClr val="4B4B4B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8826140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0BCF9D2-E7B1-A1BD-C49D-AC924BA88423}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824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57EA2C5-AA1A-4097-17F0-45C557C50BC6}"/>
              </a:ext>
            </a:extLst>
          </p:cNvPr>
          <p:cNvSpPr txBox="1"/>
          <p:nvPr/>
        </p:nvSpPr>
        <p:spPr>
          <a:xfrm>
            <a:off x="731520" y="365760"/>
            <a:ext cx="10058400" cy="52322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2800" b="1">
                <a:solidFill>
                  <a:srgbClr val="1A2A3D"/>
                </a:solidFill>
                <a:latin typeface="Arial" panose="020B0604020202020204" pitchFamily="34" charset="0"/>
              </a:rPr>
              <a:t>2.4  Social &amp; Geographic Factors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FAC9D16-51B6-093C-31BE-E08C0C1FC06C}"/>
              </a:ext>
            </a:extLst>
          </p:cNvPr>
          <p:cNvSpPr txBox="1"/>
          <p:nvPr/>
        </p:nvSpPr>
        <p:spPr>
          <a:xfrm>
            <a:off x="731520" y="1325880"/>
            <a:ext cx="10698480" cy="246221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100" b="1" dirty="0">
                <a:solidFill>
                  <a:srgbClr val="F08248"/>
                </a:solidFill>
                <a:latin typeface="Arial" panose="020B0604020202020204" pitchFamily="34" charset="0"/>
              </a:rPr>
              <a:t>BUSINESS QUESTION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D034C3D-6C87-2F54-6E53-800C502F125D}"/>
              </a:ext>
            </a:extLst>
          </p:cNvPr>
          <p:cNvSpPr txBox="1"/>
          <p:nvPr/>
        </p:nvSpPr>
        <p:spPr>
          <a:xfrm>
            <a:off x="731520" y="1581912"/>
            <a:ext cx="1069848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 b="1" dirty="0">
                <a:latin typeface="Arial" panose="020B0604020202020204" pitchFamily="34" charset="0"/>
              </a:rPr>
              <a:t>Do marital status, education, gender, or country of origin predict who will churn?</a:t>
            </a:r>
            <a:endParaRPr lang="en-PH" sz="1400" b="1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CA788B1-00CE-64E1-9C60-738788456B1A}"/>
              </a:ext>
            </a:extLst>
          </p:cNvPr>
          <p:cNvSpPr/>
          <p:nvPr/>
        </p:nvSpPr>
        <p:spPr>
          <a:xfrm>
            <a:off x="731520" y="1993392"/>
            <a:ext cx="10698479" cy="18288"/>
          </a:xfrm>
          <a:prstGeom prst="rect">
            <a:avLst/>
          </a:prstGeom>
          <a:solidFill>
            <a:srgbClr val="D0D0D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C545D8D-B322-655A-FF88-9AC66B0E3E6F}"/>
              </a:ext>
            </a:extLst>
          </p:cNvPr>
          <p:cNvSpPr txBox="1"/>
          <p:nvPr/>
        </p:nvSpPr>
        <p:spPr>
          <a:xfrm>
            <a:off x="731520" y="2226225"/>
            <a:ext cx="10698480" cy="1015663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800" b="1" dirty="0">
                <a:solidFill>
                  <a:srgbClr val="1A2A3D"/>
                </a:solidFill>
                <a:latin typeface="Arial" panose="020B0604020202020204" pitchFamily="34" charset="0"/>
              </a:rPr>
              <a:t>Zero high-risk countries. Zero significant demographics. </a:t>
            </a:r>
            <a:endParaRPr lang="en-PH" sz="2800" b="1" dirty="0">
              <a:solidFill>
                <a:srgbClr val="1A2A3D"/>
              </a:solidFill>
              <a:latin typeface="Arial" panose="020B0604020202020204" pitchFamily="34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17B538B-61AA-B1E4-83E1-3D6657F23CC2}"/>
              </a:ext>
            </a:extLst>
          </p:cNvPr>
          <p:cNvSpPr/>
          <p:nvPr/>
        </p:nvSpPr>
        <p:spPr>
          <a:xfrm>
            <a:off x="731520" y="2926080"/>
            <a:ext cx="10698479" cy="18288"/>
          </a:xfrm>
          <a:prstGeom prst="rect">
            <a:avLst/>
          </a:prstGeom>
          <a:solidFill>
            <a:srgbClr val="D0D0D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7482DE-3A3E-8F0D-3EA1-E5090B52EDF3}"/>
              </a:ext>
            </a:extLst>
          </p:cNvPr>
          <p:cNvSpPr txBox="1"/>
          <p:nvPr/>
        </p:nvSpPr>
        <p:spPr>
          <a:xfrm>
            <a:off x="731520" y="3063240"/>
            <a:ext cx="5303520" cy="246221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000">
                <a:solidFill>
                  <a:srgbClr val="9E9E9E"/>
                </a:solidFill>
                <a:latin typeface="Arial" panose="020B0604020202020204" pitchFamily="34" charset="0"/>
              </a:rPr>
              <a:t>Gender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41EC40E-4292-A74F-D3FA-E46BC8F45570}"/>
              </a:ext>
            </a:extLst>
          </p:cNvPr>
          <p:cNvSpPr txBox="1"/>
          <p:nvPr/>
        </p:nvSpPr>
        <p:spPr>
          <a:xfrm>
            <a:off x="731520" y="3310128"/>
            <a:ext cx="530352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it-IT" sz="1400" b="1">
                <a:solidFill>
                  <a:srgbClr val="1A2A3D"/>
                </a:solidFill>
                <a:latin typeface="Arial" panose="020B0604020202020204" pitchFamily="34" charset="0"/>
              </a:rPr>
              <a:t>Chi² = 0.617   p = 0.432   V = 0.0025</a:t>
            </a:r>
            <a:endParaRPr lang="en-PH" sz="1400" b="1">
              <a:solidFill>
                <a:srgbClr val="1A2A3D"/>
              </a:solidFill>
              <a:latin typeface="Arial" panose="020B06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8651392-3FA8-F801-BD6C-2C4AECC431D4}"/>
              </a:ext>
            </a:extLst>
          </p:cNvPr>
          <p:cNvSpPr txBox="1"/>
          <p:nvPr/>
        </p:nvSpPr>
        <p:spPr>
          <a:xfrm>
            <a:off x="731520" y="3721608"/>
            <a:ext cx="5303520" cy="246221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000">
                <a:solidFill>
                  <a:srgbClr val="9E9E9E"/>
                </a:solidFill>
                <a:latin typeface="Arial" panose="020B0604020202020204" pitchFamily="34" charset="0"/>
              </a:rPr>
              <a:t>Not significant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932C145-F4E8-C203-0811-B0CC91431DCC}"/>
              </a:ext>
            </a:extLst>
          </p:cNvPr>
          <p:cNvSpPr txBox="1"/>
          <p:nvPr/>
        </p:nvSpPr>
        <p:spPr>
          <a:xfrm>
            <a:off x="6492240" y="3063240"/>
            <a:ext cx="5029200" cy="246221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000">
                <a:solidFill>
                  <a:srgbClr val="9E9E9E"/>
                </a:solidFill>
                <a:latin typeface="Arial" panose="020B0604020202020204" pitchFamily="34" charset="0"/>
              </a:rPr>
              <a:t>MaritalStatus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46AFD60-CB3B-C8FC-EBCA-FC4F215684B0}"/>
              </a:ext>
            </a:extLst>
          </p:cNvPr>
          <p:cNvSpPr txBox="1"/>
          <p:nvPr/>
        </p:nvSpPr>
        <p:spPr>
          <a:xfrm>
            <a:off x="6492240" y="3310128"/>
            <a:ext cx="50292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it-IT" sz="1400" b="1">
                <a:solidFill>
                  <a:srgbClr val="1A2A3D"/>
                </a:solidFill>
                <a:latin typeface="Arial" panose="020B0604020202020204" pitchFamily="34" charset="0"/>
              </a:rPr>
              <a:t>Chi² = 2.543   p = 0.468   V = 0.0050</a:t>
            </a:r>
            <a:endParaRPr lang="en-PH" sz="1400" b="1">
              <a:solidFill>
                <a:srgbClr val="1A2A3D"/>
              </a:solidFill>
              <a:latin typeface="Arial" panose="020B060402020202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F600AE1-5F26-90DB-0CD5-E7A3D09ED1A5}"/>
              </a:ext>
            </a:extLst>
          </p:cNvPr>
          <p:cNvSpPr txBox="1"/>
          <p:nvPr/>
        </p:nvSpPr>
        <p:spPr>
          <a:xfrm>
            <a:off x="6492240" y="3721608"/>
            <a:ext cx="5029200" cy="246221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000">
                <a:solidFill>
                  <a:srgbClr val="9E9E9E"/>
                </a:solidFill>
                <a:latin typeface="Arial" panose="020B0604020202020204" pitchFamily="34" charset="0"/>
              </a:rPr>
              <a:t>Not significant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7A491D4-0849-18FC-069E-23433D375223}"/>
              </a:ext>
            </a:extLst>
          </p:cNvPr>
          <p:cNvSpPr/>
          <p:nvPr/>
        </p:nvSpPr>
        <p:spPr>
          <a:xfrm>
            <a:off x="731520" y="4096512"/>
            <a:ext cx="10698479" cy="18288"/>
          </a:xfrm>
          <a:prstGeom prst="rect">
            <a:avLst/>
          </a:prstGeom>
          <a:solidFill>
            <a:srgbClr val="D0D0D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73C2456-7F12-DECB-B417-778746B62187}"/>
              </a:ext>
            </a:extLst>
          </p:cNvPr>
          <p:cNvSpPr txBox="1"/>
          <p:nvPr/>
        </p:nvSpPr>
        <p:spPr>
          <a:xfrm>
            <a:off x="731520" y="4206240"/>
            <a:ext cx="5303520" cy="246221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000">
                <a:solidFill>
                  <a:srgbClr val="9E9E9E"/>
                </a:solidFill>
                <a:latin typeface="Arial" panose="020B0604020202020204" pitchFamily="34" charset="0"/>
              </a:rPr>
              <a:t>EducationLevel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DF981A1-3104-E50D-F8C4-2C651E0F5578}"/>
              </a:ext>
            </a:extLst>
          </p:cNvPr>
          <p:cNvSpPr txBox="1"/>
          <p:nvPr/>
        </p:nvSpPr>
        <p:spPr>
          <a:xfrm>
            <a:off x="731520" y="4453128"/>
            <a:ext cx="530352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it-IT" sz="1400" b="1">
                <a:solidFill>
                  <a:srgbClr val="1A2A3D"/>
                </a:solidFill>
                <a:latin typeface="Arial" panose="020B0604020202020204" pitchFamily="34" charset="0"/>
              </a:rPr>
              <a:t>Chi² = 3.394   p = 0.335   V = 0.0058</a:t>
            </a:r>
            <a:endParaRPr lang="en-PH" sz="1400" b="1">
              <a:solidFill>
                <a:srgbClr val="1A2A3D"/>
              </a:solidFill>
              <a:latin typeface="Arial" panose="020B0604020202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1BFB1B6-363A-8E2A-CA45-F74166AD3C40}"/>
              </a:ext>
            </a:extLst>
          </p:cNvPr>
          <p:cNvSpPr txBox="1"/>
          <p:nvPr/>
        </p:nvSpPr>
        <p:spPr>
          <a:xfrm>
            <a:off x="731520" y="4864608"/>
            <a:ext cx="5303520" cy="246221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000">
                <a:solidFill>
                  <a:srgbClr val="9E9E9E"/>
                </a:solidFill>
                <a:latin typeface="Arial" panose="020B0604020202020204" pitchFamily="34" charset="0"/>
              </a:rPr>
              <a:t>Not significant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F4E9E6D-683A-49A6-A498-AC1B1116CDD0}"/>
              </a:ext>
            </a:extLst>
          </p:cNvPr>
          <p:cNvSpPr txBox="1"/>
          <p:nvPr/>
        </p:nvSpPr>
        <p:spPr>
          <a:xfrm>
            <a:off x="6492240" y="4206240"/>
            <a:ext cx="5029200" cy="246221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000">
                <a:solidFill>
                  <a:srgbClr val="9E9E9E"/>
                </a:solidFill>
                <a:latin typeface="Arial" panose="020B0604020202020204" pitchFamily="34" charset="0"/>
              </a:rPr>
              <a:t>Country  (100 categories, Target-Encoded)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2D19558-5DAC-A7BC-3AC0-75C115E76771}"/>
              </a:ext>
            </a:extLst>
          </p:cNvPr>
          <p:cNvSpPr txBox="1"/>
          <p:nvPr/>
        </p:nvSpPr>
        <p:spPr>
          <a:xfrm>
            <a:off x="6492240" y="4453128"/>
            <a:ext cx="50292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 b="1">
                <a:solidFill>
                  <a:srgbClr val="1A2A3D"/>
                </a:solidFill>
                <a:latin typeface="Arial" panose="020B0604020202020204" pitchFamily="34" charset="0"/>
              </a:rPr>
              <a:t>TE std dev = 0.0068   |   0 high-risk nations</a:t>
            </a:r>
            <a:endParaRPr lang="en-PH" sz="1400" b="1">
              <a:solidFill>
                <a:srgbClr val="1A2A3D"/>
              </a:solidFill>
              <a:latin typeface="Arial" panose="020B0604020202020204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FEE2563-F327-57AB-535F-4E75BF7A9F7A}"/>
              </a:ext>
            </a:extLst>
          </p:cNvPr>
          <p:cNvSpPr txBox="1"/>
          <p:nvPr/>
        </p:nvSpPr>
        <p:spPr>
          <a:xfrm>
            <a:off x="6492240" y="4864608"/>
            <a:ext cx="5029200" cy="246221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000">
                <a:solidFill>
                  <a:srgbClr val="9E9E9E"/>
                </a:solidFill>
                <a:latin typeface="Arial" panose="020B0604020202020204" pitchFamily="34" charset="0"/>
              </a:rPr>
              <a:t>Encoding range collapsed to noise level</a:t>
            </a:r>
            <a:endParaRPr lang="en-PH" sz="1000">
              <a:solidFill>
                <a:srgbClr val="9E9E9E"/>
              </a:solidFill>
              <a:latin typeface="Arial" panose="020B0604020202020204" pitchFamily="34" charset="0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3424697-6960-68B8-F7CD-9B69079C86B7}"/>
              </a:ext>
            </a:extLst>
          </p:cNvPr>
          <p:cNvSpPr/>
          <p:nvPr/>
        </p:nvSpPr>
        <p:spPr>
          <a:xfrm>
            <a:off x="731520" y="5230368"/>
            <a:ext cx="10698479" cy="18288"/>
          </a:xfrm>
          <a:prstGeom prst="rect">
            <a:avLst/>
          </a:prstGeom>
          <a:solidFill>
            <a:srgbClr val="D0D0D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905771B-4E5B-FCC2-8AE6-F035EF45E9DF}"/>
              </a:ext>
            </a:extLst>
          </p:cNvPr>
          <p:cNvSpPr txBox="1"/>
          <p:nvPr/>
        </p:nvSpPr>
        <p:spPr>
          <a:xfrm>
            <a:off x="731520" y="5349240"/>
            <a:ext cx="1069848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200">
                <a:solidFill>
                  <a:srgbClr val="9E9E9E"/>
                </a:solidFill>
                <a:latin typeface="Arial" panose="020B0604020202020204" pitchFamily="34" charset="0"/>
              </a:rPr>
              <a:t>All social and geographic attributes fail to separate churners from non-churners. These features were retained for model completeness, not signal.</a:t>
            </a:r>
            <a:endParaRPr lang="en-PH" sz="1200">
              <a:solidFill>
                <a:srgbClr val="9E9E9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5118157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A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D23E1BD-CC78-1FA6-E4D3-BC63080FCF03}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824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053F59E-D911-C385-7AC0-ABEE624F7C04}"/>
              </a:ext>
            </a:extLst>
          </p:cNvPr>
          <p:cNvSpPr txBox="1"/>
          <p:nvPr/>
        </p:nvSpPr>
        <p:spPr>
          <a:xfrm>
            <a:off x="731520" y="457200"/>
            <a:ext cx="10058400" cy="52322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2800" b="1" dirty="0">
                <a:solidFill>
                  <a:srgbClr val="FFFFFF"/>
                </a:solidFill>
                <a:latin typeface="Arial" panose="020B0604020202020204" pitchFamily="34" charset="0"/>
              </a:rPr>
              <a:t>Section 2 (EDA Synthesis)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A11E883-20BA-8FEF-5B3F-EA8A2189868F}"/>
              </a:ext>
            </a:extLst>
          </p:cNvPr>
          <p:cNvSpPr/>
          <p:nvPr/>
        </p:nvSpPr>
        <p:spPr>
          <a:xfrm>
            <a:off x="731520" y="1280160"/>
            <a:ext cx="10698479" cy="1828800"/>
          </a:xfrm>
          <a:prstGeom prst="roundRect">
            <a:avLst>
              <a:gd name="adj" fmla="val 6000"/>
            </a:avLst>
          </a:prstGeom>
          <a:solidFill>
            <a:srgbClr val="283A4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1F8081A-5A1F-4B99-34C8-41AE80139DDC}"/>
              </a:ext>
            </a:extLst>
          </p:cNvPr>
          <p:cNvSpPr txBox="1"/>
          <p:nvPr/>
        </p:nvSpPr>
        <p:spPr>
          <a:xfrm>
            <a:off x="1371600" y="1508760"/>
            <a:ext cx="9601200" cy="646331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b="1" dirty="0">
                <a:solidFill>
                  <a:srgbClr val="F08248"/>
                </a:solidFill>
                <a:latin typeface="Arial" panose="020B0604020202020204" pitchFamily="34" charset="0"/>
              </a:rPr>
              <a:t>No demographic, geographic, financial, or behavioral feature meaningfully separates </a:t>
            </a:r>
            <a:r>
              <a:rPr lang="en-US" b="1" dirty="0" err="1">
                <a:solidFill>
                  <a:srgbClr val="F08248"/>
                </a:solidFill>
                <a:latin typeface="Arial" panose="020B0604020202020204" pitchFamily="34" charset="0"/>
              </a:rPr>
              <a:t>attriters</a:t>
            </a:r>
            <a:r>
              <a:rPr lang="en-US" b="1" dirty="0">
                <a:solidFill>
                  <a:srgbClr val="F08248"/>
                </a:solidFill>
                <a:latin typeface="Arial" panose="020B0604020202020204" pitchFamily="34" charset="0"/>
              </a:rPr>
              <a:t> from non-</a:t>
            </a:r>
            <a:r>
              <a:rPr lang="en-US" b="1" dirty="0" err="1">
                <a:solidFill>
                  <a:srgbClr val="F08248"/>
                </a:solidFill>
                <a:latin typeface="Arial" panose="020B0604020202020204" pitchFamily="34" charset="0"/>
              </a:rPr>
              <a:t>attriters</a:t>
            </a:r>
            <a:r>
              <a:rPr lang="en-US" b="1" dirty="0">
                <a:solidFill>
                  <a:srgbClr val="F08248"/>
                </a:solidFill>
                <a:latin typeface="Arial" panose="020B0604020202020204" pitchFamily="34" charset="0"/>
              </a:rPr>
              <a:t>.</a:t>
            </a:r>
            <a:endParaRPr lang="en-PH" b="1" dirty="0">
              <a:solidFill>
                <a:srgbClr val="F08248"/>
              </a:solidFill>
              <a:latin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E237246-04E7-91A1-38AA-9DB7FD226C58}"/>
              </a:ext>
            </a:extLst>
          </p:cNvPr>
          <p:cNvSpPr txBox="1"/>
          <p:nvPr/>
        </p:nvSpPr>
        <p:spPr>
          <a:xfrm>
            <a:off x="1371600" y="2148840"/>
            <a:ext cx="9601200" cy="553998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500">
                <a:solidFill>
                  <a:srgbClr val="C8DCFC"/>
                </a:solidFill>
                <a:latin typeface="Arial" panose="020B0604020202020204" pitchFamily="34" charset="0"/>
              </a:rPr>
              <a:t>The dataset appears to be synthetic noise around a ~5% random churn baseline, presenting a deliberate challenge to test modeling approaches.</a:t>
            </a:r>
            <a:endParaRPr lang="en-PH" sz="1500">
              <a:solidFill>
                <a:srgbClr val="C8DCFC"/>
              </a:solidFill>
              <a:latin typeface="Arial" panose="020B0604020202020204" pitchFamily="34" charset="0"/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4081EAD5-2561-66C9-88C5-EBAA21CE0523}"/>
              </a:ext>
            </a:extLst>
          </p:cNvPr>
          <p:cNvSpPr/>
          <p:nvPr/>
        </p:nvSpPr>
        <p:spPr>
          <a:xfrm>
            <a:off x="731520" y="3474720"/>
            <a:ext cx="2560320" cy="2286000"/>
          </a:xfrm>
          <a:prstGeom prst="roundRect">
            <a:avLst>
              <a:gd name="adj" fmla="val 6000"/>
            </a:avLst>
          </a:prstGeom>
          <a:solidFill>
            <a:srgbClr val="283A4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F74C5B4-A2EB-8C4E-DDD9-008E31E0EFB6}"/>
              </a:ext>
            </a:extLst>
          </p:cNvPr>
          <p:cNvSpPr/>
          <p:nvPr/>
        </p:nvSpPr>
        <p:spPr>
          <a:xfrm>
            <a:off x="731520" y="3474720"/>
            <a:ext cx="2560320" cy="54864"/>
          </a:xfrm>
          <a:prstGeom prst="rect">
            <a:avLst/>
          </a:prstGeom>
          <a:solidFill>
            <a:srgbClr val="F0824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5E62195-0BF9-F133-93BE-5D94B1ED86E9}"/>
              </a:ext>
            </a:extLst>
          </p:cNvPr>
          <p:cNvSpPr txBox="1"/>
          <p:nvPr/>
        </p:nvSpPr>
        <p:spPr>
          <a:xfrm>
            <a:off x="1005840" y="3703320"/>
            <a:ext cx="2011680" cy="338554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600" b="1">
                <a:solidFill>
                  <a:srgbClr val="F08248"/>
                </a:solidFill>
                <a:latin typeface="Arial" panose="020B0604020202020204" pitchFamily="34" charset="0"/>
              </a:rPr>
              <a:t>Behavioral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FEA5D3-3573-BC4B-32FD-B5DA893E4644}"/>
              </a:ext>
            </a:extLst>
          </p:cNvPr>
          <p:cNvSpPr txBox="1"/>
          <p:nvPr/>
        </p:nvSpPr>
        <p:spPr>
          <a:xfrm>
            <a:off x="1005840" y="4160520"/>
            <a:ext cx="2011680" cy="69249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C8DCFC"/>
                </a:solidFill>
                <a:latin typeface="Arial" panose="020B0604020202020204" pitchFamily="34" charset="0"/>
              </a:rPr>
              <a:t>Zero transaction or spending difference between groups</a:t>
            </a:r>
            <a:endParaRPr lang="en-PH" sz="1300">
              <a:solidFill>
                <a:srgbClr val="C8DCFC"/>
              </a:solidFill>
              <a:latin typeface="Arial" panose="020B0604020202020204" pitchFamily="34" charset="0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ACDABEFF-ACF9-E9D2-BDE5-56C5854869A8}"/>
              </a:ext>
            </a:extLst>
          </p:cNvPr>
          <p:cNvSpPr/>
          <p:nvPr/>
        </p:nvSpPr>
        <p:spPr>
          <a:xfrm>
            <a:off x="3520440" y="3474720"/>
            <a:ext cx="2560320" cy="2286000"/>
          </a:xfrm>
          <a:prstGeom prst="roundRect">
            <a:avLst>
              <a:gd name="adj" fmla="val 6000"/>
            </a:avLst>
          </a:prstGeom>
          <a:solidFill>
            <a:srgbClr val="283A4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0354810-7E4D-CCC6-BB12-3C367D30F6EC}"/>
              </a:ext>
            </a:extLst>
          </p:cNvPr>
          <p:cNvSpPr/>
          <p:nvPr/>
        </p:nvSpPr>
        <p:spPr>
          <a:xfrm>
            <a:off x="3520440" y="3474720"/>
            <a:ext cx="2560320" cy="54864"/>
          </a:xfrm>
          <a:prstGeom prst="rect">
            <a:avLst/>
          </a:prstGeom>
          <a:solidFill>
            <a:srgbClr val="20809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28F7228-8EA1-7382-98B4-AB32A185A421}"/>
              </a:ext>
            </a:extLst>
          </p:cNvPr>
          <p:cNvSpPr txBox="1"/>
          <p:nvPr/>
        </p:nvSpPr>
        <p:spPr>
          <a:xfrm>
            <a:off x="3794760" y="3703320"/>
            <a:ext cx="2011680" cy="338554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600" b="1">
                <a:solidFill>
                  <a:srgbClr val="208090"/>
                </a:solidFill>
                <a:latin typeface="Arial" panose="020B0604020202020204" pitchFamily="34" charset="0"/>
              </a:rPr>
              <a:t>Lifecycle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36B3BF0-AC01-AF17-BCB5-5AF5900E3AEB}"/>
              </a:ext>
            </a:extLst>
          </p:cNvPr>
          <p:cNvSpPr txBox="1"/>
          <p:nvPr/>
        </p:nvSpPr>
        <p:spPr>
          <a:xfrm>
            <a:off x="3794760" y="4160520"/>
            <a:ext cx="2011680" cy="69249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C8DCFC"/>
                </a:solidFill>
                <a:latin typeface="Arial" panose="020B0604020202020204" pitchFamily="34" charset="0"/>
              </a:rPr>
              <a:t>No tenure danger zone; churn barely exceeds baseline</a:t>
            </a:r>
            <a:endParaRPr lang="en-PH" sz="1300">
              <a:solidFill>
                <a:srgbClr val="C8DCFC"/>
              </a:solidFill>
              <a:latin typeface="Arial" panose="020B0604020202020204" pitchFamily="34" charset="0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70951DBA-5BC4-755E-77B8-0BE9783204AA}"/>
              </a:ext>
            </a:extLst>
          </p:cNvPr>
          <p:cNvSpPr/>
          <p:nvPr/>
        </p:nvSpPr>
        <p:spPr>
          <a:xfrm>
            <a:off x="6309360" y="3474720"/>
            <a:ext cx="2560320" cy="2286000"/>
          </a:xfrm>
          <a:prstGeom prst="roundRect">
            <a:avLst>
              <a:gd name="adj" fmla="val 6000"/>
            </a:avLst>
          </a:prstGeom>
          <a:solidFill>
            <a:srgbClr val="283A4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A019479-319F-D55A-6092-FB03125DB0E5}"/>
              </a:ext>
            </a:extLst>
          </p:cNvPr>
          <p:cNvSpPr/>
          <p:nvPr/>
        </p:nvSpPr>
        <p:spPr>
          <a:xfrm>
            <a:off x="6309360" y="3474720"/>
            <a:ext cx="2560320" cy="54864"/>
          </a:xfrm>
          <a:prstGeom prst="rect">
            <a:avLst/>
          </a:prstGeom>
          <a:solidFill>
            <a:srgbClr val="E8B839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E403E97-5CB9-5AA5-02E1-B794F4A4A079}"/>
              </a:ext>
            </a:extLst>
          </p:cNvPr>
          <p:cNvSpPr txBox="1"/>
          <p:nvPr/>
        </p:nvSpPr>
        <p:spPr>
          <a:xfrm>
            <a:off x="6583680" y="3703320"/>
            <a:ext cx="2011680" cy="338554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600" b="1">
                <a:solidFill>
                  <a:srgbClr val="E8B839"/>
                </a:solidFill>
                <a:latin typeface="Arial" panose="020B0604020202020204" pitchFamily="34" charset="0"/>
              </a:rPr>
              <a:t>Financial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3E5DC8A-1999-1CA0-2AD2-552AB9BCE2E7}"/>
              </a:ext>
            </a:extLst>
          </p:cNvPr>
          <p:cNvSpPr txBox="1"/>
          <p:nvPr/>
        </p:nvSpPr>
        <p:spPr>
          <a:xfrm>
            <a:off x="6583680" y="4160520"/>
            <a:ext cx="2011680" cy="492443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C8DCFC"/>
                </a:solidFill>
                <a:latin typeface="Arial" panose="020B0604020202020204" pitchFamily="34" charset="0"/>
              </a:rPr>
              <a:t>All income quintiles flat at ~4.96%</a:t>
            </a:r>
            <a:endParaRPr lang="en-PH" sz="1300">
              <a:solidFill>
                <a:srgbClr val="C8DCFC"/>
              </a:solidFill>
              <a:latin typeface="Arial" panose="020B0604020202020204" pitchFamily="34" charset="0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F8E27E43-5666-5023-F961-FCE3CC62E83A}"/>
              </a:ext>
            </a:extLst>
          </p:cNvPr>
          <p:cNvSpPr/>
          <p:nvPr/>
        </p:nvSpPr>
        <p:spPr>
          <a:xfrm>
            <a:off x="9098280" y="3474720"/>
            <a:ext cx="2560319" cy="2286000"/>
          </a:xfrm>
          <a:prstGeom prst="roundRect">
            <a:avLst>
              <a:gd name="adj" fmla="val 6000"/>
            </a:avLst>
          </a:prstGeom>
          <a:solidFill>
            <a:srgbClr val="283A4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49ED645-949B-2A00-26FD-39E67752B7B4}"/>
              </a:ext>
            </a:extLst>
          </p:cNvPr>
          <p:cNvSpPr/>
          <p:nvPr/>
        </p:nvSpPr>
        <p:spPr>
          <a:xfrm>
            <a:off x="9098280" y="3474720"/>
            <a:ext cx="2560319" cy="54864"/>
          </a:xfrm>
          <a:prstGeom prst="rect">
            <a:avLst/>
          </a:prstGeom>
          <a:solidFill>
            <a:srgbClr val="E8474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2516D95-8E1E-B0F4-736D-B17DC8D700F9}"/>
              </a:ext>
            </a:extLst>
          </p:cNvPr>
          <p:cNvSpPr txBox="1"/>
          <p:nvPr/>
        </p:nvSpPr>
        <p:spPr>
          <a:xfrm>
            <a:off x="9372600" y="3703320"/>
            <a:ext cx="2011680" cy="338554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600" b="1">
                <a:solidFill>
                  <a:srgbClr val="E84747"/>
                </a:solidFill>
                <a:latin typeface="Arial" panose="020B0604020202020204" pitchFamily="34" charset="0"/>
              </a:rPr>
              <a:t>Geographic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C8B5559-5400-97A2-BCF4-C4C213739564}"/>
              </a:ext>
            </a:extLst>
          </p:cNvPr>
          <p:cNvSpPr txBox="1"/>
          <p:nvPr/>
        </p:nvSpPr>
        <p:spPr>
          <a:xfrm>
            <a:off x="9372600" y="4160520"/>
            <a:ext cx="2011680" cy="492443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C8DCFC"/>
                </a:solidFill>
                <a:latin typeface="Arial" panose="020B0604020202020204" pitchFamily="34" charset="0"/>
              </a:rPr>
              <a:t>0 high-risk countries; TE range extremely narrow</a:t>
            </a:r>
            <a:endParaRPr lang="en-PH" sz="1300">
              <a:solidFill>
                <a:srgbClr val="C8DCFC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706216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A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5137215-0971-FC95-33D4-07B10416C157}"/>
              </a:ext>
            </a:extLst>
          </p:cNvPr>
          <p:cNvSpPr txBox="1"/>
          <p:nvPr/>
        </p:nvSpPr>
        <p:spPr>
          <a:xfrm>
            <a:off x="731520" y="1371600"/>
            <a:ext cx="4572000" cy="156966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9600" b="1" dirty="0">
                <a:solidFill>
                  <a:srgbClr val="F08248"/>
                </a:solidFill>
                <a:latin typeface="Arial" panose="020B0604020202020204" pitchFamily="34" charset="0"/>
              </a:rPr>
              <a:t>0</a:t>
            </a:r>
            <a:r>
              <a:rPr lang="en-PH" sz="9600" b="1" dirty="0">
                <a:solidFill>
                  <a:srgbClr val="F08248"/>
                </a:solidFill>
                <a:latin typeface="Arial" panose="020B0604020202020204" pitchFamily="34" charset="0"/>
              </a:rPr>
              <a:t>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363A611-88CE-0810-57A2-A87565AC1D39}"/>
              </a:ext>
            </a:extLst>
          </p:cNvPr>
          <p:cNvSpPr/>
          <p:nvPr/>
        </p:nvSpPr>
        <p:spPr>
          <a:xfrm>
            <a:off x="731520" y="2743200"/>
            <a:ext cx="2743200" cy="36576"/>
          </a:xfrm>
          <a:prstGeom prst="rect">
            <a:avLst/>
          </a:prstGeom>
          <a:solidFill>
            <a:srgbClr val="F0824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2961F68-BA16-9EB0-824A-4358755C97AC}"/>
              </a:ext>
            </a:extLst>
          </p:cNvPr>
          <p:cNvSpPr txBox="1"/>
          <p:nvPr/>
        </p:nvSpPr>
        <p:spPr>
          <a:xfrm>
            <a:off x="731520" y="3017520"/>
            <a:ext cx="9144000" cy="646331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3600" b="1">
                <a:solidFill>
                  <a:srgbClr val="FFFFFF"/>
                </a:solidFill>
                <a:latin typeface="Arial" panose="020B0604020202020204" pitchFamily="34" charset="0"/>
              </a:rPr>
              <a:t>Pre-processing Pipeline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28A8976-34E1-1BAC-AE82-D21D1151D0E7}"/>
              </a:ext>
            </a:extLst>
          </p:cNvPr>
          <p:cNvSpPr txBox="1"/>
          <p:nvPr/>
        </p:nvSpPr>
        <p:spPr>
          <a:xfrm>
            <a:off x="731520" y="3840480"/>
            <a:ext cx="7315200" cy="646331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>
                <a:solidFill>
                  <a:srgbClr val="C8DCFC"/>
                </a:solidFill>
                <a:latin typeface="Arial" panose="020B0604020202020204" pitchFamily="34" charset="0"/>
              </a:rPr>
              <a:t>Three model-specific data tables  |  Shared train/test indices  |  Fair comparison</a:t>
            </a:r>
            <a:endParaRPr lang="en-PH">
              <a:solidFill>
                <a:srgbClr val="C8DCFC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574524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5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57E6F3B-2DCA-6A82-7AD7-F0F8EDECF059}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824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EE56C08-A388-8607-52A8-DCED7435CAE3}"/>
              </a:ext>
            </a:extLst>
          </p:cNvPr>
          <p:cNvSpPr txBox="1"/>
          <p:nvPr/>
        </p:nvSpPr>
        <p:spPr>
          <a:xfrm>
            <a:off x="731520" y="365760"/>
            <a:ext cx="10058400" cy="52322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2800" b="1" dirty="0">
                <a:solidFill>
                  <a:srgbClr val="1A2A3D"/>
                </a:solidFill>
                <a:latin typeface="Arial" panose="020B0604020202020204" pitchFamily="34" charset="0"/>
              </a:rPr>
              <a:t>4.1. Pipeline Architecture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32A222-33D0-AC5C-4320-6E7E47125879}"/>
              </a:ext>
            </a:extLst>
          </p:cNvPr>
          <p:cNvSpPr txBox="1"/>
          <p:nvPr/>
        </p:nvSpPr>
        <p:spPr>
          <a:xfrm>
            <a:off x="731520" y="868680"/>
            <a:ext cx="100584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 b="1" dirty="0">
                <a:latin typeface="Arial" panose="020B0604020202020204" pitchFamily="34" charset="0"/>
              </a:rPr>
              <a:t>Clean once, branch twice  |  80/20 stratified split  |  ADASYN on train only</a:t>
            </a:r>
            <a:endParaRPr lang="en-PH" sz="1400" b="1" dirty="0">
              <a:latin typeface="Arial" panose="020B0604020202020204" pitchFamily="34" charset="0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E57F8924-B3AF-AB93-A16D-124A741BF13E}"/>
              </a:ext>
            </a:extLst>
          </p:cNvPr>
          <p:cNvSpPr/>
          <p:nvPr/>
        </p:nvSpPr>
        <p:spPr>
          <a:xfrm>
            <a:off x="4114800" y="1371600"/>
            <a:ext cx="3931920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EF404ED-4C27-CC62-0129-DE61B750AFD1}"/>
              </a:ext>
            </a:extLst>
          </p:cNvPr>
          <p:cNvSpPr/>
          <p:nvPr/>
        </p:nvSpPr>
        <p:spPr>
          <a:xfrm>
            <a:off x="4114800" y="1371600"/>
            <a:ext cx="3931920" cy="64008"/>
          </a:xfrm>
          <a:prstGeom prst="rect">
            <a:avLst/>
          </a:prstGeom>
          <a:solidFill>
            <a:srgbClr val="20809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0711AD1-A440-4A82-78CB-70BB2EB21215}"/>
              </a:ext>
            </a:extLst>
          </p:cNvPr>
          <p:cNvSpPr txBox="1"/>
          <p:nvPr/>
        </p:nvSpPr>
        <p:spPr>
          <a:xfrm>
            <a:off x="4389120" y="1554480"/>
            <a:ext cx="3383280" cy="338554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1600" b="1">
                <a:solidFill>
                  <a:srgbClr val="208090"/>
                </a:solidFill>
                <a:latin typeface="Arial" panose="020B0604020202020204" pitchFamily="34" charset="0"/>
              </a:rPr>
              <a:t>df_base  (100K rows)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63F23CC-6B1A-3DB1-6489-DBCB8FDDE664}"/>
              </a:ext>
            </a:extLst>
          </p:cNvPr>
          <p:cNvSpPr txBox="1"/>
          <p:nvPr/>
        </p:nvSpPr>
        <p:spPr>
          <a:xfrm>
            <a:off x="4389120" y="1920240"/>
            <a:ext cx="3383280" cy="292388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1400" dirty="0" err="1">
                <a:solidFill>
                  <a:srgbClr val="4B4B4B"/>
                </a:solidFill>
                <a:latin typeface="Arial" panose="020B0604020202020204" pitchFamily="34" charset="0"/>
              </a:rPr>
              <a:t>Dedup</a:t>
            </a:r>
            <a:r>
              <a:rPr lang="en-PH" sz="1400" dirty="0">
                <a:solidFill>
                  <a:srgbClr val="4B4B4B"/>
                </a:solidFill>
                <a:latin typeface="Arial" panose="020B0604020202020204" pitchFamily="34" charset="0"/>
              </a:rPr>
              <a:t> &gt; Median impute &gt; Negative flags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D18332D-3DE7-F595-4E9B-8877B953EB8C}"/>
              </a:ext>
            </a:extLst>
          </p:cNvPr>
          <p:cNvSpPr/>
          <p:nvPr/>
        </p:nvSpPr>
        <p:spPr>
          <a:xfrm>
            <a:off x="3840480" y="2788920"/>
            <a:ext cx="2011680" cy="27432"/>
          </a:xfrm>
          <a:prstGeom prst="rect">
            <a:avLst/>
          </a:prstGeom>
          <a:solidFill>
            <a:srgbClr val="9E9E9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DFA07FC-6CDB-F196-A1CB-139B17D5E24B}"/>
              </a:ext>
            </a:extLst>
          </p:cNvPr>
          <p:cNvSpPr/>
          <p:nvPr/>
        </p:nvSpPr>
        <p:spPr>
          <a:xfrm>
            <a:off x="6400800" y="2788920"/>
            <a:ext cx="2011680" cy="27432"/>
          </a:xfrm>
          <a:prstGeom prst="rect">
            <a:avLst/>
          </a:prstGeom>
          <a:solidFill>
            <a:srgbClr val="9E9E9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2FC69DEA-52AC-051A-0E7F-C6D875C8CE52}"/>
              </a:ext>
            </a:extLst>
          </p:cNvPr>
          <p:cNvSpPr/>
          <p:nvPr/>
        </p:nvSpPr>
        <p:spPr>
          <a:xfrm>
            <a:off x="731520" y="3108960"/>
            <a:ext cx="5029200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98BF063-1A40-13B7-53E7-B6ED69F39E7C}"/>
              </a:ext>
            </a:extLst>
          </p:cNvPr>
          <p:cNvSpPr/>
          <p:nvPr/>
        </p:nvSpPr>
        <p:spPr>
          <a:xfrm>
            <a:off x="731520" y="3108960"/>
            <a:ext cx="73152" cy="3108960"/>
          </a:xfrm>
          <a:prstGeom prst="rect">
            <a:avLst/>
          </a:prstGeom>
          <a:solidFill>
            <a:srgbClr val="F0824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DD7023F-F0D8-A35E-94C7-13C1B15E84B2}"/>
              </a:ext>
            </a:extLst>
          </p:cNvPr>
          <p:cNvSpPr txBox="1"/>
          <p:nvPr/>
        </p:nvSpPr>
        <p:spPr>
          <a:xfrm>
            <a:off x="1097280" y="3246120"/>
            <a:ext cx="4389120" cy="338554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600" b="1">
                <a:solidFill>
                  <a:srgbClr val="F08248"/>
                </a:solidFill>
                <a:latin typeface="Arial" panose="020B0604020202020204" pitchFamily="34" charset="0"/>
              </a:rPr>
              <a:t>df_lr  (LR + EBM)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49F27F4-27FD-2EEE-DFFE-7C6274200E48}"/>
              </a:ext>
            </a:extLst>
          </p:cNvPr>
          <p:cNvSpPr txBox="1"/>
          <p:nvPr/>
        </p:nvSpPr>
        <p:spPr>
          <a:xfrm>
            <a:off x="1097280" y="3703320"/>
            <a:ext cx="4389120" cy="1692771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400" dirty="0" err="1">
                <a:solidFill>
                  <a:srgbClr val="4B4B4B"/>
                </a:solidFill>
                <a:latin typeface="Arial" panose="020B0604020202020204" pitchFamily="34" charset="0"/>
              </a:rPr>
              <a:t>Winsorized</a:t>
            </a:r>
            <a:r>
              <a:rPr lang="en-PH" sz="1400" dirty="0">
                <a:solidFill>
                  <a:srgbClr val="4B4B4B"/>
                </a:solidFill>
                <a:latin typeface="Arial" panose="020B0604020202020204" pitchFamily="34" charset="0"/>
              </a:rPr>
              <a:t> (IQR 1.5x clip)</a:t>
            </a:r>
          </a:p>
          <a:p>
            <a:endParaRPr lang="en-PH" sz="1400" dirty="0">
              <a:solidFill>
                <a:srgbClr val="4B4B4B"/>
              </a:solidFill>
              <a:latin typeface="Arial" panose="020B0604020202020204" pitchFamily="34" charset="0"/>
            </a:endParaRPr>
          </a:p>
          <a:p>
            <a:r>
              <a:rPr lang="en-PH" sz="1400" dirty="0">
                <a:solidFill>
                  <a:srgbClr val="4B4B4B"/>
                </a:solidFill>
                <a:latin typeface="Arial" panose="020B0604020202020204" pitchFamily="34" charset="0"/>
              </a:rPr>
              <a:t>2 engineered features kept:</a:t>
            </a:r>
          </a:p>
          <a:p>
            <a:r>
              <a:rPr lang="en-PH" sz="1400" dirty="0">
                <a:solidFill>
                  <a:srgbClr val="4B4B4B"/>
                </a:solidFill>
                <a:latin typeface="Arial" panose="020B0604020202020204" pitchFamily="34" charset="0"/>
              </a:rPr>
              <a:t>  </a:t>
            </a:r>
            <a:r>
              <a:rPr lang="en-PH" sz="1400" dirty="0" err="1">
                <a:solidFill>
                  <a:srgbClr val="4B4B4B"/>
                </a:solidFill>
                <a:latin typeface="Arial" panose="020B0604020202020204" pitchFamily="34" charset="0"/>
              </a:rPr>
              <a:t>Credit_Utilization</a:t>
            </a:r>
            <a:r>
              <a:rPr lang="en-PH" sz="1400" dirty="0">
                <a:solidFill>
                  <a:srgbClr val="4B4B4B"/>
                </a:solidFill>
                <a:latin typeface="Arial" panose="020B0604020202020204" pitchFamily="34" charset="0"/>
              </a:rPr>
              <a:t>, </a:t>
            </a:r>
            <a:r>
              <a:rPr lang="en-PH" sz="1400" dirty="0" err="1">
                <a:solidFill>
                  <a:srgbClr val="4B4B4B"/>
                </a:solidFill>
                <a:latin typeface="Arial" panose="020B0604020202020204" pitchFamily="34" charset="0"/>
              </a:rPr>
              <a:t>Avg_Txn</a:t>
            </a:r>
            <a:r>
              <a:rPr lang="en-PH" sz="1400" dirty="0">
                <a:solidFill>
                  <a:srgbClr val="4B4B4B"/>
                </a:solidFill>
                <a:latin typeface="Arial" panose="020B0604020202020204" pitchFamily="34" charset="0"/>
              </a:rPr>
              <a:t>/Tenure</a:t>
            </a:r>
          </a:p>
          <a:p>
            <a:endParaRPr lang="en-PH" sz="1400" dirty="0">
              <a:solidFill>
                <a:srgbClr val="4B4B4B"/>
              </a:solidFill>
              <a:latin typeface="Arial" panose="020B0604020202020204" pitchFamily="34" charset="0"/>
            </a:endParaRPr>
          </a:p>
          <a:p>
            <a:r>
              <a:rPr lang="en-PH" sz="1400" dirty="0">
                <a:solidFill>
                  <a:srgbClr val="4B4B4B"/>
                </a:solidFill>
                <a:latin typeface="Arial" panose="020B0604020202020204" pitchFamily="34" charset="0"/>
              </a:rPr>
              <a:t>OHE </a:t>
            </a:r>
            <a:r>
              <a:rPr lang="en-PH" sz="1400" dirty="0" err="1">
                <a:solidFill>
                  <a:srgbClr val="4B4B4B"/>
                </a:solidFill>
                <a:latin typeface="Arial" panose="020B0604020202020204" pitchFamily="34" charset="0"/>
              </a:rPr>
              <a:t>drop_first</a:t>
            </a:r>
            <a:r>
              <a:rPr lang="en-PH" sz="1400" dirty="0">
                <a:solidFill>
                  <a:srgbClr val="4B4B4B"/>
                </a:solidFill>
                <a:latin typeface="Arial" panose="020B0604020202020204" pitchFamily="34" charset="0"/>
              </a:rPr>
              <a:t>=True (26 cols)</a:t>
            </a:r>
          </a:p>
          <a:p>
            <a:r>
              <a:rPr lang="en-PH" sz="1400" dirty="0">
                <a:solidFill>
                  <a:srgbClr val="4B4B4B"/>
                </a:solidFill>
                <a:latin typeface="Arial" panose="020B0604020202020204" pitchFamily="34" charset="0"/>
              </a:rPr>
              <a:t>Target Encoding for Country</a:t>
            </a:r>
          </a:p>
          <a:p>
            <a:r>
              <a:rPr lang="en-PH" sz="1400" dirty="0" err="1">
                <a:solidFill>
                  <a:srgbClr val="4B4B4B"/>
                </a:solidFill>
                <a:latin typeface="Arial" panose="020B0604020202020204" pitchFamily="34" charset="0"/>
              </a:rPr>
              <a:t>StandardScaler</a:t>
            </a:r>
            <a:r>
              <a:rPr lang="en-PH" sz="1400" dirty="0">
                <a:solidFill>
                  <a:srgbClr val="4B4B4B"/>
                </a:solidFill>
                <a:latin typeface="Arial" panose="020B0604020202020204" pitchFamily="34" charset="0"/>
              </a:rPr>
              <a:t> applied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566C637C-1D54-6902-A212-5AC6574E11F4}"/>
              </a:ext>
            </a:extLst>
          </p:cNvPr>
          <p:cNvSpPr/>
          <p:nvPr/>
        </p:nvSpPr>
        <p:spPr>
          <a:xfrm>
            <a:off x="6400800" y="3108960"/>
            <a:ext cx="5029200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A85C44F-4E8B-A4A2-3D06-1E5B70274B80}"/>
              </a:ext>
            </a:extLst>
          </p:cNvPr>
          <p:cNvSpPr/>
          <p:nvPr/>
        </p:nvSpPr>
        <p:spPr>
          <a:xfrm>
            <a:off x="6400800" y="3108960"/>
            <a:ext cx="73152" cy="3108960"/>
          </a:xfrm>
          <a:prstGeom prst="rect">
            <a:avLst/>
          </a:prstGeom>
          <a:solidFill>
            <a:srgbClr val="20809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750F7AD-7693-A2B4-891C-61FF450EFB9F}"/>
              </a:ext>
            </a:extLst>
          </p:cNvPr>
          <p:cNvSpPr txBox="1"/>
          <p:nvPr/>
        </p:nvSpPr>
        <p:spPr>
          <a:xfrm>
            <a:off x="6766560" y="3246120"/>
            <a:ext cx="4389120" cy="338554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600" b="1">
                <a:solidFill>
                  <a:srgbClr val="208090"/>
                </a:solidFill>
                <a:latin typeface="Arial" panose="020B0604020202020204" pitchFamily="34" charset="0"/>
              </a:rPr>
              <a:t>df_tree  (XGBoost)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78AB167-44F6-BD3E-4AA2-CB6A440E9A6C}"/>
              </a:ext>
            </a:extLst>
          </p:cNvPr>
          <p:cNvSpPr txBox="1"/>
          <p:nvPr/>
        </p:nvSpPr>
        <p:spPr>
          <a:xfrm>
            <a:off x="6766560" y="3703320"/>
            <a:ext cx="4389120" cy="1692771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 dirty="0">
                <a:solidFill>
                  <a:srgbClr val="4B4B4B"/>
                </a:solidFill>
                <a:latin typeface="Arial" panose="020B0604020202020204" pitchFamily="34" charset="0"/>
              </a:rPr>
              <a:t>Raw outliers retained</a:t>
            </a:r>
          </a:p>
          <a:p>
            <a:endParaRPr lang="en-US" sz="1400" dirty="0">
              <a:solidFill>
                <a:srgbClr val="4B4B4B"/>
              </a:solidFill>
              <a:latin typeface="Arial" panose="020B0604020202020204" pitchFamily="34" charset="0"/>
            </a:endParaRPr>
          </a:p>
          <a:p>
            <a:r>
              <a:rPr lang="en-US" sz="1400" dirty="0">
                <a:solidFill>
                  <a:srgbClr val="4B4B4B"/>
                </a:solidFill>
                <a:latin typeface="Arial" panose="020B0604020202020204" pitchFamily="34" charset="0"/>
              </a:rPr>
              <a:t>All 6 engineered features kept</a:t>
            </a:r>
          </a:p>
          <a:p>
            <a:endParaRPr lang="en-US" sz="1400" dirty="0">
              <a:solidFill>
                <a:srgbClr val="4B4B4B"/>
              </a:solidFill>
              <a:latin typeface="Arial" panose="020B0604020202020204" pitchFamily="34" charset="0"/>
            </a:endParaRPr>
          </a:p>
          <a:p>
            <a:r>
              <a:rPr lang="en-US" sz="1400" dirty="0">
                <a:solidFill>
                  <a:srgbClr val="4B4B4B"/>
                </a:solidFill>
                <a:latin typeface="Arial" panose="020B0604020202020204" pitchFamily="34" charset="0"/>
              </a:rPr>
              <a:t>OHE full (no </a:t>
            </a:r>
            <a:r>
              <a:rPr lang="en-US" sz="1400" dirty="0" err="1">
                <a:solidFill>
                  <a:srgbClr val="4B4B4B"/>
                </a:solidFill>
                <a:latin typeface="Arial" panose="020B0604020202020204" pitchFamily="34" charset="0"/>
              </a:rPr>
              <a:t>drop_first</a:t>
            </a:r>
            <a:r>
              <a:rPr lang="en-US" sz="1400" dirty="0">
                <a:solidFill>
                  <a:srgbClr val="4B4B4B"/>
                </a:solidFill>
                <a:latin typeface="Arial" panose="020B0604020202020204" pitchFamily="34" charset="0"/>
              </a:rPr>
              <a:t>) -&gt; 34 cols</a:t>
            </a:r>
          </a:p>
          <a:p>
            <a:r>
              <a:rPr lang="en-US" sz="1400" dirty="0">
                <a:solidFill>
                  <a:srgbClr val="4B4B4B"/>
                </a:solidFill>
                <a:latin typeface="Arial" panose="020B0604020202020204" pitchFamily="34" charset="0"/>
              </a:rPr>
              <a:t>Target Encoding for Country</a:t>
            </a:r>
          </a:p>
          <a:p>
            <a:r>
              <a:rPr lang="en-US" sz="1400" dirty="0">
                <a:solidFill>
                  <a:srgbClr val="4B4B4B"/>
                </a:solidFill>
                <a:latin typeface="Arial" panose="020B0604020202020204" pitchFamily="34" charset="0"/>
              </a:rPr>
              <a:t>No scaling (rank-based splits)</a:t>
            </a:r>
          </a:p>
          <a:p>
            <a:r>
              <a:rPr lang="en-US" sz="1400" dirty="0">
                <a:solidFill>
                  <a:srgbClr val="4B4B4B"/>
                </a:solidFill>
                <a:latin typeface="Arial" panose="020B0604020202020204" pitchFamily="34" charset="0"/>
              </a:rPr>
              <a:t>ADASYN: 80K -&gt; 151,704 rows (50/50)</a:t>
            </a:r>
            <a:endParaRPr lang="en-PH" sz="1400" dirty="0">
              <a:solidFill>
                <a:srgbClr val="4B4B4B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6096170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5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E31E0D6-BF28-1016-B6E8-7698E7B24A43}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824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387BC5-A7C7-15BC-D4AA-B7A786250B51}"/>
              </a:ext>
            </a:extLst>
          </p:cNvPr>
          <p:cNvSpPr txBox="1"/>
          <p:nvPr/>
        </p:nvSpPr>
        <p:spPr>
          <a:xfrm>
            <a:off x="731520" y="365760"/>
            <a:ext cx="10058400" cy="52322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2800" b="1" dirty="0">
                <a:solidFill>
                  <a:srgbClr val="1A2A3D"/>
                </a:solidFill>
                <a:latin typeface="Arial" panose="020B0604020202020204" pitchFamily="34" charset="0"/>
              </a:rPr>
              <a:t>4.2  Pipeline Summary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871EB7D-3247-9C03-4A5C-E1A59171205F}"/>
              </a:ext>
            </a:extLst>
          </p:cNvPr>
          <p:cNvSpPr txBox="1"/>
          <p:nvPr/>
        </p:nvSpPr>
        <p:spPr>
          <a:xfrm>
            <a:off x="731520" y="868680"/>
            <a:ext cx="100584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 b="1" dirty="0">
                <a:latin typeface="Arial" panose="020B0604020202020204" pitchFamily="34" charset="0"/>
              </a:rPr>
              <a:t>All tables share the same </a:t>
            </a:r>
            <a:r>
              <a:rPr lang="en-US" sz="1400" b="1" dirty="0" err="1">
                <a:latin typeface="Arial" panose="020B0604020202020204" pitchFamily="34" charset="0"/>
              </a:rPr>
              <a:t>train_idx</a:t>
            </a:r>
            <a:r>
              <a:rPr lang="en-US" sz="1400" b="1" dirty="0">
                <a:latin typeface="Arial" panose="020B0604020202020204" pitchFamily="34" charset="0"/>
              </a:rPr>
              <a:t> / </a:t>
            </a:r>
            <a:r>
              <a:rPr lang="en-US" sz="1400" b="1" dirty="0" err="1">
                <a:latin typeface="Arial" panose="020B0604020202020204" pitchFamily="34" charset="0"/>
              </a:rPr>
              <a:t>test_idx</a:t>
            </a:r>
            <a:r>
              <a:rPr lang="en-US" sz="1400" b="1" dirty="0">
                <a:latin typeface="Arial" panose="020B0604020202020204" pitchFamily="34" charset="0"/>
              </a:rPr>
              <a:t>  |  Apples-to-apples comparison</a:t>
            </a:r>
            <a:endParaRPr lang="en-PH" sz="1400" b="1" dirty="0">
              <a:latin typeface="Arial" panose="020B0604020202020204" pitchFamily="34" charset="0"/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B08F3492-E0B1-A14B-C8C7-FC7D7396973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40393757"/>
              </p:ext>
            </p:extLst>
          </p:nvPr>
        </p:nvGraphicFramePr>
        <p:xfrm>
          <a:off x="731520" y="1463040"/>
          <a:ext cx="1069848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>
                  <a:extLst>
                    <a:ext uri="{9D8B030D-6E8A-4147-A177-3AD203B41FA5}">
                      <a16:colId xmlns:a16="http://schemas.microsoft.com/office/drawing/2014/main" val="3317864890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3426645231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3464691476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1619141195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931253939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1584513015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algn="ctr"/>
                      <a:r>
                        <a:rPr lang="en-PH" sz="14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Table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38100" cmpd="sng">
                      <a:solidFill>
                        <a:srgbClr val="D0D0D0"/>
                      </a:solidFill>
                    </a:lnB>
                    <a:solidFill>
                      <a:srgbClr val="1A2A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4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Models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38100" cmpd="sng">
                      <a:solidFill>
                        <a:srgbClr val="D0D0D0"/>
                      </a:solidFill>
                    </a:lnB>
                    <a:solidFill>
                      <a:srgbClr val="1A2A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4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Base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38100" cmpd="sng">
                      <a:solidFill>
                        <a:srgbClr val="D0D0D0"/>
                      </a:solidFill>
                    </a:lnB>
                    <a:solidFill>
                      <a:srgbClr val="1A2A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4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Engineered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38100" cmpd="sng">
                      <a:solidFill>
                        <a:srgbClr val="D0D0D0"/>
                      </a:solidFill>
                    </a:lnB>
                    <a:solidFill>
                      <a:srgbClr val="1A2A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4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Encoding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38100" cmpd="sng">
                      <a:solidFill>
                        <a:srgbClr val="D0D0D0"/>
                      </a:solidFill>
                    </a:lnB>
                    <a:solidFill>
                      <a:srgbClr val="1A2A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4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Scaling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38100" cmpd="sng">
                      <a:solidFill>
                        <a:srgbClr val="D0D0D0"/>
                      </a:solidFill>
                    </a:lnB>
                    <a:solidFill>
                      <a:srgbClr val="1A2A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4654431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lang="en-PH" sz="14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df_base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381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4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Reference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381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4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Clean only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381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4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None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381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4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None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381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4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None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381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3928153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lang="en-PH" sz="14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df_lr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4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LR, EBM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4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Winsorized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4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2 features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4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OHE + TE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4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StandardScaler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0F5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5603969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lang="en-PH" sz="14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df_tree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4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XGBoost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4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Raw outliers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4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All 6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4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OHE full + TE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4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None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23362835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083C26FF-031F-5E7C-F142-99F44B20A448}"/>
              </a:ext>
            </a:extLst>
          </p:cNvPr>
          <p:cNvSpPr txBox="1"/>
          <p:nvPr/>
        </p:nvSpPr>
        <p:spPr>
          <a:xfrm>
            <a:off x="731520" y="4023360"/>
            <a:ext cx="4572000" cy="32316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500" b="1">
                <a:solidFill>
                  <a:srgbClr val="1A2A3D"/>
                </a:solidFill>
                <a:latin typeface="Arial" panose="020B0604020202020204" pitchFamily="34" charset="0"/>
              </a:rPr>
              <a:t>SPLIT VERIFICATION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10DEB70-9274-A3D5-9057-7E8A4648BEE6}"/>
              </a:ext>
            </a:extLst>
          </p:cNvPr>
          <p:cNvSpPr/>
          <p:nvPr/>
        </p:nvSpPr>
        <p:spPr>
          <a:xfrm>
            <a:off x="731520" y="4480560"/>
            <a:ext cx="10698479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2B484BD-C3EE-1148-F03B-BC905A504EC9}"/>
              </a:ext>
            </a:extLst>
          </p:cNvPr>
          <p:cNvSpPr txBox="1"/>
          <p:nvPr/>
        </p:nvSpPr>
        <p:spPr>
          <a:xfrm>
            <a:off x="1371600" y="4572000"/>
            <a:ext cx="2011680" cy="646331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3600" b="1">
                <a:solidFill>
                  <a:srgbClr val="1A2A3D"/>
                </a:solidFill>
                <a:latin typeface="Arial" panose="020B0604020202020204" pitchFamily="34" charset="0"/>
              </a:rPr>
              <a:t>80,000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A1758B9-4FE1-6E1C-5A26-597BB0722DD0}"/>
              </a:ext>
            </a:extLst>
          </p:cNvPr>
          <p:cNvSpPr txBox="1"/>
          <p:nvPr/>
        </p:nvSpPr>
        <p:spPr>
          <a:xfrm>
            <a:off x="1371600" y="5074920"/>
            <a:ext cx="201168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1200">
                <a:solidFill>
                  <a:srgbClr val="9E9E9E"/>
                </a:solidFill>
                <a:latin typeface="Arial" panose="020B0604020202020204" pitchFamily="34" charset="0"/>
              </a:rPr>
              <a:t>Train set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6AF1E5C-D7DC-5DE8-8CC4-3334CAC4199A}"/>
              </a:ext>
            </a:extLst>
          </p:cNvPr>
          <p:cNvSpPr txBox="1"/>
          <p:nvPr/>
        </p:nvSpPr>
        <p:spPr>
          <a:xfrm>
            <a:off x="3657600" y="4572000"/>
            <a:ext cx="2011680" cy="646331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3600" b="1">
                <a:solidFill>
                  <a:srgbClr val="1A2A3D"/>
                </a:solidFill>
                <a:latin typeface="Arial" panose="020B0604020202020204" pitchFamily="34" charset="0"/>
              </a:rPr>
              <a:t>20,000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E21DC09-A435-A65E-B08D-5CD0981FBD25}"/>
              </a:ext>
            </a:extLst>
          </p:cNvPr>
          <p:cNvSpPr txBox="1"/>
          <p:nvPr/>
        </p:nvSpPr>
        <p:spPr>
          <a:xfrm>
            <a:off x="3657600" y="5074920"/>
            <a:ext cx="201168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1200">
                <a:solidFill>
                  <a:srgbClr val="9E9E9E"/>
                </a:solidFill>
                <a:latin typeface="Arial" panose="020B0604020202020204" pitchFamily="34" charset="0"/>
              </a:rPr>
              <a:t>Test set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1A1C709-9306-6B31-AD05-03B6B6A56B47}"/>
              </a:ext>
            </a:extLst>
          </p:cNvPr>
          <p:cNvSpPr txBox="1"/>
          <p:nvPr/>
        </p:nvSpPr>
        <p:spPr>
          <a:xfrm>
            <a:off x="5943600" y="4572000"/>
            <a:ext cx="2286000" cy="646331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3600" b="1">
                <a:solidFill>
                  <a:srgbClr val="E84747"/>
                </a:solidFill>
                <a:latin typeface="Arial" panose="020B0604020202020204" pitchFamily="34" charset="0"/>
              </a:rPr>
              <a:t>4.96%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B2D1B0F-94E5-CAFA-3419-23AD0141C636}"/>
              </a:ext>
            </a:extLst>
          </p:cNvPr>
          <p:cNvSpPr txBox="1"/>
          <p:nvPr/>
        </p:nvSpPr>
        <p:spPr>
          <a:xfrm>
            <a:off x="5943600" y="5074920"/>
            <a:ext cx="2286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1200">
                <a:solidFill>
                  <a:srgbClr val="9E9E9E"/>
                </a:solidFill>
                <a:latin typeface="Arial" panose="020B0604020202020204" pitchFamily="34" charset="0"/>
              </a:rPr>
              <a:t>Churn rate (both sets)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3957F8F-DA9B-89C5-FCC6-3E0904BB1ABF}"/>
              </a:ext>
            </a:extLst>
          </p:cNvPr>
          <p:cNvSpPr txBox="1"/>
          <p:nvPr/>
        </p:nvSpPr>
        <p:spPr>
          <a:xfrm>
            <a:off x="8503920" y="4572000"/>
            <a:ext cx="2560320" cy="646331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3600" b="1">
                <a:solidFill>
                  <a:srgbClr val="208090"/>
                </a:solidFill>
                <a:latin typeface="Arial" panose="020B0604020202020204" pitchFamily="34" charset="0"/>
              </a:rPr>
              <a:t>151,704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4FC0532-EF5F-0815-92C8-8BAE0133E8EC}"/>
              </a:ext>
            </a:extLst>
          </p:cNvPr>
          <p:cNvSpPr txBox="1"/>
          <p:nvPr/>
        </p:nvSpPr>
        <p:spPr>
          <a:xfrm>
            <a:off x="8503920" y="5074920"/>
            <a:ext cx="256032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1200">
                <a:solidFill>
                  <a:srgbClr val="9E9E9E"/>
                </a:solidFill>
                <a:latin typeface="Arial" panose="020B0604020202020204" pitchFamily="34" charset="0"/>
              </a:rPr>
              <a:t>Post-ADASYN train (tree)</a:t>
            </a:r>
          </a:p>
        </p:txBody>
      </p:sp>
    </p:spTree>
    <p:extLst>
      <p:ext uri="{BB962C8B-B14F-4D97-AF65-F5344CB8AC3E}">
        <p14:creationId xmlns:p14="http://schemas.microsoft.com/office/powerpoint/2010/main" val="148859740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A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67BAF88-FCCF-4678-0D45-7C618ED9D3CB}"/>
              </a:ext>
            </a:extLst>
          </p:cNvPr>
          <p:cNvSpPr txBox="1"/>
          <p:nvPr/>
        </p:nvSpPr>
        <p:spPr>
          <a:xfrm>
            <a:off x="731520" y="1371600"/>
            <a:ext cx="4572000" cy="156966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9600" b="1" dirty="0">
                <a:solidFill>
                  <a:srgbClr val="F08248"/>
                </a:solidFill>
                <a:latin typeface="Arial" panose="020B0604020202020204" pitchFamily="34" charset="0"/>
              </a:rPr>
              <a:t>0</a:t>
            </a:r>
            <a:r>
              <a:rPr lang="en-PH" sz="9600" b="1" dirty="0">
                <a:solidFill>
                  <a:srgbClr val="F08248"/>
                </a:solidFill>
                <a:latin typeface="Arial" panose="020B0604020202020204" pitchFamily="34" charset="0"/>
              </a:rPr>
              <a:t>4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9D9FF78-C330-8249-389E-4763E824311E}"/>
              </a:ext>
            </a:extLst>
          </p:cNvPr>
          <p:cNvSpPr/>
          <p:nvPr/>
        </p:nvSpPr>
        <p:spPr>
          <a:xfrm>
            <a:off x="731520" y="2743200"/>
            <a:ext cx="2743200" cy="36576"/>
          </a:xfrm>
          <a:prstGeom prst="rect">
            <a:avLst/>
          </a:prstGeom>
          <a:solidFill>
            <a:srgbClr val="F0824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E9D853D-0794-F298-FBA0-24A85913F679}"/>
              </a:ext>
            </a:extLst>
          </p:cNvPr>
          <p:cNvSpPr txBox="1"/>
          <p:nvPr/>
        </p:nvSpPr>
        <p:spPr>
          <a:xfrm>
            <a:off x="731520" y="3017520"/>
            <a:ext cx="9144000" cy="646331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3600" b="1">
                <a:solidFill>
                  <a:srgbClr val="FFFFFF"/>
                </a:solidFill>
                <a:latin typeface="Arial" panose="020B0604020202020204" pitchFamily="34" charset="0"/>
              </a:rPr>
              <a:t>Model Development &amp; Evaluation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BC8F286-8B1C-2303-1E4D-F35BF55C4897}"/>
              </a:ext>
            </a:extLst>
          </p:cNvPr>
          <p:cNvSpPr txBox="1"/>
          <p:nvPr/>
        </p:nvSpPr>
        <p:spPr>
          <a:xfrm>
            <a:off x="731520" y="3840480"/>
            <a:ext cx="7315200" cy="646331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dirty="0">
                <a:solidFill>
                  <a:srgbClr val="C8DCFC"/>
                </a:solidFill>
                <a:latin typeface="Arial" panose="020B0604020202020204" pitchFamily="34" charset="0"/>
              </a:rPr>
              <a:t>LR  |  EBM  |  </a:t>
            </a:r>
            <a:r>
              <a:rPr lang="en-US" dirty="0" err="1">
                <a:solidFill>
                  <a:srgbClr val="C8DCFC"/>
                </a:solidFill>
                <a:latin typeface="Arial" panose="020B0604020202020204" pitchFamily="34" charset="0"/>
              </a:rPr>
              <a:t>XGBoost</a:t>
            </a:r>
            <a:r>
              <a:rPr lang="en-US" dirty="0">
                <a:solidFill>
                  <a:srgbClr val="C8DCFC"/>
                </a:solidFill>
                <a:latin typeface="Arial" panose="020B0604020202020204" pitchFamily="34" charset="0"/>
              </a:rPr>
              <a:t>  - tuned, evaluated, compared on same test set</a:t>
            </a:r>
            <a:endParaRPr lang="en-PH" dirty="0">
              <a:solidFill>
                <a:srgbClr val="C8DCFC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5096994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5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E903950-0BDA-7657-53AB-2EBA20A7E2F6}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824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8E0DF42-B7AF-59E2-D1A2-8015129A5F16}"/>
              </a:ext>
            </a:extLst>
          </p:cNvPr>
          <p:cNvSpPr txBox="1"/>
          <p:nvPr/>
        </p:nvSpPr>
        <p:spPr>
          <a:xfrm>
            <a:off x="731520" y="365760"/>
            <a:ext cx="10058400" cy="52322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2800" b="1">
                <a:solidFill>
                  <a:srgbClr val="1A2A3D"/>
                </a:solidFill>
                <a:latin typeface="Arial" panose="020B0604020202020204" pitchFamily="34" charset="0"/>
              </a:rPr>
              <a:t>5.0  Model Selection Strategy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AA0636C-E2F6-C0BC-31DC-C78E8A56CAEA}"/>
              </a:ext>
            </a:extLst>
          </p:cNvPr>
          <p:cNvSpPr txBox="1"/>
          <p:nvPr/>
        </p:nvSpPr>
        <p:spPr>
          <a:xfrm>
            <a:off x="731520" y="868680"/>
            <a:ext cx="100584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 b="1" dirty="0">
                <a:latin typeface="Arial" panose="020B0604020202020204" pitchFamily="34" charset="0"/>
              </a:rPr>
              <a:t>Three models which consider interpretability and prediction power.</a:t>
            </a:r>
            <a:endParaRPr lang="en-PH" sz="1400" b="1" dirty="0">
              <a:latin typeface="Arial" panose="020B0604020202020204" pitchFamily="34" charset="0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3328B0F-57AF-0DED-8A97-43684E9B24D4}"/>
              </a:ext>
            </a:extLst>
          </p:cNvPr>
          <p:cNvSpPr/>
          <p:nvPr/>
        </p:nvSpPr>
        <p:spPr>
          <a:xfrm>
            <a:off x="731520" y="1554480"/>
            <a:ext cx="3383280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3932CBE-F1AA-3F36-22E1-BFE76F148D78}"/>
              </a:ext>
            </a:extLst>
          </p:cNvPr>
          <p:cNvSpPr/>
          <p:nvPr/>
        </p:nvSpPr>
        <p:spPr>
          <a:xfrm>
            <a:off x="731520" y="1554480"/>
            <a:ext cx="3383280" cy="64008"/>
          </a:xfrm>
          <a:prstGeom prst="rect">
            <a:avLst/>
          </a:prstGeom>
          <a:solidFill>
            <a:srgbClr val="F0824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8EB0F35-AAE6-42F9-2470-F8946D2E0531}"/>
              </a:ext>
            </a:extLst>
          </p:cNvPr>
          <p:cNvSpPr txBox="1"/>
          <p:nvPr/>
        </p:nvSpPr>
        <p:spPr>
          <a:xfrm>
            <a:off x="1005840" y="1783080"/>
            <a:ext cx="2926080" cy="338554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600" b="1">
                <a:solidFill>
                  <a:srgbClr val="F08248"/>
                </a:solidFill>
                <a:latin typeface="Arial" panose="020B0604020202020204" pitchFamily="34" charset="0"/>
              </a:rPr>
              <a:t>Logistic Regression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A3CC706-8807-26FE-F0E6-EAAFB388EFA3}"/>
              </a:ext>
            </a:extLst>
          </p:cNvPr>
          <p:cNvSpPr txBox="1"/>
          <p:nvPr/>
        </p:nvSpPr>
        <p:spPr>
          <a:xfrm>
            <a:off x="1005840" y="2148840"/>
            <a:ext cx="2926080" cy="292388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300">
                <a:solidFill>
                  <a:srgbClr val="9E9E9E"/>
                </a:solidFill>
                <a:latin typeface="Arial" panose="020B0604020202020204" pitchFamily="34" charset="0"/>
              </a:rPr>
              <a:t>Interpretability Anchor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D3FD4E5-305A-74D2-EC2A-71AEEB823DDA}"/>
              </a:ext>
            </a:extLst>
          </p:cNvPr>
          <p:cNvSpPr txBox="1"/>
          <p:nvPr/>
        </p:nvSpPr>
        <p:spPr>
          <a:xfrm>
            <a:off x="1005840" y="2560320"/>
            <a:ext cx="2926080" cy="1692771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300">
                <a:solidFill>
                  <a:srgbClr val="4B4B4B"/>
                </a:solidFill>
                <a:latin typeface="Arial" panose="020B0604020202020204" pitchFamily="34" charset="0"/>
              </a:rPr>
              <a:t>SMOTE inside imblearn pipeline</a:t>
            </a:r>
          </a:p>
          <a:p>
            <a:endParaRPr lang="en-PH" sz="1300">
              <a:solidFill>
                <a:srgbClr val="4B4B4B"/>
              </a:solidFill>
              <a:latin typeface="Arial" panose="020B0604020202020204" pitchFamily="34" charset="0"/>
            </a:endParaRPr>
          </a:p>
          <a:p>
            <a:r>
              <a:rPr lang="en-PH" sz="1300">
                <a:solidFill>
                  <a:srgbClr val="4B4B4B"/>
                </a:solidFill>
                <a:latin typeface="Arial" panose="020B0604020202020204" pitchFamily="34" charset="0"/>
              </a:rPr>
              <a:t>GridSearchCV (C, penalty, solver)</a:t>
            </a:r>
          </a:p>
          <a:p>
            <a:r>
              <a:rPr lang="en-PH" sz="1300">
                <a:solidFill>
                  <a:srgbClr val="4B4B4B"/>
                </a:solidFill>
                <a:latin typeface="Arial" panose="020B0604020202020204" pitchFamily="34" charset="0"/>
              </a:rPr>
              <a:t>Optimized for Recall</a:t>
            </a:r>
          </a:p>
          <a:p>
            <a:endParaRPr lang="en-PH" sz="1300">
              <a:solidFill>
                <a:srgbClr val="4B4B4B"/>
              </a:solidFill>
              <a:latin typeface="Arial" panose="020B0604020202020204" pitchFamily="34" charset="0"/>
            </a:endParaRPr>
          </a:p>
          <a:p>
            <a:r>
              <a:rPr lang="en-PH" sz="1300">
                <a:solidFill>
                  <a:srgbClr val="4B4B4B"/>
                </a:solidFill>
                <a:latin typeface="Arial" panose="020B0604020202020204" pitchFamily="34" charset="0"/>
              </a:rPr>
              <a:t>6 assumptions checked:</a:t>
            </a:r>
          </a:p>
          <a:p>
            <a:r>
              <a:rPr lang="en-PH" sz="1300">
                <a:solidFill>
                  <a:srgbClr val="4B4B4B"/>
                </a:solidFill>
                <a:latin typeface="Arial" panose="020B0604020202020204" pitchFamily="34" charset="0"/>
              </a:rPr>
              <a:t>Binary, Independent, VIF,</a:t>
            </a:r>
          </a:p>
          <a:p>
            <a:r>
              <a:rPr lang="en-PH" sz="1300">
                <a:solidFill>
                  <a:srgbClr val="4B4B4B"/>
                </a:solidFill>
                <a:latin typeface="Arial" panose="020B0604020202020204" pitchFamily="34" charset="0"/>
              </a:rPr>
              <a:t>Box-Tidwell, Outliers, EPV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3B4B62C6-8097-C187-ABD5-7B7D5DF38921}"/>
              </a:ext>
            </a:extLst>
          </p:cNvPr>
          <p:cNvSpPr/>
          <p:nvPr/>
        </p:nvSpPr>
        <p:spPr>
          <a:xfrm>
            <a:off x="4389120" y="1554480"/>
            <a:ext cx="3383280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8777E81-53C0-42C7-3344-1A7098AB1AA3}"/>
              </a:ext>
            </a:extLst>
          </p:cNvPr>
          <p:cNvSpPr/>
          <p:nvPr/>
        </p:nvSpPr>
        <p:spPr>
          <a:xfrm>
            <a:off x="4389120" y="1554480"/>
            <a:ext cx="3383280" cy="64008"/>
          </a:xfrm>
          <a:prstGeom prst="rect">
            <a:avLst/>
          </a:prstGeom>
          <a:solidFill>
            <a:srgbClr val="20809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8EFACEE-973A-000C-6CB1-1453EDEEF78B}"/>
              </a:ext>
            </a:extLst>
          </p:cNvPr>
          <p:cNvSpPr txBox="1"/>
          <p:nvPr/>
        </p:nvSpPr>
        <p:spPr>
          <a:xfrm>
            <a:off x="4663440" y="1783080"/>
            <a:ext cx="2926080" cy="338554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600" b="1">
                <a:solidFill>
                  <a:srgbClr val="208090"/>
                </a:solidFill>
                <a:latin typeface="Arial" panose="020B0604020202020204" pitchFamily="34" charset="0"/>
              </a:rPr>
              <a:t>EBM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A3BF053-209D-ADF9-238E-5460C98AB3AF}"/>
              </a:ext>
            </a:extLst>
          </p:cNvPr>
          <p:cNvSpPr txBox="1"/>
          <p:nvPr/>
        </p:nvSpPr>
        <p:spPr>
          <a:xfrm>
            <a:off x="4663440" y="2148840"/>
            <a:ext cx="2926080" cy="292388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300">
                <a:solidFill>
                  <a:srgbClr val="9E9E9E"/>
                </a:solidFill>
                <a:latin typeface="Arial" panose="020B0604020202020204" pitchFamily="34" charset="0"/>
              </a:rPr>
              <a:t>Glass-Box Bridge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25D0998-BDCC-3D50-555A-28478A82A018}"/>
              </a:ext>
            </a:extLst>
          </p:cNvPr>
          <p:cNvSpPr txBox="1"/>
          <p:nvPr/>
        </p:nvSpPr>
        <p:spPr>
          <a:xfrm>
            <a:off x="4663440" y="2560320"/>
            <a:ext cx="2926080" cy="1692771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300">
                <a:solidFill>
                  <a:srgbClr val="4B4B4B"/>
                </a:solidFill>
                <a:latin typeface="Arial" panose="020B0604020202020204" pitchFamily="34" charset="0"/>
              </a:rPr>
              <a:t>GAM + pairwise interactions</a:t>
            </a:r>
          </a:p>
          <a:p>
            <a:r>
              <a:rPr lang="en-PH" sz="1300">
                <a:solidFill>
                  <a:srgbClr val="4B4B4B"/>
                </a:solidFill>
                <a:latin typeface="Arial" panose="020B0604020202020204" pitchFamily="34" charset="0"/>
              </a:rPr>
              <a:t>(Microsoft Research)</a:t>
            </a:r>
          </a:p>
          <a:p>
            <a:endParaRPr lang="en-PH" sz="1300">
              <a:solidFill>
                <a:srgbClr val="4B4B4B"/>
              </a:solidFill>
              <a:latin typeface="Arial" panose="020B0604020202020204" pitchFamily="34" charset="0"/>
            </a:endParaRPr>
          </a:p>
          <a:p>
            <a:r>
              <a:rPr lang="en-PH" sz="1300">
                <a:solidFill>
                  <a:srgbClr val="4B4B4B"/>
                </a:solidFill>
                <a:latin typeface="Arial" panose="020B0604020202020204" pitchFamily="34" charset="0"/>
              </a:rPr>
              <a:t>RandomizedSearchCV (100 iter)</a:t>
            </a:r>
          </a:p>
          <a:p>
            <a:r>
              <a:rPr lang="en-PH" sz="1300">
                <a:solidFill>
                  <a:srgbClr val="4B4B4B"/>
                </a:solidFill>
                <a:latin typeface="Arial" panose="020B0604020202020204" pitchFamily="34" charset="0"/>
              </a:rPr>
              <a:t>Handles Box-Tidwell violations</a:t>
            </a:r>
          </a:p>
          <a:p>
            <a:endParaRPr lang="en-PH" sz="1300">
              <a:solidFill>
                <a:srgbClr val="4B4B4B"/>
              </a:solidFill>
              <a:latin typeface="Arial" panose="020B0604020202020204" pitchFamily="34" charset="0"/>
            </a:endParaRPr>
          </a:p>
          <a:p>
            <a:r>
              <a:rPr lang="en-PH" sz="1300">
                <a:solidFill>
                  <a:srgbClr val="4B4B4B"/>
                </a:solidFill>
                <a:latin typeface="Arial" panose="020B0604020202020204" pitchFamily="34" charset="0"/>
              </a:rPr>
              <a:t>Per-feature shape functions</a:t>
            </a:r>
          </a:p>
          <a:p>
            <a:r>
              <a:rPr lang="en-PH" sz="1300">
                <a:solidFill>
                  <a:srgbClr val="4B4B4B"/>
                </a:solidFill>
                <a:latin typeface="Arial" panose="020B0604020202020204" pitchFamily="34" charset="0"/>
              </a:rPr>
              <a:t>Best CV AUC: 0.5414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3D362053-81B2-C67B-4064-4709CA14EA1D}"/>
              </a:ext>
            </a:extLst>
          </p:cNvPr>
          <p:cNvSpPr/>
          <p:nvPr/>
        </p:nvSpPr>
        <p:spPr>
          <a:xfrm>
            <a:off x="8046720" y="1554480"/>
            <a:ext cx="3383280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3D2BFE8-99FD-3012-9873-69B99E204084}"/>
              </a:ext>
            </a:extLst>
          </p:cNvPr>
          <p:cNvSpPr/>
          <p:nvPr/>
        </p:nvSpPr>
        <p:spPr>
          <a:xfrm>
            <a:off x="8046720" y="1554480"/>
            <a:ext cx="3383280" cy="64008"/>
          </a:xfrm>
          <a:prstGeom prst="rect">
            <a:avLst/>
          </a:prstGeom>
          <a:solidFill>
            <a:srgbClr val="E8474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DFE7B20-8AD1-E6BF-37F0-5A30A73CE787}"/>
              </a:ext>
            </a:extLst>
          </p:cNvPr>
          <p:cNvSpPr txBox="1"/>
          <p:nvPr/>
        </p:nvSpPr>
        <p:spPr>
          <a:xfrm>
            <a:off x="8321040" y="1783080"/>
            <a:ext cx="2926080" cy="338554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600" b="1">
                <a:solidFill>
                  <a:srgbClr val="E84747"/>
                </a:solidFill>
                <a:latin typeface="Arial" panose="020B0604020202020204" pitchFamily="34" charset="0"/>
              </a:rPr>
              <a:t>XGBoost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F3CB1E0-9291-59FD-B760-2BEF83E0E105}"/>
              </a:ext>
            </a:extLst>
          </p:cNvPr>
          <p:cNvSpPr txBox="1"/>
          <p:nvPr/>
        </p:nvSpPr>
        <p:spPr>
          <a:xfrm>
            <a:off x="8321040" y="2148840"/>
            <a:ext cx="2926080" cy="292388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300">
                <a:solidFill>
                  <a:srgbClr val="9E9E9E"/>
                </a:solidFill>
                <a:latin typeface="Arial" panose="020B0604020202020204" pitchFamily="34" charset="0"/>
              </a:rPr>
              <a:t>Performance Ceiling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EBBF361-41FD-AAAE-844F-C489E9E1A1C7}"/>
              </a:ext>
            </a:extLst>
          </p:cNvPr>
          <p:cNvSpPr txBox="1"/>
          <p:nvPr/>
        </p:nvSpPr>
        <p:spPr>
          <a:xfrm>
            <a:off x="8321040" y="2560320"/>
            <a:ext cx="2926080" cy="1692771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4B4B4B"/>
                </a:solidFill>
                <a:latin typeface="Arial" panose="020B0604020202020204" pitchFamily="34" charset="0"/>
              </a:rPr>
              <a:t>RandomizedSearchCV (60 iter)</a:t>
            </a:r>
          </a:p>
          <a:p>
            <a:r>
              <a:rPr lang="en-US" sz="1300">
                <a:solidFill>
                  <a:srgbClr val="4B4B4B"/>
                </a:solidFill>
                <a:latin typeface="Arial" panose="020B0604020202020204" pitchFamily="34" charset="0"/>
              </a:rPr>
              <a:t>scale_pos_weight = 19.16</a:t>
            </a:r>
          </a:p>
          <a:p>
            <a:endParaRPr lang="en-US" sz="1300">
              <a:solidFill>
                <a:srgbClr val="4B4B4B"/>
              </a:solidFill>
              <a:latin typeface="Arial" panose="020B0604020202020204" pitchFamily="34" charset="0"/>
            </a:endParaRPr>
          </a:p>
          <a:p>
            <a:r>
              <a:rPr lang="en-US" sz="1300">
                <a:solidFill>
                  <a:srgbClr val="4B4B4B"/>
                </a:solidFill>
                <a:latin typeface="Arial" panose="020B0604020202020204" pitchFamily="34" charset="0"/>
              </a:rPr>
              <a:t>All 6 engineered features</a:t>
            </a:r>
          </a:p>
          <a:p>
            <a:r>
              <a:rPr lang="en-US" sz="1300">
                <a:solidFill>
                  <a:srgbClr val="4B4B4B"/>
                </a:solidFill>
                <a:latin typeface="Arial" panose="020B0604020202020204" pitchFamily="34" charset="0"/>
              </a:rPr>
              <a:t>ADASYN-balanced training</a:t>
            </a:r>
          </a:p>
          <a:p>
            <a:endParaRPr lang="en-US" sz="1300">
              <a:solidFill>
                <a:srgbClr val="4B4B4B"/>
              </a:solidFill>
              <a:latin typeface="Arial" panose="020B0604020202020204" pitchFamily="34" charset="0"/>
            </a:endParaRPr>
          </a:p>
          <a:p>
            <a:r>
              <a:rPr lang="en-US" sz="1300">
                <a:solidFill>
                  <a:srgbClr val="4B4B4B"/>
                </a:solidFill>
                <a:latin typeface="Arial" panose="020B0604020202020204" pitchFamily="34" charset="0"/>
              </a:rPr>
              <a:t>max_depth=3, lr=0.01</a:t>
            </a:r>
          </a:p>
          <a:p>
            <a:r>
              <a:rPr lang="en-US" sz="1300">
                <a:solidFill>
                  <a:srgbClr val="4B4B4B"/>
                </a:solidFill>
                <a:latin typeface="Arial" panose="020B0604020202020204" pitchFamily="34" charset="0"/>
              </a:rPr>
              <a:t>Best CV Recall: 0.1932</a:t>
            </a:r>
            <a:endParaRPr lang="en-PH" sz="1300">
              <a:solidFill>
                <a:srgbClr val="4B4B4B"/>
              </a:solidFill>
              <a:latin typeface="Arial" panose="020B0604020202020204" pitchFamily="34" charset="0"/>
            </a:endParaRP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B9AFC20C-676B-DB6D-CDF8-25915C27EF82}"/>
              </a:ext>
            </a:extLst>
          </p:cNvPr>
          <p:cNvSpPr/>
          <p:nvPr/>
        </p:nvSpPr>
        <p:spPr>
          <a:xfrm>
            <a:off x="731520" y="5943600"/>
            <a:ext cx="10698479" cy="594360"/>
          </a:xfrm>
          <a:prstGeom prst="roundRect">
            <a:avLst>
              <a:gd name="adj" fmla="val 6000"/>
            </a:avLst>
          </a:prstGeom>
          <a:solidFill>
            <a:srgbClr val="1A2A3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AEC7293-4B6B-3564-C290-47CBF59B5D86}"/>
              </a:ext>
            </a:extLst>
          </p:cNvPr>
          <p:cNvSpPr txBox="1"/>
          <p:nvPr/>
        </p:nvSpPr>
        <p:spPr>
          <a:xfrm>
            <a:off x="1097280" y="6007608"/>
            <a:ext cx="10058400" cy="292388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300">
                <a:solidFill>
                  <a:srgbClr val="C8DCFC"/>
                </a:solidFill>
                <a:latin typeface="Arial" panose="020B0604020202020204" pitchFamily="34" charset="0"/>
              </a:rPr>
              <a:t>Primary: PR-AUC (imbalance-aware)  |  Secondary: F2-Score (Recall-weighted)  |  Business: missed churner &gt; false alarm</a:t>
            </a:r>
            <a:endParaRPr lang="en-PH" sz="1300">
              <a:solidFill>
                <a:srgbClr val="C8DCFC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8800568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5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D213357-26D8-1D03-B1E8-42C065F0AD60}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824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B06A5F2-09BF-6BF9-957C-FEC3BFAD0B43}"/>
              </a:ext>
            </a:extLst>
          </p:cNvPr>
          <p:cNvSpPr txBox="1"/>
          <p:nvPr/>
        </p:nvSpPr>
        <p:spPr>
          <a:xfrm>
            <a:off x="731520" y="365760"/>
            <a:ext cx="10058400" cy="52322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2800" b="1" dirty="0">
                <a:solidFill>
                  <a:srgbClr val="1A2A3D"/>
                </a:solidFill>
                <a:latin typeface="Arial" panose="020B0604020202020204" pitchFamily="34" charset="0"/>
              </a:rPr>
              <a:t>5.1.  Individual Model Results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1BDC72A-304C-278B-C36D-7C23DB706B14}"/>
              </a:ext>
            </a:extLst>
          </p:cNvPr>
          <p:cNvSpPr txBox="1"/>
          <p:nvPr/>
        </p:nvSpPr>
        <p:spPr>
          <a:xfrm>
            <a:off x="731520" y="868680"/>
            <a:ext cx="100584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 b="1" dirty="0">
                <a:latin typeface="Arial" panose="020B0604020202020204" pitchFamily="34" charset="0"/>
              </a:rPr>
              <a:t>All models evaluated at F2-optimal thresholds on the same held-out test set</a:t>
            </a:r>
            <a:endParaRPr lang="en-PH" sz="1400" b="1" dirty="0">
              <a:latin typeface="Arial" panose="020B0604020202020204" pitchFamily="34" charset="0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5C4E9F8-EB1B-2023-E5A9-4DF71BFFB394}"/>
              </a:ext>
            </a:extLst>
          </p:cNvPr>
          <p:cNvSpPr/>
          <p:nvPr/>
        </p:nvSpPr>
        <p:spPr>
          <a:xfrm>
            <a:off x="731520" y="1463040"/>
            <a:ext cx="3474720" cy="3840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30EB6BC-14CD-C01D-8C18-9655F24EB9E1}"/>
              </a:ext>
            </a:extLst>
          </p:cNvPr>
          <p:cNvSpPr/>
          <p:nvPr/>
        </p:nvSpPr>
        <p:spPr>
          <a:xfrm>
            <a:off x="731520" y="1463040"/>
            <a:ext cx="3474720" cy="64008"/>
          </a:xfrm>
          <a:prstGeom prst="rect">
            <a:avLst/>
          </a:prstGeom>
          <a:solidFill>
            <a:srgbClr val="F0824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0C7E8E6-C62F-4D55-CD7A-0AD1971C878F}"/>
              </a:ext>
            </a:extLst>
          </p:cNvPr>
          <p:cNvSpPr txBox="1"/>
          <p:nvPr/>
        </p:nvSpPr>
        <p:spPr>
          <a:xfrm>
            <a:off x="1005840" y="1691640"/>
            <a:ext cx="2926080" cy="338554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1600" b="1">
                <a:solidFill>
                  <a:srgbClr val="F08248"/>
                </a:solidFill>
                <a:latin typeface="Arial" panose="020B0604020202020204" pitchFamily="34" charset="0"/>
              </a:rPr>
              <a:t>Logistic Regression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173B382-6086-4CB0-C5E7-57153006BAA5}"/>
              </a:ext>
            </a:extLst>
          </p:cNvPr>
          <p:cNvSpPr txBox="1"/>
          <p:nvPr/>
        </p:nvSpPr>
        <p:spPr>
          <a:xfrm>
            <a:off x="1005840" y="2194560"/>
            <a:ext cx="292608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1200">
                <a:solidFill>
                  <a:srgbClr val="9E9E9E"/>
                </a:solidFill>
                <a:latin typeface="Arial" panose="020B0604020202020204" pitchFamily="34" charset="0"/>
              </a:rPr>
              <a:t>PR-AUC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24A177A-4A53-2355-7E22-DC1BF265C059}"/>
              </a:ext>
            </a:extLst>
          </p:cNvPr>
          <p:cNvSpPr txBox="1"/>
          <p:nvPr/>
        </p:nvSpPr>
        <p:spPr>
          <a:xfrm>
            <a:off x="1005840" y="2423160"/>
            <a:ext cx="2926080" cy="646331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3600" b="1">
                <a:solidFill>
                  <a:srgbClr val="1A2A3D"/>
                </a:solidFill>
                <a:latin typeface="Arial" panose="020B0604020202020204" pitchFamily="34" charset="0"/>
              </a:rPr>
              <a:t>0.0495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14367F3-BF07-F679-0081-8DC5C62389DC}"/>
              </a:ext>
            </a:extLst>
          </p:cNvPr>
          <p:cNvSpPr/>
          <p:nvPr/>
        </p:nvSpPr>
        <p:spPr>
          <a:xfrm>
            <a:off x="1188720" y="3108960"/>
            <a:ext cx="2560320" cy="9144"/>
          </a:xfrm>
          <a:prstGeom prst="rect">
            <a:avLst/>
          </a:prstGeom>
          <a:solidFill>
            <a:srgbClr val="D0D0D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E597AB4-0D2F-F7F9-4989-6983634EED76}"/>
              </a:ext>
            </a:extLst>
          </p:cNvPr>
          <p:cNvSpPr txBox="1"/>
          <p:nvPr/>
        </p:nvSpPr>
        <p:spPr>
          <a:xfrm>
            <a:off x="1005840" y="3246120"/>
            <a:ext cx="146304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200">
                <a:solidFill>
                  <a:srgbClr val="9E9E9E"/>
                </a:solidFill>
                <a:latin typeface="Arial" panose="020B0604020202020204" pitchFamily="34" charset="0"/>
              </a:rPr>
              <a:t>ROC-AUC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562A874-573F-ACE9-963B-DCCD3A50613E}"/>
              </a:ext>
            </a:extLst>
          </p:cNvPr>
          <p:cNvSpPr txBox="1"/>
          <p:nvPr/>
        </p:nvSpPr>
        <p:spPr>
          <a:xfrm>
            <a:off x="2377440" y="3246120"/>
            <a:ext cx="155448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en-PH" sz="1400" b="1">
                <a:solidFill>
                  <a:srgbClr val="1A2A3D"/>
                </a:solidFill>
                <a:latin typeface="Arial" panose="020B0604020202020204" pitchFamily="34" charset="0"/>
              </a:rPr>
              <a:t>~0.50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6DA656F-8A88-B5B0-5C46-133CF0738BAC}"/>
              </a:ext>
            </a:extLst>
          </p:cNvPr>
          <p:cNvSpPr txBox="1"/>
          <p:nvPr/>
        </p:nvSpPr>
        <p:spPr>
          <a:xfrm>
            <a:off x="1005840" y="3611880"/>
            <a:ext cx="146304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200">
                <a:solidFill>
                  <a:srgbClr val="9E9E9E"/>
                </a:solidFill>
                <a:latin typeface="Arial" panose="020B0604020202020204" pitchFamily="34" charset="0"/>
              </a:rPr>
              <a:t>F2 (tuned)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FEA09E3-DA5A-D3F4-ECBC-BC27331BEAEE}"/>
              </a:ext>
            </a:extLst>
          </p:cNvPr>
          <p:cNvSpPr txBox="1"/>
          <p:nvPr/>
        </p:nvSpPr>
        <p:spPr>
          <a:xfrm>
            <a:off x="2377440" y="3611880"/>
            <a:ext cx="155448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en-PH" sz="1400" b="1">
                <a:solidFill>
                  <a:srgbClr val="1A2A3D"/>
                </a:solidFill>
                <a:latin typeface="Arial" panose="020B0604020202020204" pitchFamily="34" charset="0"/>
              </a:rPr>
              <a:t>0.207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8B4C661-9952-D159-1A45-545D37B1A147}"/>
              </a:ext>
            </a:extLst>
          </p:cNvPr>
          <p:cNvSpPr txBox="1"/>
          <p:nvPr/>
        </p:nvSpPr>
        <p:spPr>
          <a:xfrm>
            <a:off x="1005840" y="3977640"/>
            <a:ext cx="146304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200">
                <a:solidFill>
                  <a:srgbClr val="9E9E9E"/>
                </a:solidFill>
                <a:latin typeface="Arial" panose="020B0604020202020204" pitchFamily="34" charset="0"/>
              </a:rPr>
              <a:t>Threshold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9CA5606-32AD-54C3-9F55-0F7663A3AF41}"/>
              </a:ext>
            </a:extLst>
          </p:cNvPr>
          <p:cNvSpPr txBox="1"/>
          <p:nvPr/>
        </p:nvSpPr>
        <p:spPr>
          <a:xfrm>
            <a:off x="2377440" y="3977640"/>
            <a:ext cx="155448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en-PH" sz="1400" b="1">
                <a:solidFill>
                  <a:srgbClr val="1A2A3D"/>
                </a:solidFill>
                <a:latin typeface="Arial" panose="020B0604020202020204" pitchFamily="34" charset="0"/>
              </a:rPr>
              <a:t>0.01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A0FF990-5611-6F3C-5D32-46CC0783DA4C}"/>
              </a:ext>
            </a:extLst>
          </p:cNvPr>
          <p:cNvSpPr txBox="1"/>
          <p:nvPr/>
        </p:nvSpPr>
        <p:spPr>
          <a:xfrm>
            <a:off x="1005840" y="4434840"/>
            <a:ext cx="2926080" cy="292388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1300" b="1">
                <a:solidFill>
                  <a:srgbClr val="E84747"/>
                </a:solidFill>
                <a:latin typeface="Arial" panose="020B0604020202020204" pitchFamily="34" charset="0"/>
              </a:rPr>
              <a:t>Recall @tuned = 1.00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672048CC-203C-1E9C-F3BC-090365013FFD}"/>
              </a:ext>
            </a:extLst>
          </p:cNvPr>
          <p:cNvSpPr/>
          <p:nvPr/>
        </p:nvSpPr>
        <p:spPr>
          <a:xfrm>
            <a:off x="4480560" y="1463040"/>
            <a:ext cx="3474720" cy="3840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33D6861-80BE-4C4C-80DF-0E852FC3BAC9}"/>
              </a:ext>
            </a:extLst>
          </p:cNvPr>
          <p:cNvSpPr/>
          <p:nvPr/>
        </p:nvSpPr>
        <p:spPr>
          <a:xfrm>
            <a:off x="4480560" y="1463040"/>
            <a:ext cx="3474720" cy="64008"/>
          </a:xfrm>
          <a:prstGeom prst="rect">
            <a:avLst/>
          </a:prstGeom>
          <a:solidFill>
            <a:srgbClr val="20809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88C7FF4-FC03-32B3-05E1-56A4BFC2C058}"/>
              </a:ext>
            </a:extLst>
          </p:cNvPr>
          <p:cNvSpPr txBox="1"/>
          <p:nvPr/>
        </p:nvSpPr>
        <p:spPr>
          <a:xfrm>
            <a:off x="4754880" y="1691640"/>
            <a:ext cx="2926080" cy="338554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1600" b="1">
                <a:solidFill>
                  <a:srgbClr val="208090"/>
                </a:solidFill>
                <a:latin typeface="Arial" panose="020B0604020202020204" pitchFamily="34" charset="0"/>
              </a:rPr>
              <a:t>EBM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C4B76DD-93FD-4D20-F77C-BBE220CA1F3A}"/>
              </a:ext>
            </a:extLst>
          </p:cNvPr>
          <p:cNvSpPr txBox="1"/>
          <p:nvPr/>
        </p:nvSpPr>
        <p:spPr>
          <a:xfrm>
            <a:off x="4754880" y="2194560"/>
            <a:ext cx="292608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1200">
                <a:solidFill>
                  <a:srgbClr val="9E9E9E"/>
                </a:solidFill>
                <a:latin typeface="Arial" panose="020B0604020202020204" pitchFamily="34" charset="0"/>
              </a:rPr>
              <a:t>PR-AUC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B8890B8-4473-A924-3C44-747A7A330865}"/>
              </a:ext>
            </a:extLst>
          </p:cNvPr>
          <p:cNvSpPr txBox="1"/>
          <p:nvPr/>
        </p:nvSpPr>
        <p:spPr>
          <a:xfrm>
            <a:off x="4754880" y="2423160"/>
            <a:ext cx="2926080" cy="646331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3600" b="1">
                <a:solidFill>
                  <a:srgbClr val="1A2A3D"/>
                </a:solidFill>
                <a:latin typeface="Arial" panose="020B0604020202020204" pitchFamily="34" charset="0"/>
              </a:rPr>
              <a:t>0.0485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03ABCE0-8736-9AF3-8DA4-57F68348E0A8}"/>
              </a:ext>
            </a:extLst>
          </p:cNvPr>
          <p:cNvSpPr/>
          <p:nvPr/>
        </p:nvSpPr>
        <p:spPr>
          <a:xfrm>
            <a:off x="4937760" y="3108960"/>
            <a:ext cx="2560320" cy="9144"/>
          </a:xfrm>
          <a:prstGeom prst="rect">
            <a:avLst/>
          </a:prstGeom>
          <a:solidFill>
            <a:srgbClr val="D0D0D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A5B361E-9307-AB5D-A904-4FEC1C0E7551}"/>
              </a:ext>
            </a:extLst>
          </p:cNvPr>
          <p:cNvSpPr txBox="1"/>
          <p:nvPr/>
        </p:nvSpPr>
        <p:spPr>
          <a:xfrm>
            <a:off x="4754880" y="3246120"/>
            <a:ext cx="146304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200">
                <a:solidFill>
                  <a:srgbClr val="9E9E9E"/>
                </a:solidFill>
                <a:latin typeface="Arial" panose="020B0604020202020204" pitchFamily="34" charset="0"/>
              </a:rPr>
              <a:t>ROC-AUC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0767738-87A8-8C0D-77EA-9481F4457971}"/>
              </a:ext>
            </a:extLst>
          </p:cNvPr>
          <p:cNvSpPr txBox="1"/>
          <p:nvPr/>
        </p:nvSpPr>
        <p:spPr>
          <a:xfrm>
            <a:off x="6126480" y="3246120"/>
            <a:ext cx="155448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en-PH" sz="1400" b="1">
                <a:solidFill>
                  <a:srgbClr val="1A2A3D"/>
                </a:solidFill>
                <a:latin typeface="Arial" panose="020B0604020202020204" pitchFamily="34" charset="0"/>
              </a:rPr>
              <a:t>0.495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4116C7F-69BF-F91A-AEBD-CDD23E9730CD}"/>
              </a:ext>
            </a:extLst>
          </p:cNvPr>
          <p:cNvSpPr txBox="1"/>
          <p:nvPr/>
        </p:nvSpPr>
        <p:spPr>
          <a:xfrm>
            <a:off x="4754880" y="3611880"/>
            <a:ext cx="146304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200">
                <a:solidFill>
                  <a:srgbClr val="9E9E9E"/>
                </a:solidFill>
                <a:latin typeface="Arial" panose="020B0604020202020204" pitchFamily="34" charset="0"/>
              </a:rPr>
              <a:t>F2 (tuned)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080F98C-FBA5-81A2-8130-7618E24C228C}"/>
              </a:ext>
            </a:extLst>
          </p:cNvPr>
          <p:cNvSpPr txBox="1"/>
          <p:nvPr/>
        </p:nvSpPr>
        <p:spPr>
          <a:xfrm>
            <a:off x="6126480" y="3611880"/>
            <a:ext cx="155448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en-PH" sz="1400" b="1">
                <a:solidFill>
                  <a:srgbClr val="1A2A3D"/>
                </a:solidFill>
                <a:latin typeface="Arial" panose="020B0604020202020204" pitchFamily="34" charset="0"/>
              </a:rPr>
              <a:t>0.207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6089B3E-3B55-73BB-C185-03DEDB9CBA15}"/>
              </a:ext>
            </a:extLst>
          </p:cNvPr>
          <p:cNvSpPr txBox="1"/>
          <p:nvPr/>
        </p:nvSpPr>
        <p:spPr>
          <a:xfrm>
            <a:off x="4754880" y="3977640"/>
            <a:ext cx="146304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200">
                <a:solidFill>
                  <a:srgbClr val="9E9E9E"/>
                </a:solidFill>
                <a:latin typeface="Arial" panose="020B0604020202020204" pitchFamily="34" charset="0"/>
              </a:rPr>
              <a:t>Threshold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6C37AF4-155D-703F-291C-0C712C990187}"/>
              </a:ext>
            </a:extLst>
          </p:cNvPr>
          <p:cNvSpPr txBox="1"/>
          <p:nvPr/>
        </p:nvSpPr>
        <p:spPr>
          <a:xfrm>
            <a:off x="6126480" y="3977640"/>
            <a:ext cx="155448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en-PH" sz="1400" b="1">
                <a:solidFill>
                  <a:srgbClr val="1A2A3D"/>
                </a:solidFill>
                <a:latin typeface="Arial" panose="020B0604020202020204" pitchFamily="34" charset="0"/>
              </a:rPr>
              <a:t>0.17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5F6E8E2-2687-C5ED-B6FC-C22B013E487C}"/>
              </a:ext>
            </a:extLst>
          </p:cNvPr>
          <p:cNvSpPr txBox="1"/>
          <p:nvPr/>
        </p:nvSpPr>
        <p:spPr>
          <a:xfrm>
            <a:off x="4754880" y="4434840"/>
            <a:ext cx="2926080" cy="292388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1300" b="1">
                <a:solidFill>
                  <a:srgbClr val="E84747"/>
                </a:solidFill>
                <a:latin typeface="Arial" panose="020B0604020202020204" pitchFamily="34" charset="0"/>
              </a:rPr>
              <a:t>Recall @tuned = 1.00</a:t>
            </a: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162458CF-E881-6ED1-168F-C902C2B1212D}"/>
              </a:ext>
            </a:extLst>
          </p:cNvPr>
          <p:cNvSpPr/>
          <p:nvPr/>
        </p:nvSpPr>
        <p:spPr>
          <a:xfrm>
            <a:off x="8229600" y="1463040"/>
            <a:ext cx="3474720" cy="3840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373ACA2C-1368-2B74-9907-0119C45A7F56}"/>
              </a:ext>
            </a:extLst>
          </p:cNvPr>
          <p:cNvSpPr/>
          <p:nvPr/>
        </p:nvSpPr>
        <p:spPr>
          <a:xfrm>
            <a:off x="8229600" y="1463040"/>
            <a:ext cx="3474720" cy="64008"/>
          </a:xfrm>
          <a:prstGeom prst="rect">
            <a:avLst/>
          </a:prstGeom>
          <a:solidFill>
            <a:srgbClr val="E8474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BF5500E-96FD-2ADA-778F-43B198924C5E}"/>
              </a:ext>
            </a:extLst>
          </p:cNvPr>
          <p:cNvSpPr txBox="1"/>
          <p:nvPr/>
        </p:nvSpPr>
        <p:spPr>
          <a:xfrm>
            <a:off x="8503920" y="1691640"/>
            <a:ext cx="2926080" cy="338554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1600" b="1">
                <a:solidFill>
                  <a:srgbClr val="E84747"/>
                </a:solidFill>
                <a:latin typeface="Arial" panose="020B0604020202020204" pitchFamily="34" charset="0"/>
              </a:rPr>
              <a:t>XGBoost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9441432-C456-8CE5-E86F-58C30F323CE2}"/>
              </a:ext>
            </a:extLst>
          </p:cNvPr>
          <p:cNvSpPr txBox="1"/>
          <p:nvPr/>
        </p:nvSpPr>
        <p:spPr>
          <a:xfrm>
            <a:off x="8503920" y="2194560"/>
            <a:ext cx="292608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1200">
                <a:solidFill>
                  <a:srgbClr val="9E9E9E"/>
                </a:solidFill>
                <a:latin typeface="Arial" panose="020B0604020202020204" pitchFamily="34" charset="0"/>
              </a:rPr>
              <a:t>PR-AUC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603E933-0136-DFFF-1D3F-F9FF8FC50B42}"/>
              </a:ext>
            </a:extLst>
          </p:cNvPr>
          <p:cNvSpPr txBox="1"/>
          <p:nvPr/>
        </p:nvSpPr>
        <p:spPr>
          <a:xfrm>
            <a:off x="8503920" y="2423160"/>
            <a:ext cx="2926080" cy="646331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3600" b="1">
                <a:solidFill>
                  <a:srgbClr val="1A2A3D"/>
                </a:solidFill>
                <a:latin typeface="Arial" panose="020B0604020202020204" pitchFamily="34" charset="0"/>
              </a:rPr>
              <a:t>0.0494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E856858-B651-41A1-7895-C34B29DB4DC2}"/>
              </a:ext>
            </a:extLst>
          </p:cNvPr>
          <p:cNvSpPr/>
          <p:nvPr/>
        </p:nvSpPr>
        <p:spPr>
          <a:xfrm>
            <a:off x="8686800" y="3108960"/>
            <a:ext cx="2560320" cy="9144"/>
          </a:xfrm>
          <a:prstGeom prst="rect">
            <a:avLst/>
          </a:prstGeom>
          <a:solidFill>
            <a:srgbClr val="D0D0D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A5169B5-3FFC-CAAF-FEBE-9D6095D73825}"/>
              </a:ext>
            </a:extLst>
          </p:cNvPr>
          <p:cNvSpPr txBox="1"/>
          <p:nvPr/>
        </p:nvSpPr>
        <p:spPr>
          <a:xfrm>
            <a:off x="8503920" y="3246120"/>
            <a:ext cx="146304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200">
                <a:solidFill>
                  <a:srgbClr val="9E9E9E"/>
                </a:solidFill>
                <a:latin typeface="Arial" panose="020B0604020202020204" pitchFamily="34" charset="0"/>
              </a:rPr>
              <a:t>ROC-AUC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FEC2E5A-7B7B-58CA-6A93-F7FAECEF30FA}"/>
              </a:ext>
            </a:extLst>
          </p:cNvPr>
          <p:cNvSpPr txBox="1"/>
          <p:nvPr/>
        </p:nvSpPr>
        <p:spPr>
          <a:xfrm>
            <a:off x="9875520" y="3246120"/>
            <a:ext cx="155448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en-PH" sz="1400" b="1">
                <a:solidFill>
                  <a:srgbClr val="1A2A3D"/>
                </a:solidFill>
                <a:latin typeface="Arial" panose="020B0604020202020204" pitchFamily="34" charset="0"/>
              </a:rPr>
              <a:t>0.502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3575AEB-CD6A-C98A-0295-D21EB1AC365D}"/>
              </a:ext>
            </a:extLst>
          </p:cNvPr>
          <p:cNvSpPr txBox="1"/>
          <p:nvPr/>
        </p:nvSpPr>
        <p:spPr>
          <a:xfrm>
            <a:off x="8503920" y="3611880"/>
            <a:ext cx="146304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200">
                <a:solidFill>
                  <a:srgbClr val="9E9E9E"/>
                </a:solidFill>
                <a:latin typeface="Arial" panose="020B0604020202020204" pitchFamily="34" charset="0"/>
              </a:rPr>
              <a:t>F2 (tuned)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C0D150F-2BBA-A196-84BF-8DF4C1451A29}"/>
              </a:ext>
            </a:extLst>
          </p:cNvPr>
          <p:cNvSpPr txBox="1"/>
          <p:nvPr/>
        </p:nvSpPr>
        <p:spPr>
          <a:xfrm>
            <a:off x="9875520" y="3611880"/>
            <a:ext cx="155448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en-PH" sz="1400" b="1">
                <a:solidFill>
                  <a:srgbClr val="1A2A3D"/>
                </a:solidFill>
                <a:latin typeface="Arial" panose="020B0604020202020204" pitchFamily="34" charset="0"/>
              </a:rPr>
              <a:t>0.207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81DFF0D-A995-A834-4C4F-ECE06D526DD8}"/>
              </a:ext>
            </a:extLst>
          </p:cNvPr>
          <p:cNvSpPr txBox="1"/>
          <p:nvPr/>
        </p:nvSpPr>
        <p:spPr>
          <a:xfrm>
            <a:off x="8503920" y="3977640"/>
            <a:ext cx="146304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200">
                <a:solidFill>
                  <a:srgbClr val="9E9E9E"/>
                </a:solidFill>
                <a:latin typeface="Arial" panose="020B0604020202020204" pitchFamily="34" charset="0"/>
              </a:rPr>
              <a:t>Threshold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0ED303F-0B5B-EA5A-A961-80BB5DEB3640}"/>
              </a:ext>
            </a:extLst>
          </p:cNvPr>
          <p:cNvSpPr txBox="1"/>
          <p:nvPr/>
        </p:nvSpPr>
        <p:spPr>
          <a:xfrm>
            <a:off x="9875520" y="3977640"/>
            <a:ext cx="155448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en-PH" sz="1400" b="1">
                <a:solidFill>
                  <a:srgbClr val="1A2A3D"/>
                </a:solidFill>
                <a:latin typeface="Arial" panose="020B0604020202020204" pitchFamily="34" charset="0"/>
              </a:rPr>
              <a:t>0.01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7BC57B1-6989-79FE-3D04-8AEC59E6F9C8}"/>
              </a:ext>
            </a:extLst>
          </p:cNvPr>
          <p:cNvSpPr txBox="1"/>
          <p:nvPr/>
        </p:nvSpPr>
        <p:spPr>
          <a:xfrm>
            <a:off x="8503920" y="4434840"/>
            <a:ext cx="2926080" cy="292388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1300" b="1">
                <a:solidFill>
                  <a:srgbClr val="E84747"/>
                </a:solidFill>
                <a:latin typeface="Arial" panose="020B0604020202020204" pitchFamily="34" charset="0"/>
              </a:rPr>
              <a:t>Recall @tuned = 1.00</a:t>
            </a:r>
          </a:p>
        </p:txBody>
      </p: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DB502307-CE26-F3BD-D350-300278256AA8}"/>
              </a:ext>
            </a:extLst>
          </p:cNvPr>
          <p:cNvSpPr/>
          <p:nvPr/>
        </p:nvSpPr>
        <p:spPr>
          <a:xfrm>
            <a:off x="731520" y="5577840"/>
            <a:ext cx="10698479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D068E998-7EAE-8B85-DB59-893898EA175A}"/>
              </a:ext>
            </a:extLst>
          </p:cNvPr>
          <p:cNvSpPr/>
          <p:nvPr/>
        </p:nvSpPr>
        <p:spPr>
          <a:xfrm>
            <a:off x="731520" y="5577840"/>
            <a:ext cx="54864" cy="1005840"/>
          </a:xfrm>
          <a:prstGeom prst="rect">
            <a:avLst/>
          </a:prstGeom>
          <a:solidFill>
            <a:srgbClr val="E8474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8644046-6EDD-47B3-472C-5779A37B7B5A}"/>
              </a:ext>
            </a:extLst>
          </p:cNvPr>
          <p:cNvSpPr txBox="1"/>
          <p:nvPr/>
        </p:nvSpPr>
        <p:spPr>
          <a:xfrm>
            <a:off x="1097280" y="5669280"/>
            <a:ext cx="100584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400" b="1">
                <a:solidFill>
                  <a:srgbClr val="E84747"/>
                </a:solidFill>
                <a:latin typeface="Arial" panose="020B0604020202020204" pitchFamily="34" charset="0"/>
              </a:rPr>
              <a:t>INTERPRETATION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F43B305-8554-0A0F-2C34-34D499F53D43}"/>
              </a:ext>
            </a:extLst>
          </p:cNvPr>
          <p:cNvSpPr txBox="1"/>
          <p:nvPr/>
        </p:nvSpPr>
        <p:spPr>
          <a:xfrm>
            <a:off x="1097280" y="5989320"/>
            <a:ext cx="10058400" cy="492443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dirty="0">
                <a:solidFill>
                  <a:srgbClr val="4B4B4B"/>
                </a:solidFill>
                <a:latin typeface="Arial" panose="020B0604020202020204" pitchFamily="34" charset="0"/>
              </a:rPr>
              <a:t>All three models converge to PR-AUC ≈ 0.05 (random baseline for 5% churn). At F2-optimal thresholds, all predict everyone as a churner.</a:t>
            </a:r>
            <a:endParaRPr lang="en-PH" sz="1300" dirty="0">
              <a:solidFill>
                <a:srgbClr val="4B4B4B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945433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5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19864B0-AC44-63EA-FC47-8E5048192EB9}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824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BE93C57-CFED-99BB-B5B8-93A86156DF14}"/>
              </a:ext>
            </a:extLst>
          </p:cNvPr>
          <p:cNvSpPr txBox="1"/>
          <p:nvPr/>
        </p:nvSpPr>
        <p:spPr>
          <a:xfrm>
            <a:off x="731520" y="365760"/>
            <a:ext cx="10058400" cy="52322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2800" b="1" dirty="0">
                <a:solidFill>
                  <a:srgbClr val="1A2A3D"/>
                </a:solidFill>
                <a:latin typeface="Arial" panose="020B0604020202020204" pitchFamily="34" charset="0"/>
              </a:rPr>
              <a:t>5.2  Final Model Comparison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45C5F0F-541F-768B-3C99-F011DA323FFF}"/>
              </a:ext>
            </a:extLst>
          </p:cNvPr>
          <p:cNvSpPr txBox="1"/>
          <p:nvPr/>
        </p:nvSpPr>
        <p:spPr>
          <a:xfrm>
            <a:off x="731520" y="868680"/>
            <a:ext cx="100584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 b="1" dirty="0">
                <a:latin typeface="Arial" panose="020B0604020202020204" pitchFamily="34" charset="0"/>
              </a:rPr>
              <a:t>Same test set  |  Same metrics  |  Same conclusion</a:t>
            </a:r>
            <a:endParaRPr lang="en-PH" sz="1400" b="1" dirty="0">
              <a:latin typeface="Arial" panose="020B0604020202020204" pitchFamily="34" charset="0"/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A8E92ABD-4059-FD74-80E4-6935B5CCFCD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39761461"/>
              </p:ext>
            </p:extLst>
          </p:nvPr>
        </p:nvGraphicFramePr>
        <p:xfrm>
          <a:off x="731520" y="1463040"/>
          <a:ext cx="1069848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>
                  <a:extLst>
                    <a:ext uri="{9D8B030D-6E8A-4147-A177-3AD203B41FA5}">
                      <a16:colId xmlns:a16="http://schemas.microsoft.com/office/drawing/2014/main" val="1248558829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1823763975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4012835097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34241605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444119064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3412244738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algn="ctr"/>
                      <a:r>
                        <a:rPr lang="en-PH" sz="14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Model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38100" cmpd="sng">
                      <a:solidFill>
                        <a:srgbClr val="D0D0D0"/>
                      </a:solidFill>
                    </a:lnB>
                    <a:solidFill>
                      <a:srgbClr val="1A2A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4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PR-AUC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38100" cmpd="sng">
                      <a:solidFill>
                        <a:srgbClr val="D0D0D0"/>
                      </a:solidFill>
                    </a:lnB>
                    <a:solidFill>
                      <a:srgbClr val="1A2A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4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F2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38100" cmpd="sng">
                      <a:solidFill>
                        <a:srgbClr val="D0D0D0"/>
                      </a:solidFill>
                    </a:lnB>
                    <a:solidFill>
                      <a:srgbClr val="1A2A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4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Recall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38100" cmpd="sng">
                      <a:solidFill>
                        <a:srgbClr val="D0D0D0"/>
                      </a:solidFill>
                    </a:lnB>
                    <a:solidFill>
                      <a:srgbClr val="1A2A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4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Precision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38100" cmpd="sng">
                      <a:solidFill>
                        <a:srgbClr val="D0D0D0"/>
                      </a:solidFill>
                    </a:lnB>
                    <a:solidFill>
                      <a:srgbClr val="1A2A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4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Threshold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38100" cmpd="sng">
                      <a:solidFill>
                        <a:srgbClr val="D0D0D0"/>
                      </a:solidFill>
                    </a:lnB>
                    <a:solidFill>
                      <a:srgbClr val="1A2A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640636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lang="en-PH" sz="14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Logistic Regression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381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4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0.0495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381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4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0.2070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381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4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1.00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381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4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0.0496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381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4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0.01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381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71286836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lang="en-PH" sz="14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EBM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4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0.0485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4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0.2070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4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1.00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4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0.0496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4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0.17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0F5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18566535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lang="en-PH" sz="14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XGBoost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4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0.0494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4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0.2069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4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1.00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4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0.0496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4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0.01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7004552"/>
                  </a:ext>
                </a:extLst>
              </a:tr>
            </a:tbl>
          </a:graphicData>
        </a:graphic>
      </p:graphicFrame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7A939D40-F668-A667-9F38-B2848A744B17}"/>
              </a:ext>
            </a:extLst>
          </p:cNvPr>
          <p:cNvSpPr/>
          <p:nvPr/>
        </p:nvSpPr>
        <p:spPr>
          <a:xfrm>
            <a:off x="731520" y="4023360"/>
            <a:ext cx="512064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808EDDA-E666-633F-B9B9-E80CF5B24C3B}"/>
              </a:ext>
            </a:extLst>
          </p:cNvPr>
          <p:cNvSpPr/>
          <p:nvPr/>
        </p:nvSpPr>
        <p:spPr>
          <a:xfrm>
            <a:off x="731520" y="4023360"/>
            <a:ext cx="73152" cy="2286000"/>
          </a:xfrm>
          <a:prstGeom prst="rect">
            <a:avLst/>
          </a:prstGeom>
          <a:solidFill>
            <a:srgbClr val="F0824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AB24A1A-4C87-BA21-47A2-8DB4D6E818B9}"/>
              </a:ext>
            </a:extLst>
          </p:cNvPr>
          <p:cNvSpPr txBox="1"/>
          <p:nvPr/>
        </p:nvSpPr>
        <p:spPr>
          <a:xfrm>
            <a:off x="1097280" y="4206240"/>
            <a:ext cx="4389120" cy="32316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500" b="1">
                <a:solidFill>
                  <a:srgbClr val="F08248"/>
                </a:solidFill>
                <a:latin typeface="Arial" panose="020B0604020202020204" pitchFamily="34" charset="0"/>
              </a:rPr>
              <a:t>RECOMMENDED MODEL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EF83384-08A5-FAC3-0230-5AC8C7F15767}"/>
              </a:ext>
            </a:extLst>
          </p:cNvPr>
          <p:cNvSpPr txBox="1"/>
          <p:nvPr/>
        </p:nvSpPr>
        <p:spPr>
          <a:xfrm>
            <a:off x="1097280" y="4572000"/>
            <a:ext cx="4389120" cy="46166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2400" b="1">
                <a:solidFill>
                  <a:srgbClr val="1A2A3D"/>
                </a:solidFill>
                <a:latin typeface="Arial" panose="020B0604020202020204" pitchFamily="34" charset="0"/>
              </a:rPr>
              <a:t>Logistic Regression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F4EF219-983A-9438-CA2C-6ED24BA71709}"/>
              </a:ext>
            </a:extLst>
          </p:cNvPr>
          <p:cNvSpPr txBox="1"/>
          <p:nvPr/>
        </p:nvSpPr>
        <p:spPr>
          <a:xfrm>
            <a:off x="1097280" y="5074920"/>
            <a:ext cx="4389120" cy="69249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4B4B4B"/>
                </a:solidFill>
                <a:latin typeface="Arial" panose="020B0604020202020204" pitchFamily="34" charset="0"/>
              </a:rPr>
              <a:t>Best PR-AUC (0.0495) and F2 (0.2070). Simplest, most interpretable, cheapest to deploy. All models are effectively random.</a:t>
            </a:r>
            <a:endParaRPr lang="en-PH" sz="1300">
              <a:solidFill>
                <a:srgbClr val="4B4B4B"/>
              </a:solidFill>
              <a:latin typeface="Arial" panose="020B0604020202020204" pitchFamily="34" charset="0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83DB5BF-278C-51D3-07B6-9ADCDD4812AE}"/>
              </a:ext>
            </a:extLst>
          </p:cNvPr>
          <p:cNvSpPr/>
          <p:nvPr/>
        </p:nvSpPr>
        <p:spPr>
          <a:xfrm>
            <a:off x="6217920" y="4023360"/>
            <a:ext cx="521208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D30F9B4-B1B0-01F0-4F1B-6B26FA4383DB}"/>
              </a:ext>
            </a:extLst>
          </p:cNvPr>
          <p:cNvSpPr/>
          <p:nvPr/>
        </p:nvSpPr>
        <p:spPr>
          <a:xfrm>
            <a:off x="6217920" y="4023360"/>
            <a:ext cx="73152" cy="2286000"/>
          </a:xfrm>
          <a:prstGeom prst="rect">
            <a:avLst/>
          </a:prstGeom>
          <a:solidFill>
            <a:srgbClr val="E8474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5B13F6F-517C-90DD-C3F0-B23D5E0B954E}"/>
              </a:ext>
            </a:extLst>
          </p:cNvPr>
          <p:cNvSpPr txBox="1"/>
          <p:nvPr/>
        </p:nvSpPr>
        <p:spPr>
          <a:xfrm>
            <a:off x="6583680" y="4206240"/>
            <a:ext cx="4572000" cy="32316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500" b="1">
                <a:solidFill>
                  <a:srgbClr val="E84747"/>
                </a:solidFill>
                <a:latin typeface="Arial" panose="020B0604020202020204" pitchFamily="34" charset="0"/>
              </a:rPr>
              <a:t>ROOT CAUSE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D3D4325-E2C3-1805-8CB2-EFD89C6C6578}"/>
              </a:ext>
            </a:extLst>
          </p:cNvPr>
          <p:cNvSpPr txBox="1"/>
          <p:nvPr/>
        </p:nvSpPr>
        <p:spPr>
          <a:xfrm>
            <a:off x="6583680" y="4572000"/>
            <a:ext cx="4572000" cy="95410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 dirty="0">
                <a:solidFill>
                  <a:srgbClr val="4B4B4B"/>
                </a:solidFill>
                <a:latin typeface="Arial" panose="020B0604020202020204" pitchFamily="34" charset="0"/>
              </a:rPr>
              <a:t>The bottleneck is not the model but the feature set. All 13 core features show zero discriminative signal. No algorithm can learn patterns that do not exist in the data.</a:t>
            </a:r>
            <a:endParaRPr lang="en-PH" sz="1400" dirty="0">
              <a:solidFill>
                <a:srgbClr val="4B4B4B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3551825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A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9F6A1DF-B829-A648-87DE-A8F0DA021E00}"/>
              </a:ext>
            </a:extLst>
          </p:cNvPr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8474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CC4CB96-4056-0FC1-DC3C-CEEE47181EE1}"/>
              </a:ext>
            </a:extLst>
          </p:cNvPr>
          <p:cNvSpPr txBox="1"/>
          <p:nvPr/>
        </p:nvSpPr>
        <p:spPr>
          <a:xfrm>
            <a:off x="731520" y="731520"/>
            <a:ext cx="10515600" cy="32316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500" b="1">
                <a:solidFill>
                  <a:srgbClr val="F08248"/>
                </a:solidFill>
                <a:latin typeface="Arial" panose="020B0604020202020204" pitchFamily="34" charset="0"/>
              </a:rPr>
              <a:t>SECTIONS 1–5 VERDICT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073191D-C1DC-3EC6-3D34-AABE22F3D18F}"/>
              </a:ext>
            </a:extLst>
          </p:cNvPr>
          <p:cNvSpPr/>
          <p:nvPr/>
        </p:nvSpPr>
        <p:spPr>
          <a:xfrm>
            <a:off x="731520" y="1280160"/>
            <a:ext cx="3657600" cy="36576"/>
          </a:xfrm>
          <a:prstGeom prst="rect">
            <a:avLst/>
          </a:prstGeom>
          <a:solidFill>
            <a:srgbClr val="F0824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DE80C1B-4373-5F40-BFE5-B73D50201F02}"/>
              </a:ext>
            </a:extLst>
          </p:cNvPr>
          <p:cNvSpPr txBox="1"/>
          <p:nvPr/>
        </p:nvSpPr>
        <p:spPr>
          <a:xfrm>
            <a:off x="731520" y="1645920"/>
            <a:ext cx="10515600" cy="1015663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FFFFFF"/>
                </a:solidFill>
                <a:latin typeface="Arial" panose="020B0604020202020204" pitchFamily="34" charset="0"/>
              </a:rPr>
              <a:t>Models don't fail because of modeling.</a:t>
            </a:r>
          </a:p>
          <a:p>
            <a:r>
              <a:rPr lang="en-US" sz="3000" b="1">
                <a:solidFill>
                  <a:srgbClr val="FFFFFF"/>
                </a:solidFill>
                <a:latin typeface="Arial" panose="020B0604020202020204" pitchFamily="34" charset="0"/>
              </a:rPr>
              <a:t>They fail because the data has no signal.</a:t>
            </a:r>
            <a:endParaRPr lang="en-PH" sz="3000" b="1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0C861CE0-7831-2DFB-4BB0-D49F9BBFCB33}"/>
              </a:ext>
            </a:extLst>
          </p:cNvPr>
          <p:cNvSpPr/>
          <p:nvPr/>
        </p:nvSpPr>
        <p:spPr>
          <a:xfrm>
            <a:off x="731520" y="3017520"/>
            <a:ext cx="3383280" cy="2377440"/>
          </a:xfrm>
          <a:prstGeom prst="roundRect">
            <a:avLst>
              <a:gd name="adj" fmla="val 6000"/>
            </a:avLst>
          </a:prstGeom>
          <a:solidFill>
            <a:srgbClr val="283A4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8F0B3B2-BF0A-43AF-4578-CBB612A5BAAA}"/>
              </a:ext>
            </a:extLst>
          </p:cNvPr>
          <p:cNvSpPr/>
          <p:nvPr/>
        </p:nvSpPr>
        <p:spPr>
          <a:xfrm>
            <a:off x="731520" y="3017520"/>
            <a:ext cx="3383280" cy="54864"/>
          </a:xfrm>
          <a:prstGeom prst="rect">
            <a:avLst/>
          </a:prstGeom>
          <a:solidFill>
            <a:srgbClr val="F0824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0FDB66F-51DE-DB33-ADA4-28A2C375DE95}"/>
              </a:ext>
            </a:extLst>
          </p:cNvPr>
          <p:cNvSpPr txBox="1"/>
          <p:nvPr/>
        </p:nvSpPr>
        <p:spPr>
          <a:xfrm>
            <a:off x="1005840" y="3246120"/>
            <a:ext cx="292608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400" b="1">
                <a:solidFill>
                  <a:srgbClr val="F08248"/>
                </a:solidFill>
                <a:latin typeface="Arial" panose="020B0604020202020204" pitchFamily="34" charset="0"/>
              </a:rPr>
              <a:t>STATISTICAL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CE68363-B9FF-4316-7C6B-3E6AF0EDB4D2}"/>
              </a:ext>
            </a:extLst>
          </p:cNvPr>
          <p:cNvSpPr txBox="1"/>
          <p:nvPr/>
        </p:nvSpPr>
        <p:spPr>
          <a:xfrm>
            <a:off x="1005840" y="3657600"/>
            <a:ext cx="2926080" cy="89255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C8DCFC"/>
                </a:solidFill>
                <a:latin typeface="Arial" panose="020B0604020202020204" pitchFamily="34" charset="0"/>
              </a:rPr>
              <a:t>All t-tests, Chi-square, correlation: p &gt; 0.05</a:t>
            </a:r>
          </a:p>
          <a:p>
            <a:r>
              <a:rPr lang="en-US" sz="1300">
                <a:solidFill>
                  <a:srgbClr val="C8DCFC"/>
                </a:solidFill>
                <a:latin typeface="Arial" panose="020B0604020202020204" pitchFamily="34" charset="0"/>
              </a:rPr>
              <a:t>Cohen's d &lt; 0.03 everywhere</a:t>
            </a:r>
          </a:p>
          <a:p>
            <a:r>
              <a:rPr lang="en-US" sz="1300">
                <a:solidFill>
                  <a:srgbClr val="C8DCFC"/>
                </a:solidFill>
                <a:latin typeface="Arial" panose="020B0604020202020204" pitchFamily="34" charset="0"/>
              </a:rPr>
              <a:t>Even engineered features: |r| &lt; 0.01</a:t>
            </a:r>
            <a:endParaRPr lang="en-PH" sz="1300">
              <a:solidFill>
                <a:srgbClr val="C8DCFC"/>
              </a:solidFill>
              <a:latin typeface="Arial" panose="020B0604020202020204" pitchFamily="34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0DFE0D95-7C04-8546-4685-0DF2331922AA}"/>
              </a:ext>
            </a:extLst>
          </p:cNvPr>
          <p:cNvSpPr/>
          <p:nvPr/>
        </p:nvSpPr>
        <p:spPr>
          <a:xfrm>
            <a:off x="4389120" y="3017520"/>
            <a:ext cx="3383280" cy="2377440"/>
          </a:xfrm>
          <a:prstGeom prst="roundRect">
            <a:avLst>
              <a:gd name="adj" fmla="val 6000"/>
            </a:avLst>
          </a:prstGeom>
          <a:solidFill>
            <a:srgbClr val="283A4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3D0F3B2-D5CC-A480-1AD9-C94FDB9B6670}"/>
              </a:ext>
            </a:extLst>
          </p:cNvPr>
          <p:cNvSpPr/>
          <p:nvPr/>
        </p:nvSpPr>
        <p:spPr>
          <a:xfrm>
            <a:off x="4389120" y="3017520"/>
            <a:ext cx="3383280" cy="54864"/>
          </a:xfrm>
          <a:prstGeom prst="rect">
            <a:avLst/>
          </a:prstGeom>
          <a:solidFill>
            <a:srgbClr val="20809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064B7B0-9771-3C62-8E9F-F8AB9991F629}"/>
              </a:ext>
            </a:extLst>
          </p:cNvPr>
          <p:cNvSpPr txBox="1"/>
          <p:nvPr/>
        </p:nvSpPr>
        <p:spPr>
          <a:xfrm>
            <a:off x="4663440" y="3246120"/>
            <a:ext cx="292608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400" b="1">
                <a:solidFill>
                  <a:srgbClr val="208090"/>
                </a:solidFill>
                <a:latin typeface="Arial" panose="020B0604020202020204" pitchFamily="34" charset="0"/>
              </a:rPr>
              <a:t>EDA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29256A7-5C98-F45B-F08F-A9BA5139B06C}"/>
              </a:ext>
            </a:extLst>
          </p:cNvPr>
          <p:cNvSpPr txBox="1"/>
          <p:nvPr/>
        </p:nvSpPr>
        <p:spPr>
          <a:xfrm>
            <a:off x="4663440" y="3657600"/>
            <a:ext cx="2926080" cy="89255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C8DCFC"/>
                </a:solidFill>
                <a:latin typeface="Arial" panose="020B0604020202020204" pitchFamily="34" charset="0"/>
              </a:rPr>
              <a:t>Perfect overlap in all distributions</a:t>
            </a:r>
          </a:p>
          <a:p>
            <a:r>
              <a:rPr lang="en-US" sz="1300">
                <a:solidFill>
                  <a:srgbClr val="C8DCFC"/>
                </a:solidFill>
                <a:latin typeface="Arial" panose="020B0604020202020204" pitchFamily="34" charset="0"/>
              </a:rPr>
              <a:t>All income quintiles: ~4.96%</a:t>
            </a:r>
          </a:p>
          <a:p>
            <a:r>
              <a:rPr lang="en-US" sz="1300">
                <a:solidFill>
                  <a:srgbClr val="C8DCFC"/>
                </a:solidFill>
                <a:latin typeface="Arial" panose="020B0604020202020204" pitchFamily="34" charset="0"/>
              </a:rPr>
              <a:t>All age bands: ~4.96%</a:t>
            </a:r>
          </a:p>
          <a:p>
            <a:r>
              <a:rPr lang="en-US" sz="1300">
                <a:solidFill>
                  <a:srgbClr val="C8DCFC"/>
                </a:solidFill>
                <a:latin typeface="Arial" panose="020B0604020202020204" pitchFamily="34" charset="0"/>
              </a:rPr>
              <a:t>0 high-risk countries</a:t>
            </a:r>
            <a:endParaRPr lang="en-PH" sz="1300">
              <a:solidFill>
                <a:srgbClr val="C8DCFC"/>
              </a:solidFill>
              <a:latin typeface="Arial" panose="020B0604020202020204" pitchFamily="34" charset="0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DD16D278-3B32-9F71-57EF-48E34C244893}"/>
              </a:ext>
            </a:extLst>
          </p:cNvPr>
          <p:cNvSpPr/>
          <p:nvPr/>
        </p:nvSpPr>
        <p:spPr>
          <a:xfrm>
            <a:off x="8046720" y="3017520"/>
            <a:ext cx="3383280" cy="2377440"/>
          </a:xfrm>
          <a:prstGeom prst="roundRect">
            <a:avLst>
              <a:gd name="adj" fmla="val 6000"/>
            </a:avLst>
          </a:prstGeom>
          <a:solidFill>
            <a:srgbClr val="283A4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764FB10-60C6-E057-4C22-580F13B337F0}"/>
              </a:ext>
            </a:extLst>
          </p:cNvPr>
          <p:cNvSpPr/>
          <p:nvPr/>
        </p:nvSpPr>
        <p:spPr>
          <a:xfrm>
            <a:off x="8046720" y="3017520"/>
            <a:ext cx="3383280" cy="54864"/>
          </a:xfrm>
          <a:prstGeom prst="rect">
            <a:avLst/>
          </a:prstGeom>
          <a:solidFill>
            <a:srgbClr val="E8474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521851D-3885-BC7E-D70B-912394526C3F}"/>
              </a:ext>
            </a:extLst>
          </p:cNvPr>
          <p:cNvSpPr txBox="1"/>
          <p:nvPr/>
        </p:nvSpPr>
        <p:spPr>
          <a:xfrm>
            <a:off x="8321040" y="3246120"/>
            <a:ext cx="292608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400" b="1">
                <a:solidFill>
                  <a:srgbClr val="E84747"/>
                </a:solidFill>
                <a:latin typeface="Arial" panose="020B0604020202020204" pitchFamily="34" charset="0"/>
              </a:rPr>
              <a:t>MODELING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25426D5-1495-B0D9-82C9-7AAFB4719221}"/>
              </a:ext>
            </a:extLst>
          </p:cNvPr>
          <p:cNvSpPr txBox="1"/>
          <p:nvPr/>
        </p:nvSpPr>
        <p:spPr>
          <a:xfrm>
            <a:off x="8321040" y="3657600"/>
            <a:ext cx="2926080" cy="89255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300">
                <a:solidFill>
                  <a:srgbClr val="C8DCFC"/>
                </a:solidFill>
                <a:latin typeface="Arial" panose="020B0604020202020204" pitchFamily="34" charset="0"/>
              </a:rPr>
              <a:t>LR, EBM, XGBoost: PR-AUC ≈ 0.05</a:t>
            </a:r>
          </a:p>
          <a:p>
            <a:r>
              <a:rPr lang="en-PH" sz="1300">
                <a:solidFill>
                  <a:srgbClr val="C8DCFC"/>
                </a:solidFill>
                <a:latin typeface="Arial" panose="020B0604020202020204" pitchFamily="34" charset="0"/>
              </a:rPr>
              <a:t>Decision Tree: AUC = 0.503</a:t>
            </a:r>
          </a:p>
          <a:p>
            <a:r>
              <a:rPr lang="en-PH" sz="1300">
                <a:solidFill>
                  <a:srgbClr val="C8DCFC"/>
                </a:solidFill>
                <a:latin typeface="Arial" panose="020B0604020202020204" pitchFamily="34" charset="0"/>
              </a:rPr>
              <a:t>Sec 3 XGBoost: AUC = 0.499</a:t>
            </a:r>
          </a:p>
          <a:p>
            <a:r>
              <a:rPr lang="en-PH" sz="1300">
                <a:solidFill>
                  <a:srgbClr val="C8DCFC"/>
                </a:solidFill>
                <a:latin typeface="Arial" panose="020B0604020202020204" pitchFamily="34" charset="0"/>
              </a:rPr>
              <a:t>Tuned XGBoost: AUC = 0.502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BE3850F7-18D4-4701-7160-EB022670A169}"/>
              </a:ext>
            </a:extLst>
          </p:cNvPr>
          <p:cNvSpPr/>
          <p:nvPr/>
        </p:nvSpPr>
        <p:spPr>
          <a:xfrm>
            <a:off x="731520" y="5669280"/>
            <a:ext cx="10698479" cy="822960"/>
          </a:xfrm>
          <a:prstGeom prst="roundRect">
            <a:avLst>
              <a:gd name="adj" fmla="val 6000"/>
            </a:avLst>
          </a:prstGeom>
          <a:solidFill>
            <a:srgbClr val="283A4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09DAD09-5A5D-B881-1214-2C99D428E0D0}"/>
              </a:ext>
            </a:extLst>
          </p:cNvPr>
          <p:cNvSpPr txBox="1"/>
          <p:nvPr/>
        </p:nvSpPr>
        <p:spPr>
          <a:xfrm>
            <a:off x="1097280" y="5779008"/>
            <a:ext cx="10058400" cy="32316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500" dirty="0">
                <a:solidFill>
                  <a:srgbClr val="E8B839"/>
                </a:solidFill>
                <a:latin typeface="Arial" panose="020B0604020202020204" pitchFamily="34" charset="0"/>
              </a:rPr>
              <a:t>We need more and better data. The production pipeline is built and ready to ingest new features at scale.</a:t>
            </a:r>
            <a:endParaRPr lang="en-PH" sz="1500" dirty="0">
              <a:solidFill>
                <a:srgbClr val="E8B839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2001570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A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D3DA17B-6549-6A46-D98E-27566B01CA5F}"/>
              </a:ext>
            </a:extLst>
          </p:cNvPr>
          <p:cNvSpPr txBox="1"/>
          <p:nvPr/>
        </p:nvSpPr>
        <p:spPr>
          <a:xfrm>
            <a:off x="731520" y="1371600"/>
            <a:ext cx="4572000" cy="156966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9600" b="1" dirty="0">
                <a:solidFill>
                  <a:srgbClr val="F08248"/>
                </a:solidFill>
                <a:latin typeface="Arial" panose="020B0604020202020204" pitchFamily="34" charset="0"/>
              </a:rPr>
              <a:t>05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2C19D4F-1695-F7B3-79FD-FED9A3D8A6FB}"/>
              </a:ext>
            </a:extLst>
          </p:cNvPr>
          <p:cNvSpPr/>
          <p:nvPr/>
        </p:nvSpPr>
        <p:spPr>
          <a:xfrm>
            <a:off x="731520" y="2743200"/>
            <a:ext cx="2743200" cy="36576"/>
          </a:xfrm>
          <a:prstGeom prst="rect">
            <a:avLst/>
          </a:prstGeom>
          <a:solidFill>
            <a:srgbClr val="F0824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988EE8E-7D8A-3613-5711-EBD8139EA90C}"/>
              </a:ext>
            </a:extLst>
          </p:cNvPr>
          <p:cNvSpPr txBox="1"/>
          <p:nvPr/>
        </p:nvSpPr>
        <p:spPr>
          <a:xfrm>
            <a:off x="731520" y="3017520"/>
            <a:ext cx="9144000" cy="646331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3600" b="1" dirty="0">
                <a:solidFill>
                  <a:srgbClr val="FFFFFF"/>
                </a:solidFill>
                <a:latin typeface="Arial" panose="020B0604020202020204" pitchFamily="34" charset="0"/>
              </a:rPr>
              <a:t>Production Pipeline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44EEF87-9E83-B429-B0FE-B04E2792565E}"/>
              </a:ext>
            </a:extLst>
          </p:cNvPr>
          <p:cNvSpPr txBox="1"/>
          <p:nvPr/>
        </p:nvSpPr>
        <p:spPr>
          <a:xfrm>
            <a:off x="731520" y="3840480"/>
            <a:ext cx="7315200" cy="646331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>
                <a:solidFill>
                  <a:srgbClr val="C8DCFC"/>
                </a:solidFill>
                <a:latin typeface="Arial" panose="020B0604020202020204" pitchFamily="34" charset="0"/>
              </a:rPr>
              <a:t>FastAPI  |  PSI Drift Monitoring  |  Rule-Based Recommender  |  Docker</a:t>
            </a:r>
          </a:p>
        </p:txBody>
      </p:sp>
    </p:spTree>
    <p:extLst>
      <p:ext uri="{BB962C8B-B14F-4D97-AF65-F5344CB8AC3E}">
        <p14:creationId xmlns:p14="http://schemas.microsoft.com/office/powerpoint/2010/main" val="251777592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5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B03E017-8D81-511D-325F-0E6C7F5CE5C0}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824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A17E86F-D5AA-C73E-53AE-DCA068C19799}"/>
              </a:ext>
            </a:extLst>
          </p:cNvPr>
          <p:cNvSpPr txBox="1"/>
          <p:nvPr/>
        </p:nvSpPr>
        <p:spPr>
          <a:xfrm>
            <a:off x="731520" y="365760"/>
            <a:ext cx="10058400" cy="52322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2800" b="1" dirty="0">
                <a:solidFill>
                  <a:srgbClr val="1A2A3D"/>
                </a:solidFill>
                <a:latin typeface="Arial" panose="020B0604020202020204" pitchFamily="34" charset="0"/>
              </a:rPr>
              <a:t>6.1  Prediction API  (Endpoints)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D721DC9-A1DA-794A-BD44-28B7AF110729}"/>
              </a:ext>
            </a:extLst>
          </p:cNvPr>
          <p:cNvSpPr txBox="1"/>
          <p:nvPr/>
        </p:nvSpPr>
        <p:spPr>
          <a:xfrm>
            <a:off x="731520" y="868680"/>
            <a:ext cx="100584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 b="1" dirty="0" err="1">
                <a:latin typeface="Arial" panose="020B0604020202020204" pitchFamily="34" charset="0"/>
              </a:rPr>
              <a:t>FastAPI</a:t>
            </a:r>
            <a:r>
              <a:rPr lang="en-US" sz="1400" b="1" dirty="0">
                <a:latin typeface="Arial" panose="020B0604020202020204" pitchFamily="34" charset="0"/>
              </a:rPr>
              <a:t> + </a:t>
            </a:r>
            <a:r>
              <a:rPr lang="en-US" sz="1400" b="1" dirty="0" err="1">
                <a:latin typeface="Arial" panose="020B0604020202020204" pitchFamily="34" charset="0"/>
              </a:rPr>
              <a:t>Pydantic</a:t>
            </a:r>
            <a:r>
              <a:rPr lang="en-US" sz="1400" b="1" dirty="0">
                <a:latin typeface="Arial" panose="020B0604020202020204" pitchFamily="34" charset="0"/>
              </a:rPr>
              <a:t>  |  Model loaded once at startup via @asynccontextmanager</a:t>
            </a:r>
            <a:endParaRPr lang="en-PH" sz="1400" b="1" dirty="0">
              <a:latin typeface="Arial" panose="020B0604020202020204" pitchFamily="34" charset="0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AB097917-1D93-9B34-879D-506ACD74C53A}"/>
              </a:ext>
            </a:extLst>
          </p:cNvPr>
          <p:cNvSpPr/>
          <p:nvPr/>
        </p:nvSpPr>
        <p:spPr>
          <a:xfrm>
            <a:off x="731520" y="1463040"/>
            <a:ext cx="5212080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1D44AF4-BDC7-19CF-54D6-D8F7C1C8B73E}"/>
              </a:ext>
            </a:extLst>
          </p:cNvPr>
          <p:cNvSpPr/>
          <p:nvPr/>
        </p:nvSpPr>
        <p:spPr>
          <a:xfrm>
            <a:off x="731520" y="1463040"/>
            <a:ext cx="5212080" cy="64008"/>
          </a:xfrm>
          <a:prstGeom prst="rect">
            <a:avLst/>
          </a:prstGeom>
          <a:solidFill>
            <a:srgbClr val="F0824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61BE043-A459-461F-8345-B1C6F9A823C1}"/>
              </a:ext>
            </a:extLst>
          </p:cNvPr>
          <p:cNvSpPr txBox="1"/>
          <p:nvPr/>
        </p:nvSpPr>
        <p:spPr>
          <a:xfrm>
            <a:off x="1005840" y="1691640"/>
            <a:ext cx="457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b="1">
                <a:solidFill>
                  <a:srgbClr val="F08248"/>
                </a:solidFill>
                <a:latin typeface="Arial" panose="020B0604020202020204" pitchFamily="34" charset="0"/>
              </a:rPr>
              <a:t>/predict/single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3C745C9-19FF-5555-53E1-CC37D3334382}"/>
              </a:ext>
            </a:extLst>
          </p:cNvPr>
          <p:cNvSpPr txBox="1"/>
          <p:nvPr/>
        </p:nvSpPr>
        <p:spPr>
          <a:xfrm>
            <a:off x="1005840" y="2103120"/>
            <a:ext cx="4663440" cy="292388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300">
                <a:solidFill>
                  <a:srgbClr val="9E9E9E"/>
                </a:solidFill>
                <a:latin typeface="Arial" panose="020B0604020202020204" pitchFamily="34" charset="0"/>
              </a:rPr>
              <a:t>Input: JSON  |  11 client fields  |  Pydantic-validated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BCA8F64-217D-3B45-0F9F-E83EF49E6A2F}"/>
              </a:ext>
            </a:extLst>
          </p:cNvPr>
          <p:cNvSpPr txBox="1"/>
          <p:nvPr/>
        </p:nvSpPr>
        <p:spPr>
          <a:xfrm>
            <a:off x="1005840" y="2514600"/>
            <a:ext cx="4663440" cy="156966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200">
                <a:solidFill>
                  <a:srgbClr val="4B4B4B"/>
                </a:solidFill>
                <a:latin typeface="Arial" panose="020B0604020202020204" pitchFamily="34" charset="0"/>
              </a:rPr>
              <a:t>attrition_probability: 0.73</a:t>
            </a:r>
          </a:p>
          <a:p>
            <a:r>
              <a:rPr lang="en-PH" sz="1200">
                <a:solidFill>
                  <a:srgbClr val="4B4B4B"/>
                </a:solidFill>
                <a:latin typeface="Arial" panose="020B0604020202020204" pitchFamily="34" charset="0"/>
              </a:rPr>
              <a:t>attrition_flag: 1</a:t>
            </a:r>
          </a:p>
          <a:p>
            <a:r>
              <a:rPr lang="en-PH" sz="1200">
                <a:solidFill>
                  <a:srgbClr val="4B4B4B"/>
                </a:solidFill>
                <a:latin typeface="Arial" panose="020B0604020202020204" pitchFamily="34" charset="0"/>
              </a:rPr>
              <a:t>attrition_risk_tier: "High"</a:t>
            </a:r>
          </a:p>
          <a:p>
            <a:r>
              <a:rPr lang="en-PH" sz="1200">
                <a:solidFill>
                  <a:srgbClr val="4B4B4B"/>
                </a:solidFill>
                <a:latin typeface="Arial" panose="020B0604020202020204" pitchFamily="34" charset="0"/>
              </a:rPr>
              <a:t>top_drivers: { Credit_Utilization: -0.42, ... }</a:t>
            </a:r>
          </a:p>
          <a:p>
            <a:r>
              <a:rPr lang="en-PH" sz="1200">
                <a:solidFill>
                  <a:srgbClr val="4B4B4B"/>
                </a:solidFill>
                <a:latin typeface="Arial" panose="020B0604020202020204" pitchFamily="34" charset="0"/>
              </a:rPr>
              <a:t>recommended_products: [</a:t>
            </a:r>
          </a:p>
          <a:p>
            <a:r>
              <a:rPr lang="en-PH" sz="1200">
                <a:solidFill>
                  <a:srgbClr val="4B4B4B"/>
                </a:solidFill>
                <a:latin typeface="Arial" panose="020B0604020202020204" pitchFamily="34" charset="0"/>
              </a:rPr>
              <a:t>  { product: "Rewards Upgrade",</a:t>
            </a:r>
          </a:p>
          <a:p>
            <a:r>
              <a:rPr lang="en-PH" sz="1200">
                <a:solidFill>
                  <a:srgbClr val="4B4B4B"/>
                </a:solidFill>
                <a:latin typeface="Arial" panose="020B0604020202020204" pitchFamily="34" charset="0"/>
              </a:rPr>
              <a:t>    reason: "High churn risk" }</a:t>
            </a:r>
          </a:p>
          <a:p>
            <a:r>
              <a:rPr lang="en-PH" sz="1200">
                <a:solidFill>
                  <a:srgbClr val="4B4B4B"/>
                </a:solidFill>
                <a:latin typeface="Arial" panose="020B0604020202020204" pitchFamily="34" charset="0"/>
              </a:rPr>
              <a:t>]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6E4B617A-C388-105D-0233-0B2571990E6A}"/>
              </a:ext>
            </a:extLst>
          </p:cNvPr>
          <p:cNvSpPr/>
          <p:nvPr/>
        </p:nvSpPr>
        <p:spPr>
          <a:xfrm>
            <a:off x="6217920" y="1463040"/>
            <a:ext cx="5212080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BE0075B-D086-F08D-8590-9B1082DAFD7B}"/>
              </a:ext>
            </a:extLst>
          </p:cNvPr>
          <p:cNvSpPr/>
          <p:nvPr/>
        </p:nvSpPr>
        <p:spPr>
          <a:xfrm>
            <a:off x="6217920" y="1463040"/>
            <a:ext cx="5212080" cy="64008"/>
          </a:xfrm>
          <a:prstGeom prst="rect">
            <a:avLst/>
          </a:prstGeom>
          <a:solidFill>
            <a:srgbClr val="20809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19DE6DF-F8B0-2B5D-DC07-A22821826280}"/>
              </a:ext>
            </a:extLst>
          </p:cNvPr>
          <p:cNvSpPr txBox="1"/>
          <p:nvPr/>
        </p:nvSpPr>
        <p:spPr>
          <a:xfrm>
            <a:off x="6492240" y="1691640"/>
            <a:ext cx="457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b="1">
                <a:solidFill>
                  <a:srgbClr val="208090"/>
                </a:solidFill>
                <a:latin typeface="Arial" panose="020B0604020202020204" pitchFamily="34" charset="0"/>
              </a:rPr>
              <a:t>/predict/batch/upload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BA025DC-A789-BE4C-5786-3DDC9B1F0CB4}"/>
              </a:ext>
            </a:extLst>
          </p:cNvPr>
          <p:cNvSpPr txBox="1"/>
          <p:nvPr/>
        </p:nvSpPr>
        <p:spPr>
          <a:xfrm>
            <a:off x="6492240" y="2103120"/>
            <a:ext cx="4663440" cy="292388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300">
                <a:solidFill>
                  <a:srgbClr val="9E9E9E"/>
                </a:solidFill>
                <a:latin typeface="Arial" panose="020B0604020202020204" pitchFamily="34" charset="0"/>
              </a:rPr>
              <a:t>Input: CSV upload  |  UploadFile  |  Returns JSON array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DE997D7-CEF0-E1E8-2BC8-24674F4966F8}"/>
              </a:ext>
            </a:extLst>
          </p:cNvPr>
          <p:cNvSpPr txBox="1"/>
          <p:nvPr/>
        </p:nvSpPr>
        <p:spPr>
          <a:xfrm>
            <a:off x="6492240" y="2514600"/>
            <a:ext cx="4663440" cy="138499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200">
                <a:solidFill>
                  <a:srgbClr val="4B4B4B"/>
                </a:solidFill>
                <a:latin typeface="Arial" panose="020B0604020202020204" pitchFamily="34" charset="0"/>
              </a:rPr>
              <a:t>Reads CSV → Pandas DataFrame</a:t>
            </a:r>
          </a:p>
          <a:p>
            <a:r>
              <a:rPr lang="en-PH" sz="1200">
                <a:solidFill>
                  <a:srgbClr val="4B4B4B"/>
                </a:solidFill>
                <a:latin typeface="Arial" panose="020B0604020202020204" pitchFamily="34" charset="0"/>
              </a:rPr>
              <a:t>Validates all rows via schema</a:t>
            </a:r>
          </a:p>
          <a:p>
            <a:r>
              <a:rPr lang="en-PH" sz="1200">
                <a:solidFill>
                  <a:srgbClr val="4B4B4B"/>
                </a:solidFill>
                <a:latin typeface="Arial" panose="020B0604020202020204" pitchFamily="34" charset="0"/>
              </a:rPr>
              <a:t>Runs pipeline.predict_proba()</a:t>
            </a:r>
          </a:p>
          <a:p>
            <a:r>
              <a:rPr lang="en-PH" sz="1200">
                <a:solidFill>
                  <a:srgbClr val="4B4B4B"/>
                </a:solidFill>
                <a:latin typeface="Arial" panose="020B0604020202020204" pitchFamily="34" charset="0"/>
              </a:rPr>
              <a:t>Applies recommender per row</a:t>
            </a:r>
          </a:p>
          <a:p>
            <a:r>
              <a:rPr lang="en-PH" sz="1200">
                <a:solidFill>
                  <a:srgbClr val="4B4B4B"/>
                </a:solidFill>
                <a:latin typeface="Arial" panose="020B0604020202020204" pitchFamily="34" charset="0"/>
              </a:rPr>
              <a:t>Returns full JSON array</a:t>
            </a:r>
          </a:p>
          <a:p>
            <a:r>
              <a:rPr lang="en-PH" sz="1200">
                <a:solidFill>
                  <a:srgbClr val="4B4B4B"/>
                </a:solidFill>
                <a:latin typeface="Arial" panose="020B0604020202020204" pitchFamily="34" charset="0"/>
              </a:rPr>
              <a:t>Logs all predictions to</a:t>
            </a:r>
          </a:p>
          <a:p>
            <a:r>
              <a:rPr lang="en-PH" sz="1200">
                <a:solidFill>
                  <a:srgbClr val="4B4B4B"/>
                </a:solidFill>
                <a:latin typeface="Arial" panose="020B0604020202020204" pitchFamily="34" charset="0"/>
              </a:rPr>
              <a:t>logs/predictions.csv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80629B07-7B32-2076-5CC3-E06F2BCEFFDD}"/>
              </a:ext>
            </a:extLst>
          </p:cNvPr>
          <p:cNvSpPr/>
          <p:nvPr/>
        </p:nvSpPr>
        <p:spPr>
          <a:xfrm>
            <a:off x="731520" y="5486400"/>
            <a:ext cx="10698479" cy="685800"/>
          </a:xfrm>
          <a:prstGeom prst="roundRect">
            <a:avLst>
              <a:gd name="adj" fmla="val 6000"/>
            </a:avLst>
          </a:prstGeom>
          <a:solidFill>
            <a:srgbClr val="1A2A3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0AB9D9D-967E-C394-CC0C-D3F233E8A7A4}"/>
              </a:ext>
            </a:extLst>
          </p:cNvPr>
          <p:cNvSpPr txBox="1"/>
          <p:nvPr/>
        </p:nvSpPr>
        <p:spPr>
          <a:xfrm>
            <a:off x="1097280" y="5577840"/>
            <a:ext cx="10058400" cy="292388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300">
                <a:solidFill>
                  <a:srgbClr val="C8DCFC"/>
                </a:solidFill>
                <a:latin typeface="Arial" panose="020B0604020202020204" pitchFamily="34" charset="0"/>
              </a:rPr>
              <a:t>Invalid input on any field returns HTTP 422 with the exact missing/malformed field  —  zero custom validation code required.</a:t>
            </a:r>
            <a:endParaRPr lang="en-PH" sz="1300">
              <a:solidFill>
                <a:srgbClr val="C8DCFC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1269117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5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62B4455-F32D-2679-8397-996ADB8ED823}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824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F85954A-6D90-BF43-D935-FAB443AF2F7F}"/>
              </a:ext>
            </a:extLst>
          </p:cNvPr>
          <p:cNvSpPr txBox="1"/>
          <p:nvPr/>
        </p:nvSpPr>
        <p:spPr>
          <a:xfrm>
            <a:off x="731520" y="365760"/>
            <a:ext cx="10058400" cy="52322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2800" b="1" dirty="0">
                <a:solidFill>
                  <a:srgbClr val="1A2A3D"/>
                </a:solidFill>
                <a:latin typeface="Arial" panose="020B0604020202020204" pitchFamily="34" charset="0"/>
              </a:rPr>
              <a:t>6.2  Data Drift Monitoring (PSI)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F923742-C3EB-EE8B-A445-27638EB82048}"/>
              </a:ext>
            </a:extLst>
          </p:cNvPr>
          <p:cNvSpPr txBox="1"/>
          <p:nvPr/>
        </p:nvSpPr>
        <p:spPr>
          <a:xfrm>
            <a:off x="731520" y="868680"/>
            <a:ext cx="100584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400" b="1" dirty="0">
                <a:latin typeface="Arial" panose="020B0604020202020204" pitchFamily="34" charset="0"/>
              </a:rPr>
              <a:t>Population Stability Index  |  SR 11-7 banking standard  |  Run weekly via scripts/monitor_drift.py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04761C9D-9988-7ADB-F494-327F75DA2C16}"/>
              </a:ext>
            </a:extLst>
          </p:cNvPr>
          <p:cNvSpPr/>
          <p:nvPr/>
        </p:nvSpPr>
        <p:spPr>
          <a:xfrm>
            <a:off x="731520" y="1463040"/>
            <a:ext cx="3474720" cy="1645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7B3AA20-6DC5-F590-3D51-4A3822F3204F}"/>
              </a:ext>
            </a:extLst>
          </p:cNvPr>
          <p:cNvSpPr/>
          <p:nvPr/>
        </p:nvSpPr>
        <p:spPr>
          <a:xfrm>
            <a:off x="731520" y="1463040"/>
            <a:ext cx="3474720" cy="64008"/>
          </a:xfrm>
          <a:prstGeom prst="rect">
            <a:avLst/>
          </a:prstGeom>
          <a:solidFill>
            <a:srgbClr val="59AA6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9BBA46D-FB58-4CC0-CB34-DDDBB0EB4009}"/>
              </a:ext>
            </a:extLst>
          </p:cNvPr>
          <p:cNvSpPr txBox="1"/>
          <p:nvPr/>
        </p:nvSpPr>
        <p:spPr>
          <a:xfrm>
            <a:off x="1005840" y="1691640"/>
            <a:ext cx="2926080" cy="338554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1600" b="1">
                <a:solidFill>
                  <a:srgbClr val="1A2A3D"/>
                </a:solidFill>
                <a:latin typeface="Arial" panose="020B0604020202020204" pitchFamily="34" charset="0"/>
              </a:rPr>
              <a:t>PSI &lt; 0.10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16D9C7C-0633-DB6C-FD77-6DB62A0DFFBB}"/>
              </a:ext>
            </a:extLst>
          </p:cNvPr>
          <p:cNvSpPr txBox="1"/>
          <p:nvPr/>
        </p:nvSpPr>
        <p:spPr>
          <a:xfrm>
            <a:off x="1005840" y="2103120"/>
            <a:ext cx="2926080" cy="43088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2200" b="1">
                <a:solidFill>
                  <a:srgbClr val="59AA6D"/>
                </a:solidFill>
                <a:latin typeface="Arial" panose="020B0604020202020204" pitchFamily="34" charset="0"/>
              </a:rPr>
              <a:t>STABLE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FF45D54-5721-859C-D737-7DDD15424AA1}"/>
              </a:ext>
            </a:extLst>
          </p:cNvPr>
          <p:cNvSpPr txBox="1"/>
          <p:nvPr/>
        </p:nvSpPr>
        <p:spPr>
          <a:xfrm>
            <a:off x="1005840" y="2606040"/>
            <a:ext cx="2926080" cy="292388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1300">
                <a:solidFill>
                  <a:srgbClr val="9E9E9E"/>
                </a:solidFill>
                <a:latin typeface="Arial" panose="020B0604020202020204" pitchFamily="34" charset="0"/>
              </a:rPr>
              <a:t>No action needed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849128A2-685A-DB1E-F532-36C643E751E8}"/>
              </a:ext>
            </a:extLst>
          </p:cNvPr>
          <p:cNvSpPr/>
          <p:nvPr/>
        </p:nvSpPr>
        <p:spPr>
          <a:xfrm>
            <a:off x="4434840" y="1463040"/>
            <a:ext cx="3474720" cy="1645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891C226-E5E7-297F-8D54-6A94F2119A84}"/>
              </a:ext>
            </a:extLst>
          </p:cNvPr>
          <p:cNvSpPr/>
          <p:nvPr/>
        </p:nvSpPr>
        <p:spPr>
          <a:xfrm>
            <a:off x="4434840" y="1463040"/>
            <a:ext cx="3474720" cy="64008"/>
          </a:xfrm>
          <a:prstGeom prst="rect">
            <a:avLst/>
          </a:prstGeom>
          <a:solidFill>
            <a:srgbClr val="E8B839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3B6CDAF-053B-9FB6-DB72-9CA621D3A790}"/>
              </a:ext>
            </a:extLst>
          </p:cNvPr>
          <p:cNvSpPr txBox="1"/>
          <p:nvPr/>
        </p:nvSpPr>
        <p:spPr>
          <a:xfrm>
            <a:off x="4709160" y="1691640"/>
            <a:ext cx="2926080" cy="338554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1600" b="1">
                <a:solidFill>
                  <a:srgbClr val="1A2A3D"/>
                </a:solidFill>
                <a:latin typeface="Arial" panose="020B0604020202020204" pitchFamily="34" charset="0"/>
              </a:rPr>
              <a:t>PSI &lt; 0.20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19BF448-794A-A551-810A-D813A6FCDA22}"/>
              </a:ext>
            </a:extLst>
          </p:cNvPr>
          <p:cNvSpPr txBox="1"/>
          <p:nvPr/>
        </p:nvSpPr>
        <p:spPr>
          <a:xfrm>
            <a:off x="4709160" y="2103120"/>
            <a:ext cx="2926080" cy="43088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2200" b="1">
                <a:solidFill>
                  <a:srgbClr val="E8B839"/>
                </a:solidFill>
                <a:latin typeface="Arial" panose="020B0604020202020204" pitchFamily="34" charset="0"/>
              </a:rPr>
              <a:t>MODERATE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F5A7BDB-8C61-2D14-5022-FA756248D3D2}"/>
              </a:ext>
            </a:extLst>
          </p:cNvPr>
          <p:cNvSpPr txBox="1"/>
          <p:nvPr/>
        </p:nvSpPr>
        <p:spPr>
          <a:xfrm>
            <a:off x="4709160" y="2606040"/>
            <a:ext cx="2926080" cy="292388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1300">
                <a:solidFill>
                  <a:srgbClr val="9E9E9E"/>
                </a:solidFill>
                <a:latin typeface="Arial" panose="020B0604020202020204" pitchFamily="34" charset="0"/>
              </a:rPr>
              <a:t>Monitor closely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67F728F6-6E5C-07EB-523B-1764F2C3FE13}"/>
              </a:ext>
            </a:extLst>
          </p:cNvPr>
          <p:cNvSpPr/>
          <p:nvPr/>
        </p:nvSpPr>
        <p:spPr>
          <a:xfrm>
            <a:off x="8138160" y="1463040"/>
            <a:ext cx="3474720" cy="1645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431FEB8-4F0A-20F6-1D55-B3D1BAD4583C}"/>
              </a:ext>
            </a:extLst>
          </p:cNvPr>
          <p:cNvSpPr/>
          <p:nvPr/>
        </p:nvSpPr>
        <p:spPr>
          <a:xfrm>
            <a:off x="8138160" y="1463040"/>
            <a:ext cx="3474720" cy="64008"/>
          </a:xfrm>
          <a:prstGeom prst="rect">
            <a:avLst/>
          </a:prstGeom>
          <a:solidFill>
            <a:srgbClr val="E8474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F64E1E8-8E47-B5EF-7123-69CEB22439A1}"/>
              </a:ext>
            </a:extLst>
          </p:cNvPr>
          <p:cNvSpPr txBox="1"/>
          <p:nvPr/>
        </p:nvSpPr>
        <p:spPr>
          <a:xfrm>
            <a:off x="8412480" y="1691640"/>
            <a:ext cx="2926080" cy="338554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1600" b="1">
                <a:solidFill>
                  <a:srgbClr val="1A2A3D"/>
                </a:solidFill>
                <a:latin typeface="Arial" panose="020B0604020202020204" pitchFamily="34" charset="0"/>
              </a:rPr>
              <a:t>PSI ≥ 0.20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7060AA0-AEA8-CA85-294F-53AE1E97E141}"/>
              </a:ext>
            </a:extLst>
          </p:cNvPr>
          <p:cNvSpPr txBox="1"/>
          <p:nvPr/>
        </p:nvSpPr>
        <p:spPr>
          <a:xfrm>
            <a:off x="8412480" y="2103120"/>
            <a:ext cx="2926080" cy="43088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2200" b="1">
                <a:solidFill>
                  <a:srgbClr val="E84747"/>
                </a:solidFill>
                <a:latin typeface="Arial" panose="020B0604020202020204" pitchFamily="34" charset="0"/>
              </a:rPr>
              <a:t>ALERT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C839382-5EE0-AB59-4D45-5D9AA892DACE}"/>
              </a:ext>
            </a:extLst>
          </p:cNvPr>
          <p:cNvSpPr txBox="1"/>
          <p:nvPr/>
        </p:nvSpPr>
        <p:spPr>
          <a:xfrm>
            <a:off x="8412480" y="2606040"/>
            <a:ext cx="2926080" cy="292388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1300">
                <a:solidFill>
                  <a:srgbClr val="9E9E9E"/>
                </a:solidFill>
                <a:latin typeface="Arial" panose="020B0604020202020204" pitchFamily="34" charset="0"/>
              </a:rPr>
              <a:t>Investigate &amp; retrain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193C506-4A63-91C7-9A67-F6E6ADC7C43A}"/>
              </a:ext>
            </a:extLst>
          </p:cNvPr>
          <p:cNvSpPr txBox="1"/>
          <p:nvPr/>
        </p:nvSpPr>
        <p:spPr>
          <a:xfrm>
            <a:off x="731520" y="3429000"/>
            <a:ext cx="100584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400" b="1">
                <a:solidFill>
                  <a:srgbClr val="1A2A3D"/>
                </a:solidFill>
                <a:latin typeface="Arial" panose="020B0604020202020204" pitchFamily="34" charset="0"/>
              </a:rPr>
              <a:t>HOW IT WORKS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4391982B-59C9-5913-2704-F2B1872C518B}"/>
              </a:ext>
            </a:extLst>
          </p:cNvPr>
          <p:cNvSpPr/>
          <p:nvPr/>
        </p:nvSpPr>
        <p:spPr>
          <a:xfrm>
            <a:off x="731520" y="3840480"/>
            <a:ext cx="10698479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F25CB84-1FD7-E77A-0AFB-3F2631702AD2}"/>
              </a:ext>
            </a:extLst>
          </p:cNvPr>
          <p:cNvSpPr txBox="1"/>
          <p:nvPr/>
        </p:nvSpPr>
        <p:spPr>
          <a:xfrm>
            <a:off x="777240" y="3931920"/>
            <a:ext cx="237744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200" b="1">
                <a:solidFill>
                  <a:srgbClr val="F08248"/>
                </a:solidFill>
                <a:latin typeface="Arial" panose="020B0604020202020204" pitchFamily="34" charset="0"/>
              </a:rPr>
              <a:t>1.  Serialize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C8E5C71-07E1-023E-96A4-B168EAD6A129}"/>
              </a:ext>
            </a:extLst>
          </p:cNvPr>
          <p:cNvSpPr txBox="1"/>
          <p:nvPr/>
        </p:nvSpPr>
        <p:spPr>
          <a:xfrm>
            <a:off x="777240" y="4206240"/>
            <a:ext cx="2468880" cy="600164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100">
                <a:solidFill>
                  <a:srgbClr val="4B4B4B"/>
                </a:solidFill>
                <a:latin typeface="Arial" panose="020B0604020202020204" pitchFamily="34" charset="0"/>
              </a:rPr>
              <a:t>serialize_model.py saves training_profile.json</a:t>
            </a:r>
          </a:p>
          <a:p>
            <a:r>
              <a:rPr lang="en-PH" sz="1100">
                <a:solidFill>
                  <a:srgbClr val="4B4B4B"/>
                </a:solidFill>
                <a:latin typeface="Arial" panose="020B0604020202020204" pitchFamily="34" charset="0"/>
              </a:rPr>
              <a:t>(feature distributions + score dist.)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4AF9C7E-9455-CF28-4D89-FF891F789414}"/>
              </a:ext>
            </a:extLst>
          </p:cNvPr>
          <p:cNvSpPr txBox="1"/>
          <p:nvPr/>
        </p:nvSpPr>
        <p:spPr>
          <a:xfrm>
            <a:off x="3474720" y="3931920"/>
            <a:ext cx="237744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200" b="1">
                <a:solidFill>
                  <a:srgbClr val="F08248"/>
                </a:solidFill>
                <a:latin typeface="Arial" panose="020B0604020202020204" pitchFamily="34" charset="0"/>
              </a:rPr>
              <a:t>2.  Log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5EEA126-074C-783B-123B-72098B7D160B}"/>
              </a:ext>
            </a:extLst>
          </p:cNvPr>
          <p:cNvSpPr txBox="1"/>
          <p:nvPr/>
        </p:nvSpPr>
        <p:spPr>
          <a:xfrm>
            <a:off x="3474720" y="4206240"/>
            <a:ext cx="2468880" cy="43088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100">
                <a:solidFill>
                  <a:srgbClr val="4B4B4B"/>
                </a:solidFill>
                <a:latin typeface="Arial" panose="020B0604020202020204" pitchFamily="34" charset="0"/>
              </a:rPr>
              <a:t>Every API prediction appended to</a:t>
            </a:r>
          </a:p>
          <a:p>
            <a:r>
              <a:rPr lang="en-US" sz="1100">
                <a:solidFill>
                  <a:srgbClr val="4B4B4B"/>
                </a:solidFill>
                <a:latin typeface="Arial" panose="020B0604020202020204" pitchFamily="34" charset="0"/>
              </a:rPr>
              <a:t>logs/predictions.csv with timestamp</a:t>
            </a:r>
            <a:endParaRPr lang="en-PH" sz="1100">
              <a:solidFill>
                <a:srgbClr val="4B4B4B"/>
              </a:solidFill>
              <a:latin typeface="Arial" panose="020B0604020202020204" pitchFamily="34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F465168-18C8-6F34-634F-56ACD144CB1D}"/>
              </a:ext>
            </a:extLst>
          </p:cNvPr>
          <p:cNvSpPr txBox="1"/>
          <p:nvPr/>
        </p:nvSpPr>
        <p:spPr>
          <a:xfrm>
            <a:off x="6172200" y="3931920"/>
            <a:ext cx="237744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200" b="1">
                <a:solidFill>
                  <a:srgbClr val="F08248"/>
                </a:solidFill>
                <a:latin typeface="Arial" panose="020B0604020202020204" pitchFamily="34" charset="0"/>
              </a:rPr>
              <a:t>3.  Compare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7667A82-E798-9458-AF24-20A88654625E}"/>
              </a:ext>
            </a:extLst>
          </p:cNvPr>
          <p:cNvSpPr txBox="1"/>
          <p:nvPr/>
        </p:nvSpPr>
        <p:spPr>
          <a:xfrm>
            <a:off x="6172200" y="4206240"/>
            <a:ext cx="2468880" cy="43088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100">
                <a:solidFill>
                  <a:srgbClr val="4B4B4B"/>
                </a:solidFill>
                <a:latin typeface="Arial" panose="020B0604020202020204" pitchFamily="34" charset="0"/>
              </a:rPr>
              <a:t>monitor_drift.py computes PSI</a:t>
            </a:r>
          </a:p>
          <a:p>
            <a:r>
              <a:rPr lang="en-US" sz="1100">
                <a:solidFill>
                  <a:srgbClr val="4B4B4B"/>
                </a:solidFill>
                <a:latin typeface="Arial" panose="020B0604020202020204" pitchFamily="34" charset="0"/>
              </a:rPr>
              <a:t>per feature vs. training baseline</a:t>
            </a:r>
            <a:endParaRPr lang="en-PH" sz="1100">
              <a:solidFill>
                <a:srgbClr val="4B4B4B"/>
              </a:solidFill>
              <a:latin typeface="Arial" panose="020B0604020202020204" pitchFamily="34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08A7414-029A-3FB0-0EBC-55D56CE3E308}"/>
              </a:ext>
            </a:extLst>
          </p:cNvPr>
          <p:cNvSpPr txBox="1"/>
          <p:nvPr/>
        </p:nvSpPr>
        <p:spPr>
          <a:xfrm>
            <a:off x="8869680" y="3931920"/>
            <a:ext cx="237744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200" b="1">
                <a:solidFill>
                  <a:srgbClr val="F08248"/>
                </a:solidFill>
                <a:latin typeface="Arial" panose="020B0604020202020204" pitchFamily="34" charset="0"/>
              </a:rPr>
              <a:t>4.  Alert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0990D1F-8784-0DA8-12FA-8202703EC392}"/>
              </a:ext>
            </a:extLst>
          </p:cNvPr>
          <p:cNvSpPr txBox="1"/>
          <p:nvPr/>
        </p:nvSpPr>
        <p:spPr>
          <a:xfrm>
            <a:off x="8869680" y="4206240"/>
            <a:ext cx="2468880" cy="43088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100">
                <a:solidFill>
                  <a:srgbClr val="4B4B4B"/>
                </a:solidFill>
                <a:latin typeface="Arial" panose="020B0604020202020204" pitchFamily="34" charset="0"/>
              </a:rPr>
              <a:t>PSI ≥ 0.20 on any feature or score</a:t>
            </a:r>
          </a:p>
          <a:p>
            <a:r>
              <a:rPr lang="en-US" sz="1100">
                <a:solidFill>
                  <a:srgbClr val="4B4B4B"/>
                </a:solidFill>
                <a:latin typeface="Arial" panose="020B0604020202020204" pitchFamily="34" charset="0"/>
              </a:rPr>
              <a:t>triggers retraining flag</a:t>
            </a:r>
            <a:endParaRPr lang="en-PH" sz="1100">
              <a:solidFill>
                <a:srgbClr val="4B4B4B"/>
              </a:solidFill>
              <a:latin typeface="Arial" panose="020B0604020202020204" pitchFamily="34" charset="0"/>
            </a:endParaRP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24CD0E04-987F-A052-E7E1-B354166B557B}"/>
              </a:ext>
            </a:extLst>
          </p:cNvPr>
          <p:cNvSpPr/>
          <p:nvPr/>
        </p:nvSpPr>
        <p:spPr>
          <a:xfrm>
            <a:off x="731520" y="5074920"/>
            <a:ext cx="10698479" cy="594360"/>
          </a:xfrm>
          <a:prstGeom prst="roundRect">
            <a:avLst>
              <a:gd name="adj" fmla="val 6000"/>
            </a:avLst>
          </a:prstGeom>
          <a:solidFill>
            <a:srgbClr val="1A2A3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F866707-5663-2A84-2ECE-0353E6AA132A}"/>
              </a:ext>
            </a:extLst>
          </p:cNvPr>
          <p:cNvSpPr txBox="1"/>
          <p:nvPr/>
        </p:nvSpPr>
        <p:spPr>
          <a:xfrm>
            <a:off x="1097280" y="5166360"/>
            <a:ext cx="10058400" cy="292388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300">
                <a:solidFill>
                  <a:srgbClr val="C8DCFC"/>
                </a:solidFill>
                <a:latin typeface="Arial" panose="020B0604020202020204" pitchFamily="34" charset="0"/>
              </a:rPr>
              <a:t>Monitored:  Age  |  Income  |  CreditLimit  |  TotalTransactions  |  TotalSpend  |  Tenure  |  attrition_probability (score drift)</a:t>
            </a:r>
            <a:endParaRPr lang="en-PH" sz="1300">
              <a:solidFill>
                <a:srgbClr val="C8DCFC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6802332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5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D6B2EBF-67C1-EF89-B5B0-9380009EBE32}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824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F4C2C05-525A-3003-B7E7-1FF983C00860}"/>
              </a:ext>
            </a:extLst>
          </p:cNvPr>
          <p:cNvSpPr txBox="1"/>
          <p:nvPr/>
        </p:nvSpPr>
        <p:spPr>
          <a:xfrm>
            <a:off x="731520" y="365760"/>
            <a:ext cx="10058400" cy="52322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2800" b="1">
                <a:solidFill>
                  <a:srgbClr val="1A2A3D"/>
                </a:solidFill>
                <a:latin typeface="Arial" panose="020B0604020202020204" pitchFamily="34" charset="0"/>
              </a:rPr>
              <a:t>6.3  Rule-Based Recommender Engine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E7FB003-81BF-521C-165E-78D75B2151F9}"/>
              </a:ext>
            </a:extLst>
          </p:cNvPr>
          <p:cNvSpPr txBox="1"/>
          <p:nvPr/>
        </p:nvSpPr>
        <p:spPr>
          <a:xfrm>
            <a:off x="731520" y="868680"/>
            <a:ext cx="100584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400" b="1" dirty="0">
                <a:latin typeface="Arial" panose="020B0604020202020204" pitchFamily="34" charset="0"/>
              </a:rPr>
              <a:t>Post-prediction layer  |  api/recommender.py  |  Zero ML  |  Zero retraining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0C170263-322F-8420-9DBF-2EA258501089}"/>
              </a:ext>
            </a:extLst>
          </p:cNvPr>
          <p:cNvSpPr/>
          <p:nvPr/>
        </p:nvSpPr>
        <p:spPr>
          <a:xfrm>
            <a:off x="731520" y="1574780"/>
            <a:ext cx="10698479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D098201-804D-4DA9-1416-5A233835F4D1}"/>
              </a:ext>
            </a:extLst>
          </p:cNvPr>
          <p:cNvSpPr/>
          <p:nvPr/>
        </p:nvSpPr>
        <p:spPr>
          <a:xfrm>
            <a:off x="731520" y="1574780"/>
            <a:ext cx="64008" cy="621792"/>
          </a:xfrm>
          <a:prstGeom prst="rect">
            <a:avLst/>
          </a:prstGeom>
          <a:solidFill>
            <a:srgbClr val="E8474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786AC46-62E8-38CF-C705-A5E4D2A1F49F}"/>
              </a:ext>
            </a:extLst>
          </p:cNvPr>
          <p:cNvSpPr txBox="1"/>
          <p:nvPr/>
        </p:nvSpPr>
        <p:spPr>
          <a:xfrm>
            <a:off x="1005840" y="1711940"/>
            <a:ext cx="201168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400" b="1">
                <a:solidFill>
                  <a:srgbClr val="E84747"/>
                </a:solidFill>
                <a:latin typeface="Arial" panose="020B0604020202020204" pitchFamily="34" charset="0"/>
              </a:rPr>
              <a:t>Attrition Risk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67DD147-B380-88A0-54B2-C9493E3838BC}"/>
              </a:ext>
            </a:extLst>
          </p:cNvPr>
          <p:cNvSpPr txBox="1"/>
          <p:nvPr/>
        </p:nvSpPr>
        <p:spPr>
          <a:xfrm>
            <a:off x="3200400" y="1711940"/>
            <a:ext cx="3200400" cy="292388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300">
                <a:solidFill>
                  <a:srgbClr val="4B4B4B"/>
                </a:solidFill>
                <a:latin typeface="Arial" panose="020B0604020202020204" pitchFamily="34" charset="0"/>
              </a:rPr>
              <a:t>Probability ≥ 0.70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23B6499-9AAD-4A8B-F9C3-DFC30745747B}"/>
              </a:ext>
            </a:extLst>
          </p:cNvPr>
          <p:cNvSpPr txBox="1"/>
          <p:nvPr/>
        </p:nvSpPr>
        <p:spPr>
          <a:xfrm>
            <a:off x="6675120" y="1711940"/>
            <a:ext cx="4389120" cy="292388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300">
                <a:solidFill>
                  <a:srgbClr val="9E9E9E"/>
                </a:solidFill>
                <a:latin typeface="Arial" panose="020B0604020202020204" pitchFamily="34" charset="0"/>
              </a:rPr>
              <a:t>Rewards Upgrade  |  Retention cashback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F96E4A5-A4C9-E24B-6DD1-1A670E87D69C}"/>
              </a:ext>
            </a:extLst>
          </p:cNvPr>
          <p:cNvSpPr/>
          <p:nvPr/>
        </p:nvSpPr>
        <p:spPr>
          <a:xfrm>
            <a:off x="731520" y="2324588"/>
            <a:ext cx="10698479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EEB0F56-31BF-53F4-129C-FAD9CC2D06C6}"/>
              </a:ext>
            </a:extLst>
          </p:cNvPr>
          <p:cNvSpPr/>
          <p:nvPr/>
        </p:nvSpPr>
        <p:spPr>
          <a:xfrm>
            <a:off x="731520" y="2324588"/>
            <a:ext cx="64008" cy="621792"/>
          </a:xfrm>
          <a:prstGeom prst="rect">
            <a:avLst/>
          </a:prstGeom>
          <a:solidFill>
            <a:srgbClr val="E8B839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7723551-E409-D18D-5F12-E79744C7EAFD}"/>
              </a:ext>
            </a:extLst>
          </p:cNvPr>
          <p:cNvSpPr txBox="1"/>
          <p:nvPr/>
        </p:nvSpPr>
        <p:spPr>
          <a:xfrm>
            <a:off x="1005840" y="2461748"/>
            <a:ext cx="201168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400" b="1">
                <a:solidFill>
                  <a:srgbClr val="E8B839"/>
                </a:solidFill>
                <a:latin typeface="Arial" panose="020B0604020202020204" pitchFamily="34" charset="0"/>
              </a:rPr>
              <a:t>Card Upgrade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78BF0C4-3FD2-B5CD-D500-621BF1FAE000}"/>
              </a:ext>
            </a:extLst>
          </p:cNvPr>
          <p:cNvSpPr txBox="1"/>
          <p:nvPr/>
        </p:nvSpPr>
        <p:spPr>
          <a:xfrm>
            <a:off x="3200400" y="2461748"/>
            <a:ext cx="3200400" cy="292388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4B4B4B"/>
                </a:solidFill>
                <a:latin typeface="Arial" panose="020B0604020202020204" pitchFamily="34" charset="0"/>
              </a:rPr>
              <a:t>Income ≥ 80K + Blue/Silver card</a:t>
            </a:r>
            <a:endParaRPr lang="en-PH" sz="1300">
              <a:solidFill>
                <a:srgbClr val="4B4B4B"/>
              </a:solidFill>
              <a:latin typeface="Arial" panose="020B060402020202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F901ACA-3ACF-2392-32D0-4549EA4E310A}"/>
              </a:ext>
            </a:extLst>
          </p:cNvPr>
          <p:cNvSpPr txBox="1"/>
          <p:nvPr/>
        </p:nvSpPr>
        <p:spPr>
          <a:xfrm>
            <a:off x="6675120" y="2461748"/>
            <a:ext cx="4389120" cy="292388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300">
                <a:solidFill>
                  <a:srgbClr val="9E9E9E"/>
                </a:solidFill>
                <a:latin typeface="Arial" panose="020B0604020202020204" pitchFamily="34" charset="0"/>
              </a:rPr>
              <a:t>UnionBank Gold / Platinum Card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79277226-097A-3FBC-027E-4853153D5730}"/>
              </a:ext>
            </a:extLst>
          </p:cNvPr>
          <p:cNvSpPr/>
          <p:nvPr/>
        </p:nvSpPr>
        <p:spPr>
          <a:xfrm>
            <a:off x="731520" y="3074396"/>
            <a:ext cx="10698479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A27E152-EC69-4224-02FE-8D537E6A8B92}"/>
              </a:ext>
            </a:extLst>
          </p:cNvPr>
          <p:cNvSpPr/>
          <p:nvPr/>
        </p:nvSpPr>
        <p:spPr>
          <a:xfrm>
            <a:off x="731520" y="3074396"/>
            <a:ext cx="64008" cy="621792"/>
          </a:xfrm>
          <a:prstGeom prst="rect">
            <a:avLst/>
          </a:prstGeom>
          <a:solidFill>
            <a:srgbClr val="20809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B977B1B-0AAA-2A9B-686D-90FA09AC44F9}"/>
              </a:ext>
            </a:extLst>
          </p:cNvPr>
          <p:cNvSpPr txBox="1"/>
          <p:nvPr/>
        </p:nvSpPr>
        <p:spPr>
          <a:xfrm>
            <a:off x="1005840" y="3211556"/>
            <a:ext cx="201168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400" b="1">
                <a:solidFill>
                  <a:srgbClr val="208090"/>
                </a:solidFill>
                <a:latin typeface="Arial" panose="020B0604020202020204" pitchFamily="34" charset="0"/>
              </a:rPr>
              <a:t>Wealth Tier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D152DD6-8E9C-CF8A-A39F-95864B48F4C0}"/>
              </a:ext>
            </a:extLst>
          </p:cNvPr>
          <p:cNvSpPr txBox="1"/>
          <p:nvPr/>
        </p:nvSpPr>
        <p:spPr>
          <a:xfrm>
            <a:off x="3200400" y="3211556"/>
            <a:ext cx="3200400" cy="292388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300">
                <a:solidFill>
                  <a:srgbClr val="4B4B4B"/>
                </a:solidFill>
                <a:latin typeface="Arial" panose="020B0604020202020204" pitchFamily="34" charset="0"/>
              </a:rPr>
              <a:t>Income ≥ 150K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B69FEDE-8D67-73ED-04A2-3426E24BFAC6}"/>
              </a:ext>
            </a:extLst>
          </p:cNvPr>
          <p:cNvSpPr txBox="1"/>
          <p:nvPr/>
        </p:nvSpPr>
        <p:spPr>
          <a:xfrm>
            <a:off x="6675120" y="3211556"/>
            <a:ext cx="4389120" cy="292388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300">
                <a:solidFill>
                  <a:srgbClr val="9E9E9E"/>
                </a:solidFill>
                <a:latin typeface="Arial" panose="020B0604020202020204" pitchFamily="34" charset="0"/>
              </a:rPr>
              <a:t>Wealth Management  |  Priority Banking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77D179A3-FF9C-7386-447D-279E1F9127CE}"/>
              </a:ext>
            </a:extLst>
          </p:cNvPr>
          <p:cNvSpPr/>
          <p:nvPr/>
        </p:nvSpPr>
        <p:spPr>
          <a:xfrm>
            <a:off x="762001" y="3824204"/>
            <a:ext cx="10698479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BCCBACA-5D40-D3F0-37D3-E547756D2367}"/>
              </a:ext>
            </a:extLst>
          </p:cNvPr>
          <p:cNvSpPr/>
          <p:nvPr/>
        </p:nvSpPr>
        <p:spPr>
          <a:xfrm>
            <a:off x="731520" y="3824204"/>
            <a:ext cx="64008" cy="621792"/>
          </a:xfrm>
          <a:prstGeom prst="rect">
            <a:avLst/>
          </a:prstGeom>
          <a:solidFill>
            <a:srgbClr val="F0824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16CA049-2887-E6A4-41A6-C8DB1878602E}"/>
              </a:ext>
            </a:extLst>
          </p:cNvPr>
          <p:cNvSpPr txBox="1"/>
          <p:nvPr/>
        </p:nvSpPr>
        <p:spPr>
          <a:xfrm>
            <a:off x="1005840" y="3961364"/>
            <a:ext cx="201168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400" b="1">
                <a:solidFill>
                  <a:srgbClr val="F08248"/>
                </a:solidFill>
                <a:latin typeface="Arial" panose="020B0604020202020204" pitchFamily="34" charset="0"/>
              </a:rPr>
              <a:t>Loyalty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3316054-1676-8772-CDA0-5EBF4A6A32AF}"/>
              </a:ext>
            </a:extLst>
          </p:cNvPr>
          <p:cNvSpPr txBox="1"/>
          <p:nvPr/>
        </p:nvSpPr>
        <p:spPr>
          <a:xfrm>
            <a:off x="3200400" y="3961364"/>
            <a:ext cx="3200400" cy="292388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4B4B4B"/>
                </a:solidFill>
                <a:latin typeface="Arial" panose="020B0604020202020204" pitchFamily="34" charset="0"/>
              </a:rPr>
              <a:t>Tenure ≥ 48 months + prob ≥ 0.40</a:t>
            </a:r>
            <a:endParaRPr lang="en-PH" sz="1300">
              <a:solidFill>
                <a:srgbClr val="4B4B4B"/>
              </a:solidFill>
              <a:latin typeface="Arial" panose="020B0604020202020204" pitchFamily="34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0D9B879-9A12-0A4E-0498-BA873B821211}"/>
              </a:ext>
            </a:extLst>
          </p:cNvPr>
          <p:cNvSpPr txBox="1"/>
          <p:nvPr/>
        </p:nvSpPr>
        <p:spPr>
          <a:xfrm>
            <a:off x="6675120" y="3961364"/>
            <a:ext cx="4389120" cy="292388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300">
                <a:solidFill>
                  <a:srgbClr val="9E9E9E"/>
                </a:solidFill>
                <a:latin typeface="Arial" panose="020B0604020202020204" pitchFamily="34" charset="0"/>
              </a:rPr>
              <a:t>Loyalty Cashback  |  Tenure reward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84FCB56E-87C8-6564-17F3-581AF02356E3}"/>
              </a:ext>
            </a:extLst>
          </p:cNvPr>
          <p:cNvSpPr/>
          <p:nvPr/>
        </p:nvSpPr>
        <p:spPr>
          <a:xfrm>
            <a:off x="731520" y="4574012"/>
            <a:ext cx="10698479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C2D38AD-FB02-C039-450B-9F256D65D00F}"/>
              </a:ext>
            </a:extLst>
          </p:cNvPr>
          <p:cNvSpPr/>
          <p:nvPr/>
        </p:nvSpPr>
        <p:spPr>
          <a:xfrm>
            <a:off x="731520" y="4574012"/>
            <a:ext cx="64008" cy="621792"/>
          </a:xfrm>
          <a:prstGeom prst="rect">
            <a:avLst/>
          </a:prstGeom>
          <a:solidFill>
            <a:srgbClr val="16276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1FD2E4F-05BE-EC4B-FC12-6084A7914144}"/>
              </a:ext>
            </a:extLst>
          </p:cNvPr>
          <p:cNvSpPr txBox="1"/>
          <p:nvPr/>
        </p:nvSpPr>
        <p:spPr>
          <a:xfrm>
            <a:off x="1005840" y="4711172"/>
            <a:ext cx="201168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400" b="1">
                <a:solidFill>
                  <a:srgbClr val="162761"/>
                </a:solidFill>
                <a:latin typeface="Arial" panose="020B0604020202020204" pitchFamily="34" charset="0"/>
              </a:rPr>
              <a:t>New Client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C15EE9B-FC66-0757-6A3C-931602E5D4E0}"/>
              </a:ext>
            </a:extLst>
          </p:cNvPr>
          <p:cNvSpPr txBox="1"/>
          <p:nvPr/>
        </p:nvSpPr>
        <p:spPr>
          <a:xfrm>
            <a:off x="3200400" y="4711172"/>
            <a:ext cx="3200400" cy="292388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300">
                <a:solidFill>
                  <a:srgbClr val="4B4B4B"/>
                </a:solidFill>
                <a:latin typeface="Arial" panose="020B0604020202020204" pitchFamily="34" charset="0"/>
              </a:rPr>
              <a:t>Tenure &lt; 12 months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78BB256-CC6E-B9AD-BB4F-2438160A33D9}"/>
              </a:ext>
            </a:extLst>
          </p:cNvPr>
          <p:cNvSpPr txBox="1"/>
          <p:nvPr/>
        </p:nvSpPr>
        <p:spPr>
          <a:xfrm>
            <a:off x="6675120" y="4711172"/>
            <a:ext cx="4389120" cy="292388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300">
                <a:solidFill>
                  <a:srgbClr val="9E9E9E"/>
                </a:solidFill>
                <a:latin typeface="Arial" panose="020B0604020202020204" pitchFamily="34" charset="0"/>
              </a:rPr>
              <a:t>Digital Onboarding  |  UnionBank Online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D4F01C7-2478-9A59-CD4F-FFD72D9E7E8B}"/>
              </a:ext>
            </a:extLst>
          </p:cNvPr>
          <p:cNvSpPr txBox="1"/>
          <p:nvPr/>
        </p:nvSpPr>
        <p:spPr>
          <a:xfrm>
            <a:off x="1005840" y="1391900"/>
            <a:ext cx="2011680" cy="26161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100" b="1">
                <a:solidFill>
                  <a:srgbClr val="9E9E9E"/>
                </a:solidFill>
                <a:latin typeface="Arial" panose="020B0604020202020204" pitchFamily="34" charset="0"/>
              </a:rPr>
              <a:t>Rule Layer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1CF9DE1-316E-AF27-EE49-92178905250E}"/>
              </a:ext>
            </a:extLst>
          </p:cNvPr>
          <p:cNvSpPr txBox="1"/>
          <p:nvPr/>
        </p:nvSpPr>
        <p:spPr>
          <a:xfrm>
            <a:off x="3200400" y="1391900"/>
            <a:ext cx="3200400" cy="26161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100" b="1">
                <a:solidFill>
                  <a:srgbClr val="9E9E9E"/>
                </a:solidFill>
                <a:latin typeface="Arial" panose="020B0604020202020204" pitchFamily="34" charset="0"/>
              </a:rPr>
              <a:t>Trigger Condition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A74AFD9-345C-A8F2-7C61-89D55156BE90}"/>
              </a:ext>
            </a:extLst>
          </p:cNvPr>
          <p:cNvSpPr txBox="1"/>
          <p:nvPr/>
        </p:nvSpPr>
        <p:spPr>
          <a:xfrm>
            <a:off x="6675120" y="1391900"/>
            <a:ext cx="4389120" cy="26161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100" b="1">
                <a:solidFill>
                  <a:srgbClr val="9E9E9E"/>
                </a:solidFill>
                <a:latin typeface="Arial" panose="020B0604020202020204" pitchFamily="34" charset="0"/>
              </a:rPr>
              <a:t>Recommended Products</a:t>
            </a:r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7F76BEB3-47C5-B15F-8ABB-31D0B583AB45}"/>
              </a:ext>
            </a:extLst>
          </p:cNvPr>
          <p:cNvSpPr/>
          <p:nvPr/>
        </p:nvSpPr>
        <p:spPr>
          <a:xfrm>
            <a:off x="731520" y="5643860"/>
            <a:ext cx="10698479" cy="685800"/>
          </a:xfrm>
          <a:prstGeom prst="roundRect">
            <a:avLst>
              <a:gd name="adj" fmla="val 6000"/>
            </a:avLst>
          </a:prstGeom>
          <a:solidFill>
            <a:srgbClr val="1A2A3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9B290DB-B0F6-47BB-D828-C5A1FD1796CA}"/>
              </a:ext>
            </a:extLst>
          </p:cNvPr>
          <p:cNvSpPr txBox="1"/>
          <p:nvPr/>
        </p:nvSpPr>
        <p:spPr>
          <a:xfrm>
            <a:off x="1097280" y="5753588"/>
            <a:ext cx="10058400" cy="492443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400" b="1" dirty="0">
                <a:solidFill>
                  <a:srgbClr val="C8DCFC"/>
                </a:solidFill>
                <a:latin typeface="Arial" panose="020B0604020202020204" pitchFamily="34" charset="0"/>
              </a:rPr>
              <a:t>Pipeline ends at probability  -&gt;  recommender reads output + raw features -&gt; New dataset ingestion capable.</a:t>
            </a:r>
            <a:endParaRPr lang="en-PH" sz="1400" b="1" dirty="0">
              <a:solidFill>
                <a:srgbClr val="C8DCFC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0749366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97D6F0B-3E84-41B1-550E-06F67C2F9D63}"/>
              </a:ext>
            </a:extLst>
          </p:cNvPr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F0824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F0C86A6-1461-A219-43F9-187471C20855}"/>
              </a:ext>
            </a:extLst>
          </p:cNvPr>
          <p:cNvSpPr txBox="1"/>
          <p:nvPr/>
        </p:nvSpPr>
        <p:spPr>
          <a:xfrm>
            <a:off x="838200" y="3013501"/>
            <a:ext cx="10515600" cy="83099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4800" b="1" dirty="0">
                <a:latin typeface="Arial" panose="020B0604020202020204" pitchFamily="34" charset="0"/>
              </a:rPr>
              <a:t>Thank You.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A089F56-E613-01F4-861D-00DA567581F7}"/>
              </a:ext>
            </a:extLst>
          </p:cNvPr>
          <p:cNvSpPr/>
          <p:nvPr/>
        </p:nvSpPr>
        <p:spPr>
          <a:xfrm>
            <a:off x="5044440" y="3844498"/>
            <a:ext cx="2103120" cy="36576"/>
          </a:xfrm>
          <a:prstGeom prst="rect">
            <a:avLst/>
          </a:prstGeom>
          <a:solidFill>
            <a:srgbClr val="F0824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8588307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0F5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AFF1C56-5CF4-6931-A0C8-06FAE506A3C0}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824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0CA30B3-BF22-AC9E-38AE-5BB67619C457}"/>
              </a:ext>
            </a:extLst>
          </p:cNvPr>
          <p:cNvSpPr txBox="1"/>
          <p:nvPr/>
        </p:nvSpPr>
        <p:spPr>
          <a:xfrm>
            <a:off x="731520" y="365760"/>
            <a:ext cx="10058400" cy="52322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2800" b="1" dirty="0">
                <a:solidFill>
                  <a:srgbClr val="1A2A3D"/>
                </a:solidFill>
                <a:latin typeface="Arial" panose="020B0604020202020204" pitchFamily="34" charset="0"/>
              </a:rPr>
              <a:t>Production Pipeline Overview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D54D44-6B31-F903-21B3-4B89B18FCEE6}"/>
              </a:ext>
            </a:extLst>
          </p:cNvPr>
          <p:cNvSpPr txBox="1"/>
          <p:nvPr/>
        </p:nvSpPr>
        <p:spPr>
          <a:xfrm>
            <a:off x="731520" y="868680"/>
            <a:ext cx="100584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>
                <a:solidFill>
                  <a:srgbClr val="9E9E9E"/>
                </a:solidFill>
                <a:latin typeface="Arial" panose="020B0604020202020204" pitchFamily="34" charset="0"/>
              </a:rPr>
              <a:t>Scalable, deployable, explainable — built and ready</a:t>
            </a:r>
            <a:endParaRPr lang="en-PH" sz="1400">
              <a:solidFill>
                <a:srgbClr val="9E9E9E"/>
              </a:solidFill>
              <a:latin typeface="Arial" panose="020B0604020202020204" pitchFamily="34" charset="0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C3A03F1-9101-F720-16D7-8FDED387B7D0}"/>
              </a:ext>
            </a:extLst>
          </p:cNvPr>
          <p:cNvSpPr/>
          <p:nvPr/>
        </p:nvSpPr>
        <p:spPr>
          <a:xfrm>
            <a:off x="731520" y="1325880"/>
            <a:ext cx="10698479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C29E4B5-88D3-2693-BCE5-4E4677CECEC9}"/>
              </a:ext>
            </a:extLst>
          </p:cNvPr>
          <p:cNvSpPr/>
          <p:nvPr/>
        </p:nvSpPr>
        <p:spPr>
          <a:xfrm>
            <a:off x="731520" y="1325880"/>
            <a:ext cx="73152" cy="868680"/>
          </a:xfrm>
          <a:prstGeom prst="rect">
            <a:avLst/>
          </a:prstGeom>
          <a:solidFill>
            <a:srgbClr val="F0824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2A3D130-2DD9-5646-8CE7-6E8DA0584B71}"/>
              </a:ext>
            </a:extLst>
          </p:cNvPr>
          <p:cNvSpPr txBox="1"/>
          <p:nvPr/>
        </p:nvSpPr>
        <p:spPr>
          <a:xfrm>
            <a:off x="1051560" y="1463040"/>
            <a:ext cx="548640" cy="43088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2200" b="1">
                <a:solidFill>
                  <a:srgbClr val="F08248"/>
                </a:solidFill>
                <a:latin typeface="Arial" panose="020B0604020202020204" pitchFamily="34" charset="0"/>
              </a:rPr>
              <a:t>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B328300-2EE7-9264-1214-22BC13C58A9E}"/>
              </a:ext>
            </a:extLst>
          </p:cNvPr>
          <p:cNvSpPr txBox="1"/>
          <p:nvPr/>
        </p:nvSpPr>
        <p:spPr>
          <a:xfrm>
            <a:off x="1828800" y="1399032"/>
            <a:ext cx="3657600" cy="32316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500" b="1">
                <a:solidFill>
                  <a:srgbClr val="1A2A3D"/>
                </a:solidFill>
                <a:latin typeface="Arial" panose="020B0604020202020204" pitchFamily="34" charset="0"/>
              </a:rPr>
              <a:t>Data Ingestion &amp; Validation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1DE6D80-6730-303A-C84F-0DB283AA367A}"/>
              </a:ext>
            </a:extLst>
          </p:cNvPr>
          <p:cNvSpPr txBox="1"/>
          <p:nvPr/>
        </p:nvSpPr>
        <p:spPr>
          <a:xfrm>
            <a:off x="1828800" y="1764792"/>
            <a:ext cx="9144000" cy="292388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4B4B4B"/>
                </a:solidFill>
                <a:latin typeface="Arial" panose="020B0604020202020204" pitchFamily="34" charset="0"/>
              </a:rPr>
              <a:t>FastAPI + Pydantic schemas. Auto-reject malformed rows with 422 errors.</a:t>
            </a:r>
            <a:endParaRPr lang="en-PH" sz="1300">
              <a:solidFill>
                <a:srgbClr val="4B4B4B"/>
              </a:solidFill>
              <a:latin typeface="Arial" panose="020B0604020202020204" pitchFamily="34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BFE7CD8-68A0-3896-9AFD-65BE49A8CDAD}"/>
              </a:ext>
            </a:extLst>
          </p:cNvPr>
          <p:cNvSpPr/>
          <p:nvPr/>
        </p:nvSpPr>
        <p:spPr>
          <a:xfrm>
            <a:off x="731520" y="2350008"/>
            <a:ext cx="10698479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2962323-D6F2-3734-4D10-41F0A592E303}"/>
              </a:ext>
            </a:extLst>
          </p:cNvPr>
          <p:cNvSpPr/>
          <p:nvPr/>
        </p:nvSpPr>
        <p:spPr>
          <a:xfrm>
            <a:off x="731520" y="2350008"/>
            <a:ext cx="73152" cy="868680"/>
          </a:xfrm>
          <a:prstGeom prst="rect">
            <a:avLst/>
          </a:prstGeom>
          <a:solidFill>
            <a:srgbClr val="20809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0D624DB-11C8-654C-4A2B-015269EAD035}"/>
              </a:ext>
            </a:extLst>
          </p:cNvPr>
          <p:cNvSpPr txBox="1"/>
          <p:nvPr/>
        </p:nvSpPr>
        <p:spPr>
          <a:xfrm>
            <a:off x="1051560" y="2487168"/>
            <a:ext cx="548640" cy="43088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2200" b="1">
                <a:solidFill>
                  <a:srgbClr val="208090"/>
                </a:solidFill>
                <a:latin typeface="Arial" panose="020B0604020202020204" pitchFamily="34" charset="0"/>
              </a:rPr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85910DD-4273-74B9-1DCE-DCA97C2A8E1D}"/>
              </a:ext>
            </a:extLst>
          </p:cNvPr>
          <p:cNvSpPr txBox="1"/>
          <p:nvPr/>
        </p:nvSpPr>
        <p:spPr>
          <a:xfrm>
            <a:off x="1828800" y="2423160"/>
            <a:ext cx="3657600" cy="32316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500" b="1">
                <a:solidFill>
                  <a:srgbClr val="1A2A3D"/>
                </a:solidFill>
                <a:latin typeface="Arial" panose="020B0604020202020204" pitchFamily="34" charset="0"/>
              </a:rPr>
              <a:t>Batch &amp; Single Prediction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52A38ED-42BC-FC6A-6A5D-52E478E50084}"/>
              </a:ext>
            </a:extLst>
          </p:cNvPr>
          <p:cNvSpPr txBox="1"/>
          <p:nvPr/>
        </p:nvSpPr>
        <p:spPr>
          <a:xfrm>
            <a:off x="1828800" y="2788920"/>
            <a:ext cx="9144000" cy="292388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4B4B4B"/>
                </a:solidFill>
                <a:latin typeface="Arial" panose="020B0604020202020204" pitchFamily="34" charset="0"/>
              </a:rPr>
              <a:t>/predict/single for real-time  |  /predict/batch with CSV upload for end-of-day runs.</a:t>
            </a:r>
            <a:endParaRPr lang="en-PH" sz="1300">
              <a:solidFill>
                <a:srgbClr val="4B4B4B"/>
              </a:solidFill>
              <a:latin typeface="Arial" panose="020B0604020202020204" pitchFamily="34" charset="0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0F7C9101-159E-E579-9284-980ACE0E20FF}"/>
              </a:ext>
            </a:extLst>
          </p:cNvPr>
          <p:cNvSpPr/>
          <p:nvPr/>
        </p:nvSpPr>
        <p:spPr>
          <a:xfrm>
            <a:off x="731520" y="3374136"/>
            <a:ext cx="10698479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B1B0F45-3731-4CFB-BE2D-887CCC662620}"/>
              </a:ext>
            </a:extLst>
          </p:cNvPr>
          <p:cNvSpPr/>
          <p:nvPr/>
        </p:nvSpPr>
        <p:spPr>
          <a:xfrm>
            <a:off x="731520" y="3374136"/>
            <a:ext cx="73152" cy="868680"/>
          </a:xfrm>
          <a:prstGeom prst="rect">
            <a:avLst/>
          </a:prstGeom>
          <a:solidFill>
            <a:srgbClr val="E8B839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B80733D-6441-C028-34B1-5611DD155212}"/>
              </a:ext>
            </a:extLst>
          </p:cNvPr>
          <p:cNvSpPr txBox="1"/>
          <p:nvPr/>
        </p:nvSpPr>
        <p:spPr>
          <a:xfrm>
            <a:off x="1051560" y="3511296"/>
            <a:ext cx="548640" cy="43088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2200" b="1">
                <a:solidFill>
                  <a:srgbClr val="E8B839"/>
                </a:solidFill>
                <a:latin typeface="Arial" panose="020B0604020202020204" pitchFamily="34" charset="0"/>
              </a:rPr>
              <a:t>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43078C1-1DBA-D153-3FBE-C9BF773B8D29}"/>
              </a:ext>
            </a:extLst>
          </p:cNvPr>
          <p:cNvSpPr txBox="1"/>
          <p:nvPr/>
        </p:nvSpPr>
        <p:spPr>
          <a:xfrm>
            <a:off x="1828800" y="3447288"/>
            <a:ext cx="3657600" cy="32316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500" b="1">
                <a:solidFill>
                  <a:srgbClr val="1A2A3D"/>
                </a:solidFill>
                <a:latin typeface="Arial" panose="020B0604020202020204" pitchFamily="34" charset="0"/>
              </a:rPr>
              <a:t>Explainability Layer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0E77F59-8887-FB22-7DFA-A4F6F7D5D04E}"/>
              </a:ext>
            </a:extLst>
          </p:cNvPr>
          <p:cNvSpPr txBox="1"/>
          <p:nvPr/>
        </p:nvSpPr>
        <p:spPr>
          <a:xfrm>
            <a:off x="1828800" y="3813048"/>
            <a:ext cx="9144000" cy="292388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4B4B4B"/>
                </a:solidFill>
                <a:latin typeface="Arial" panose="020B0604020202020204" pitchFamily="34" charset="0"/>
              </a:rPr>
              <a:t>SHAP TreeExplainer for population-level drivers. Per-client attrition probability + top features.</a:t>
            </a:r>
            <a:endParaRPr lang="en-PH" sz="1300">
              <a:solidFill>
                <a:srgbClr val="4B4B4B"/>
              </a:solidFill>
              <a:latin typeface="Arial" panose="020B0604020202020204" pitchFamily="34" charset="0"/>
            </a:endParaRP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953313CA-5C62-2855-AE3D-6EF623C503CF}"/>
              </a:ext>
            </a:extLst>
          </p:cNvPr>
          <p:cNvSpPr/>
          <p:nvPr/>
        </p:nvSpPr>
        <p:spPr>
          <a:xfrm>
            <a:off x="731520" y="4398264"/>
            <a:ext cx="10698479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F762BCD-41BF-867A-9B05-85C13CF45C40}"/>
              </a:ext>
            </a:extLst>
          </p:cNvPr>
          <p:cNvSpPr/>
          <p:nvPr/>
        </p:nvSpPr>
        <p:spPr>
          <a:xfrm>
            <a:off x="731520" y="4398264"/>
            <a:ext cx="73152" cy="868680"/>
          </a:xfrm>
          <a:prstGeom prst="rect">
            <a:avLst/>
          </a:prstGeom>
          <a:solidFill>
            <a:srgbClr val="16276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D82F2F7-7D9B-7B02-B8B4-06292A95A22D}"/>
              </a:ext>
            </a:extLst>
          </p:cNvPr>
          <p:cNvSpPr txBox="1"/>
          <p:nvPr/>
        </p:nvSpPr>
        <p:spPr>
          <a:xfrm>
            <a:off x="1051560" y="4535424"/>
            <a:ext cx="548640" cy="43088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2200" b="1">
                <a:solidFill>
                  <a:srgbClr val="162761"/>
                </a:solidFill>
                <a:latin typeface="Arial" panose="020B0604020202020204" pitchFamily="34" charset="0"/>
              </a:rPr>
              <a:t>4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16A7B54-3E8B-66AC-47F8-7362BD2BA287}"/>
              </a:ext>
            </a:extLst>
          </p:cNvPr>
          <p:cNvSpPr txBox="1"/>
          <p:nvPr/>
        </p:nvSpPr>
        <p:spPr>
          <a:xfrm>
            <a:off x="1828800" y="4471416"/>
            <a:ext cx="3657600" cy="32316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500" b="1">
                <a:solidFill>
                  <a:srgbClr val="1A2A3D"/>
                </a:solidFill>
                <a:latin typeface="Arial" panose="020B0604020202020204" pitchFamily="34" charset="0"/>
              </a:rPr>
              <a:t>App Lifecycle &amp; State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7891CFC-B1C0-8B58-DD6C-6A3124D944D6}"/>
              </a:ext>
            </a:extLst>
          </p:cNvPr>
          <p:cNvSpPr txBox="1"/>
          <p:nvPr/>
        </p:nvSpPr>
        <p:spPr>
          <a:xfrm>
            <a:off x="1828800" y="4837176"/>
            <a:ext cx="9144000" cy="292388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300">
                <a:solidFill>
                  <a:srgbClr val="4B4B4B"/>
                </a:solidFill>
                <a:latin typeface="Arial" panose="020B0604020202020204" pitchFamily="34" charset="0"/>
              </a:rPr>
              <a:t>Model loaded once at startup via @asynccontextmanager. No disk I/O per request.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6CEF1406-7023-ECCD-37B6-56465F164410}"/>
              </a:ext>
            </a:extLst>
          </p:cNvPr>
          <p:cNvSpPr/>
          <p:nvPr/>
        </p:nvSpPr>
        <p:spPr>
          <a:xfrm>
            <a:off x="731520" y="5422392"/>
            <a:ext cx="10698479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9403ADC5-077B-5A4F-63AB-91B270E13F06}"/>
              </a:ext>
            </a:extLst>
          </p:cNvPr>
          <p:cNvSpPr/>
          <p:nvPr/>
        </p:nvSpPr>
        <p:spPr>
          <a:xfrm>
            <a:off x="731520" y="5422392"/>
            <a:ext cx="73152" cy="868680"/>
          </a:xfrm>
          <a:prstGeom prst="rect">
            <a:avLst/>
          </a:prstGeom>
          <a:solidFill>
            <a:srgbClr val="E8474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C98B2EB-D563-2C4D-5BDB-A47EE6C29F19}"/>
              </a:ext>
            </a:extLst>
          </p:cNvPr>
          <p:cNvSpPr txBox="1"/>
          <p:nvPr/>
        </p:nvSpPr>
        <p:spPr>
          <a:xfrm>
            <a:off x="1051560" y="5559552"/>
            <a:ext cx="548640" cy="43088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2200" b="1">
                <a:solidFill>
                  <a:srgbClr val="E84747"/>
                </a:solidFill>
                <a:latin typeface="Arial" panose="020B0604020202020204" pitchFamily="34" charset="0"/>
              </a:rPr>
              <a:t>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7D938E6-9721-842F-C1B0-13D6BC64721B}"/>
              </a:ext>
            </a:extLst>
          </p:cNvPr>
          <p:cNvSpPr txBox="1"/>
          <p:nvPr/>
        </p:nvSpPr>
        <p:spPr>
          <a:xfrm>
            <a:off x="1828800" y="5495544"/>
            <a:ext cx="3657600" cy="32316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500" b="1">
                <a:solidFill>
                  <a:srgbClr val="1A2A3D"/>
                </a:solidFill>
                <a:latin typeface="Arial" panose="020B0604020202020204" pitchFamily="34" charset="0"/>
              </a:rPr>
              <a:t>Containerized Deployment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824E774-9559-3229-76FB-C6FBC4D4FCC6}"/>
              </a:ext>
            </a:extLst>
          </p:cNvPr>
          <p:cNvSpPr txBox="1"/>
          <p:nvPr/>
        </p:nvSpPr>
        <p:spPr>
          <a:xfrm>
            <a:off x="1828800" y="5861304"/>
            <a:ext cx="9144000" cy="292388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4B4B4B"/>
                </a:solidFill>
                <a:latin typeface="Arial" panose="020B0604020202020204" pitchFamily="34" charset="0"/>
              </a:rPr>
              <a:t>Docker (python:3.10-slim) + uvicorn. Identical: local, staging, production.</a:t>
            </a:r>
            <a:endParaRPr lang="en-PH" sz="1300">
              <a:solidFill>
                <a:srgbClr val="4B4B4B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620581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C095894-3AFC-92CA-1161-5734BB3CA727}"/>
              </a:ext>
            </a:extLst>
          </p:cNvPr>
          <p:cNvSpPr txBox="1"/>
          <p:nvPr/>
        </p:nvSpPr>
        <p:spPr>
          <a:xfrm>
            <a:off x="731520" y="1371600"/>
            <a:ext cx="4572000" cy="156966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9600" b="1">
                <a:solidFill>
                  <a:srgbClr val="F08248"/>
                </a:solidFill>
                <a:latin typeface="Arial" panose="020B0604020202020204" pitchFamily="34" charset="0"/>
              </a:rPr>
              <a:t>03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4C1A402-5F4D-83EF-0464-0ACE75B5884C}"/>
              </a:ext>
            </a:extLst>
          </p:cNvPr>
          <p:cNvSpPr/>
          <p:nvPr/>
        </p:nvSpPr>
        <p:spPr>
          <a:xfrm>
            <a:off x="731520" y="2743200"/>
            <a:ext cx="2743200" cy="36576"/>
          </a:xfrm>
          <a:prstGeom prst="rect">
            <a:avLst/>
          </a:prstGeom>
          <a:solidFill>
            <a:srgbClr val="F0824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58298EA-9BD4-431C-BE56-2AA92A97F462}"/>
              </a:ext>
            </a:extLst>
          </p:cNvPr>
          <p:cNvSpPr txBox="1"/>
          <p:nvPr/>
        </p:nvSpPr>
        <p:spPr>
          <a:xfrm>
            <a:off x="731520" y="3017520"/>
            <a:ext cx="9144000" cy="646331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3600" b="1">
                <a:solidFill>
                  <a:srgbClr val="FFFFFF"/>
                </a:solidFill>
                <a:latin typeface="Arial" panose="020B0604020202020204" pitchFamily="34" charset="0"/>
              </a:rPr>
              <a:t>Model-Based Signal Validation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B44C2C2-58AE-8718-5CCC-DAE3D2B4DC71}"/>
              </a:ext>
            </a:extLst>
          </p:cNvPr>
          <p:cNvSpPr txBox="1"/>
          <p:nvPr/>
        </p:nvSpPr>
        <p:spPr>
          <a:xfrm>
            <a:off x="731520" y="2971353"/>
            <a:ext cx="73152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dirty="0">
                <a:latin typeface="Arial" panose="020B0604020202020204" pitchFamily="34" charset="0"/>
              </a:rPr>
              <a:t>Nonlinear models as confirmation of earlier EDA findings.</a:t>
            </a:r>
            <a:endParaRPr lang="en-PH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508027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C268643-9074-C7B9-6923-91FBF070DE4F}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824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4D5DAF3-6117-76CF-530C-8042813E0F60}"/>
              </a:ext>
            </a:extLst>
          </p:cNvPr>
          <p:cNvSpPr txBox="1"/>
          <p:nvPr/>
        </p:nvSpPr>
        <p:spPr>
          <a:xfrm>
            <a:off x="731520" y="665500"/>
            <a:ext cx="10058400" cy="52322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2800" b="1" dirty="0">
                <a:solidFill>
                  <a:srgbClr val="1A2A3D"/>
                </a:solidFill>
                <a:latin typeface="Arial" panose="020B0604020202020204" pitchFamily="34" charset="0"/>
              </a:rPr>
              <a:t>3.1  Setup &amp; Data Configuration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7510AE62-BD50-A53B-B8BB-5F8D513E08F2}"/>
              </a:ext>
            </a:extLst>
          </p:cNvPr>
          <p:cNvSpPr/>
          <p:nvPr/>
        </p:nvSpPr>
        <p:spPr>
          <a:xfrm>
            <a:off x="731520" y="1554480"/>
            <a:ext cx="5303520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C51A3C5-18CC-05BC-473F-2A0BBE1DBFB6}"/>
              </a:ext>
            </a:extLst>
          </p:cNvPr>
          <p:cNvSpPr/>
          <p:nvPr/>
        </p:nvSpPr>
        <p:spPr>
          <a:xfrm>
            <a:off x="731520" y="1554480"/>
            <a:ext cx="54864" cy="4114800"/>
          </a:xfrm>
          <a:prstGeom prst="rect">
            <a:avLst/>
          </a:prstGeom>
          <a:solidFill>
            <a:srgbClr val="F0824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40327DA-0FA5-D5C6-5404-A70D7B861137}"/>
              </a:ext>
            </a:extLst>
          </p:cNvPr>
          <p:cNvSpPr txBox="1"/>
          <p:nvPr/>
        </p:nvSpPr>
        <p:spPr>
          <a:xfrm>
            <a:off x="1097280" y="1737360"/>
            <a:ext cx="4572000" cy="32316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500" b="1">
                <a:solidFill>
                  <a:srgbClr val="F08248"/>
                </a:solidFill>
                <a:latin typeface="Arial" panose="020B0604020202020204" pitchFamily="34" charset="0"/>
              </a:rPr>
              <a:t>DATASET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437C690-D1E8-8174-AFD7-9615B9E9134B}"/>
              </a:ext>
            </a:extLst>
          </p:cNvPr>
          <p:cNvSpPr txBox="1"/>
          <p:nvPr/>
        </p:nvSpPr>
        <p:spPr>
          <a:xfrm>
            <a:off x="1097280" y="2194560"/>
            <a:ext cx="4572000" cy="224676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 dirty="0">
                <a:solidFill>
                  <a:srgbClr val="4B4B4B"/>
                </a:solidFill>
                <a:latin typeface="Arial" panose="020B0604020202020204" pitchFamily="34" charset="0"/>
              </a:rPr>
              <a:t>Full 63-column dataset (incl. Feature_0 to Feature_49)</a:t>
            </a:r>
          </a:p>
          <a:p>
            <a:endParaRPr lang="en-US" sz="1400" dirty="0">
              <a:solidFill>
                <a:srgbClr val="4B4B4B"/>
              </a:solidFill>
              <a:latin typeface="Arial" panose="020B0604020202020204" pitchFamily="34" charset="0"/>
            </a:endParaRPr>
          </a:p>
          <a:p>
            <a:r>
              <a:rPr lang="en-US" sz="1400" dirty="0">
                <a:solidFill>
                  <a:srgbClr val="4B4B4B"/>
                </a:solidFill>
                <a:latin typeface="Arial" panose="020B0604020202020204" pitchFamily="34" charset="0"/>
              </a:rPr>
              <a:t>101K raw &gt; 100K post-</a:t>
            </a:r>
            <a:r>
              <a:rPr lang="en-US" sz="1400" dirty="0" err="1">
                <a:solidFill>
                  <a:srgbClr val="4B4B4B"/>
                </a:solidFill>
                <a:latin typeface="Arial" panose="020B0604020202020204" pitchFamily="34" charset="0"/>
              </a:rPr>
              <a:t>dedup</a:t>
            </a:r>
            <a:endParaRPr lang="en-US" sz="1400" dirty="0">
              <a:solidFill>
                <a:srgbClr val="4B4B4B"/>
              </a:solidFill>
              <a:latin typeface="Arial" panose="020B0604020202020204" pitchFamily="34" charset="0"/>
            </a:endParaRPr>
          </a:p>
          <a:p>
            <a:endParaRPr lang="en-US" sz="1400" dirty="0">
              <a:solidFill>
                <a:srgbClr val="4B4B4B"/>
              </a:solidFill>
              <a:latin typeface="Arial" panose="020B0604020202020204" pitchFamily="34" charset="0"/>
            </a:endParaRPr>
          </a:p>
          <a:p>
            <a:r>
              <a:rPr lang="en-US" sz="1400" dirty="0">
                <a:solidFill>
                  <a:srgbClr val="4B4B4B"/>
                </a:solidFill>
                <a:latin typeface="Arial" panose="020B0604020202020204" pitchFamily="34" charset="0"/>
              </a:rPr>
              <a:t>Churn rate: 4.96% (4,960 </a:t>
            </a:r>
            <a:r>
              <a:rPr lang="en-US" sz="1400" dirty="0" err="1">
                <a:solidFill>
                  <a:srgbClr val="4B4B4B"/>
                </a:solidFill>
                <a:latin typeface="Arial" panose="020B0604020202020204" pitchFamily="34" charset="0"/>
              </a:rPr>
              <a:t>attrited</a:t>
            </a:r>
            <a:r>
              <a:rPr lang="en-US" sz="1400" dirty="0">
                <a:solidFill>
                  <a:srgbClr val="4B4B4B"/>
                </a:solidFill>
                <a:latin typeface="Arial" panose="020B0604020202020204" pitchFamily="34" charset="0"/>
              </a:rPr>
              <a:t>)</a:t>
            </a:r>
          </a:p>
          <a:p>
            <a:endParaRPr lang="en-US" sz="1400" dirty="0">
              <a:solidFill>
                <a:srgbClr val="4B4B4B"/>
              </a:solidFill>
              <a:latin typeface="Arial" panose="020B0604020202020204" pitchFamily="34" charset="0"/>
            </a:endParaRPr>
          </a:p>
          <a:p>
            <a:r>
              <a:rPr lang="en-US" sz="1400" dirty="0">
                <a:solidFill>
                  <a:srgbClr val="4B4B4B"/>
                </a:solidFill>
                <a:latin typeface="Arial" panose="020B0604020202020204" pitchFamily="34" charset="0"/>
              </a:rPr>
              <a:t>Stratified 70/30 train-test split</a:t>
            </a:r>
          </a:p>
          <a:p>
            <a:endParaRPr lang="en-US" sz="1400" dirty="0">
              <a:solidFill>
                <a:srgbClr val="4B4B4B"/>
              </a:solidFill>
              <a:latin typeface="Arial" panose="020B0604020202020204" pitchFamily="34" charset="0"/>
            </a:endParaRPr>
          </a:p>
          <a:p>
            <a:r>
              <a:rPr lang="en-US" sz="1400" dirty="0">
                <a:solidFill>
                  <a:srgbClr val="4B4B4B"/>
                </a:solidFill>
                <a:latin typeface="Arial" panose="020B0604020202020204" pitchFamily="34" charset="0"/>
              </a:rPr>
              <a:t>Decision Tree: </a:t>
            </a:r>
            <a:r>
              <a:rPr lang="en-US" sz="1400" dirty="0" err="1">
                <a:solidFill>
                  <a:srgbClr val="4B4B4B"/>
                </a:solidFill>
                <a:latin typeface="Arial" panose="020B0604020202020204" pitchFamily="34" charset="0"/>
              </a:rPr>
              <a:t>class_weight</a:t>
            </a:r>
            <a:r>
              <a:rPr lang="en-US" sz="1400" dirty="0">
                <a:solidFill>
                  <a:srgbClr val="4B4B4B"/>
                </a:solidFill>
                <a:latin typeface="Arial" panose="020B0604020202020204" pitchFamily="34" charset="0"/>
              </a:rPr>
              <a:t>='balanced'</a:t>
            </a:r>
          </a:p>
          <a:p>
            <a:r>
              <a:rPr lang="en-US" sz="1400" dirty="0" err="1">
                <a:solidFill>
                  <a:srgbClr val="4B4B4B"/>
                </a:solidFill>
                <a:latin typeface="Arial" panose="020B0604020202020204" pitchFamily="34" charset="0"/>
              </a:rPr>
              <a:t>XGBoost</a:t>
            </a:r>
            <a:r>
              <a:rPr lang="en-US" sz="1400" dirty="0">
                <a:solidFill>
                  <a:srgbClr val="4B4B4B"/>
                </a:solidFill>
                <a:latin typeface="Arial" panose="020B0604020202020204" pitchFamily="34" charset="0"/>
              </a:rPr>
              <a:t>: </a:t>
            </a:r>
            <a:r>
              <a:rPr lang="en-US" sz="1400" dirty="0" err="1">
                <a:solidFill>
                  <a:srgbClr val="4B4B4B"/>
                </a:solidFill>
                <a:latin typeface="Arial" panose="020B0604020202020204" pitchFamily="34" charset="0"/>
              </a:rPr>
              <a:t>scale_pos_weight</a:t>
            </a:r>
            <a:r>
              <a:rPr lang="en-US" sz="1400" dirty="0">
                <a:solidFill>
                  <a:srgbClr val="4B4B4B"/>
                </a:solidFill>
                <a:latin typeface="Arial" panose="020B0604020202020204" pitchFamily="34" charset="0"/>
              </a:rPr>
              <a:t> = 19.14</a:t>
            </a:r>
            <a:endParaRPr lang="en-PH" sz="1400" dirty="0">
              <a:solidFill>
                <a:srgbClr val="4B4B4B"/>
              </a:solidFill>
              <a:latin typeface="Arial" panose="020B0604020202020204" pitchFamily="34" charset="0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07313B14-30B7-D315-7B6E-58A33D28EA61}"/>
              </a:ext>
            </a:extLst>
          </p:cNvPr>
          <p:cNvSpPr/>
          <p:nvPr/>
        </p:nvSpPr>
        <p:spPr>
          <a:xfrm>
            <a:off x="6400800" y="1554480"/>
            <a:ext cx="5029200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5E7FF16-7330-A970-4054-2504CAAAE282}"/>
              </a:ext>
            </a:extLst>
          </p:cNvPr>
          <p:cNvSpPr/>
          <p:nvPr/>
        </p:nvSpPr>
        <p:spPr>
          <a:xfrm>
            <a:off x="6400800" y="1554480"/>
            <a:ext cx="54864" cy="4114800"/>
          </a:xfrm>
          <a:prstGeom prst="rect">
            <a:avLst/>
          </a:prstGeom>
          <a:solidFill>
            <a:srgbClr val="20809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AD9EEAE-53D4-AABF-042C-96244DC3C367}"/>
              </a:ext>
            </a:extLst>
          </p:cNvPr>
          <p:cNvSpPr txBox="1"/>
          <p:nvPr/>
        </p:nvSpPr>
        <p:spPr>
          <a:xfrm>
            <a:off x="6766560" y="1737360"/>
            <a:ext cx="4389120" cy="32316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500" b="1">
                <a:solidFill>
                  <a:srgbClr val="208090"/>
                </a:solidFill>
                <a:latin typeface="Arial" panose="020B0604020202020204" pitchFamily="34" charset="0"/>
              </a:rPr>
              <a:t>FEATURE ENGINEERING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B2F7483-57D3-72D6-687D-296FB314CD5B}"/>
              </a:ext>
            </a:extLst>
          </p:cNvPr>
          <p:cNvSpPr txBox="1"/>
          <p:nvPr/>
        </p:nvSpPr>
        <p:spPr>
          <a:xfrm>
            <a:off x="6766560" y="2194560"/>
            <a:ext cx="4389120" cy="224676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400">
                <a:solidFill>
                  <a:srgbClr val="4B4B4B"/>
                </a:solidFill>
                <a:latin typeface="Arial" panose="020B0604020202020204" pitchFamily="34" charset="0"/>
              </a:rPr>
              <a:t>SpendToLimit = TotalSpend / CreditLimit</a:t>
            </a:r>
          </a:p>
          <a:p>
            <a:endParaRPr lang="en-PH" sz="1400">
              <a:solidFill>
                <a:srgbClr val="4B4B4B"/>
              </a:solidFill>
              <a:latin typeface="Arial" panose="020B0604020202020204" pitchFamily="34" charset="0"/>
            </a:endParaRPr>
          </a:p>
          <a:p>
            <a:r>
              <a:rPr lang="en-PH" sz="1400">
                <a:solidFill>
                  <a:srgbClr val="4B4B4B"/>
                </a:solidFill>
                <a:latin typeface="Arial" panose="020B0604020202020204" pitchFamily="34" charset="0"/>
              </a:rPr>
              <a:t>TxPerTenure = TotalTransactions / Tenure</a:t>
            </a:r>
          </a:p>
          <a:p>
            <a:endParaRPr lang="en-PH" sz="1400">
              <a:solidFill>
                <a:srgbClr val="4B4B4B"/>
              </a:solidFill>
              <a:latin typeface="Arial" panose="020B0604020202020204" pitchFamily="34" charset="0"/>
            </a:endParaRPr>
          </a:p>
          <a:p>
            <a:r>
              <a:rPr lang="en-PH" sz="1400">
                <a:solidFill>
                  <a:srgbClr val="4B4B4B"/>
                </a:solidFill>
                <a:latin typeface="Arial" panose="020B0604020202020204" pitchFamily="34" charset="0"/>
              </a:rPr>
              <a:t>SpendPerTx = TotalSpend / TotalTransactions</a:t>
            </a:r>
          </a:p>
          <a:p>
            <a:endParaRPr lang="en-PH" sz="1400">
              <a:solidFill>
                <a:srgbClr val="4B4B4B"/>
              </a:solidFill>
              <a:latin typeface="Arial" panose="020B0604020202020204" pitchFamily="34" charset="0"/>
            </a:endParaRPr>
          </a:p>
          <a:p>
            <a:r>
              <a:rPr lang="en-PH" sz="1400">
                <a:solidFill>
                  <a:srgbClr val="4B4B4B"/>
                </a:solidFill>
                <a:latin typeface="Arial" panose="020B0604020202020204" pitchFamily="34" charset="0"/>
              </a:rPr>
              <a:t>log1p transforms: Income, CreditLimit, TotalSpend, TotalTransactions</a:t>
            </a:r>
          </a:p>
          <a:p>
            <a:endParaRPr lang="en-PH" sz="1400">
              <a:solidFill>
                <a:srgbClr val="4B4B4B"/>
              </a:solidFill>
              <a:latin typeface="Arial" panose="020B0604020202020204" pitchFamily="34" charset="0"/>
            </a:endParaRPr>
          </a:p>
          <a:p>
            <a:r>
              <a:rPr lang="en-PH" sz="1400">
                <a:solidFill>
                  <a:srgbClr val="4B4B4B"/>
                </a:solidFill>
                <a:latin typeface="Arial" panose="020B0604020202020204" pitchFamily="34" charset="0"/>
              </a:rPr>
              <a:t>Interaction terms: Age×Tenure, Income×CreditLimit</a:t>
            </a:r>
          </a:p>
        </p:txBody>
      </p:sp>
    </p:spTree>
    <p:extLst>
      <p:ext uri="{BB962C8B-B14F-4D97-AF65-F5344CB8AC3E}">
        <p14:creationId xmlns:p14="http://schemas.microsoft.com/office/powerpoint/2010/main" val="131210182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FAF3DCA-468F-E99C-99D5-B14397DEC98C}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824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A4F3F90-4D50-A4E0-0996-E7D591E80682}"/>
              </a:ext>
            </a:extLst>
          </p:cNvPr>
          <p:cNvSpPr txBox="1"/>
          <p:nvPr/>
        </p:nvSpPr>
        <p:spPr>
          <a:xfrm>
            <a:off x="731520" y="769650"/>
            <a:ext cx="10058400" cy="52322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2800" b="1" dirty="0">
                <a:solidFill>
                  <a:srgbClr val="1A2A3D"/>
                </a:solidFill>
                <a:latin typeface="Arial" panose="020B0604020202020204" pitchFamily="34" charset="0"/>
              </a:rPr>
              <a:t>3.2  Shallow Decision Tree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4C8AE187-BC7C-DD08-A752-715B0778C7CD}"/>
              </a:ext>
            </a:extLst>
          </p:cNvPr>
          <p:cNvSpPr/>
          <p:nvPr/>
        </p:nvSpPr>
        <p:spPr>
          <a:xfrm>
            <a:off x="731520" y="1554480"/>
            <a:ext cx="3474720" cy="1645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895D9E5-90AB-5165-B12F-C8034F92254E}"/>
              </a:ext>
            </a:extLst>
          </p:cNvPr>
          <p:cNvSpPr txBox="1"/>
          <p:nvPr/>
        </p:nvSpPr>
        <p:spPr>
          <a:xfrm>
            <a:off x="1005840" y="1691640"/>
            <a:ext cx="2926080" cy="32316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1500" b="1">
                <a:solidFill>
                  <a:srgbClr val="1A2A3D"/>
                </a:solidFill>
                <a:latin typeface="Arial" panose="020B0604020202020204" pitchFamily="34" charset="0"/>
              </a:rPr>
              <a:t>Depth 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A424E11-AA40-7DD8-7F41-2142FBEBEC67}"/>
              </a:ext>
            </a:extLst>
          </p:cNvPr>
          <p:cNvSpPr txBox="1"/>
          <p:nvPr/>
        </p:nvSpPr>
        <p:spPr>
          <a:xfrm>
            <a:off x="1005840" y="2057400"/>
            <a:ext cx="2926080" cy="52322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2800" b="1">
                <a:solidFill>
                  <a:srgbClr val="E84747"/>
                </a:solidFill>
                <a:latin typeface="Arial" panose="020B0604020202020204" pitchFamily="34" charset="0"/>
              </a:rPr>
              <a:t>AUC 0.489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2AD415E-D4E6-8CC5-AE70-9654B94839B0}"/>
              </a:ext>
            </a:extLst>
          </p:cNvPr>
          <p:cNvSpPr txBox="1"/>
          <p:nvPr/>
        </p:nvSpPr>
        <p:spPr>
          <a:xfrm>
            <a:off x="1005840" y="2651760"/>
            <a:ext cx="2926080" cy="292388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1300">
                <a:solidFill>
                  <a:srgbClr val="9E9E9E"/>
                </a:solidFill>
                <a:latin typeface="Arial" panose="020B0604020202020204" pitchFamily="34" charset="0"/>
              </a:rPr>
              <a:t>Below random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D38B482F-693D-9DF5-BF55-D2FDAF1C5E6A}"/>
              </a:ext>
            </a:extLst>
          </p:cNvPr>
          <p:cNvSpPr/>
          <p:nvPr/>
        </p:nvSpPr>
        <p:spPr>
          <a:xfrm>
            <a:off x="4434840" y="1554480"/>
            <a:ext cx="3474720" cy="1645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EA3E44F-C7A5-7A91-319F-722A3FD17776}"/>
              </a:ext>
            </a:extLst>
          </p:cNvPr>
          <p:cNvSpPr txBox="1"/>
          <p:nvPr/>
        </p:nvSpPr>
        <p:spPr>
          <a:xfrm>
            <a:off x="4709160" y="1691640"/>
            <a:ext cx="2926080" cy="32316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1500" b="1">
                <a:solidFill>
                  <a:srgbClr val="1A2A3D"/>
                </a:solidFill>
                <a:latin typeface="Arial" panose="020B0604020202020204" pitchFamily="34" charset="0"/>
              </a:rPr>
              <a:t>Depth 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0FFF9D5-8584-2D24-51BE-5A2820C80992}"/>
              </a:ext>
            </a:extLst>
          </p:cNvPr>
          <p:cNvSpPr txBox="1"/>
          <p:nvPr/>
        </p:nvSpPr>
        <p:spPr>
          <a:xfrm>
            <a:off x="4709160" y="2057400"/>
            <a:ext cx="2926080" cy="52322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2800" b="1">
                <a:solidFill>
                  <a:srgbClr val="E84747"/>
                </a:solidFill>
                <a:latin typeface="Arial" panose="020B0604020202020204" pitchFamily="34" charset="0"/>
              </a:rPr>
              <a:t>AUC 0.496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C22F1B4-EDBD-3CF9-CFF8-405D0B66EBF6}"/>
              </a:ext>
            </a:extLst>
          </p:cNvPr>
          <p:cNvSpPr txBox="1"/>
          <p:nvPr/>
        </p:nvSpPr>
        <p:spPr>
          <a:xfrm>
            <a:off x="4709160" y="2651760"/>
            <a:ext cx="2926080" cy="292388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1300">
                <a:solidFill>
                  <a:srgbClr val="9E9E9E"/>
                </a:solidFill>
                <a:latin typeface="Arial" panose="020B0604020202020204" pitchFamily="34" charset="0"/>
              </a:rPr>
              <a:t>Effectively random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80226653-392D-E7D5-0BB5-CE43E8C80E88}"/>
              </a:ext>
            </a:extLst>
          </p:cNvPr>
          <p:cNvSpPr/>
          <p:nvPr/>
        </p:nvSpPr>
        <p:spPr>
          <a:xfrm>
            <a:off x="8138160" y="1554480"/>
            <a:ext cx="3474720" cy="1645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246648F-DF92-3CCC-9649-5D0972AF4AE4}"/>
              </a:ext>
            </a:extLst>
          </p:cNvPr>
          <p:cNvSpPr txBox="1"/>
          <p:nvPr/>
        </p:nvSpPr>
        <p:spPr>
          <a:xfrm>
            <a:off x="8412480" y="1691640"/>
            <a:ext cx="2926080" cy="32316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1500" b="1">
                <a:solidFill>
                  <a:srgbClr val="1A2A3D"/>
                </a:solidFill>
                <a:latin typeface="Arial" panose="020B0604020202020204" pitchFamily="34" charset="0"/>
              </a:rPr>
              <a:t>Depth 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57AB85C-B809-457E-97D5-D7970353294A}"/>
              </a:ext>
            </a:extLst>
          </p:cNvPr>
          <p:cNvSpPr txBox="1"/>
          <p:nvPr/>
        </p:nvSpPr>
        <p:spPr>
          <a:xfrm>
            <a:off x="8412480" y="2057400"/>
            <a:ext cx="2926080" cy="52322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2800" b="1">
                <a:solidFill>
                  <a:srgbClr val="E8B839"/>
                </a:solidFill>
                <a:latin typeface="Arial" panose="020B0604020202020204" pitchFamily="34" charset="0"/>
              </a:rPr>
              <a:t>AUC 0.503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4775A74-E63E-C049-E752-3F6A3BED1652}"/>
              </a:ext>
            </a:extLst>
          </p:cNvPr>
          <p:cNvSpPr txBox="1"/>
          <p:nvPr/>
        </p:nvSpPr>
        <p:spPr>
          <a:xfrm>
            <a:off x="8412480" y="2651760"/>
            <a:ext cx="2926080" cy="292388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1300">
                <a:solidFill>
                  <a:srgbClr val="9E9E9E"/>
                </a:solidFill>
                <a:latin typeface="Arial" panose="020B0604020202020204" pitchFamily="34" charset="0"/>
              </a:rPr>
              <a:t>Best (barely)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3FCAF06-95F3-C90E-CE10-75134DD260F7}"/>
              </a:ext>
            </a:extLst>
          </p:cNvPr>
          <p:cNvSpPr txBox="1"/>
          <p:nvPr/>
        </p:nvSpPr>
        <p:spPr>
          <a:xfrm>
            <a:off x="731520" y="3474720"/>
            <a:ext cx="7315200" cy="32316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 b="1">
                <a:solidFill>
                  <a:srgbClr val="1A2A3D"/>
                </a:solidFill>
                <a:latin typeface="Arial" panose="020B0604020202020204" pitchFamily="34" charset="0"/>
              </a:rPr>
              <a:t>BEST TREE (DEPTH 4) — FEATURE IMPORTANCE</a:t>
            </a:r>
            <a:endParaRPr lang="en-PH" sz="1500" b="1">
              <a:solidFill>
                <a:srgbClr val="1A2A3D"/>
              </a:solidFill>
              <a:latin typeface="Arial" panose="020B0604020202020204" pitchFamily="34" charset="0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C5274FC6-71C9-C1FB-D023-736514C19E46}"/>
              </a:ext>
            </a:extLst>
          </p:cNvPr>
          <p:cNvSpPr/>
          <p:nvPr/>
        </p:nvSpPr>
        <p:spPr>
          <a:xfrm>
            <a:off x="731520" y="3931920"/>
            <a:ext cx="10698479" cy="457200"/>
          </a:xfrm>
          <a:prstGeom prst="roundRect">
            <a:avLst>
              <a:gd name="adj" fmla="val 6000"/>
            </a:avLst>
          </a:prstGeom>
          <a:solidFill>
            <a:srgbClr val="F0F5F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926FE63-A55C-7C71-96DF-139F4C426268}"/>
              </a:ext>
            </a:extLst>
          </p:cNvPr>
          <p:cNvSpPr/>
          <p:nvPr/>
        </p:nvSpPr>
        <p:spPr>
          <a:xfrm>
            <a:off x="731520" y="3931920"/>
            <a:ext cx="8814816" cy="457200"/>
          </a:xfrm>
          <a:prstGeom prst="rect">
            <a:avLst/>
          </a:prstGeom>
          <a:solidFill>
            <a:srgbClr val="F0824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65445C0-5424-5A28-7A70-F737420BD8B9}"/>
              </a:ext>
            </a:extLst>
          </p:cNvPr>
          <p:cNvSpPr txBox="1"/>
          <p:nvPr/>
        </p:nvSpPr>
        <p:spPr>
          <a:xfrm>
            <a:off x="1005840" y="3959352"/>
            <a:ext cx="4572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400" b="1">
                <a:solidFill>
                  <a:srgbClr val="FFFFFF"/>
                </a:solidFill>
                <a:latin typeface="Arial" panose="020B0604020202020204" pitchFamily="34" charset="0"/>
              </a:rPr>
              <a:t>log1p_Income  82.4%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DE10AE32-6A52-5D2A-94D7-0787EAD086C4}"/>
              </a:ext>
            </a:extLst>
          </p:cNvPr>
          <p:cNvSpPr/>
          <p:nvPr/>
        </p:nvSpPr>
        <p:spPr>
          <a:xfrm>
            <a:off x="731520" y="4526280"/>
            <a:ext cx="10698479" cy="457200"/>
          </a:xfrm>
          <a:prstGeom prst="roundRect">
            <a:avLst>
              <a:gd name="adj" fmla="val 6000"/>
            </a:avLst>
          </a:prstGeom>
          <a:solidFill>
            <a:srgbClr val="F0F5F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B24EF31-1D74-8F7C-1CBA-75662EE24D8D}"/>
              </a:ext>
            </a:extLst>
          </p:cNvPr>
          <p:cNvSpPr/>
          <p:nvPr/>
        </p:nvSpPr>
        <p:spPr>
          <a:xfrm>
            <a:off x="731520" y="4526280"/>
            <a:ext cx="1883664" cy="457200"/>
          </a:xfrm>
          <a:prstGeom prst="rect">
            <a:avLst/>
          </a:prstGeom>
          <a:solidFill>
            <a:srgbClr val="20809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3818759-DF82-A415-294A-4BE5322656C4}"/>
              </a:ext>
            </a:extLst>
          </p:cNvPr>
          <p:cNvSpPr txBox="1"/>
          <p:nvPr/>
        </p:nvSpPr>
        <p:spPr>
          <a:xfrm>
            <a:off x="1005840" y="4553712"/>
            <a:ext cx="4572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400" b="1">
                <a:solidFill>
                  <a:srgbClr val="FFFFFF"/>
                </a:solidFill>
                <a:latin typeface="Arial" panose="020B0604020202020204" pitchFamily="34" charset="0"/>
              </a:rPr>
              <a:t>log1p_TotalSpend  17.6%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B3637B65-57E0-3E12-D309-DE534285CD86}"/>
              </a:ext>
            </a:extLst>
          </p:cNvPr>
          <p:cNvSpPr/>
          <p:nvPr/>
        </p:nvSpPr>
        <p:spPr>
          <a:xfrm>
            <a:off x="731520" y="5120640"/>
            <a:ext cx="10698479" cy="457200"/>
          </a:xfrm>
          <a:prstGeom prst="roundRect">
            <a:avLst>
              <a:gd name="adj" fmla="val 6000"/>
            </a:avLst>
          </a:prstGeom>
          <a:solidFill>
            <a:srgbClr val="F0F5F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8C103AF-1B64-1E41-BE92-F54AC813AF96}"/>
              </a:ext>
            </a:extLst>
          </p:cNvPr>
          <p:cNvSpPr txBox="1"/>
          <p:nvPr/>
        </p:nvSpPr>
        <p:spPr>
          <a:xfrm>
            <a:off x="1005840" y="5148072"/>
            <a:ext cx="4572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400" b="1">
                <a:solidFill>
                  <a:srgbClr val="9E9E9E"/>
                </a:solidFill>
                <a:latin typeface="Arial" panose="020B0604020202020204" pitchFamily="34" charset="0"/>
              </a:rPr>
              <a:t>All other features  0.0%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F06FCEF5-F795-7822-6082-8F100AEFCFC0}"/>
              </a:ext>
            </a:extLst>
          </p:cNvPr>
          <p:cNvSpPr/>
          <p:nvPr/>
        </p:nvSpPr>
        <p:spPr>
          <a:xfrm>
            <a:off x="731520" y="5852160"/>
            <a:ext cx="10698479" cy="731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063874A-6B51-F516-1DDF-0195BBDDE414}"/>
              </a:ext>
            </a:extLst>
          </p:cNvPr>
          <p:cNvSpPr/>
          <p:nvPr/>
        </p:nvSpPr>
        <p:spPr>
          <a:xfrm>
            <a:off x="731520" y="5852160"/>
            <a:ext cx="54864" cy="731520"/>
          </a:xfrm>
          <a:prstGeom prst="rect">
            <a:avLst/>
          </a:prstGeom>
          <a:solidFill>
            <a:srgbClr val="E8474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A4388EB-0539-8DA7-2B69-5C10B0442015}"/>
              </a:ext>
            </a:extLst>
          </p:cNvPr>
          <p:cNvSpPr txBox="1"/>
          <p:nvPr/>
        </p:nvSpPr>
        <p:spPr>
          <a:xfrm>
            <a:off x="1097280" y="5943600"/>
            <a:ext cx="100584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>
                <a:solidFill>
                  <a:srgbClr val="4B4B4B"/>
                </a:solidFill>
                <a:latin typeface="Arial" panose="020B0604020202020204" pitchFamily="34" charset="0"/>
              </a:rPr>
              <a:t>Best leaf: 327 customers at 1.79x lift — too small for a bank-scale retention campaign.</a:t>
            </a:r>
            <a:endParaRPr lang="en-PH" sz="1400">
              <a:solidFill>
                <a:srgbClr val="4B4B4B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3539453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AC0ABC0-B700-4B85-7858-87D12CEC8778}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824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091143E-33EF-5B6C-B8B4-0F3EE964BE65}"/>
              </a:ext>
            </a:extLst>
          </p:cNvPr>
          <p:cNvSpPr txBox="1"/>
          <p:nvPr/>
        </p:nvSpPr>
        <p:spPr>
          <a:xfrm>
            <a:off x="731520" y="665500"/>
            <a:ext cx="10058400" cy="52322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800" b="1" dirty="0">
                <a:solidFill>
                  <a:srgbClr val="1A2A3D"/>
                </a:solidFill>
                <a:latin typeface="Arial" panose="020B0604020202020204" pitchFamily="34" charset="0"/>
              </a:rPr>
              <a:t>3.3  </a:t>
            </a:r>
            <a:r>
              <a:rPr lang="en-US" sz="2800" b="1" dirty="0" err="1">
                <a:solidFill>
                  <a:srgbClr val="1A2A3D"/>
                </a:solidFill>
                <a:latin typeface="Arial" panose="020B0604020202020204" pitchFamily="34" charset="0"/>
              </a:rPr>
              <a:t>XGBoost</a:t>
            </a:r>
            <a:r>
              <a:rPr lang="en-US" sz="2800" b="1" dirty="0">
                <a:solidFill>
                  <a:srgbClr val="1A2A3D"/>
                </a:solidFill>
                <a:latin typeface="Arial" panose="020B0604020202020204" pitchFamily="34" charset="0"/>
              </a:rPr>
              <a:t> — Full Feature Set</a:t>
            </a:r>
            <a:endParaRPr lang="en-PH" sz="2800" b="1" dirty="0">
              <a:solidFill>
                <a:srgbClr val="1A2A3D"/>
              </a:solidFill>
              <a:latin typeface="Arial" panose="020B0604020202020204" pitchFamily="34" charset="0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4712518B-59B1-4681-9E0B-BDB20F036E2B}"/>
              </a:ext>
            </a:extLst>
          </p:cNvPr>
          <p:cNvSpPr/>
          <p:nvPr/>
        </p:nvSpPr>
        <p:spPr>
          <a:xfrm>
            <a:off x="731520" y="1554480"/>
            <a:ext cx="3657600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42C056B-0A7A-E081-410A-4841D3929914}"/>
              </a:ext>
            </a:extLst>
          </p:cNvPr>
          <p:cNvSpPr txBox="1"/>
          <p:nvPr/>
        </p:nvSpPr>
        <p:spPr>
          <a:xfrm>
            <a:off x="914400" y="1691640"/>
            <a:ext cx="329184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1400">
                <a:solidFill>
                  <a:srgbClr val="9E9E9E"/>
                </a:solidFill>
                <a:latin typeface="Arial" panose="020B0604020202020204" pitchFamily="34" charset="0"/>
              </a:rPr>
              <a:t>TEST ROC-AUC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CDCDA4C-824C-E4E6-1AA1-110A6332FAF9}"/>
              </a:ext>
            </a:extLst>
          </p:cNvPr>
          <p:cNvSpPr txBox="1"/>
          <p:nvPr/>
        </p:nvSpPr>
        <p:spPr>
          <a:xfrm>
            <a:off x="914400" y="2011680"/>
            <a:ext cx="3291840" cy="95410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5600" b="1">
                <a:solidFill>
                  <a:srgbClr val="E84747"/>
                </a:solidFill>
                <a:latin typeface="Arial" panose="020B0604020202020204" pitchFamily="34" charset="0"/>
              </a:rPr>
              <a:t>0.499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52304AB-E8EC-90BC-71D7-D24B782B7739}"/>
              </a:ext>
            </a:extLst>
          </p:cNvPr>
          <p:cNvSpPr txBox="1"/>
          <p:nvPr/>
        </p:nvSpPr>
        <p:spPr>
          <a:xfrm>
            <a:off x="914400" y="3017520"/>
            <a:ext cx="329184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1400">
                <a:solidFill>
                  <a:srgbClr val="E84747"/>
                </a:solidFill>
                <a:latin typeface="Arial" panose="020B0604020202020204" pitchFamily="34" charset="0"/>
              </a:rPr>
              <a:t>Effectively a coin flip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BFB60E79-79CC-0FDB-E793-7C06E2F2E80E}"/>
              </a:ext>
            </a:extLst>
          </p:cNvPr>
          <p:cNvGraphicFramePr>
            <a:graphicFrameLocks noGrp="1"/>
          </p:cNvGraphicFramePr>
          <p:nvPr/>
        </p:nvGraphicFramePr>
        <p:xfrm>
          <a:off x="4754880" y="1554480"/>
          <a:ext cx="667512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68780">
                  <a:extLst>
                    <a:ext uri="{9D8B030D-6E8A-4147-A177-3AD203B41FA5}">
                      <a16:colId xmlns:a16="http://schemas.microsoft.com/office/drawing/2014/main" val="2802749881"/>
                    </a:ext>
                  </a:extLst>
                </a:gridCol>
                <a:gridCol w="1668780">
                  <a:extLst>
                    <a:ext uri="{9D8B030D-6E8A-4147-A177-3AD203B41FA5}">
                      <a16:colId xmlns:a16="http://schemas.microsoft.com/office/drawing/2014/main" val="2757935055"/>
                    </a:ext>
                  </a:extLst>
                </a:gridCol>
                <a:gridCol w="1668780">
                  <a:extLst>
                    <a:ext uri="{9D8B030D-6E8A-4147-A177-3AD203B41FA5}">
                      <a16:colId xmlns:a16="http://schemas.microsoft.com/office/drawing/2014/main" val="3565832998"/>
                    </a:ext>
                  </a:extLst>
                </a:gridCol>
                <a:gridCol w="1668780">
                  <a:extLst>
                    <a:ext uri="{9D8B030D-6E8A-4147-A177-3AD203B41FA5}">
                      <a16:colId xmlns:a16="http://schemas.microsoft.com/office/drawing/2014/main" val="2569176858"/>
                    </a:ext>
                  </a:extLst>
                </a:gridCol>
              </a:tblGrid>
              <a:tr h="493776">
                <a:tc>
                  <a:txBody>
                    <a:bodyPr/>
                    <a:lstStyle/>
                    <a:p>
                      <a:pPr algn="ctr"/>
                      <a:r>
                        <a:rPr lang="en-PH" sz="13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Decile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38100" cmpd="sng">
                      <a:solidFill>
                        <a:srgbClr val="D0D0D0"/>
                      </a:solidFill>
                    </a:lnB>
                    <a:solidFill>
                      <a:srgbClr val="1A2A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3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Attrition Rate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38100" cmpd="sng">
                      <a:solidFill>
                        <a:srgbClr val="D0D0D0"/>
                      </a:solidFill>
                    </a:lnB>
                    <a:solidFill>
                      <a:srgbClr val="1A2A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3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Avg Pred Prob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38100" cmpd="sng">
                      <a:solidFill>
                        <a:srgbClr val="D0D0D0"/>
                      </a:solidFill>
                    </a:lnB>
                    <a:solidFill>
                      <a:srgbClr val="1A2A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3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Lift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38100" cmpd="sng">
                      <a:solidFill>
                        <a:srgbClr val="D0D0D0"/>
                      </a:solidFill>
                    </a:lnB>
                    <a:solidFill>
                      <a:srgbClr val="1A2A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6079337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algn="ctr"/>
                      <a:r>
                        <a:rPr lang="en-PH" sz="13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9 (Top)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381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3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4.79%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381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3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0.549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381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3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0.96x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381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7139706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algn="ctr"/>
                      <a:r>
                        <a:rPr lang="en-PH" sz="13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8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3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5.05%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3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0.517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3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1.02x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0F5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65391400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algn="ctr"/>
                      <a:r>
                        <a:rPr lang="en-PH" sz="13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5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3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5.18%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3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0.472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3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1.04x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6210705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algn="ctr"/>
                      <a:r>
                        <a:rPr lang="en-PH" sz="13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1 (Low)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3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4.98%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3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0.354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3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1.00x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0F5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84955100"/>
                  </a:ext>
                </a:extLst>
              </a:tr>
            </a:tbl>
          </a:graphicData>
        </a:graphic>
      </p:graphicFrame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37B5D71D-8DEA-2698-B47B-585FDC12F7BD}"/>
              </a:ext>
            </a:extLst>
          </p:cNvPr>
          <p:cNvSpPr/>
          <p:nvPr/>
        </p:nvSpPr>
        <p:spPr>
          <a:xfrm>
            <a:off x="731520" y="4754880"/>
            <a:ext cx="10698479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43737DB-50A4-8C48-1A29-A8EC43A4196F}"/>
              </a:ext>
            </a:extLst>
          </p:cNvPr>
          <p:cNvSpPr/>
          <p:nvPr/>
        </p:nvSpPr>
        <p:spPr>
          <a:xfrm>
            <a:off x="731520" y="4754880"/>
            <a:ext cx="54864" cy="1371600"/>
          </a:xfrm>
          <a:prstGeom prst="rect">
            <a:avLst/>
          </a:prstGeom>
          <a:solidFill>
            <a:srgbClr val="E8474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3C2E2DA-FB45-4A43-079D-1DFE664CEF19}"/>
              </a:ext>
            </a:extLst>
          </p:cNvPr>
          <p:cNvSpPr txBox="1"/>
          <p:nvPr/>
        </p:nvSpPr>
        <p:spPr>
          <a:xfrm>
            <a:off x="1097280" y="4892040"/>
            <a:ext cx="10058400" cy="32316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500" b="1">
                <a:solidFill>
                  <a:srgbClr val="E84747"/>
                </a:solidFill>
                <a:latin typeface="Arial" panose="020B0604020202020204" pitchFamily="34" charset="0"/>
              </a:rPr>
              <a:t>VERDICT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0B43C67-8FCD-2276-B29A-956D96ADA1B0}"/>
              </a:ext>
            </a:extLst>
          </p:cNvPr>
          <p:cNvSpPr txBox="1"/>
          <p:nvPr/>
        </p:nvSpPr>
        <p:spPr>
          <a:xfrm>
            <a:off x="1097280" y="5303520"/>
            <a:ext cx="10058400" cy="52322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>
                <a:solidFill>
                  <a:srgbClr val="4B4B4B"/>
                </a:solidFill>
                <a:latin typeface="Arial" panose="020B0604020202020204" pitchFamily="34" charset="0"/>
              </a:rPr>
              <a:t>Decile lifts oscillate between 0.94x and 1.04x — no decile meaningfully concentrates attrition. The model cannot rank customers by attrition risk.</a:t>
            </a:r>
            <a:endParaRPr lang="en-PH" sz="1400">
              <a:solidFill>
                <a:srgbClr val="4B4B4B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5715492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72E796A-56DC-16E9-5D44-D47A2A0BC67E}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824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E66DB03-3171-2C10-D4B7-7E21A9BFD3E1}"/>
              </a:ext>
            </a:extLst>
          </p:cNvPr>
          <p:cNvSpPr txBox="1"/>
          <p:nvPr/>
        </p:nvSpPr>
        <p:spPr>
          <a:xfrm>
            <a:off x="731520" y="365760"/>
            <a:ext cx="10058400" cy="52322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800" b="1">
                <a:solidFill>
                  <a:srgbClr val="1A2A3D"/>
                </a:solidFill>
                <a:latin typeface="Arial" panose="020B0604020202020204" pitchFamily="34" charset="0"/>
              </a:rPr>
              <a:t>3.4  XGBoost Feature Importance (Gain)</a:t>
            </a:r>
            <a:endParaRPr lang="en-PH" sz="2800" b="1">
              <a:solidFill>
                <a:srgbClr val="1A2A3D"/>
              </a:solidFill>
              <a:latin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B85603-F50B-3094-1657-9B8159C31A35}"/>
              </a:ext>
            </a:extLst>
          </p:cNvPr>
          <p:cNvSpPr txBox="1"/>
          <p:nvPr/>
        </p:nvSpPr>
        <p:spPr>
          <a:xfrm>
            <a:off x="731520" y="868680"/>
            <a:ext cx="100584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 dirty="0">
                <a:solidFill>
                  <a:srgbClr val="9E9E9E"/>
                </a:solidFill>
                <a:latin typeface="Arial" panose="020B0604020202020204" pitchFamily="34" charset="0"/>
              </a:rPr>
              <a:t>Model latches onto high-cardinality noise and statistically insignificant features</a:t>
            </a:r>
            <a:endParaRPr lang="en-PH" sz="1400" dirty="0">
              <a:solidFill>
                <a:srgbClr val="9E9E9E"/>
              </a:solidFill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FF2E5E3-EC5F-A1E2-3636-C411B39B1011}"/>
              </a:ext>
            </a:extLst>
          </p:cNvPr>
          <p:cNvSpPr txBox="1"/>
          <p:nvPr/>
        </p:nvSpPr>
        <p:spPr>
          <a:xfrm>
            <a:off x="731520" y="1435608"/>
            <a:ext cx="2011680" cy="292388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300" b="1">
                <a:solidFill>
                  <a:srgbClr val="1A2A3D"/>
                </a:solidFill>
                <a:latin typeface="Arial" panose="020B0604020202020204" pitchFamily="34" charset="0"/>
              </a:rPr>
              <a:t>Country_19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922502F-D18B-66F7-EA54-E6CD096AA9B9}"/>
              </a:ext>
            </a:extLst>
          </p:cNvPr>
          <p:cNvSpPr/>
          <p:nvPr/>
        </p:nvSpPr>
        <p:spPr>
          <a:xfrm>
            <a:off x="2743200" y="1417320"/>
            <a:ext cx="6400800" cy="365760"/>
          </a:xfrm>
          <a:prstGeom prst="roundRect">
            <a:avLst>
              <a:gd name="adj" fmla="val 6000"/>
            </a:avLst>
          </a:prstGeom>
          <a:solidFill>
            <a:srgbClr val="E8474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F627862-787D-2F1B-B63F-2CB2154C56BD}"/>
              </a:ext>
            </a:extLst>
          </p:cNvPr>
          <p:cNvSpPr txBox="1"/>
          <p:nvPr/>
        </p:nvSpPr>
        <p:spPr>
          <a:xfrm>
            <a:off x="9281160" y="1435608"/>
            <a:ext cx="914400" cy="292388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300" b="1">
                <a:solidFill>
                  <a:srgbClr val="1A2A3D"/>
                </a:solidFill>
                <a:latin typeface="Arial" panose="020B0604020202020204" pitchFamily="34" charset="0"/>
              </a:rPr>
              <a:t>153.9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EC8C62E-D130-4167-FDF3-3E3ADC7857F1}"/>
              </a:ext>
            </a:extLst>
          </p:cNvPr>
          <p:cNvSpPr txBox="1"/>
          <p:nvPr/>
        </p:nvSpPr>
        <p:spPr>
          <a:xfrm>
            <a:off x="9601200" y="1435608"/>
            <a:ext cx="2286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200">
                <a:solidFill>
                  <a:srgbClr val="9E9E9E"/>
                </a:solidFill>
                <a:latin typeface="Arial" panose="020B0604020202020204" pitchFamily="34" charset="0"/>
              </a:rPr>
              <a:t>Geographic dummy (noise)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E8F5008-9F6A-CE7B-9376-46491CB52C80}"/>
              </a:ext>
            </a:extLst>
          </p:cNvPr>
          <p:cNvSpPr txBox="1"/>
          <p:nvPr/>
        </p:nvSpPr>
        <p:spPr>
          <a:xfrm>
            <a:off x="731520" y="2121408"/>
            <a:ext cx="2011680" cy="292388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300" b="1">
                <a:solidFill>
                  <a:srgbClr val="1A2A3D"/>
                </a:solidFill>
                <a:latin typeface="Arial" panose="020B0604020202020204" pitchFamily="34" charset="0"/>
              </a:rPr>
              <a:t>Country_22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80C0BB9D-051A-4EC2-5D99-F81DA532F8AA}"/>
              </a:ext>
            </a:extLst>
          </p:cNvPr>
          <p:cNvSpPr/>
          <p:nvPr/>
        </p:nvSpPr>
        <p:spPr>
          <a:xfrm>
            <a:off x="2743200" y="2103120"/>
            <a:ext cx="4891060" cy="365760"/>
          </a:xfrm>
          <a:prstGeom prst="roundRect">
            <a:avLst>
              <a:gd name="adj" fmla="val 6000"/>
            </a:avLst>
          </a:prstGeom>
          <a:solidFill>
            <a:srgbClr val="E8474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10FD791-15B4-14DA-3EC4-0A8D67D1A8F0}"/>
              </a:ext>
            </a:extLst>
          </p:cNvPr>
          <p:cNvSpPr txBox="1"/>
          <p:nvPr/>
        </p:nvSpPr>
        <p:spPr>
          <a:xfrm>
            <a:off x="7771420" y="2121408"/>
            <a:ext cx="914400" cy="292388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300" b="1">
                <a:solidFill>
                  <a:srgbClr val="1A2A3D"/>
                </a:solidFill>
                <a:latin typeface="Arial" panose="020B0604020202020204" pitchFamily="34" charset="0"/>
              </a:rPr>
              <a:t>117.6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5CFC377-66FB-5F5E-D096-32A29DE12FC4}"/>
              </a:ext>
            </a:extLst>
          </p:cNvPr>
          <p:cNvSpPr txBox="1"/>
          <p:nvPr/>
        </p:nvSpPr>
        <p:spPr>
          <a:xfrm>
            <a:off x="9601200" y="2121408"/>
            <a:ext cx="2286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200">
                <a:solidFill>
                  <a:srgbClr val="9E9E9E"/>
                </a:solidFill>
                <a:latin typeface="Arial" panose="020B0604020202020204" pitchFamily="34" charset="0"/>
              </a:rPr>
              <a:t>Geographic dummy (noise)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2EF5600-8581-B54C-C045-EA7480F7CB08}"/>
              </a:ext>
            </a:extLst>
          </p:cNvPr>
          <p:cNvSpPr txBox="1"/>
          <p:nvPr/>
        </p:nvSpPr>
        <p:spPr>
          <a:xfrm>
            <a:off x="731520" y="2807208"/>
            <a:ext cx="2011680" cy="292388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300" b="1">
                <a:solidFill>
                  <a:srgbClr val="1A2A3D"/>
                </a:solidFill>
                <a:latin typeface="Arial" panose="020B0604020202020204" pitchFamily="34" charset="0"/>
              </a:rPr>
              <a:t>Country_15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5758A682-B1CD-5A34-C52B-89F07E249811}"/>
              </a:ext>
            </a:extLst>
          </p:cNvPr>
          <p:cNvSpPr/>
          <p:nvPr/>
        </p:nvSpPr>
        <p:spPr>
          <a:xfrm>
            <a:off x="2743200" y="2788920"/>
            <a:ext cx="4849469" cy="365760"/>
          </a:xfrm>
          <a:prstGeom prst="roundRect">
            <a:avLst>
              <a:gd name="adj" fmla="val 6000"/>
            </a:avLst>
          </a:prstGeom>
          <a:solidFill>
            <a:srgbClr val="E8474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AFEE39C-8CCE-31BB-9247-9B38F154D408}"/>
              </a:ext>
            </a:extLst>
          </p:cNvPr>
          <p:cNvSpPr txBox="1"/>
          <p:nvPr/>
        </p:nvSpPr>
        <p:spPr>
          <a:xfrm>
            <a:off x="7729829" y="2807208"/>
            <a:ext cx="914400" cy="292388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300" b="1">
                <a:solidFill>
                  <a:srgbClr val="1A2A3D"/>
                </a:solidFill>
                <a:latin typeface="Arial" panose="020B0604020202020204" pitchFamily="34" charset="0"/>
              </a:rPr>
              <a:t>116.6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D437872-F741-8461-1377-E3CA9C1450B9}"/>
              </a:ext>
            </a:extLst>
          </p:cNvPr>
          <p:cNvSpPr txBox="1"/>
          <p:nvPr/>
        </p:nvSpPr>
        <p:spPr>
          <a:xfrm>
            <a:off x="9601200" y="2807208"/>
            <a:ext cx="2286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200">
                <a:solidFill>
                  <a:srgbClr val="9E9E9E"/>
                </a:solidFill>
                <a:latin typeface="Arial" panose="020B0604020202020204" pitchFamily="34" charset="0"/>
              </a:rPr>
              <a:t>Geographic dummy (noise)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200C851-5DC3-A240-F8DF-38EAEBF2FA4E}"/>
              </a:ext>
            </a:extLst>
          </p:cNvPr>
          <p:cNvSpPr txBox="1"/>
          <p:nvPr/>
        </p:nvSpPr>
        <p:spPr>
          <a:xfrm>
            <a:off x="731520" y="3493008"/>
            <a:ext cx="2011680" cy="292388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300" b="1">
                <a:solidFill>
                  <a:srgbClr val="1A2A3D"/>
                </a:solidFill>
                <a:latin typeface="Arial" panose="020B0604020202020204" pitchFamily="34" charset="0"/>
              </a:rPr>
              <a:t>Edu_HighSchool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B98D2AE4-5977-DFBD-E6EE-397D84ABC8B0}"/>
              </a:ext>
            </a:extLst>
          </p:cNvPr>
          <p:cNvSpPr/>
          <p:nvPr/>
        </p:nvSpPr>
        <p:spPr>
          <a:xfrm>
            <a:off x="2743200" y="3474720"/>
            <a:ext cx="4774606" cy="365760"/>
          </a:xfrm>
          <a:prstGeom prst="roundRect">
            <a:avLst>
              <a:gd name="adj" fmla="val 6000"/>
            </a:avLst>
          </a:prstGeom>
          <a:solidFill>
            <a:srgbClr val="F0824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326E4B4-7B66-C0E3-D562-556E6F414A0D}"/>
              </a:ext>
            </a:extLst>
          </p:cNvPr>
          <p:cNvSpPr txBox="1"/>
          <p:nvPr/>
        </p:nvSpPr>
        <p:spPr>
          <a:xfrm>
            <a:off x="7654966" y="3493008"/>
            <a:ext cx="914400" cy="292388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300" b="1">
                <a:solidFill>
                  <a:srgbClr val="1A2A3D"/>
                </a:solidFill>
                <a:latin typeface="Arial" panose="020B0604020202020204" pitchFamily="34" charset="0"/>
              </a:rPr>
              <a:t>114.8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A4B863E-CE1C-3ACD-8AE7-CC2EF5F9A16F}"/>
              </a:ext>
            </a:extLst>
          </p:cNvPr>
          <p:cNvSpPr txBox="1"/>
          <p:nvPr/>
        </p:nvSpPr>
        <p:spPr>
          <a:xfrm>
            <a:off x="9601200" y="3493008"/>
            <a:ext cx="2286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200">
                <a:solidFill>
                  <a:srgbClr val="9E9E9E"/>
                </a:solidFill>
                <a:latin typeface="Arial" panose="020B0604020202020204" pitchFamily="34" charset="0"/>
              </a:rPr>
              <a:t>Chi2 p &gt; 0.33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5428388-CD17-3B86-6C7A-E9E6242048CB}"/>
              </a:ext>
            </a:extLst>
          </p:cNvPr>
          <p:cNvSpPr txBox="1"/>
          <p:nvPr/>
        </p:nvSpPr>
        <p:spPr>
          <a:xfrm>
            <a:off x="731520" y="4178808"/>
            <a:ext cx="2011680" cy="292388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300" b="1">
                <a:solidFill>
                  <a:srgbClr val="1A2A3D"/>
                </a:solidFill>
                <a:latin typeface="Arial" panose="020B0604020202020204" pitchFamily="34" charset="0"/>
              </a:rPr>
              <a:t>Card_Platinum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74D94AD3-5493-9D76-66D7-8E7C0808874D}"/>
              </a:ext>
            </a:extLst>
          </p:cNvPr>
          <p:cNvSpPr/>
          <p:nvPr/>
        </p:nvSpPr>
        <p:spPr>
          <a:xfrm>
            <a:off x="2743200" y="4160520"/>
            <a:ext cx="4558334" cy="365760"/>
          </a:xfrm>
          <a:prstGeom prst="roundRect">
            <a:avLst>
              <a:gd name="adj" fmla="val 6000"/>
            </a:avLst>
          </a:prstGeom>
          <a:solidFill>
            <a:srgbClr val="F0824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C125D51-659A-0FF7-574C-0502F517DF8E}"/>
              </a:ext>
            </a:extLst>
          </p:cNvPr>
          <p:cNvSpPr txBox="1"/>
          <p:nvPr/>
        </p:nvSpPr>
        <p:spPr>
          <a:xfrm>
            <a:off x="7438694" y="4178808"/>
            <a:ext cx="914400" cy="292388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300" b="1">
                <a:solidFill>
                  <a:srgbClr val="1A2A3D"/>
                </a:solidFill>
                <a:latin typeface="Arial" panose="020B0604020202020204" pitchFamily="34" charset="0"/>
              </a:rPr>
              <a:t>109.6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6339303-164D-31BE-ED9F-4603409AF234}"/>
              </a:ext>
            </a:extLst>
          </p:cNvPr>
          <p:cNvSpPr txBox="1"/>
          <p:nvPr/>
        </p:nvSpPr>
        <p:spPr>
          <a:xfrm>
            <a:off x="9601200" y="4178808"/>
            <a:ext cx="2286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200">
                <a:solidFill>
                  <a:srgbClr val="9E9E9E"/>
                </a:solidFill>
                <a:latin typeface="Arial" panose="020B0604020202020204" pitchFamily="34" charset="0"/>
              </a:rPr>
              <a:t>Marginal at best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8DD9ECB-3141-B573-6D26-AFE20A28ECB7}"/>
              </a:ext>
            </a:extLst>
          </p:cNvPr>
          <p:cNvSpPr txBox="1"/>
          <p:nvPr/>
        </p:nvSpPr>
        <p:spPr>
          <a:xfrm>
            <a:off x="731520" y="4864608"/>
            <a:ext cx="2011680" cy="292388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300" b="1">
                <a:solidFill>
                  <a:srgbClr val="1A2A3D"/>
                </a:solidFill>
                <a:latin typeface="Arial" panose="020B0604020202020204" pitchFamily="34" charset="0"/>
              </a:rPr>
              <a:t>Feature_28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58883786-5B6E-FA15-AC70-A55428D14E0C}"/>
              </a:ext>
            </a:extLst>
          </p:cNvPr>
          <p:cNvSpPr/>
          <p:nvPr/>
        </p:nvSpPr>
        <p:spPr>
          <a:xfrm>
            <a:off x="2743200" y="4846320"/>
            <a:ext cx="4308790" cy="365760"/>
          </a:xfrm>
          <a:prstGeom prst="roundRect">
            <a:avLst>
              <a:gd name="adj" fmla="val 6000"/>
            </a:avLst>
          </a:prstGeom>
          <a:solidFill>
            <a:srgbClr val="F0824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87FADA4-143B-6A44-DC33-CB954D3FC64D}"/>
              </a:ext>
            </a:extLst>
          </p:cNvPr>
          <p:cNvSpPr txBox="1"/>
          <p:nvPr/>
        </p:nvSpPr>
        <p:spPr>
          <a:xfrm>
            <a:off x="7189150" y="4864608"/>
            <a:ext cx="914400" cy="292388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300" b="1">
                <a:solidFill>
                  <a:srgbClr val="1A2A3D"/>
                </a:solidFill>
                <a:latin typeface="Arial" panose="020B0604020202020204" pitchFamily="34" charset="0"/>
              </a:rPr>
              <a:t>103.6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1AA83C1-5694-1E42-7FD8-14E3F0E1F865}"/>
              </a:ext>
            </a:extLst>
          </p:cNvPr>
          <p:cNvSpPr txBox="1"/>
          <p:nvPr/>
        </p:nvSpPr>
        <p:spPr>
          <a:xfrm>
            <a:off x="9601200" y="4864608"/>
            <a:ext cx="2286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200">
                <a:solidFill>
                  <a:srgbClr val="9E9E9E"/>
                </a:solidFill>
                <a:latin typeface="Arial" panose="020B0604020202020204" pitchFamily="34" charset="0"/>
              </a:rPr>
              <a:t>Anonymous feature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F4B45DB-68FD-FE5E-9F5C-71066986CF4B}"/>
              </a:ext>
            </a:extLst>
          </p:cNvPr>
          <p:cNvSpPr txBox="1"/>
          <p:nvPr/>
        </p:nvSpPr>
        <p:spPr>
          <a:xfrm>
            <a:off x="731520" y="5550408"/>
            <a:ext cx="2011680" cy="292388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300" b="1">
                <a:solidFill>
                  <a:srgbClr val="1A2A3D"/>
                </a:solidFill>
                <a:latin typeface="Arial" panose="020B0604020202020204" pitchFamily="34" charset="0"/>
              </a:rPr>
              <a:t>Tenure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E5E44923-8011-12FD-17DF-5F741EF2C86D}"/>
              </a:ext>
            </a:extLst>
          </p:cNvPr>
          <p:cNvSpPr/>
          <p:nvPr/>
        </p:nvSpPr>
        <p:spPr>
          <a:xfrm>
            <a:off x="2743200" y="5532120"/>
            <a:ext cx="4067565" cy="365760"/>
          </a:xfrm>
          <a:prstGeom prst="roundRect">
            <a:avLst>
              <a:gd name="adj" fmla="val 6000"/>
            </a:avLst>
          </a:prstGeom>
          <a:solidFill>
            <a:srgbClr val="F0824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3D34C9D-8F16-CA12-FCC0-F58C972FB62F}"/>
              </a:ext>
            </a:extLst>
          </p:cNvPr>
          <p:cNvSpPr txBox="1"/>
          <p:nvPr/>
        </p:nvSpPr>
        <p:spPr>
          <a:xfrm>
            <a:off x="6947926" y="5550408"/>
            <a:ext cx="914400" cy="292388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300" b="1">
                <a:solidFill>
                  <a:srgbClr val="1A2A3D"/>
                </a:solidFill>
                <a:latin typeface="Arial" panose="020B0604020202020204" pitchFamily="34" charset="0"/>
              </a:rPr>
              <a:t>97.8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8395999-C06A-2CB9-3860-F2D84D09843E}"/>
              </a:ext>
            </a:extLst>
          </p:cNvPr>
          <p:cNvSpPr txBox="1"/>
          <p:nvPr/>
        </p:nvSpPr>
        <p:spPr>
          <a:xfrm>
            <a:off x="9601200" y="5550408"/>
            <a:ext cx="2286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200">
                <a:solidFill>
                  <a:srgbClr val="9E9E9E"/>
                </a:solidFill>
                <a:latin typeface="Arial" panose="020B0604020202020204" pitchFamily="34" charset="0"/>
              </a:rPr>
              <a:t>Spearman r = -0.005</a:t>
            </a:r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AF0EF9DF-1AAB-4910-D410-5BF8AF3431E1}"/>
              </a:ext>
            </a:extLst>
          </p:cNvPr>
          <p:cNvSpPr/>
          <p:nvPr/>
        </p:nvSpPr>
        <p:spPr>
          <a:xfrm>
            <a:off x="731520" y="5760720"/>
            <a:ext cx="10698479" cy="822960"/>
          </a:xfrm>
          <a:prstGeom prst="roundRect">
            <a:avLst>
              <a:gd name="adj" fmla="val 6000"/>
            </a:avLst>
          </a:prstGeom>
          <a:solidFill>
            <a:srgbClr val="1A2A3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1748C9C-953C-0DA9-E759-9BFB50682B04}"/>
              </a:ext>
            </a:extLst>
          </p:cNvPr>
          <p:cNvSpPr txBox="1"/>
          <p:nvPr/>
        </p:nvSpPr>
        <p:spPr>
          <a:xfrm>
            <a:off x="1066647" y="6018311"/>
            <a:ext cx="100584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400">
                <a:solidFill>
                  <a:srgbClr val="C8DCFC"/>
                </a:solidFill>
                <a:latin typeface="Arial" panose="020B0604020202020204" pitchFamily="34" charset="0"/>
              </a:rPr>
              <a:t>Top features are country dummies (noise) and insignificant categoricals. Consistent with AUC = 0.499.</a:t>
            </a:r>
            <a:endParaRPr lang="en-PH" sz="1400">
              <a:solidFill>
                <a:srgbClr val="C8DCFC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7799138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C6079CA-902B-7E5F-DD50-A1C362B9E492}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824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13CD3BB-D1C0-19C4-A5F2-BB87FFC481F2}"/>
              </a:ext>
            </a:extLst>
          </p:cNvPr>
          <p:cNvSpPr txBox="1"/>
          <p:nvPr/>
        </p:nvSpPr>
        <p:spPr>
          <a:xfrm>
            <a:off x="731520" y="365760"/>
            <a:ext cx="10058400" cy="52322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2800" b="1" dirty="0">
                <a:solidFill>
                  <a:srgbClr val="FFFFFF"/>
                </a:solidFill>
                <a:latin typeface="Arial" panose="020B0604020202020204" pitchFamily="34" charset="0"/>
              </a:rPr>
              <a:t>Section 3 (Model Validation Summary)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677BFF8-C7FB-0224-03A6-B514C77BC754}"/>
              </a:ext>
            </a:extLst>
          </p:cNvPr>
          <p:cNvSpPr/>
          <p:nvPr/>
        </p:nvSpPr>
        <p:spPr>
          <a:xfrm>
            <a:off x="525043" y="2103120"/>
            <a:ext cx="2606040" cy="2926080"/>
          </a:xfrm>
          <a:prstGeom prst="roundRect">
            <a:avLst>
              <a:gd name="adj" fmla="val 6000"/>
            </a:avLst>
          </a:prstGeom>
          <a:solidFill>
            <a:srgbClr val="283A4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9A3A0E7-E7D3-0734-602B-3BDA1A0B6D2C}"/>
              </a:ext>
            </a:extLst>
          </p:cNvPr>
          <p:cNvSpPr txBox="1"/>
          <p:nvPr/>
        </p:nvSpPr>
        <p:spPr>
          <a:xfrm>
            <a:off x="707923" y="2286000"/>
            <a:ext cx="224028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1400" b="1">
                <a:solidFill>
                  <a:srgbClr val="C8DCFC"/>
                </a:solidFill>
                <a:latin typeface="Arial" panose="020B0604020202020204" pitchFamily="34" charset="0"/>
              </a:rPr>
              <a:t>DT (d=2)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DE7D889-90F5-9692-BC74-228C7BE0D2FF}"/>
              </a:ext>
            </a:extLst>
          </p:cNvPr>
          <p:cNvSpPr txBox="1"/>
          <p:nvPr/>
        </p:nvSpPr>
        <p:spPr>
          <a:xfrm>
            <a:off x="707923" y="2834640"/>
            <a:ext cx="2240280" cy="646331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3600" b="1">
                <a:solidFill>
                  <a:srgbClr val="E84747"/>
                </a:solidFill>
                <a:latin typeface="Arial" panose="020B0604020202020204" pitchFamily="34" charset="0"/>
              </a:rPr>
              <a:t>0.489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3995798-DA6A-2DF1-567C-935D0D4EBEF7}"/>
              </a:ext>
            </a:extLst>
          </p:cNvPr>
          <p:cNvSpPr txBox="1"/>
          <p:nvPr/>
        </p:nvSpPr>
        <p:spPr>
          <a:xfrm>
            <a:off x="707923" y="3474720"/>
            <a:ext cx="2240280" cy="292388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1300">
                <a:solidFill>
                  <a:srgbClr val="9E9E9E"/>
                </a:solidFill>
                <a:latin typeface="Arial" panose="020B0604020202020204" pitchFamily="34" charset="0"/>
              </a:rPr>
              <a:t>AUC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5E9234B-0034-BC4D-9F4C-1C1F731A8F31}"/>
              </a:ext>
            </a:extLst>
          </p:cNvPr>
          <p:cNvSpPr/>
          <p:nvPr/>
        </p:nvSpPr>
        <p:spPr>
          <a:xfrm>
            <a:off x="890803" y="3840480"/>
            <a:ext cx="1874520" cy="9144"/>
          </a:xfrm>
          <a:prstGeom prst="rect">
            <a:avLst/>
          </a:prstGeom>
          <a:solidFill>
            <a:srgbClr val="9E9E9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DBE97AA-DDB9-7FFD-2ADE-00783C6A7AA4}"/>
              </a:ext>
            </a:extLst>
          </p:cNvPr>
          <p:cNvSpPr txBox="1"/>
          <p:nvPr/>
        </p:nvSpPr>
        <p:spPr>
          <a:xfrm>
            <a:off x="707923" y="3977640"/>
            <a:ext cx="2240280" cy="292388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1300">
                <a:solidFill>
                  <a:srgbClr val="C8DCFC"/>
                </a:solidFill>
                <a:latin typeface="Arial" panose="020B0604020202020204" pitchFamily="34" charset="0"/>
              </a:rPr>
              <a:t>Lift: None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E01C510-298A-3E95-D528-FC8AB74E666A}"/>
              </a:ext>
            </a:extLst>
          </p:cNvPr>
          <p:cNvSpPr txBox="1"/>
          <p:nvPr/>
        </p:nvSpPr>
        <p:spPr>
          <a:xfrm>
            <a:off x="707923" y="4297680"/>
            <a:ext cx="224028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1200">
                <a:solidFill>
                  <a:srgbClr val="9E9E9E"/>
                </a:solidFill>
                <a:latin typeface="Arial" panose="020B0604020202020204" pitchFamily="34" charset="0"/>
              </a:rPr>
              <a:t>Below random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FB72247-5D5A-3803-5121-7636E9E104E6}"/>
              </a:ext>
            </a:extLst>
          </p:cNvPr>
          <p:cNvSpPr/>
          <p:nvPr/>
        </p:nvSpPr>
        <p:spPr>
          <a:xfrm>
            <a:off x="3359683" y="2103120"/>
            <a:ext cx="2606040" cy="2926080"/>
          </a:xfrm>
          <a:prstGeom prst="roundRect">
            <a:avLst>
              <a:gd name="adj" fmla="val 6000"/>
            </a:avLst>
          </a:prstGeom>
          <a:solidFill>
            <a:srgbClr val="283A4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2BAA7DD-8654-8457-4F68-7F32B7BBB1B3}"/>
              </a:ext>
            </a:extLst>
          </p:cNvPr>
          <p:cNvSpPr txBox="1"/>
          <p:nvPr/>
        </p:nvSpPr>
        <p:spPr>
          <a:xfrm>
            <a:off x="3542563" y="2286000"/>
            <a:ext cx="224028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1400" b="1">
                <a:solidFill>
                  <a:srgbClr val="C8DCFC"/>
                </a:solidFill>
                <a:latin typeface="Arial" panose="020B0604020202020204" pitchFamily="34" charset="0"/>
              </a:rPr>
              <a:t>DT (d=3)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8C1E890-6C4E-7DA7-9E42-B447DD0CFE87}"/>
              </a:ext>
            </a:extLst>
          </p:cNvPr>
          <p:cNvSpPr txBox="1"/>
          <p:nvPr/>
        </p:nvSpPr>
        <p:spPr>
          <a:xfrm>
            <a:off x="3542563" y="2834640"/>
            <a:ext cx="2240280" cy="646331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3600" b="1">
                <a:solidFill>
                  <a:srgbClr val="E84747"/>
                </a:solidFill>
                <a:latin typeface="Arial" panose="020B0604020202020204" pitchFamily="34" charset="0"/>
              </a:rPr>
              <a:t>0.496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2D64196-F8A2-EDB6-D9ED-C6813C46815B}"/>
              </a:ext>
            </a:extLst>
          </p:cNvPr>
          <p:cNvSpPr txBox="1"/>
          <p:nvPr/>
        </p:nvSpPr>
        <p:spPr>
          <a:xfrm>
            <a:off x="3542563" y="3474720"/>
            <a:ext cx="2240280" cy="292388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1300">
                <a:solidFill>
                  <a:srgbClr val="9E9E9E"/>
                </a:solidFill>
                <a:latin typeface="Arial" panose="020B0604020202020204" pitchFamily="34" charset="0"/>
              </a:rPr>
              <a:t>AUC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D4B3EF6-D516-A4CE-3F49-9BCB01711DCD}"/>
              </a:ext>
            </a:extLst>
          </p:cNvPr>
          <p:cNvSpPr/>
          <p:nvPr/>
        </p:nvSpPr>
        <p:spPr>
          <a:xfrm>
            <a:off x="3725443" y="3840480"/>
            <a:ext cx="1874520" cy="9144"/>
          </a:xfrm>
          <a:prstGeom prst="rect">
            <a:avLst/>
          </a:prstGeom>
          <a:solidFill>
            <a:srgbClr val="9E9E9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17783CD-91E8-F7B0-03BA-AF856295A8BF}"/>
              </a:ext>
            </a:extLst>
          </p:cNvPr>
          <p:cNvSpPr txBox="1"/>
          <p:nvPr/>
        </p:nvSpPr>
        <p:spPr>
          <a:xfrm>
            <a:off x="3542563" y="3977640"/>
            <a:ext cx="2240280" cy="292388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1300">
                <a:solidFill>
                  <a:srgbClr val="C8DCFC"/>
                </a:solidFill>
                <a:latin typeface="Arial" panose="020B0604020202020204" pitchFamily="34" charset="0"/>
              </a:rPr>
              <a:t>Lift: Marginal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35D7678-522D-C916-AEC0-524681F534F2}"/>
              </a:ext>
            </a:extLst>
          </p:cNvPr>
          <p:cNvSpPr txBox="1"/>
          <p:nvPr/>
        </p:nvSpPr>
        <p:spPr>
          <a:xfrm>
            <a:off x="3542563" y="4297680"/>
            <a:ext cx="224028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1200">
                <a:solidFill>
                  <a:srgbClr val="9E9E9E"/>
                </a:solidFill>
                <a:latin typeface="Arial" panose="020B0604020202020204" pitchFamily="34" charset="0"/>
              </a:rPr>
              <a:t>Effectively random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1D3C3A78-03EE-02D4-AC73-1311E8C496A3}"/>
              </a:ext>
            </a:extLst>
          </p:cNvPr>
          <p:cNvSpPr/>
          <p:nvPr/>
        </p:nvSpPr>
        <p:spPr>
          <a:xfrm>
            <a:off x="6194323" y="2103120"/>
            <a:ext cx="2606040" cy="2926080"/>
          </a:xfrm>
          <a:prstGeom prst="roundRect">
            <a:avLst>
              <a:gd name="adj" fmla="val 6000"/>
            </a:avLst>
          </a:prstGeom>
          <a:solidFill>
            <a:srgbClr val="283A4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84EFBB8-E776-2543-C2FB-794130A5BF9F}"/>
              </a:ext>
            </a:extLst>
          </p:cNvPr>
          <p:cNvSpPr txBox="1"/>
          <p:nvPr/>
        </p:nvSpPr>
        <p:spPr>
          <a:xfrm>
            <a:off x="6377203" y="2286000"/>
            <a:ext cx="224028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1400" b="1">
                <a:solidFill>
                  <a:srgbClr val="C8DCFC"/>
                </a:solidFill>
                <a:latin typeface="Arial" panose="020B0604020202020204" pitchFamily="34" charset="0"/>
              </a:rPr>
              <a:t>DT (d=4)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1B22073-2658-36D4-C7BE-B7971E86944C}"/>
              </a:ext>
            </a:extLst>
          </p:cNvPr>
          <p:cNvSpPr txBox="1"/>
          <p:nvPr/>
        </p:nvSpPr>
        <p:spPr>
          <a:xfrm>
            <a:off x="6377203" y="2834640"/>
            <a:ext cx="2240280" cy="646331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3600" b="1">
                <a:solidFill>
                  <a:srgbClr val="E84747"/>
                </a:solidFill>
                <a:latin typeface="Arial" panose="020B0604020202020204" pitchFamily="34" charset="0"/>
              </a:rPr>
              <a:t>0.503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4E7E881-E262-17B4-0EC7-2269F5CB6715}"/>
              </a:ext>
            </a:extLst>
          </p:cNvPr>
          <p:cNvSpPr txBox="1"/>
          <p:nvPr/>
        </p:nvSpPr>
        <p:spPr>
          <a:xfrm>
            <a:off x="6377203" y="3474720"/>
            <a:ext cx="2240280" cy="292388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1300">
                <a:solidFill>
                  <a:srgbClr val="9E9E9E"/>
                </a:solidFill>
                <a:latin typeface="Arial" panose="020B0604020202020204" pitchFamily="34" charset="0"/>
              </a:rPr>
              <a:t>AUC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23492F7-1E1D-6D56-5899-67087F1C6240}"/>
              </a:ext>
            </a:extLst>
          </p:cNvPr>
          <p:cNvSpPr/>
          <p:nvPr/>
        </p:nvSpPr>
        <p:spPr>
          <a:xfrm>
            <a:off x="6560083" y="3840480"/>
            <a:ext cx="1874520" cy="9144"/>
          </a:xfrm>
          <a:prstGeom prst="rect">
            <a:avLst/>
          </a:prstGeom>
          <a:solidFill>
            <a:srgbClr val="9E9E9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7A93884-5E7B-4D7D-10C7-092B64B9807B}"/>
              </a:ext>
            </a:extLst>
          </p:cNvPr>
          <p:cNvSpPr txBox="1"/>
          <p:nvPr/>
        </p:nvSpPr>
        <p:spPr>
          <a:xfrm>
            <a:off x="6377203" y="3977640"/>
            <a:ext cx="2240280" cy="292388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1300">
                <a:solidFill>
                  <a:srgbClr val="C8DCFC"/>
                </a:solidFill>
                <a:latin typeface="Arial" panose="020B0604020202020204" pitchFamily="34" charset="0"/>
              </a:rPr>
              <a:t>Lift: 1.79x (n=327)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DAC68DE-84B9-1F3F-46D5-451DCD35959E}"/>
              </a:ext>
            </a:extLst>
          </p:cNvPr>
          <p:cNvSpPr txBox="1"/>
          <p:nvPr/>
        </p:nvSpPr>
        <p:spPr>
          <a:xfrm>
            <a:off x="6377203" y="4297680"/>
            <a:ext cx="224028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1200">
                <a:solidFill>
                  <a:srgbClr val="9E9E9E"/>
                </a:solidFill>
                <a:latin typeface="Arial" panose="020B0604020202020204" pitchFamily="34" charset="0"/>
              </a:rPr>
              <a:t>Leaf too small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5AB1B8EC-E6AB-1867-87AC-11C4C5ABF048}"/>
              </a:ext>
            </a:extLst>
          </p:cNvPr>
          <p:cNvSpPr/>
          <p:nvPr/>
        </p:nvSpPr>
        <p:spPr>
          <a:xfrm>
            <a:off x="9028963" y="2103120"/>
            <a:ext cx="2606040" cy="2926080"/>
          </a:xfrm>
          <a:prstGeom prst="roundRect">
            <a:avLst>
              <a:gd name="adj" fmla="val 6000"/>
            </a:avLst>
          </a:prstGeom>
          <a:solidFill>
            <a:srgbClr val="283A4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7F04AC3-E799-9246-5A2C-067DE3F00801}"/>
              </a:ext>
            </a:extLst>
          </p:cNvPr>
          <p:cNvSpPr txBox="1"/>
          <p:nvPr/>
        </p:nvSpPr>
        <p:spPr>
          <a:xfrm>
            <a:off x="9211843" y="2286000"/>
            <a:ext cx="224028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1400" b="1">
                <a:solidFill>
                  <a:srgbClr val="C8DCFC"/>
                </a:solidFill>
                <a:latin typeface="Arial" panose="020B0604020202020204" pitchFamily="34" charset="0"/>
              </a:rPr>
              <a:t>XGBoost (4K)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5D5DF2A-2D8E-5C37-DD86-CBF3A425ECE3}"/>
              </a:ext>
            </a:extLst>
          </p:cNvPr>
          <p:cNvSpPr txBox="1"/>
          <p:nvPr/>
        </p:nvSpPr>
        <p:spPr>
          <a:xfrm>
            <a:off x="9211843" y="2834640"/>
            <a:ext cx="2240280" cy="646331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3600" b="1">
                <a:solidFill>
                  <a:srgbClr val="E84747"/>
                </a:solidFill>
                <a:latin typeface="Arial" panose="020B0604020202020204" pitchFamily="34" charset="0"/>
              </a:rPr>
              <a:t>0.499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BCC5507-5EEE-4A2D-1A42-8FFC1ED01501}"/>
              </a:ext>
            </a:extLst>
          </p:cNvPr>
          <p:cNvSpPr txBox="1"/>
          <p:nvPr/>
        </p:nvSpPr>
        <p:spPr>
          <a:xfrm>
            <a:off x="9211843" y="3474720"/>
            <a:ext cx="2240280" cy="292388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1300">
                <a:solidFill>
                  <a:srgbClr val="9E9E9E"/>
                </a:solidFill>
                <a:latin typeface="Arial" panose="020B0604020202020204" pitchFamily="34" charset="0"/>
              </a:rPr>
              <a:t>AUC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AC40222-7040-CD77-7242-D214A0850002}"/>
              </a:ext>
            </a:extLst>
          </p:cNvPr>
          <p:cNvSpPr/>
          <p:nvPr/>
        </p:nvSpPr>
        <p:spPr>
          <a:xfrm>
            <a:off x="9394723" y="3840480"/>
            <a:ext cx="1874520" cy="9144"/>
          </a:xfrm>
          <a:prstGeom prst="rect">
            <a:avLst/>
          </a:prstGeom>
          <a:solidFill>
            <a:srgbClr val="9E9E9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1E53819-3FF5-53D9-38D9-C8CCC427545C}"/>
              </a:ext>
            </a:extLst>
          </p:cNvPr>
          <p:cNvSpPr txBox="1"/>
          <p:nvPr/>
        </p:nvSpPr>
        <p:spPr>
          <a:xfrm>
            <a:off x="9211843" y="3977640"/>
            <a:ext cx="2240280" cy="292388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1300">
                <a:solidFill>
                  <a:srgbClr val="C8DCFC"/>
                </a:solidFill>
                <a:latin typeface="Arial" panose="020B0604020202020204" pitchFamily="34" charset="0"/>
              </a:rPr>
              <a:t>Lift: 1.04x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252D5E0-A643-CA78-3647-F2881A4423FB}"/>
              </a:ext>
            </a:extLst>
          </p:cNvPr>
          <p:cNvSpPr txBox="1"/>
          <p:nvPr/>
        </p:nvSpPr>
        <p:spPr>
          <a:xfrm>
            <a:off x="9211843" y="4297680"/>
            <a:ext cx="224028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1200">
                <a:solidFill>
                  <a:srgbClr val="9E9E9E"/>
                </a:solidFill>
                <a:latin typeface="Arial" panose="020B0604020202020204" pitchFamily="34" charset="0"/>
              </a:rPr>
              <a:t>No usable signal</a:t>
            </a:r>
          </a:p>
        </p:txBody>
      </p:sp>
    </p:spTree>
    <p:extLst>
      <p:ext uri="{BB962C8B-B14F-4D97-AF65-F5344CB8AC3E}">
        <p14:creationId xmlns:p14="http://schemas.microsoft.com/office/powerpoint/2010/main" val="8206149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89</TotalTime>
  <Words>3585</Words>
  <Application>Microsoft Office PowerPoint</Application>
  <PresentationFormat>Widescreen</PresentationFormat>
  <Paragraphs>758</Paragraphs>
  <Slides>39</Slides>
  <Notes>4</Notes>
  <HiddenSlides>7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3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Roland</dc:creator>
  <cp:lastModifiedBy>Roland</cp:lastModifiedBy>
  <cp:revision>54</cp:revision>
  <dcterms:created xsi:type="dcterms:W3CDTF">2026-03-13T13:04:16Z</dcterms:created>
  <dcterms:modified xsi:type="dcterms:W3CDTF">2026-03-13T14:52:59Z</dcterms:modified>
</cp:coreProperties>
</file>