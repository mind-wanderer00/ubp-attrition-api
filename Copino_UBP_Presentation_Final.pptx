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90" r:id="rId29"/>
    <p:sldId id="291" r:id="rId30"/>
    <p:sldId id="292" r:id="rId31"/>
    <p:sldId id="293" r:id="rId32"/>
    <p:sldId id="294" r:id="rId33"/>
    <p:sldId id="289" r:id="rId34"/>
    <p:sldId id="275" r:id="rId35"/>
    <p:sldId id="276" r:id="rId36"/>
    <p:sldId id="277" r:id="rId37"/>
    <p:sldId id="278" r:id="rId38"/>
    <p:sldId id="279" r:id="rId39"/>
    <p:sldId id="280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22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0C7A2B-4258-4842-ADBD-6F50B0998435}" type="datetimeFigureOut">
              <a:rPr lang="en-PH" smtClean="0"/>
              <a:t>13/03/2026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95E93F-2514-4B81-921C-6961CBA23D3B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87626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5E93F-2514-4B81-921C-6961CBA23D3B}" type="slidenum">
              <a:rPr lang="en-PH" smtClean="0"/>
              <a:t>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14283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9E9E9E"/>
                </a:solidFill>
                <a:latin typeface="Arial" panose="020B0604020202020204" pitchFamily="34" charset="0"/>
              </a:rPr>
              <a:t>Three depth configurations tested  |  Purpose: find simple split rules</a:t>
            </a:r>
            <a:endParaRPr lang="en-PH" sz="1200" dirty="0">
              <a:solidFill>
                <a:srgbClr val="9E9E9E"/>
              </a:solidFill>
              <a:latin typeface="Arial" panose="020B0604020202020204" pitchFamily="34" charset="0"/>
            </a:endParaRPr>
          </a:p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5E93F-2514-4B81-921C-6961CBA23D3B}" type="slidenum">
              <a:rPr lang="en-PH" smtClean="0"/>
              <a:t>36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43799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9E9E9E"/>
                </a:solidFill>
                <a:latin typeface="Arial" panose="020B0604020202020204" pitchFamily="34" charset="0"/>
              </a:rPr>
              <a:t>4,000 rounds with early stopping  |  </a:t>
            </a:r>
            <a:r>
              <a:rPr lang="en-US" sz="1200" dirty="0" err="1">
                <a:solidFill>
                  <a:srgbClr val="9E9E9E"/>
                </a:solidFill>
                <a:latin typeface="Arial" panose="020B0604020202020204" pitchFamily="34" charset="0"/>
              </a:rPr>
              <a:t>scale_pos_weight</a:t>
            </a:r>
            <a:r>
              <a:rPr lang="en-US" sz="1200" dirty="0">
                <a:solidFill>
                  <a:srgbClr val="9E9E9E"/>
                </a:solidFill>
                <a:latin typeface="Arial" panose="020B0604020202020204" pitchFamily="34" charset="0"/>
              </a:rPr>
              <a:t> = 19.14</a:t>
            </a:r>
            <a:endParaRPr lang="en-PH" sz="1200" dirty="0">
              <a:solidFill>
                <a:srgbClr val="9E9E9E"/>
              </a:solidFill>
              <a:latin typeface="Arial" panose="020B0604020202020204" pitchFamily="34" charset="0"/>
            </a:endParaRPr>
          </a:p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5E93F-2514-4B81-921C-6961CBA23D3B}" type="slidenum">
              <a:rPr lang="en-PH" smtClean="0"/>
              <a:t>37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05597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4015B-AB89-10F2-BBD9-BF5B228AAD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BF86A6-2E2F-6140-F0AE-32004E3FFB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BC78D-AA96-FC75-1359-C623E276F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25AAC-E67F-4BC5-ADA8-09D7F4F5F138}" type="datetimeFigureOut">
              <a:rPr lang="en-PH" smtClean="0"/>
              <a:t>13/03/2026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81E87-51C7-6DAD-9F1F-043B714E1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55C23-0D8F-6CA6-5384-674DFB674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F820C-7A2C-4EF4-B3D3-59524D89D1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08272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1BC4B-3625-4A8C-95C1-AFF19FC90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45614-120A-CDC2-19B4-B02A61CE3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97703-783F-90DC-8A4B-2CD140671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25AAC-E67F-4BC5-ADA8-09D7F4F5F138}" type="datetimeFigureOut">
              <a:rPr lang="en-PH" smtClean="0"/>
              <a:t>13/03/2026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78C01-4F8C-6364-8F83-03B3E8BE3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B38FF-BAE8-5722-D3D0-90B4222AF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F820C-7A2C-4EF4-B3D3-59524D89D1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94378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08719-A9A8-CF5A-B4BB-7DFD3475B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686EC-EAA9-8043-E1A4-2476038CC9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09951-48CE-0E6B-A88C-8074A3710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25AAC-E67F-4BC5-ADA8-09D7F4F5F138}" type="datetimeFigureOut">
              <a:rPr lang="en-PH" smtClean="0"/>
              <a:t>13/03/2026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F8D3A-6BA8-D3E7-4188-91B3A0393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2D5667-E787-B1DF-21EA-73A57873D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F820C-7A2C-4EF4-B3D3-59524D89D1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0644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DC2F1-4156-1128-C51F-1F9FB09C5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8DB7D-A73E-B22E-10BB-5CF5E9DDA0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63AEBF-A32A-5F42-E28D-186790C581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533B5A-4BB6-D7ED-61FC-1D267931C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25AAC-E67F-4BC5-ADA8-09D7F4F5F138}" type="datetimeFigureOut">
              <a:rPr lang="en-PH" smtClean="0"/>
              <a:t>13/03/2026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E3541C-270B-F40E-23AD-7BB819140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875A11-6A89-C219-6E07-99FDA1C8A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F820C-7A2C-4EF4-B3D3-59524D89D1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44876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FF9F5-9DDC-26BC-DAA1-F4CDEC9AD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233504-6A46-3D78-1C21-C86B286D3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E6FA5A-3D74-4A40-470E-BA2B6014FB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7D7DE7-F8C1-E444-66DD-46EBC687C1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A8791E-C37C-7C90-16AF-E5556674C0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D6F40A-5731-B339-9A1A-47CDA3648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25AAC-E67F-4BC5-ADA8-09D7F4F5F138}" type="datetimeFigureOut">
              <a:rPr lang="en-PH" smtClean="0"/>
              <a:t>13/03/2026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EB6CDA-2BDE-68C9-804B-D4AA6A534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A0ABA9-316E-53C9-8102-5F98A7585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F820C-7A2C-4EF4-B3D3-59524D89D1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03866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859BC-7DAE-DC52-23DF-B8F17645D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E1E60F-2551-13FF-2977-9C0256CEC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25AAC-E67F-4BC5-ADA8-09D7F4F5F138}" type="datetimeFigureOut">
              <a:rPr lang="en-PH" smtClean="0"/>
              <a:t>13/03/2026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3EEE19-48E0-46A1-6D77-EDF9DDC29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DE6048-D145-5013-1C18-421A44777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F820C-7A2C-4EF4-B3D3-59524D89D1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06295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C2F06E-E787-F8EC-B085-0445B3B66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25AAC-E67F-4BC5-ADA8-09D7F4F5F138}" type="datetimeFigureOut">
              <a:rPr lang="en-PH" smtClean="0"/>
              <a:t>13/03/2026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B31E9F-3F36-8A42-0B36-135E08600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A74BCB-4BBD-1B08-076A-4F1A04EA5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F820C-7A2C-4EF4-B3D3-59524D89D1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61560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78786-5263-36B0-91F9-0F0E8FACE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E16FE-297F-7FFE-BBDD-3A1A46E10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34ECBF-5596-48DF-F32A-F3C0DA9ABA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3F3503-1C97-4ED5-E1B8-8F45AB680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25AAC-E67F-4BC5-ADA8-09D7F4F5F138}" type="datetimeFigureOut">
              <a:rPr lang="en-PH" smtClean="0"/>
              <a:t>13/03/2026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7AD452-5984-C5BA-5E8E-ECE2DF29E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D6653A-EC78-1797-8B4D-FAF984335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F820C-7A2C-4EF4-B3D3-59524D89D1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11741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90163-88FC-44E9-C1AE-742D28C8D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0105A8-B5A3-5C78-45FA-8B0924198F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C89FF7-42D5-735E-3EAC-89B146839D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5FDAE8-C25A-BF99-8E09-5FDBDCCB9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25AAC-E67F-4BC5-ADA8-09D7F4F5F138}" type="datetimeFigureOut">
              <a:rPr lang="en-PH" smtClean="0"/>
              <a:t>13/03/2026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443C2F-7522-A24F-4E79-6CF321F60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91A4A8-115D-DB65-D1B9-3765C05FC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F820C-7A2C-4EF4-B3D3-59524D89D1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87849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D723F-7E93-1F12-F1CC-6AF6D15A4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94E325-39BA-331B-31D7-582A2D7002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51E37-6961-5336-22DD-A6FB58DD3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25AAC-E67F-4BC5-ADA8-09D7F4F5F138}" type="datetimeFigureOut">
              <a:rPr lang="en-PH" smtClean="0"/>
              <a:t>13/03/2026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D3EF1-1065-0FAE-DC84-C90124855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818B10-6914-4C2D-D9F5-AB17011C6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F820C-7A2C-4EF4-B3D3-59524D89D1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14437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37BCD2-8511-5F07-E281-C8DD192889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D258F1-DF1D-5EBF-D02E-1BB24B250D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C0ABED-6654-E696-A82C-76D71993D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25AAC-E67F-4BC5-ADA8-09D7F4F5F138}" type="datetimeFigureOut">
              <a:rPr lang="en-PH" smtClean="0"/>
              <a:t>13/03/2026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723E25-A2DA-F2E5-BABB-137E73B41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466C3-D725-52A0-744B-7748E4EE0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F820C-7A2C-4EF4-B3D3-59524D89D1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59580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DD285D-8AD3-FFB7-7C4E-C1108011F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9D123C-0759-66EC-6B6C-26F96A4BF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3A276-B6CC-8B9B-9E84-4D1B4E9C8C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E25AAC-E67F-4BC5-ADA8-09D7F4F5F138}" type="datetimeFigureOut">
              <a:rPr lang="en-PH" smtClean="0"/>
              <a:t>13/03/2026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165A5-E39F-46A8-FF85-14844B7512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37A089-D9B8-1319-1791-AA1244A1D5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1F820C-7A2C-4EF4-B3D3-59524D89D1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4748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732303-6ACD-CA59-1E53-C8BB13A6DFC1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A73BDE-36C8-2C4D-496E-E3B72373213B}"/>
              </a:ext>
            </a:extLst>
          </p:cNvPr>
          <p:cNvSpPr/>
          <p:nvPr/>
        </p:nvSpPr>
        <p:spPr>
          <a:xfrm>
            <a:off x="457200" y="2377440"/>
            <a:ext cx="4114800" cy="914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B70225-555C-DCD6-3F41-B69CD7AC5846}"/>
              </a:ext>
            </a:extLst>
          </p:cNvPr>
          <p:cNvSpPr/>
          <p:nvPr/>
        </p:nvSpPr>
        <p:spPr>
          <a:xfrm>
            <a:off x="457200" y="4754880"/>
            <a:ext cx="2743200" cy="914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4AF05D-EBC4-F4DD-3870-57E5DD6961A0}"/>
              </a:ext>
            </a:extLst>
          </p:cNvPr>
          <p:cNvSpPr txBox="1"/>
          <p:nvPr/>
        </p:nvSpPr>
        <p:spPr>
          <a:xfrm>
            <a:off x="731520" y="1097280"/>
            <a:ext cx="91440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4800" b="1">
                <a:solidFill>
                  <a:srgbClr val="FFFFFF"/>
                </a:solidFill>
                <a:latin typeface="Arial" panose="020B0604020202020204" pitchFamily="34" charset="0"/>
              </a:rPr>
              <a:t>CREDIT CARD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E18455-D882-EA9D-B306-ABDD44E9D78E}"/>
              </a:ext>
            </a:extLst>
          </p:cNvPr>
          <p:cNvSpPr txBox="1"/>
          <p:nvPr/>
        </p:nvSpPr>
        <p:spPr>
          <a:xfrm>
            <a:off x="731520" y="1691640"/>
            <a:ext cx="91440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4800" b="1">
                <a:solidFill>
                  <a:srgbClr val="F08248"/>
                </a:solidFill>
                <a:latin typeface="Arial" panose="020B0604020202020204" pitchFamily="34" charset="0"/>
              </a:rPr>
              <a:t>CUSTOMER ATTRITION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0008F7-81DE-E67A-CE3B-52C7AC358EB8}"/>
              </a:ext>
            </a:extLst>
          </p:cNvPr>
          <p:cNvSpPr txBox="1"/>
          <p:nvPr/>
        </p:nvSpPr>
        <p:spPr>
          <a:xfrm>
            <a:off x="731520" y="2606040"/>
            <a:ext cx="73152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200">
                <a:solidFill>
                  <a:srgbClr val="C8DCFC"/>
                </a:solidFill>
                <a:latin typeface="Arial" panose="020B0604020202020204" pitchFamily="34" charset="0"/>
              </a:rPr>
              <a:t>Predictive Modeling &amp; 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A75882-065B-6BA2-653F-7486670C9C9C}"/>
              </a:ext>
            </a:extLst>
          </p:cNvPr>
          <p:cNvSpPr txBox="1"/>
          <p:nvPr/>
        </p:nvSpPr>
        <p:spPr>
          <a:xfrm>
            <a:off x="914400" y="3931920"/>
            <a:ext cx="2286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600" b="1">
                <a:solidFill>
                  <a:srgbClr val="F08248"/>
                </a:solidFill>
                <a:latin typeface="Arial" panose="020B0604020202020204" pitchFamily="34" charset="0"/>
              </a:rPr>
              <a:t>100K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932428-0242-EF97-BB95-69BC80119391}"/>
              </a:ext>
            </a:extLst>
          </p:cNvPr>
          <p:cNvSpPr txBox="1"/>
          <p:nvPr/>
        </p:nvSpPr>
        <p:spPr>
          <a:xfrm>
            <a:off x="914400" y="443484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Customer Records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763818-2B81-54CE-8DC5-381E0A61C8B0}"/>
              </a:ext>
            </a:extLst>
          </p:cNvPr>
          <p:cNvSpPr txBox="1"/>
          <p:nvPr/>
        </p:nvSpPr>
        <p:spPr>
          <a:xfrm>
            <a:off x="3474720" y="3931920"/>
            <a:ext cx="2286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600" b="1">
                <a:solidFill>
                  <a:srgbClr val="F08248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71FC2B-A975-C6E6-C954-703FA7C499E8}"/>
              </a:ext>
            </a:extLst>
          </p:cNvPr>
          <p:cNvSpPr txBox="1"/>
          <p:nvPr/>
        </p:nvSpPr>
        <p:spPr>
          <a:xfrm>
            <a:off x="3474720" y="443484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Core Features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3F8A1C-6E21-50EA-60E6-1CE135FF1E8C}"/>
              </a:ext>
            </a:extLst>
          </p:cNvPr>
          <p:cNvSpPr txBox="1"/>
          <p:nvPr/>
        </p:nvSpPr>
        <p:spPr>
          <a:xfrm>
            <a:off x="6035040" y="3931920"/>
            <a:ext cx="2286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600" b="1">
                <a:solidFill>
                  <a:srgbClr val="F08248"/>
                </a:solidFill>
                <a:latin typeface="Arial" panose="020B0604020202020204" pitchFamily="34" charset="0"/>
              </a:rPr>
              <a:t>~5%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322AE6-CF1B-DE83-3A69-567904B10160}"/>
              </a:ext>
            </a:extLst>
          </p:cNvPr>
          <p:cNvSpPr txBox="1"/>
          <p:nvPr/>
        </p:nvSpPr>
        <p:spPr>
          <a:xfrm>
            <a:off x="6035040" y="443484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Churn Rate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23E857-49A3-0812-A260-5C686D04BDBD}"/>
              </a:ext>
            </a:extLst>
          </p:cNvPr>
          <p:cNvSpPr txBox="1"/>
          <p:nvPr/>
        </p:nvSpPr>
        <p:spPr>
          <a:xfrm>
            <a:off x="8595360" y="3931920"/>
            <a:ext cx="2286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600" b="1">
                <a:solidFill>
                  <a:srgbClr val="F08248"/>
                </a:solidFill>
                <a:latin typeface="Arial" panose="020B0604020202020204" pitchFamily="34" charset="0"/>
              </a:rPr>
              <a:t>0.05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67A5EB-0A2F-FA9E-4CA3-4EFF94F80937}"/>
              </a:ext>
            </a:extLst>
          </p:cNvPr>
          <p:cNvSpPr txBox="1"/>
          <p:nvPr/>
        </p:nvSpPr>
        <p:spPr>
          <a:xfrm>
            <a:off x="8595360" y="443484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Best PR-AUC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0DD29B-BC6C-44AC-1A9F-BDDCEDAFE3E2}"/>
              </a:ext>
            </a:extLst>
          </p:cNvPr>
          <p:cNvSpPr txBox="1"/>
          <p:nvPr/>
        </p:nvSpPr>
        <p:spPr>
          <a:xfrm>
            <a:off x="731520" y="6217920"/>
            <a:ext cx="5486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 dirty="0">
                <a:solidFill>
                  <a:srgbClr val="9E9E9E"/>
                </a:solidFill>
                <a:latin typeface="Arial" panose="020B0604020202020204" pitchFamily="34" charset="0"/>
              </a:rPr>
              <a:t>Copino, Roland D. | UBP Data Science Applicant</a:t>
            </a:r>
          </a:p>
        </p:txBody>
      </p:sp>
    </p:spTree>
    <p:extLst>
      <p:ext uri="{BB962C8B-B14F-4D97-AF65-F5344CB8AC3E}">
        <p14:creationId xmlns:p14="http://schemas.microsoft.com/office/powerpoint/2010/main" val="2478376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649C45-F6A0-95AE-7E57-AED239DECB35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C88CE6-926E-A38B-04A2-9B16FB4CFBA5}"/>
              </a:ext>
            </a:extLst>
          </p:cNvPr>
          <p:cNvSpPr txBox="1"/>
          <p:nvPr/>
        </p:nvSpPr>
        <p:spPr>
          <a:xfrm>
            <a:off x="731520" y="457200"/>
            <a:ext cx="9144000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3200" b="1" dirty="0">
                <a:solidFill>
                  <a:srgbClr val="FFFFFF"/>
                </a:solidFill>
                <a:latin typeface="Arial" panose="020B0604020202020204" pitchFamily="34" charset="0"/>
              </a:rPr>
              <a:t>OUTLINE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DB2A8A9-D245-E1E0-56B7-BCD3275D3329}"/>
              </a:ext>
            </a:extLst>
          </p:cNvPr>
          <p:cNvSpPr/>
          <p:nvPr/>
        </p:nvSpPr>
        <p:spPr>
          <a:xfrm>
            <a:off x="731520" y="1188720"/>
            <a:ext cx="10515600" cy="73152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8674C6-6169-18CD-7C8F-C909D2500C44}"/>
              </a:ext>
            </a:extLst>
          </p:cNvPr>
          <p:cNvSpPr txBox="1"/>
          <p:nvPr/>
        </p:nvSpPr>
        <p:spPr>
          <a:xfrm>
            <a:off x="1005840" y="1280160"/>
            <a:ext cx="73152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400" b="1">
                <a:solidFill>
                  <a:srgbClr val="F08248"/>
                </a:solidFill>
                <a:latin typeface="Arial" panose="020B0604020202020204" pitchFamily="34" charset="0"/>
              </a:rPr>
              <a:t>01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0C6F04-1B50-D091-F11F-FCACDD64F966}"/>
              </a:ext>
            </a:extLst>
          </p:cNvPr>
          <p:cNvSpPr txBox="1"/>
          <p:nvPr/>
        </p:nvSpPr>
        <p:spPr>
          <a:xfrm>
            <a:off x="1920240" y="1234440"/>
            <a:ext cx="4572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>
                <a:solidFill>
                  <a:srgbClr val="FFFFFF"/>
                </a:solidFill>
                <a:latin typeface="Arial" panose="020B0604020202020204" pitchFamily="34" charset="0"/>
              </a:rPr>
              <a:t>Statistical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012981-F1D0-E41A-2302-2FE558BD32C9}"/>
              </a:ext>
            </a:extLst>
          </p:cNvPr>
          <p:cNvSpPr txBox="1"/>
          <p:nvPr/>
        </p:nvSpPr>
        <p:spPr>
          <a:xfrm>
            <a:off x="1920240" y="1572768"/>
            <a:ext cx="6400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 sz="1200" dirty="0">
                <a:solidFill>
                  <a:srgbClr val="9E9E9E"/>
                </a:solidFill>
                <a:latin typeface="Arial" panose="020B0604020202020204" pitchFamily="34" charset="0"/>
              </a:rPr>
              <a:t>Univariate, Bivariate, Multivariate, Significance Tests</a:t>
            </a:r>
            <a:endParaRPr lang="en-PH" sz="1200" dirty="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25E542A-21DB-25EE-F48C-677B4919A2B6}"/>
              </a:ext>
            </a:extLst>
          </p:cNvPr>
          <p:cNvSpPr/>
          <p:nvPr/>
        </p:nvSpPr>
        <p:spPr>
          <a:xfrm>
            <a:off x="731520" y="2057400"/>
            <a:ext cx="10515600" cy="73152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2EFB0D-C8F2-B9C8-A6DA-97E9EB50D9C7}"/>
              </a:ext>
            </a:extLst>
          </p:cNvPr>
          <p:cNvSpPr txBox="1"/>
          <p:nvPr/>
        </p:nvSpPr>
        <p:spPr>
          <a:xfrm>
            <a:off x="1005840" y="2148840"/>
            <a:ext cx="73152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400" b="1">
                <a:solidFill>
                  <a:srgbClr val="F08248"/>
                </a:solidFill>
                <a:latin typeface="Arial" panose="020B0604020202020204" pitchFamily="34" charset="0"/>
              </a:rPr>
              <a:t>02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B4E6C9-5431-02BC-15C7-B6DDE43FCB45}"/>
              </a:ext>
            </a:extLst>
          </p:cNvPr>
          <p:cNvSpPr txBox="1"/>
          <p:nvPr/>
        </p:nvSpPr>
        <p:spPr>
          <a:xfrm>
            <a:off x="1920240" y="2103120"/>
            <a:ext cx="4572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>
                <a:solidFill>
                  <a:srgbClr val="FFFFFF"/>
                </a:solidFill>
                <a:latin typeface="Arial" panose="020B0604020202020204" pitchFamily="34" charset="0"/>
              </a:rPr>
              <a:t>Exploratory Data Analysis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1A4E35-1944-8DA2-8165-F63FAA658EC2}"/>
              </a:ext>
            </a:extLst>
          </p:cNvPr>
          <p:cNvSpPr txBox="1"/>
          <p:nvPr/>
        </p:nvSpPr>
        <p:spPr>
          <a:xfrm>
            <a:off x="1920240" y="2441448"/>
            <a:ext cx="6400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9E9E9E"/>
                </a:solidFill>
                <a:latin typeface="Arial" panose="020B0604020202020204" pitchFamily="34" charset="0"/>
              </a:rPr>
              <a:t>Behavioral, Lifecycle, Demographic, Geographic deep-dive</a:t>
            </a:r>
            <a:endParaRPr lang="en-PH" sz="12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430978B-E8C5-3AD5-5DEC-D582F5B1634E}"/>
              </a:ext>
            </a:extLst>
          </p:cNvPr>
          <p:cNvSpPr/>
          <p:nvPr/>
        </p:nvSpPr>
        <p:spPr>
          <a:xfrm>
            <a:off x="731520" y="2926080"/>
            <a:ext cx="10515600" cy="73152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91ABCE-D4D4-C567-5B5E-9C61A8B59E37}"/>
              </a:ext>
            </a:extLst>
          </p:cNvPr>
          <p:cNvSpPr txBox="1"/>
          <p:nvPr/>
        </p:nvSpPr>
        <p:spPr>
          <a:xfrm>
            <a:off x="1005840" y="3017520"/>
            <a:ext cx="73152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400" b="1">
                <a:solidFill>
                  <a:srgbClr val="F08248"/>
                </a:solidFill>
                <a:latin typeface="Arial" panose="020B0604020202020204" pitchFamily="34" charset="0"/>
              </a:rPr>
              <a:t>03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3CD900-D741-6E6F-1708-D4C618434909}"/>
              </a:ext>
            </a:extLst>
          </p:cNvPr>
          <p:cNvSpPr txBox="1"/>
          <p:nvPr/>
        </p:nvSpPr>
        <p:spPr>
          <a:xfrm>
            <a:off x="1920240" y="2971800"/>
            <a:ext cx="4572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>
                <a:solidFill>
                  <a:srgbClr val="FFFFFF"/>
                </a:solidFill>
                <a:latin typeface="Arial" panose="020B0604020202020204" pitchFamily="34" charset="0"/>
              </a:rPr>
              <a:t>Model-Based Signal Validation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9A0546E-DBE0-A668-8038-45AB3A4A510E}"/>
              </a:ext>
            </a:extLst>
          </p:cNvPr>
          <p:cNvSpPr txBox="1"/>
          <p:nvPr/>
        </p:nvSpPr>
        <p:spPr>
          <a:xfrm>
            <a:off x="1920240" y="3310128"/>
            <a:ext cx="6400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9E9E9E"/>
                </a:solidFill>
                <a:latin typeface="Arial" panose="020B0604020202020204" pitchFamily="34" charset="0"/>
              </a:rPr>
              <a:t>Decision Tree + XGBoost as diagnostic tools</a:t>
            </a:r>
            <a:endParaRPr lang="en-PH" sz="12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C6BD3B4-4815-7D7B-6C41-24B1AF584179}"/>
              </a:ext>
            </a:extLst>
          </p:cNvPr>
          <p:cNvSpPr/>
          <p:nvPr/>
        </p:nvSpPr>
        <p:spPr>
          <a:xfrm>
            <a:off x="731520" y="3794760"/>
            <a:ext cx="10515600" cy="73152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729303B-9D12-53B2-B43A-E868801E6F9F}"/>
              </a:ext>
            </a:extLst>
          </p:cNvPr>
          <p:cNvSpPr txBox="1"/>
          <p:nvPr/>
        </p:nvSpPr>
        <p:spPr>
          <a:xfrm>
            <a:off x="1005840" y="3886200"/>
            <a:ext cx="73152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400" b="1">
                <a:solidFill>
                  <a:srgbClr val="F08248"/>
                </a:solidFill>
                <a:latin typeface="Arial" panose="020B0604020202020204" pitchFamily="34" charset="0"/>
              </a:rPr>
              <a:t>04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FD6226-E145-26F6-D2D6-DFA805B8DDD1}"/>
              </a:ext>
            </a:extLst>
          </p:cNvPr>
          <p:cNvSpPr txBox="1"/>
          <p:nvPr/>
        </p:nvSpPr>
        <p:spPr>
          <a:xfrm>
            <a:off x="1920240" y="3840480"/>
            <a:ext cx="4572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>
                <a:solidFill>
                  <a:srgbClr val="FFFFFF"/>
                </a:solidFill>
                <a:latin typeface="Arial" panose="020B0604020202020204" pitchFamily="34" charset="0"/>
              </a:rPr>
              <a:t>Pre-processing Pipeline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F6648D-9F10-1204-8A5D-B5273469CB9D}"/>
              </a:ext>
            </a:extLst>
          </p:cNvPr>
          <p:cNvSpPr txBox="1"/>
          <p:nvPr/>
        </p:nvSpPr>
        <p:spPr>
          <a:xfrm>
            <a:off x="1920240" y="4178808"/>
            <a:ext cx="6400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9E9E9E"/>
                </a:solidFill>
                <a:latin typeface="Arial" panose="020B0604020202020204" pitchFamily="34" charset="0"/>
              </a:rPr>
              <a:t>Three model-specific data tables, shared split</a:t>
            </a:r>
            <a:endParaRPr lang="en-PH" sz="12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1B10854-DFD5-94E8-4386-F0CBD0653319}"/>
              </a:ext>
            </a:extLst>
          </p:cNvPr>
          <p:cNvSpPr/>
          <p:nvPr/>
        </p:nvSpPr>
        <p:spPr>
          <a:xfrm>
            <a:off x="731520" y="4663440"/>
            <a:ext cx="10515600" cy="73152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C7A4791-EED5-1AA8-19E7-2FE86FFB31B7}"/>
              </a:ext>
            </a:extLst>
          </p:cNvPr>
          <p:cNvSpPr txBox="1"/>
          <p:nvPr/>
        </p:nvSpPr>
        <p:spPr>
          <a:xfrm>
            <a:off x="1005840" y="4754880"/>
            <a:ext cx="73152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400" b="1">
                <a:solidFill>
                  <a:srgbClr val="F08248"/>
                </a:solidFill>
                <a:latin typeface="Arial" panose="020B0604020202020204" pitchFamily="34" charset="0"/>
              </a:rPr>
              <a:t>05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BC050F5-DF0D-92A5-16B7-FBDD38220D56}"/>
              </a:ext>
            </a:extLst>
          </p:cNvPr>
          <p:cNvSpPr txBox="1"/>
          <p:nvPr/>
        </p:nvSpPr>
        <p:spPr>
          <a:xfrm>
            <a:off x="1920240" y="4709160"/>
            <a:ext cx="4572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>
                <a:solidFill>
                  <a:srgbClr val="FFFFFF"/>
                </a:solidFill>
                <a:latin typeface="Arial" panose="020B0604020202020204" pitchFamily="34" charset="0"/>
              </a:rPr>
              <a:t>Model Development &amp; Evaluation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D2DFFEA-F0CE-9338-8735-240D2A0C3ACC}"/>
              </a:ext>
            </a:extLst>
          </p:cNvPr>
          <p:cNvSpPr txBox="1"/>
          <p:nvPr/>
        </p:nvSpPr>
        <p:spPr>
          <a:xfrm>
            <a:off x="1920240" y="5047488"/>
            <a:ext cx="6400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dirty="0">
                <a:solidFill>
                  <a:srgbClr val="9E9E9E"/>
                </a:solidFill>
                <a:latin typeface="Arial" panose="020B0604020202020204" pitchFamily="34" charset="0"/>
              </a:rPr>
              <a:t>LR, EBM, </a:t>
            </a:r>
            <a:r>
              <a:rPr lang="en-US" sz="1200" dirty="0" err="1">
                <a:solidFill>
                  <a:srgbClr val="9E9E9E"/>
                </a:solidFill>
                <a:latin typeface="Arial" panose="020B0604020202020204" pitchFamily="34" charset="0"/>
              </a:rPr>
              <a:t>XGBoost</a:t>
            </a:r>
            <a:endParaRPr lang="en-PH" sz="1200" dirty="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8EAA754-6D6B-2E85-DC9F-92765AC94B99}"/>
              </a:ext>
            </a:extLst>
          </p:cNvPr>
          <p:cNvSpPr/>
          <p:nvPr/>
        </p:nvSpPr>
        <p:spPr>
          <a:xfrm>
            <a:off x="731520" y="5532120"/>
            <a:ext cx="10515600" cy="73152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327444A-2F0B-9D59-E220-0C86AA982D61}"/>
              </a:ext>
            </a:extLst>
          </p:cNvPr>
          <p:cNvSpPr txBox="1"/>
          <p:nvPr/>
        </p:nvSpPr>
        <p:spPr>
          <a:xfrm>
            <a:off x="1005840" y="5623560"/>
            <a:ext cx="73152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400" b="1">
                <a:solidFill>
                  <a:srgbClr val="F08248"/>
                </a:solidFill>
                <a:latin typeface="Arial" panose="020B0604020202020204" pitchFamily="34" charset="0"/>
              </a:rPr>
              <a:t>06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2078290-0CB1-E86B-CE87-0945DA39BE06}"/>
              </a:ext>
            </a:extLst>
          </p:cNvPr>
          <p:cNvSpPr txBox="1"/>
          <p:nvPr/>
        </p:nvSpPr>
        <p:spPr>
          <a:xfrm>
            <a:off x="1920240" y="5577840"/>
            <a:ext cx="4572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>
                <a:solidFill>
                  <a:srgbClr val="FFFFFF"/>
                </a:solidFill>
                <a:latin typeface="Arial" panose="020B0604020202020204" pitchFamily="34" charset="0"/>
              </a:rPr>
              <a:t>Production Pipeline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9CCCF41-18C8-C914-53C8-B71FE1CFFAA9}"/>
              </a:ext>
            </a:extLst>
          </p:cNvPr>
          <p:cNvSpPr txBox="1"/>
          <p:nvPr/>
        </p:nvSpPr>
        <p:spPr>
          <a:xfrm>
            <a:off x="1920240" y="5916168"/>
            <a:ext cx="6400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FastAPI, PSI Drift Monitoring, Rule-Based Recommender, Docker</a:t>
            </a:r>
          </a:p>
        </p:txBody>
      </p:sp>
    </p:spTree>
    <p:extLst>
      <p:ext uri="{BB962C8B-B14F-4D97-AF65-F5344CB8AC3E}">
        <p14:creationId xmlns:p14="http://schemas.microsoft.com/office/powerpoint/2010/main" val="3778025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B18D48-46EA-0A8E-77C5-3B7FB36B46CC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1E158B-4D06-9590-E835-EF90F910FECB}"/>
              </a:ext>
            </a:extLst>
          </p:cNvPr>
          <p:cNvSpPr txBox="1"/>
          <p:nvPr/>
        </p:nvSpPr>
        <p:spPr>
          <a:xfrm>
            <a:off x="731520" y="58677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 dirty="0">
                <a:solidFill>
                  <a:srgbClr val="1A2A3D"/>
                </a:solidFill>
                <a:latin typeface="Arial" panose="020B0604020202020204" pitchFamily="34" charset="0"/>
              </a:rPr>
              <a:t>Problem Statement &amp; Background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2A28ACE-F4C7-0D67-4CDD-11B92A313440}"/>
              </a:ext>
            </a:extLst>
          </p:cNvPr>
          <p:cNvSpPr/>
          <p:nvPr/>
        </p:nvSpPr>
        <p:spPr>
          <a:xfrm>
            <a:off x="731520" y="1463040"/>
            <a:ext cx="53035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A66162-E0C5-4972-39A4-08D707DB186C}"/>
              </a:ext>
            </a:extLst>
          </p:cNvPr>
          <p:cNvSpPr/>
          <p:nvPr/>
        </p:nvSpPr>
        <p:spPr>
          <a:xfrm>
            <a:off x="731520" y="1463040"/>
            <a:ext cx="54864" cy="2011680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735674-2593-5AED-5797-BAA6CC3D124B}"/>
              </a:ext>
            </a:extLst>
          </p:cNvPr>
          <p:cNvSpPr txBox="1"/>
          <p:nvPr/>
        </p:nvSpPr>
        <p:spPr>
          <a:xfrm>
            <a:off x="1097280" y="1600200"/>
            <a:ext cx="4572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F08248"/>
                </a:solidFill>
                <a:latin typeface="Arial" panose="020B0604020202020204" pitchFamily="34" charset="0"/>
              </a:rPr>
              <a:t>BUSINESS CHALLENGE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23839A-ACD1-9015-C84C-568CEABEF862}"/>
              </a:ext>
            </a:extLst>
          </p:cNvPr>
          <p:cNvSpPr txBox="1"/>
          <p:nvPr/>
        </p:nvSpPr>
        <p:spPr>
          <a:xfrm>
            <a:off x="1097280" y="2011680"/>
            <a:ext cx="4572000" cy="95410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A major bank is experiencing customer churn in its credit card division. Understanding the drivers of attrition is critical for retention strategy design and improving customer satisfaction.</a:t>
            </a:r>
            <a:endParaRPr lang="en-PH" sz="1400" dirty="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A658C2F-0100-C452-2D40-5A85E1349F5D}"/>
              </a:ext>
            </a:extLst>
          </p:cNvPr>
          <p:cNvSpPr/>
          <p:nvPr/>
        </p:nvSpPr>
        <p:spPr>
          <a:xfrm>
            <a:off x="6400800" y="1463040"/>
            <a:ext cx="502920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7F2C39-4809-E1A9-11E1-E7298AF312A6}"/>
              </a:ext>
            </a:extLst>
          </p:cNvPr>
          <p:cNvSpPr/>
          <p:nvPr/>
        </p:nvSpPr>
        <p:spPr>
          <a:xfrm>
            <a:off x="6400800" y="1463040"/>
            <a:ext cx="54864" cy="2011680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F5E404-4DF5-45D1-C3ED-33B6A94C557D}"/>
              </a:ext>
            </a:extLst>
          </p:cNvPr>
          <p:cNvSpPr txBox="1"/>
          <p:nvPr/>
        </p:nvSpPr>
        <p:spPr>
          <a:xfrm>
            <a:off x="6766560" y="1600200"/>
            <a:ext cx="438912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208090"/>
                </a:solidFill>
                <a:latin typeface="Arial" panose="020B0604020202020204" pitchFamily="34" charset="0"/>
              </a:rPr>
              <a:t>OBJECTIVE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BB43F6-857F-CD34-0F47-C4A8DD158AEE}"/>
              </a:ext>
            </a:extLst>
          </p:cNvPr>
          <p:cNvSpPr txBox="1"/>
          <p:nvPr/>
        </p:nvSpPr>
        <p:spPr>
          <a:xfrm>
            <a:off x="6766560" y="2011680"/>
            <a:ext cx="438912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4B4B4B"/>
                </a:solidFill>
                <a:latin typeface="Arial" panose="020B0604020202020204" pitchFamily="34" charset="0"/>
              </a:rPr>
              <a:t>Build a predictive model to identify customers likely to close their credit card accounts, enabling proactive intervention before attrition occurs.</a:t>
            </a:r>
            <a:endParaRPr lang="en-PH" sz="14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6FD83A-AAD1-14E2-F805-0785B44945E4}"/>
              </a:ext>
            </a:extLst>
          </p:cNvPr>
          <p:cNvSpPr txBox="1"/>
          <p:nvPr/>
        </p:nvSpPr>
        <p:spPr>
          <a:xfrm>
            <a:off x="731520" y="3749040"/>
            <a:ext cx="4572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>
                <a:solidFill>
                  <a:srgbClr val="1A2A3D"/>
                </a:solidFill>
                <a:latin typeface="Arial" panose="020B0604020202020204" pitchFamily="34" charset="0"/>
              </a:rPr>
              <a:t>TASK SCOPE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8976913-3A75-98E1-959E-68F708151F23}"/>
              </a:ext>
            </a:extLst>
          </p:cNvPr>
          <p:cNvSpPr/>
          <p:nvPr/>
        </p:nvSpPr>
        <p:spPr>
          <a:xfrm>
            <a:off x="731520" y="4160520"/>
            <a:ext cx="34747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CB93D9-2324-E255-C917-14B0C6A863F4}"/>
              </a:ext>
            </a:extLst>
          </p:cNvPr>
          <p:cNvSpPr txBox="1"/>
          <p:nvPr/>
        </p:nvSpPr>
        <p:spPr>
          <a:xfrm>
            <a:off x="1005840" y="4251960"/>
            <a:ext cx="301752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1. Data Understanding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49E37C-75CB-761D-85AC-2FD130CCBBC4}"/>
              </a:ext>
            </a:extLst>
          </p:cNvPr>
          <p:cNvSpPr txBox="1"/>
          <p:nvPr/>
        </p:nvSpPr>
        <p:spPr>
          <a:xfrm>
            <a:off x="1005840" y="4599432"/>
            <a:ext cx="301752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Missing values, outliers, duplicates, imbalance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89E3554-E5BB-3ED6-341E-C8CB2F8A3C64}"/>
              </a:ext>
            </a:extLst>
          </p:cNvPr>
          <p:cNvSpPr/>
          <p:nvPr/>
        </p:nvSpPr>
        <p:spPr>
          <a:xfrm>
            <a:off x="4480560" y="4160520"/>
            <a:ext cx="34747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FDE267-E9AF-8458-06D5-AC7AEEA8B7D0}"/>
              </a:ext>
            </a:extLst>
          </p:cNvPr>
          <p:cNvSpPr txBox="1"/>
          <p:nvPr/>
        </p:nvSpPr>
        <p:spPr>
          <a:xfrm>
            <a:off x="4754880" y="4251960"/>
            <a:ext cx="301752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2. Feature Engineering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BFD739-86C3-649E-B19B-BEAFB3A56339}"/>
              </a:ext>
            </a:extLst>
          </p:cNvPr>
          <p:cNvSpPr txBox="1"/>
          <p:nvPr/>
        </p:nvSpPr>
        <p:spPr>
          <a:xfrm>
            <a:off x="4754880" y="4599432"/>
            <a:ext cx="301752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Ratio features, log transforms, interactions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30A9E65-394E-3AAF-4133-0EA606FA1EAA}"/>
              </a:ext>
            </a:extLst>
          </p:cNvPr>
          <p:cNvSpPr/>
          <p:nvPr/>
        </p:nvSpPr>
        <p:spPr>
          <a:xfrm>
            <a:off x="8229600" y="4160520"/>
            <a:ext cx="34747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06130D-582A-0B2A-3546-53574DBB3D00}"/>
              </a:ext>
            </a:extLst>
          </p:cNvPr>
          <p:cNvSpPr txBox="1"/>
          <p:nvPr/>
        </p:nvSpPr>
        <p:spPr>
          <a:xfrm>
            <a:off x="8503920" y="4251960"/>
            <a:ext cx="301752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3. Model Development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91BB3F-3B7C-4819-14FF-EF9F18054B16}"/>
              </a:ext>
            </a:extLst>
          </p:cNvPr>
          <p:cNvSpPr txBox="1"/>
          <p:nvPr/>
        </p:nvSpPr>
        <p:spPr>
          <a:xfrm>
            <a:off x="8503920" y="4599432"/>
            <a:ext cx="30175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LR, EBM, XGBoost, Random Forest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F7A8D1C-F1F6-B63B-F2BE-00AD5EF4159D}"/>
              </a:ext>
            </a:extLst>
          </p:cNvPr>
          <p:cNvSpPr/>
          <p:nvPr/>
        </p:nvSpPr>
        <p:spPr>
          <a:xfrm>
            <a:off x="731520" y="5212080"/>
            <a:ext cx="34747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E964E4E-78AA-9024-938F-252B8DCF3559}"/>
              </a:ext>
            </a:extLst>
          </p:cNvPr>
          <p:cNvSpPr txBox="1"/>
          <p:nvPr/>
        </p:nvSpPr>
        <p:spPr>
          <a:xfrm>
            <a:off x="1005840" y="5303520"/>
            <a:ext cx="301752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4. Model Evaluation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7D43B4-2DD5-13E6-C291-2AB701CE8F41}"/>
              </a:ext>
            </a:extLst>
          </p:cNvPr>
          <p:cNvSpPr txBox="1"/>
          <p:nvPr/>
        </p:nvSpPr>
        <p:spPr>
          <a:xfrm>
            <a:off x="1005840" y="5650992"/>
            <a:ext cx="301752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9E9E9E"/>
                </a:solidFill>
                <a:latin typeface="Arial" panose="020B0604020202020204" pitchFamily="34" charset="0"/>
              </a:rPr>
              <a:t>Accuracy, Precision, Recall, F1, ROC-AUC</a:t>
            </a:r>
            <a:endParaRPr lang="en-PH" sz="12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90B7578-26C6-9D78-F390-1A9D54DA437A}"/>
              </a:ext>
            </a:extLst>
          </p:cNvPr>
          <p:cNvSpPr/>
          <p:nvPr/>
        </p:nvSpPr>
        <p:spPr>
          <a:xfrm>
            <a:off x="4480560" y="5212080"/>
            <a:ext cx="34747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2ED5B3-0BDF-2195-C2AD-0F19CAACD6CD}"/>
              </a:ext>
            </a:extLst>
          </p:cNvPr>
          <p:cNvSpPr txBox="1"/>
          <p:nvPr/>
        </p:nvSpPr>
        <p:spPr>
          <a:xfrm>
            <a:off x="4754880" y="5303520"/>
            <a:ext cx="301752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5. Insights &amp; Strategy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271A3E5-43D0-824F-9BF0-68B6EE4CD347}"/>
              </a:ext>
            </a:extLst>
          </p:cNvPr>
          <p:cNvSpPr txBox="1"/>
          <p:nvPr/>
        </p:nvSpPr>
        <p:spPr>
          <a:xfrm>
            <a:off x="4754880" y="5650992"/>
            <a:ext cx="30175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9E9E9E"/>
                </a:solidFill>
                <a:latin typeface="Arial" panose="020B0604020202020204" pitchFamily="34" charset="0"/>
              </a:rPr>
              <a:t>Key drivers, actionable bank strategies</a:t>
            </a:r>
            <a:endParaRPr lang="en-PH" sz="12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7CE920C-A78C-E67C-8BE4-CDD67F4E61D4}"/>
              </a:ext>
            </a:extLst>
          </p:cNvPr>
          <p:cNvSpPr/>
          <p:nvPr/>
        </p:nvSpPr>
        <p:spPr>
          <a:xfrm>
            <a:off x="8229600" y="5212080"/>
            <a:ext cx="34747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4F8244-0D39-5DCB-602A-89B7177AE01C}"/>
              </a:ext>
            </a:extLst>
          </p:cNvPr>
          <p:cNvSpPr txBox="1"/>
          <p:nvPr/>
        </p:nvSpPr>
        <p:spPr>
          <a:xfrm>
            <a:off x="8503920" y="5303520"/>
            <a:ext cx="301752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6. Dashboard (Bonus)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FA921B0-8DC6-5434-DEC7-0B1A9314FC15}"/>
              </a:ext>
            </a:extLst>
          </p:cNvPr>
          <p:cNvSpPr txBox="1"/>
          <p:nvPr/>
        </p:nvSpPr>
        <p:spPr>
          <a:xfrm>
            <a:off x="8503920" y="5650992"/>
            <a:ext cx="30175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Streamlit interactive dashboard</a:t>
            </a:r>
          </a:p>
        </p:txBody>
      </p:sp>
    </p:spTree>
    <p:extLst>
      <p:ext uri="{BB962C8B-B14F-4D97-AF65-F5344CB8AC3E}">
        <p14:creationId xmlns:p14="http://schemas.microsoft.com/office/powerpoint/2010/main" val="856333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D6EF86-E38A-D77F-6453-BF4757103EF9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38B814-588B-5E72-87EC-EA93EA72D77E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 dirty="0">
                <a:latin typeface="Arial" panose="020B0604020202020204" pitchFamily="34" charset="0"/>
              </a:rPr>
              <a:t>Why Prediction Has Monetary Value</a:t>
            </a:r>
            <a:endParaRPr lang="en-PH" sz="2800" b="1" dirty="0"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BA46DB-C62C-1F23-CE35-EBF45C30140B}"/>
              </a:ext>
            </a:extLst>
          </p:cNvPr>
          <p:cNvSpPr txBox="1"/>
          <p:nvPr/>
        </p:nvSpPr>
        <p:spPr>
          <a:xfrm>
            <a:off x="731520" y="86868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 dirty="0">
                <a:latin typeface="Arial" panose="020B0604020202020204" pitchFamily="34" charset="0"/>
              </a:rPr>
              <a:t>A model that identifies the right 500 clients out of 100,000 - before they leave - is worth ₱6.95M in preserved revenue per cycle.</a:t>
            </a:r>
            <a:endParaRPr lang="en-PH" sz="1400" b="1" dirty="0">
              <a:latin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964880B-0AE1-CD3C-5310-ECD1F803BA56}"/>
              </a:ext>
            </a:extLst>
          </p:cNvPr>
          <p:cNvSpPr/>
          <p:nvPr/>
        </p:nvSpPr>
        <p:spPr>
          <a:xfrm>
            <a:off x="731520" y="1417320"/>
            <a:ext cx="338328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518758-B533-7B87-952D-9B57AF3B8D6F}"/>
              </a:ext>
            </a:extLst>
          </p:cNvPr>
          <p:cNvSpPr/>
          <p:nvPr/>
        </p:nvSpPr>
        <p:spPr>
          <a:xfrm>
            <a:off x="731520" y="1417320"/>
            <a:ext cx="3383280" cy="64008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35E440-4AB7-360C-DD66-4EEBB1B5B0EB}"/>
              </a:ext>
            </a:extLst>
          </p:cNvPr>
          <p:cNvSpPr txBox="1"/>
          <p:nvPr/>
        </p:nvSpPr>
        <p:spPr>
          <a:xfrm>
            <a:off x="1005840" y="1600200"/>
            <a:ext cx="283464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>
                <a:solidFill>
                  <a:srgbClr val="9E9E9E"/>
                </a:solidFill>
                <a:latin typeface="Arial" panose="020B0604020202020204" pitchFamily="34" charset="0"/>
              </a:rPr>
              <a:t>Cost to Acquire 1 Client</a:t>
            </a:r>
            <a:endParaRPr lang="en-PH" sz="13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21C3F0-53D3-630D-C32D-39C5C6A3E46D}"/>
              </a:ext>
            </a:extLst>
          </p:cNvPr>
          <p:cNvSpPr txBox="1"/>
          <p:nvPr/>
        </p:nvSpPr>
        <p:spPr>
          <a:xfrm>
            <a:off x="1005840" y="1920240"/>
            <a:ext cx="283464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800" b="1">
                <a:solidFill>
                  <a:srgbClr val="E84747"/>
                </a:solidFill>
                <a:latin typeface="Arial" panose="020B0604020202020204" pitchFamily="34" charset="0"/>
              </a:rPr>
              <a:t>₱5K – ₱15K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01AD46-C78B-80AA-0296-DD4696ACC314}"/>
              </a:ext>
            </a:extLst>
          </p:cNvPr>
          <p:cNvSpPr txBox="1"/>
          <p:nvPr/>
        </p:nvSpPr>
        <p:spPr>
          <a:xfrm>
            <a:off x="1005840" y="2514600"/>
            <a:ext cx="283464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200" dirty="0">
                <a:solidFill>
                  <a:srgbClr val="9E9E9E"/>
                </a:solidFill>
                <a:latin typeface="Arial" panose="020B0604020202020204" pitchFamily="34" charset="0"/>
              </a:rPr>
              <a:t>vs. ~₱500 to retain  (BSP, 2023)</a:t>
            </a:r>
            <a:endParaRPr lang="en-PH" sz="1200" dirty="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28C9978-AE10-2A17-CC80-FBC7A1A1DAD6}"/>
              </a:ext>
            </a:extLst>
          </p:cNvPr>
          <p:cNvSpPr/>
          <p:nvPr/>
        </p:nvSpPr>
        <p:spPr>
          <a:xfrm>
            <a:off x="4389120" y="1417320"/>
            <a:ext cx="338328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F25929-0B0B-F72F-B8BD-5E81D9E8FEFA}"/>
              </a:ext>
            </a:extLst>
          </p:cNvPr>
          <p:cNvSpPr/>
          <p:nvPr/>
        </p:nvSpPr>
        <p:spPr>
          <a:xfrm>
            <a:off x="4389120" y="1417320"/>
            <a:ext cx="3383280" cy="64008"/>
          </a:xfrm>
          <a:prstGeom prst="rect">
            <a:avLst/>
          </a:prstGeom>
          <a:solidFill>
            <a:srgbClr val="E8B83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0D64BE-5D93-A874-7B7F-99B48EA29B76}"/>
              </a:ext>
            </a:extLst>
          </p:cNvPr>
          <p:cNvSpPr txBox="1"/>
          <p:nvPr/>
        </p:nvSpPr>
        <p:spPr>
          <a:xfrm>
            <a:off x="4663440" y="1600200"/>
            <a:ext cx="283464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>
                <a:solidFill>
                  <a:srgbClr val="9E9E9E"/>
                </a:solidFill>
                <a:latin typeface="Arial" panose="020B0604020202020204" pitchFamily="34" charset="0"/>
              </a:rPr>
              <a:t>Avg. Credit Card CLV (PH)</a:t>
            </a:r>
            <a:endParaRPr lang="en-PH" sz="13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48657D-423B-0D23-C27F-94A2838F2BBA}"/>
              </a:ext>
            </a:extLst>
          </p:cNvPr>
          <p:cNvSpPr txBox="1"/>
          <p:nvPr/>
        </p:nvSpPr>
        <p:spPr>
          <a:xfrm>
            <a:off x="4663440" y="1920240"/>
            <a:ext cx="283464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800" b="1">
                <a:solidFill>
                  <a:srgbClr val="E8B839"/>
                </a:solidFill>
                <a:latin typeface="Arial" panose="020B0604020202020204" pitchFamily="34" charset="0"/>
              </a:rPr>
              <a:t>₱30K – ₱60K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C454D0-236D-4E38-B69A-01A17C6EFFDE}"/>
              </a:ext>
            </a:extLst>
          </p:cNvPr>
          <p:cNvSpPr txBox="1"/>
          <p:nvPr/>
        </p:nvSpPr>
        <p:spPr>
          <a:xfrm>
            <a:off x="4663440" y="2514600"/>
            <a:ext cx="283464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fr-FR" sz="1200">
                <a:solidFill>
                  <a:srgbClr val="9E9E9E"/>
                </a:solidFill>
                <a:latin typeface="Arial" panose="020B0604020202020204" pitchFamily="34" charset="0"/>
              </a:rPr>
              <a:t>3–5 yr tenure × ~₱9K/yr net revenue</a:t>
            </a:r>
            <a:endParaRPr lang="en-PH" sz="12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41978DB-ED87-9BE8-1FC2-74ECA0707296}"/>
              </a:ext>
            </a:extLst>
          </p:cNvPr>
          <p:cNvSpPr/>
          <p:nvPr/>
        </p:nvSpPr>
        <p:spPr>
          <a:xfrm>
            <a:off x="8046720" y="1417320"/>
            <a:ext cx="338328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F9D44B-1717-71C5-655A-15ED6B5E7590}"/>
              </a:ext>
            </a:extLst>
          </p:cNvPr>
          <p:cNvSpPr/>
          <p:nvPr/>
        </p:nvSpPr>
        <p:spPr>
          <a:xfrm>
            <a:off x="8046720" y="1417320"/>
            <a:ext cx="3383280" cy="64008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D6CAA7-86D3-479E-A696-FC3CF6919840}"/>
              </a:ext>
            </a:extLst>
          </p:cNvPr>
          <p:cNvSpPr txBox="1"/>
          <p:nvPr/>
        </p:nvSpPr>
        <p:spPr>
          <a:xfrm>
            <a:off x="8321040" y="1600200"/>
            <a:ext cx="283464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Retention ↑5%  →  Profit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B42481-ED35-FFF1-8491-25A6FF222438}"/>
              </a:ext>
            </a:extLst>
          </p:cNvPr>
          <p:cNvSpPr txBox="1"/>
          <p:nvPr/>
        </p:nvSpPr>
        <p:spPr>
          <a:xfrm>
            <a:off x="8321040" y="1920240"/>
            <a:ext cx="283464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800" b="1">
                <a:solidFill>
                  <a:srgbClr val="F08248"/>
                </a:solidFill>
                <a:latin typeface="Arial" panose="020B0604020202020204" pitchFamily="34" charset="0"/>
              </a:rPr>
              <a:t>+25 – 55%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9CE3B1-5047-F42E-941B-50C3B810BF14}"/>
              </a:ext>
            </a:extLst>
          </p:cNvPr>
          <p:cNvSpPr txBox="1"/>
          <p:nvPr/>
        </p:nvSpPr>
        <p:spPr>
          <a:xfrm>
            <a:off x="8321040" y="2514600"/>
            <a:ext cx="283464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Bain &amp; Company (2013)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30DB66-C233-0A75-E6EB-4DBBC37EE06B}"/>
              </a:ext>
            </a:extLst>
          </p:cNvPr>
          <p:cNvSpPr txBox="1"/>
          <p:nvPr/>
        </p:nvSpPr>
        <p:spPr>
          <a:xfrm>
            <a:off x="731520" y="3246120"/>
            <a:ext cx="82296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1A2A3D"/>
                </a:solidFill>
                <a:latin typeface="Arial" panose="020B0604020202020204" pitchFamily="34" charset="0"/>
              </a:rPr>
              <a:t>EXPECTED VALUE FRAMEWORK  —  100K Portfolio  |  5% Annual Churn  |  Avg CLV ₱36,000</a:t>
            </a:r>
            <a:endParaRPr lang="en-PH" sz="1400" b="1">
              <a:solidFill>
                <a:srgbClr val="1A2A3D"/>
              </a:solidFill>
              <a:latin typeface="Arial" panose="020B060402020202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6D21D86-D8E4-7B60-3E7F-F88BB105E984}"/>
              </a:ext>
            </a:extLst>
          </p:cNvPr>
          <p:cNvSpPr/>
          <p:nvPr/>
        </p:nvSpPr>
        <p:spPr>
          <a:xfrm>
            <a:off x="731520" y="3703320"/>
            <a:ext cx="10698479" cy="384048"/>
          </a:xfrm>
          <a:prstGeom prst="roundRect">
            <a:avLst>
              <a:gd name="adj" fmla="val 6000"/>
            </a:avLst>
          </a:prstGeom>
          <a:solidFill>
            <a:srgbClr val="F0F5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27A8DF-79C6-448D-0A64-9CDA5ABCE492}"/>
              </a:ext>
            </a:extLst>
          </p:cNvPr>
          <p:cNvSpPr txBox="1"/>
          <p:nvPr/>
        </p:nvSpPr>
        <p:spPr>
          <a:xfrm>
            <a:off x="1005840" y="3758184"/>
            <a:ext cx="65836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At-risk clients (5% of 100K)</a:t>
            </a:r>
            <a:endParaRPr lang="en-PH" sz="13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56F006-21A7-78EA-2E30-1ADBCAAF6187}"/>
              </a:ext>
            </a:extLst>
          </p:cNvPr>
          <p:cNvSpPr txBox="1"/>
          <p:nvPr/>
        </p:nvSpPr>
        <p:spPr>
          <a:xfrm>
            <a:off x="7772400" y="3758184"/>
            <a:ext cx="20116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5,000 clients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1DF10A8-BA38-A690-E03D-685FEF37E4D2}"/>
              </a:ext>
            </a:extLst>
          </p:cNvPr>
          <p:cNvSpPr txBox="1"/>
          <p:nvPr/>
        </p:nvSpPr>
        <p:spPr>
          <a:xfrm>
            <a:off x="9966960" y="3758184"/>
            <a:ext cx="13716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endParaRPr lang="en-PH" sz="11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B77BDCC-05E0-ABD2-B908-949BA73F9C45}"/>
              </a:ext>
            </a:extLst>
          </p:cNvPr>
          <p:cNvSpPr/>
          <p:nvPr/>
        </p:nvSpPr>
        <p:spPr>
          <a:xfrm>
            <a:off x="731520" y="4142232"/>
            <a:ext cx="10698479" cy="384048"/>
          </a:xfrm>
          <a:prstGeom prst="roundRect">
            <a:avLst>
              <a:gd name="adj" fmla="val 6000"/>
            </a:avLst>
          </a:prstGeom>
          <a:solidFill>
            <a:srgbClr val="F0F5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4DD0DAD-14E1-2C7C-1479-4E8A10B667B0}"/>
              </a:ext>
            </a:extLst>
          </p:cNvPr>
          <p:cNvSpPr txBox="1"/>
          <p:nvPr/>
        </p:nvSpPr>
        <p:spPr>
          <a:xfrm>
            <a:off x="1005840" y="4197096"/>
            <a:ext cx="65836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Revenue at risk (5,000 × ₱36,000 avg CLV)</a:t>
            </a:r>
            <a:endParaRPr lang="en-PH" sz="13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65E9E3B-8A07-93E7-319D-4142A0AC8E89}"/>
              </a:ext>
            </a:extLst>
          </p:cNvPr>
          <p:cNvSpPr txBox="1"/>
          <p:nvPr/>
        </p:nvSpPr>
        <p:spPr>
          <a:xfrm>
            <a:off x="7772400" y="4197096"/>
            <a:ext cx="20116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₱180,000,000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1D74D47-2B1C-80C6-5E32-2BB9ADCA4F55}"/>
              </a:ext>
            </a:extLst>
          </p:cNvPr>
          <p:cNvSpPr txBox="1"/>
          <p:nvPr/>
        </p:nvSpPr>
        <p:spPr>
          <a:xfrm>
            <a:off x="9966960" y="4197096"/>
            <a:ext cx="13716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100">
                <a:solidFill>
                  <a:srgbClr val="9E9E9E"/>
                </a:solidFill>
                <a:latin typeface="Arial" panose="020B0604020202020204" pitchFamily="34" charset="0"/>
              </a:rPr>
              <a:t>annually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07E5F6F-4036-1CB6-C549-AB9FF3416EF1}"/>
              </a:ext>
            </a:extLst>
          </p:cNvPr>
          <p:cNvSpPr/>
          <p:nvPr/>
        </p:nvSpPr>
        <p:spPr>
          <a:xfrm>
            <a:off x="731520" y="4581144"/>
            <a:ext cx="10698479" cy="384048"/>
          </a:xfrm>
          <a:prstGeom prst="roundRect">
            <a:avLst>
              <a:gd name="adj" fmla="val 6000"/>
            </a:avLst>
          </a:prstGeom>
          <a:solidFill>
            <a:srgbClr val="F0F5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478777D-D5EA-F939-ED1E-439926502936}"/>
              </a:ext>
            </a:extLst>
          </p:cNvPr>
          <p:cNvSpPr txBox="1"/>
          <p:nvPr/>
        </p:nvSpPr>
        <p:spPr>
          <a:xfrm>
            <a:off x="1005840" y="4636008"/>
            <a:ext cx="65836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Targeted intervention (top decile, 40% success rate)</a:t>
            </a:r>
            <a:endParaRPr lang="en-PH" sz="13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3AEC6B6-828C-DB5B-CDDF-9A50C0355812}"/>
              </a:ext>
            </a:extLst>
          </p:cNvPr>
          <p:cNvSpPr txBox="1"/>
          <p:nvPr/>
        </p:nvSpPr>
        <p:spPr>
          <a:xfrm>
            <a:off x="7772400" y="4636008"/>
            <a:ext cx="20116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~200 retained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AABC481-C768-89C9-F05F-428DF8F84672}"/>
              </a:ext>
            </a:extLst>
          </p:cNvPr>
          <p:cNvSpPr txBox="1"/>
          <p:nvPr/>
        </p:nvSpPr>
        <p:spPr>
          <a:xfrm>
            <a:off x="9966960" y="4636008"/>
            <a:ext cx="1371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100">
                <a:solidFill>
                  <a:srgbClr val="9E9E9E"/>
                </a:solidFill>
                <a:latin typeface="Arial" panose="020B0604020202020204" pitchFamily="34" charset="0"/>
              </a:rPr>
              <a:t>500 contacted × 40%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D4FFC3F-1ECB-6992-14BE-24741D1F8D30}"/>
              </a:ext>
            </a:extLst>
          </p:cNvPr>
          <p:cNvSpPr/>
          <p:nvPr/>
        </p:nvSpPr>
        <p:spPr>
          <a:xfrm>
            <a:off x="731520" y="5020056"/>
            <a:ext cx="10698479" cy="384047"/>
          </a:xfrm>
          <a:prstGeom prst="roundRect">
            <a:avLst>
              <a:gd name="adj" fmla="val 6000"/>
            </a:avLst>
          </a:prstGeom>
          <a:solidFill>
            <a:srgbClr val="59AA6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20F3BD9-A499-F5C1-807C-8B42BD322766}"/>
              </a:ext>
            </a:extLst>
          </p:cNvPr>
          <p:cNvSpPr txBox="1"/>
          <p:nvPr/>
        </p:nvSpPr>
        <p:spPr>
          <a:xfrm>
            <a:off x="1005840" y="5074920"/>
            <a:ext cx="65836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4B4B4B"/>
                </a:solidFill>
                <a:latin typeface="Arial" panose="020B0604020202020204" pitchFamily="34" charset="0"/>
              </a:rPr>
              <a:t>Net revenue preserved (200 × ₱36K CLV − ₱250K cost)</a:t>
            </a:r>
            <a:endParaRPr lang="en-PH" sz="1300" b="1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716233B-7836-B02B-A0F2-14E40E78BC9A}"/>
              </a:ext>
            </a:extLst>
          </p:cNvPr>
          <p:cNvSpPr txBox="1"/>
          <p:nvPr/>
        </p:nvSpPr>
        <p:spPr>
          <a:xfrm>
            <a:off x="7772400" y="5074920"/>
            <a:ext cx="20116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~₱6,950,000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DBE55D7-4DFB-D006-AA25-DF20FAFDE47B}"/>
              </a:ext>
            </a:extLst>
          </p:cNvPr>
          <p:cNvSpPr txBox="1"/>
          <p:nvPr/>
        </p:nvSpPr>
        <p:spPr>
          <a:xfrm>
            <a:off x="9966960" y="5074920"/>
            <a:ext cx="1371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100" dirty="0">
                <a:solidFill>
                  <a:schemeClr val="bg1"/>
                </a:solidFill>
                <a:latin typeface="Arial" panose="020B0604020202020204" pitchFamily="34" charset="0"/>
              </a:rPr>
              <a:t>per intervention cycle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453F008-210F-57D6-33A5-B23697C8AD30}"/>
              </a:ext>
            </a:extLst>
          </p:cNvPr>
          <p:cNvSpPr/>
          <p:nvPr/>
        </p:nvSpPr>
        <p:spPr>
          <a:xfrm>
            <a:off x="731520" y="5577840"/>
            <a:ext cx="10698479" cy="594360"/>
          </a:xfrm>
          <a:prstGeom prst="roundRect">
            <a:avLst>
              <a:gd name="adj" fmla="val 6000"/>
            </a:avLst>
          </a:prstGeom>
          <a:solidFill>
            <a:srgbClr val="1A2A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A1CF8FF-4F95-0BB3-3AC5-0C1BD37D82D9}"/>
              </a:ext>
            </a:extLst>
          </p:cNvPr>
          <p:cNvSpPr txBox="1"/>
          <p:nvPr/>
        </p:nvSpPr>
        <p:spPr>
          <a:xfrm>
            <a:off x="1005840" y="5730169"/>
            <a:ext cx="10058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i="1" dirty="0">
                <a:solidFill>
                  <a:srgbClr val="C8DCFC"/>
                </a:solidFill>
                <a:latin typeface="Arial" panose="020B0604020202020204" pitchFamily="34" charset="0"/>
              </a:rPr>
              <a:t>Note: This calculation assumes 5% churn out of 100k customers with 40% real-world success rate (McKinsey estimate). </a:t>
            </a:r>
            <a:endParaRPr lang="en-PH" sz="1300" i="1" dirty="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9A1C825-23DC-2ED4-B55C-6CB3C2BA4B33}"/>
              </a:ext>
            </a:extLst>
          </p:cNvPr>
          <p:cNvSpPr txBox="1"/>
          <p:nvPr/>
        </p:nvSpPr>
        <p:spPr>
          <a:xfrm>
            <a:off x="731520" y="6629400"/>
            <a:ext cx="1069848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850">
                <a:solidFill>
                  <a:srgbClr val="9E9E9E"/>
                </a:solidFill>
                <a:latin typeface="Arial" panose="020B0604020202020204" pitchFamily="34" charset="0"/>
              </a:rPr>
              <a:t>Sources:  (1) BSP, "Credit Card Industry Report &amp; Financial Stability Report," 2023  ·  (2) Bangko Sentral ng Pilipinas, "Consumer Finance Survey," 2022  ·  (3) Bain &amp; Company, "Customer Loyalty in Retail Banking," 2013  ·  (4) McKinsey &amp; Company, "Remaking the bank for an ecosystem world," 2017  ·  (5) Reichheld &amp; Sasser, "Zero Defections: Quality Comes to Services," Harvard Business Review, 1990</a:t>
            </a:r>
          </a:p>
        </p:txBody>
      </p:sp>
    </p:spTree>
    <p:extLst>
      <p:ext uri="{BB962C8B-B14F-4D97-AF65-F5344CB8AC3E}">
        <p14:creationId xmlns:p14="http://schemas.microsoft.com/office/powerpoint/2010/main" val="3656350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E8839A-2BB8-A161-E01E-1ABA4BE7CA7D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FC8F6E-091A-514E-AD4B-7C3CB1645DD4}"/>
              </a:ext>
            </a:extLst>
          </p:cNvPr>
          <p:cNvSpPr txBox="1"/>
          <p:nvPr/>
        </p:nvSpPr>
        <p:spPr>
          <a:xfrm>
            <a:off x="731520" y="70107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 dirty="0">
                <a:solidFill>
                  <a:srgbClr val="1A2A3D"/>
                </a:solidFill>
                <a:latin typeface="Arial" panose="020B0604020202020204" pitchFamily="34" charset="0"/>
              </a:rPr>
              <a:t>Dataset Overview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EAA3DCA-E5D4-0ECC-2974-EA78B51D5ED6}"/>
              </a:ext>
            </a:extLst>
          </p:cNvPr>
          <p:cNvSpPr/>
          <p:nvPr/>
        </p:nvSpPr>
        <p:spPr>
          <a:xfrm>
            <a:off x="632308" y="1554480"/>
            <a:ext cx="25603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83477B-0E7C-1569-A939-C29B4D90DC94}"/>
              </a:ext>
            </a:extLst>
          </p:cNvPr>
          <p:cNvSpPr/>
          <p:nvPr/>
        </p:nvSpPr>
        <p:spPr>
          <a:xfrm>
            <a:off x="632308" y="1554480"/>
            <a:ext cx="2560320" cy="64008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3AF8D4-7443-6CEC-DF12-A6F57EEF3C80}"/>
              </a:ext>
            </a:extLst>
          </p:cNvPr>
          <p:cNvSpPr txBox="1"/>
          <p:nvPr/>
        </p:nvSpPr>
        <p:spPr>
          <a:xfrm>
            <a:off x="906628" y="1783080"/>
            <a:ext cx="20116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F08248"/>
                </a:solidFill>
                <a:latin typeface="Arial" panose="020B0604020202020204" pitchFamily="34" charset="0"/>
              </a:rPr>
              <a:t>DEMOGRAPHIC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4B2F7F-DC2B-06F9-1CE1-71542A5922E2}"/>
              </a:ext>
            </a:extLst>
          </p:cNvPr>
          <p:cNvSpPr txBox="1"/>
          <p:nvPr/>
        </p:nvSpPr>
        <p:spPr>
          <a:xfrm>
            <a:off x="906628" y="2194560"/>
            <a:ext cx="201168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Age, Gender, MaritalStatus,</a:t>
            </a:r>
          </a:p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EducationLevel, Country</a:t>
            </a:r>
            <a:endParaRPr lang="en-PH" sz="13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B7D2518-2B29-8DD8-AF6B-D33C4968B2B5}"/>
              </a:ext>
            </a:extLst>
          </p:cNvPr>
          <p:cNvSpPr/>
          <p:nvPr/>
        </p:nvSpPr>
        <p:spPr>
          <a:xfrm>
            <a:off x="3421228" y="1554480"/>
            <a:ext cx="2560319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639F75-7C97-69B7-60AB-D1D651A57B82}"/>
              </a:ext>
            </a:extLst>
          </p:cNvPr>
          <p:cNvSpPr/>
          <p:nvPr/>
        </p:nvSpPr>
        <p:spPr>
          <a:xfrm>
            <a:off x="3421228" y="1554480"/>
            <a:ext cx="2560319" cy="64008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9AAA4B-E9B5-1ED9-B181-5176BA0DABD0}"/>
              </a:ext>
            </a:extLst>
          </p:cNvPr>
          <p:cNvSpPr txBox="1"/>
          <p:nvPr/>
        </p:nvSpPr>
        <p:spPr>
          <a:xfrm>
            <a:off x="3695548" y="1783080"/>
            <a:ext cx="20116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208090"/>
                </a:solidFill>
                <a:latin typeface="Arial" panose="020B0604020202020204" pitchFamily="34" charset="0"/>
              </a:rPr>
              <a:t>FINANCIAL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3669C9-AC13-E16E-279B-53A07DEB3199}"/>
              </a:ext>
            </a:extLst>
          </p:cNvPr>
          <p:cNvSpPr txBox="1"/>
          <p:nvPr/>
        </p:nvSpPr>
        <p:spPr>
          <a:xfrm>
            <a:off x="3695548" y="2194560"/>
            <a:ext cx="201168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Income, CreditLimit,</a:t>
            </a:r>
          </a:p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TotalSpend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3F56BD2-0BF7-DF3D-9C60-78691C4B3FC5}"/>
              </a:ext>
            </a:extLst>
          </p:cNvPr>
          <p:cNvSpPr/>
          <p:nvPr/>
        </p:nvSpPr>
        <p:spPr>
          <a:xfrm>
            <a:off x="6210148" y="1554480"/>
            <a:ext cx="25603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B928D3-582A-92F8-0053-E87FE5F5305D}"/>
              </a:ext>
            </a:extLst>
          </p:cNvPr>
          <p:cNvSpPr/>
          <p:nvPr/>
        </p:nvSpPr>
        <p:spPr>
          <a:xfrm>
            <a:off x="6210148" y="1554480"/>
            <a:ext cx="2560320" cy="64008"/>
          </a:xfrm>
          <a:prstGeom prst="rect">
            <a:avLst/>
          </a:prstGeom>
          <a:solidFill>
            <a:srgbClr val="16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5A8D3B-F21E-5F1D-D1FC-77ECFDBFA019}"/>
              </a:ext>
            </a:extLst>
          </p:cNvPr>
          <p:cNvSpPr txBox="1"/>
          <p:nvPr/>
        </p:nvSpPr>
        <p:spPr>
          <a:xfrm>
            <a:off x="6484468" y="1783080"/>
            <a:ext cx="20116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62761"/>
                </a:solidFill>
                <a:latin typeface="Arial" panose="020B0604020202020204" pitchFamily="34" charset="0"/>
              </a:rPr>
              <a:t>BEHAVIORAL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4A6B75-D7F8-0482-F3AA-7E6BF307C36A}"/>
              </a:ext>
            </a:extLst>
          </p:cNvPr>
          <p:cNvSpPr txBox="1"/>
          <p:nvPr/>
        </p:nvSpPr>
        <p:spPr>
          <a:xfrm>
            <a:off x="6484468" y="2194560"/>
            <a:ext cx="201168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TotalTransactions,</a:t>
            </a:r>
          </a:p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Tenure, CardType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BE3BAB1-1FD0-49CA-27B0-288B67350D5D}"/>
              </a:ext>
            </a:extLst>
          </p:cNvPr>
          <p:cNvSpPr/>
          <p:nvPr/>
        </p:nvSpPr>
        <p:spPr>
          <a:xfrm>
            <a:off x="8999068" y="1554480"/>
            <a:ext cx="2560319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053E9E-3A32-426C-F954-BAFD587B0A6A}"/>
              </a:ext>
            </a:extLst>
          </p:cNvPr>
          <p:cNvSpPr/>
          <p:nvPr/>
        </p:nvSpPr>
        <p:spPr>
          <a:xfrm>
            <a:off x="8999068" y="1554480"/>
            <a:ext cx="2560319" cy="64008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A52357-5545-C4C8-58E0-7CBED19C0FE7}"/>
              </a:ext>
            </a:extLst>
          </p:cNvPr>
          <p:cNvSpPr txBox="1"/>
          <p:nvPr/>
        </p:nvSpPr>
        <p:spPr>
          <a:xfrm>
            <a:off x="9273388" y="1783080"/>
            <a:ext cx="20116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E84747"/>
                </a:solidFill>
                <a:latin typeface="Arial" panose="020B0604020202020204" pitchFamily="34" charset="0"/>
              </a:rPr>
              <a:t>TARGET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5DB2A9-E20B-854C-A35E-F54972D2F3B1}"/>
              </a:ext>
            </a:extLst>
          </p:cNvPr>
          <p:cNvSpPr txBox="1"/>
          <p:nvPr/>
        </p:nvSpPr>
        <p:spPr>
          <a:xfrm>
            <a:off x="9273388" y="2194560"/>
            <a:ext cx="201168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AttritionFlag (binary:</a:t>
            </a:r>
          </a:p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0 = Stayed, 1 = Attrited)</a:t>
            </a:r>
            <a:endParaRPr lang="en-PH" sz="13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D35969-378E-B622-D4CD-399E321CE9DD}"/>
              </a:ext>
            </a:extLst>
          </p:cNvPr>
          <p:cNvSpPr txBox="1"/>
          <p:nvPr/>
        </p:nvSpPr>
        <p:spPr>
          <a:xfrm>
            <a:off x="731520" y="3931920"/>
            <a:ext cx="4572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>
                <a:solidFill>
                  <a:srgbClr val="1A2A3D"/>
                </a:solidFill>
                <a:latin typeface="Arial" panose="020B0604020202020204" pitchFamily="34" charset="0"/>
              </a:rPr>
              <a:t>KEY NUMBERS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3C34109-760C-DD45-A797-C6FBD22E4426}"/>
              </a:ext>
            </a:extLst>
          </p:cNvPr>
          <p:cNvSpPr/>
          <p:nvPr/>
        </p:nvSpPr>
        <p:spPr>
          <a:xfrm>
            <a:off x="731520" y="4434840"/>
            <a:ext cx="10698479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EBB1F4-46AF-EB51-25F2-7168F27D869B}"/>
              </a:ext>
            </a:extLst>
          </p:cNvPr>
          <p:cNvSpPr txBox="1"/>
          <p:nvPr/>
        </p:nvSpPr>
        <p:spPr>
          <a:xfrm>
            <a:off x="1188720" y="4572000"/>
            <a:ext cx="201168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600" b="1" dirty="0">
                <a:solidFill>
                  <a:srgbClr val="1A2A3D"/>
                </a:solidFill>
                <a:latin typeface="Arial" panose="020B0604020202020204" pitchFamily="34" charset="0"/>
              </a:rPr>
              <a:t>100,000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BF2391C-9B59-1F49-3237-480E8A3D2005}"/>
              </a:ext>
            </a:extLst>
          </p:cNvPr>
          <p:cNvSpPr txBox="1"/>
          <p:nvPr/>
        </p:nvSpPr>
        <p:spPr>
          <a:xfrm>
            <a:off x="1188720" y="5074920"/>
            <a:ext cx="201168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100" b="1" dirty="0">
                <a:solidFill>
                  <a:srgbClr val="9E9E9E"/>
                </a:solidFill>
                <a:latin typeface="Arial" panose="020B0604020202020204" pitchFamily="34" charset="0"/>
              </a:rPr>
              <a:t>Clean Records (post-</a:t>
            </a:r>
            <a:r>
              <a:rPr lang="en-PH" sz="1100" b="1" dirty="0" err="1">
                <a:solidFill>
                  <a:srgbClr val="9E9E9E"/>
                </a:solidFill>
                <a:latin typeface="Arial" panose="020B0604020202020204" pitchFamily="34" charset="0"/>
              </a:rPr>
              <a:t>dedup</a:t>
            </a:r>
            <a:r>
              <a:rPr lang="en-PH" sz="1100" b="1" dirty="0">
                <a:solidFill>
                  <a:srgbClr val="9E9E9E"/>
                </a:solidFill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9454ADB-550B-EFE9-4A0B-8653EF3D2D03}"/>
              </a:ext>
            </a:extLst>
          </p:cNvPr>
          <p:cNvSpPr txBox="1"/>
          <p:nvPr/>
        </p:nvSpPr>
        <p:spPr>
          <a:xfrm>
            <a:off x="3474720" y="4572000"/>
            <a:ext cx="201168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600" b="1">
                <a:solidFill>
                  <a:srgbClr val="E84747"/>
                </a:solidFill>
                <a:latin typeface="Arial" panose="020B0604020202020204" pitchFamily="34" charset="0"/>
              </a:rPr>
              <a:t>95 / 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8AF7C51-4438-9DC8-D4D3-937E2FC24C0C}"/>
              </a:ext>
            </a:extLst>
          </p:cNvPr>
          <p:cNvSpPr txBox="1"/>
          <p:nvPr/>
        </p:nvSpPr>
        <p:spPr>
          <a:xfrm>
            <a:off x="3474720" y="5074920"/>
            <a:ext cx="201168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 b="1" dirty="0">
                <a:solidFill>
                  <a:srgbClr val="9E9E9E"/>
                </a:solidFill>
                <a:latin typeface="Arial" panose="020B0604020202020204" pitchFamily="34" charset="0"/>
              </a:rPr>
              <a:t>Stayed vs. </a:t>
            </a:r>
            <a:r>
              <a:rPr lang="en-PH" sz="1200" b="1" dirty="0" err="1">
                <a:solidFill>
                  <a:srgbClr val="9E9E9E"/>
                </a:solidFill>
                <a:latin typeface="Arial" panose="020B0604020202020204" pitchFamily="34" charset="0"/>
              </a:rPr>
              <a:t>Attrited</a:t>
            </a:r>
            <a:r>
              <a:rPr lang="en-PH" sz="1200" b="1" dirty="0">
                <a:solidFill>
                  <a:srgbClr val="9E9E9E"/>
                </a:solidFill>
                <a:latin typeface="Arial" panose="020B0604020202020204" pitchFamily="34" charset="0"/>
              </a:rPr>
              <a:t> (%)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34F1DCB-FF24-2A4B-0B2D-B060C95F3FAF}"/>
              </a:ext>
            </a:extLst>
          </p:cNvPr>
          <p:cNvSpPr txBox="1"/>
          <p:nvPr/>
        </p:nvSpPr>
        <p:spPr>
          <a:xfrm>
            <a:off x="5760720" y="4572000"/>
            <a:ext cx="201168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600" b="1">
                <a:solidFill>
                  <a:srgbClr val="208090"/>
                </a:solidFill>
                <a:latin typeface="Arial" panose="020B0604020202020204" pitchFamily="34" charset="0"/>
              </a:rPr>
              <a:t>13 + 50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515310A-D457-A590-48AE-4E43570A04E6}"/>
              </a:ext>
            </a:extLst>
          </p:cNvPr>
          <p:cNvSpPr txBox="1"/>
          <p:nvPr/>
        </p:nvSpPr>
        <p:spPr>
          <a:xfrm>
            <a:off x="5760720" y="5074920"/>
            <a:ext cx="201168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100" b="1" dirty="0">
                <a:solidFill>
                  <a:srgbClr val="9E9E9E"/>
                </a:solidFill>
                <a:latin typeface="Arial" panose="020B0604020202020204" pitchFamily="34" charset="0"/>
              </a:rPr>
              <a:t>Core + Anonymous Features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18A743A-6A81-BDE7-3E1D-6C1E2B3DE3C8}"/>
              </a:ext>
            </a:extLst>
          </p:cNvPr>
          <p:cNvSpPr txBox="1"/>
          <p:nvPr/>
        </p:nvSpPr>
        <p:spPr>
          <a:xfrm>
            <a:off x="8046720" y="4572000"/>
            <a:ext cx="256032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600" b="1">
                <a:solidFill>
                  <a:srgbClr val="F08248"/>
                </a:solidFill>
                <a:latin typeface="Arial" panose="020B0604020202020204" pitchFamily="34" charset="0"/>
              </a:rPr>
              <a:t>~5,000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DCB58BC-3E03-C13C-E301-87C092294012}"/>
              </a:ext>
            </a:extLst>
          </p:cNvPr>
          <p:cNvSpPr txBox="1"/>
          <p:nvPr/>
        </p:nvSpPr>
        <p:spPr>
          <a:xfrm>
            <a:off x="8046720" y="5074920"/>
            <a:ext cx="25603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 b="1" dirty="0">
                <a:solidFill>
                  <a:srgbClr val="9E9E9E"/>
                </a:solidFill>
                <a:latin typeface="Arial" panose="020B0604020202020204" pitchFamily="34" charset="0"/>
              </a:rPr>
              <a:t>Missing per Column (~5%)</a:t>
            </a:r>
          </a:p>
        </p:txBody>
      </p:sp>
    </p:spTree>
    <p:extLst>
      <p:ext uri="{BB962C8B-B14F-4D97-AF65-F5344CB8AC3E}">
        <p14:creationId xmlns:p14="http://schemas.microsoft.com/office/powerpoint/2010/main" val="586615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796412-5A82-A86D-C9D6-18BE3357E4BF}"/>
              </a:ext>
            </a:extLst>
          </p:cNvPr>
          <p:cNvSpPr txBox="1"/>
          <p:nvPr/>
        </p:nvSpPr>
        <p:spPr>
          <a:xfrm>
            <a:off x="731520" y="1371600"/>
            <a:ext cx="4572000" cy="15696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9600" b="1">
                <a:solidFill>
                  <a:srgbClr val="F08248"/>
                </a:solidFill>
                <a:latin typeface="Arial" panose="020B0604020202020204" pitchFamily="34" charset="0"/>
              </a:rPr>
              <a:t>01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C716CB-55FC-2F71-846F-9228BE3C431E}"/>
              </a:ext>
            </a:extLst>
          </p:cNvPr>
          <p:cNvSpPr/>
          <p:nvPr/>
        </p:nvSpPr>
        <p:spPr>
          <a:xfrm>
            <a:off x="731520" y="2743200"/>
            <a:ext cx="2743200" cy="36576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BB72DD-227A-8F6E-32F5-3FFFB5B5449D}"/>
              </a:ext>
            </a:extLst>
          </p:cNvPr>
          <p:cNvSpPr txBox="1"/>
          <p:nvPr/>
        </p:nvSpPr>
        <p:spPr>
          <a:xfrm>
            <a:off x="731520" y="3017520"/>
            <a:ext cx="914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3600" b="1">
                <a:solidFill>
                  <a:srgbClr val="FFFFFF"/>
                </a:solidFill>
                <a:latin typeface="Arial" panose="020B0604020202020204" pitchFamily="34" charset="0"/>
              </a:rPr>
              <a:t>Statistical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6B3149-FD42-01F4-B1D2-1425A9E2E60B}"/>
              </a:ext>
            </a:extLst>
          </p:cNvPr>
          <p:cNvSpPr txBox="1"/>
          <p:nvPr/>
        </p:nvSpPr>
        <p:spPr>
          <a:xfrm>
            <a:off x="731520" y="3840480"/>
            <a:ext cx="731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>
                <a:solidFill>
                  <a:srgbClr val="C8DCFC"/>
                </a:solidFill>
                <a:latin typeface="Arial" panose="020B0604020202020204" pitchFamily="34" charset="0"/>
              </a:rPr>
              <a:t>Univariate, Bivariate, Multivariate &amp; Significance Tests</a:t>
            </a:r>
            <a:endParaRPr lang="en-PH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018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F53F50-3255-8A0F-5448-AD05520BBDE9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A468A4-1560-1303-3512-1CA59EFCEDA4}"/>
              </a:ext>
            </a:extLst>
          </p:cNvPr>
          <p:cNvSpPr txBox="1"/>
          <p:nvPr/>
        </p:nvSpPr>
        <p:spPr>
          <a:xfrm>
            <a:off x="731520" y="705642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 dirty="0">
                <a:solidFill>
                  <a:srgbClr val="1A2A3D"/>
                </a:solidFill>
                <a:latin typeface="Arial" panose="020B0604020202020204" pitchFamily="34" charset="0"/>
              </a:rPr>
              <a:t>1.1  Class Imbalance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AAEBCA6-5727-4420-1A4C-D42A0560036E}"/>
              </a:ext>
            </a:extLst>
          </p:cNvPr>
          <p:cNvSpPr/>
          <p:nvPr/>
        </p:nvSpPr>
        <p:spPr>
          <a:xfrm>
            <a:off x="731520" y="1645920"/>
            <a:ext cx="868680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330802-0835-4933-D02E-628A6044F8E0}"/>
              </a:ext>
            </a:extLst>
          </p:cNvPr>
          <p:cNvSpPr/>
          <p:nvPr/>
        </p:nvSpPr>
        <p:spPr>
          <a:xfrm>
            <a:off x="731520" y="1645920"/>
            <a:ext cx="8183879" cy="1097280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E83910-3418-774B-9C95-7AE8F420C7D4}"/>
              </a:ext>
            </a:extLst>
          </p:cNvPr>
          <p:cNvSpPr txBox="1"/>
          <p:nvPr/>
        </p:nvSpPr>
        <p:spPr>
          <a:xfrm>
            <a:off x="1005840" y="1755648"/>
            <a:ext cx="27432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000" b="1">
                <a:solidFill>
                  <a:srgbClr val="FFFFFF"/>
                </a:solidFill>
                <a:latin typeface="Arial" panose="020B0604020202020204" pitchFamily="34" charset="0"/>
              </a:rPr>
              <a:t>STAYED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24544B-4509-11BD-A0D7-7C4BA2B99227}"/>
              </a:ext>
            </a:extLst>
          </p:cNvPr>
          <p:cNvSpPr txBox="1"/>
          <p:nvPr/>
        </p:nvSpPr>
        <p:spPr>
          <a:xfrm>
            <a:off x="1005840" y="2148840"/>
            <a:ext cx="457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>
                <a:solidFill>
                  <a:srgbClr val="FFFFFF"/>
                </a:solidFill>
                <a:latin typeface="Arial" panose="020B0604020202020204" pitchFamily="34" charset="0"/>
              </a:rPr>
              <a:t>95,040 customers  (95.04%)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DC1C3B3-A91B-F32D-F507-AD32FFC0F3CE}"/>
              </a:ext>
            </a:extLst>
          </p:cNvPr>
          <p:cNvSpPr/>
          <p:nvPr/>
        </p:nvSpPr>
        <p:spPr>
          <a:xfrm>
            <a:off x="731520" y="2926080"/>
            <a:ext cx="868680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DEC22D-A315-DF2F-FAB9-9C611CB86964}"/>
              </a:ext>
            </a:extLst>
          </p:cNvPr>
          <p:cNvSpPr/>
          <p:nvPr/>
        </p:nvSpPr>
        <p:spPr>
          <a:xfrm>
            <a:off x="731520" y="2926080"/>
            <a:ext cx="448056" cy="1097280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8BB1AE-DBFA-13FD-FCE8-97A3023B3FB9}"/>
              </a:ext>
            </a:extLst>
          </p:cNvPr>
          <p:cNvSpPr txBox="1"/>
          <p:nvPr/>
        </p:nvSpPr>
        <p:spPr>
          <a:xfrm>
            <a:off x="1371600" y="3035808"/>
            <a:ext cx="27432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000" b="1">
                <a:solidFill>
                  <a:srgbClr val="E84747"/>
                </a:solidFill>
                <a:latin typeface="Arial" panose="020B0604020202020204" pitchFamily="34" charset="0"/>
              </a:rPr>
              <a:t>ATTRITED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7CF9CD-8D6E-9488-F7F6-F83DDF6FB98C}"/>
              </a:ext>
            </a:extLst>
          </p:cNvPr>
          <p:cNvSpPr txBox="1"/>
          <p:nvPr/>
        </p:nvSpPr>
        <p:spPr>
          <a:xfrm>
            <a:off x="1371600" y="3429000"/>
            <a:ext cx="457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>
                <a:solidFill>
                  <a:srgbClr val="4B4B4B"/>
                </a:solidFill>
                <a:latin typeface="Arial" panose="020B0604020202020204" pitchFamily="34" charset="0"/>
              </a:rPr>
              <a:t>4,960 customers  (4.96%)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6F2533E-C667-757A-B45F-1E293A5069F4}"/>
              </a:ext>
            </a:extLst>
          </p:cNvPr>
          <p:cNvSpPr/>
          <p:nvPr/>
        </p:nvSpPr>
        <p:spPr>
          <a:xfrm>
            <a:off x="731520" y="4389120"/>
            <a:ext cx="512064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FE0B8D7-0D9C-7398-AFA3-4605E7972D36}"/>
              </a:ext>
            </a:extLst>
          </p:cNvPr>
          <p:cNvSpPr/>
          <p:nvPr/>
        </p:nvSpPr>
        <p:spPr>
          <a:xfrm>
            <a:off x="731520" y="4389120"/>
            <a:ext cx="54864" cy="1645920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4F44F6-BD52-0E4D-B8C7-80B43CFFB02E}"/>
              </a:ext>
            </a:extLst>
          </p:cNvPr>
          <p:cNvSpPr txBox="1"/>
          <p:nvPr/>
        </p:nvSpPr>
        <p:spPr>
          <a:xfrm>
            <a:off x="1097280" y="4526280"/>
            <a:ext cx="457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E84747"/>
                </a:solidFill>
                <a:latin typeface="Arial" panose="020B0604020202020204" pitchFamily="34" charset="0"/>
              </a:rPr>
              <a:t>IMPLICATION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8BDFA4-7E1F-A9C5-2F13-B1099D06E3DD}"/>
              </a:ext>
            </a:extLst>
          </p:cNvPr>
          <p:cNvSpPr txBox="1"/>
          <p:nvPr/>
        </p:nvSpPr>
        <p:spPr>
          <a:xfrm>
            <a:off x="1097280" y="4892040"/>
            <a:ext cx="45720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 dirty="0">
                <a:solidFill>
                  <a:srgbClr val="4B4B4B"/>
                </a:solidFill>
                <a:latin typeface="Arial" panose="020B0604020202020204" pitchFamily="34" charset="0"/>
              </a:rPr>
              <a:t>Model must not default to always predicting the majority class. Oversampling and class-weighting strategies are required.</a:t>
            </a:r>
            <a:endParaRPr lang="en-PH" sz="1300" b="1" dirty="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6CFAD54-B865-9C94-40D2-A753E5B08645}"/>
              </a:ext>
            </a:extLst>
          </p:cNvPr>
          <p:cNvSpPr/>
          <p:nvPr/>
        </p:nvSpPr>
        <p:spPr>
          <a:xfrm>
            <a:off x="6217920" y="4389120"/>
            <a:ext cx="521208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DA50090-8F2F-D38B-E091-77CC36B98F2F}"/>
              </a:ext>
            </a:extLst>
          </p:cNvPr>
          <p:cNvSpPr/>
          <p:nvPr/>
        </p:nvSpPr>
        <p:spPr>
          <a:xfrm>
            <a:off x="6217920" y="4389120"/>
            <a:ext cx="54864" cy="1645920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68CD0D-5041-E6FF-D1B0-699C2D6495EC}"/>
              </a:ext>
            </a:extLst>
          </p:cNvPr>
          <p:cNvSpPr txBox="1"/>
          <p:nvPr/>
        </p:nvSpPr>
        <p:spPr>
          <a:xfrm>
            <a:off x="6583680" y="4526280"/>
            <a:ext cx="457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 dirty="0">
                <a:solidFill>
                  <a:srgbClr val="208090"/>
                </a:solidFill>
                <a:latin typeface="Arial" panose="020B0604020202020204" pitchFamily="34" charset="0"/>
              </a:rPr>
              <a:t>N</a:t>
            </a:r>
            <a:r>
              <a:rPr lang="en-PH" sz="1400" b="1" dirty="0">
                <a:solidFill>
                  <a:srgbClr val="208090"/>
                </a:solidFill>
                <a:latin typeface="Arial" panose="020B0604020202020204" pitchFamily="34" charset="0"/>
              </a:rPr>
              <a:t>OTE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0D918E-FDBC-170B-1B4F-A5B61CAEB38A}"/>
              </a:ext>
            </a:extLst>
          </p:cNvPr>
          <p:cNvSpPr txBox="1"/>
          <p:nvPr/>
        </p:nvSpPr>
        <p:spPr>
          <a:xfrm>
            <a:off x="6583680" y="4892040"/>
            <a:ext cx="4572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 dirty="0">
                <a:solidFill>
                  <a:srgbClr val="4B4B4B"/>
                </a:solidFill>
                <a:latin typeface="Arial" panose="020B0604020202020204" pitchFamily="34" charset="0"/>
              </a:rPr>
              <a:t>After </a:t>
            </a:r>
            <a:r>
              <a:rPr lang="en-US" sz="1300" b="1" dirty="0" err="1">
                <a:solidFill>
                  <a:srgbClr val="4B4B4B"/>
                </a:solidFill>
                <a:latin typeface="Arial" panose="020B0604020202020204" pitchFamily="34" charset="0"/>
              </a:rPr>
              <a:t>drop_duplicates</a:t>
            </a:r>
            <a:r>
              <a:rPr lang="en-US" sz="1300" b="1" dirty="0">
                <a:solidFill>
                  <a:srgbClr val="4B4B4B"/>
                </a:solidFill>
                <a:latin typeface="Arial" panose="020B0604020202020204" pitchFamily="34" charset="0"/>
              </a:rPr>
              <a:t>(), 1,000 duplicate rows removed. 100,000 clean records remain. </a:t>
            </a:r>
            <a:endParaRPr lang="en-PH" sz="1300" b="1" dirty="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0859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0A948E-1609-15BC-5379-5621E1F81074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0A6A59-617F-3091-1A7E-499423CF3203}"/>
              </a:ext>
            </a:extLst>
          </p:cNvPr>
          <p:cNvSpPr txBox="1"/>
          <p:nvPr/>
        </p:nvSpPr>
        <p:spPr>
          <a:xfrm>
            <a:off x="731520" y="574061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 dirty="0">
                <a:solidFill>
                  <a:srgbClr val="1A2A3D"/>
                </a:solidFill>
                <a:latin typeface="Arial" panose="020B0604020202020204" pitchFamily="34" charset="0"/>
              </a:rPr>
              <a:t>1.2  Univariate Analysis (Continuous Features)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1D64E80-6699-A802-0FB7-E4AF10E13C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8106210"/>
              </p:ext>
            </p:extLst>
          </p:nvPr>
        </p:nvGraphicFramePr>
        <p:xfrm>
          <a:off x="731520" y="1463040"/>
          <a:ext cx="10698480" cy="32918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>
                  <a:extLst>
                    <a:ext uri="{9D8B030D-6E8A-4147-A177-3AD203B41FA5}">
                      <a16:colId xmlns:a16="http://schemas.microsoft.com/office/drawing/2014/main" val="4280153726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3779617053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301493826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206180655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1445964569"/>
                    </a:ext>
                  </a:extLst>
                </a:gridCol>
              </a:tblGrid>
              <a:tr h="470263">
                <a:tc>
                  <a:txBody>
                    <a:bodyPr/>
                    <a:lstStyle/>
                    <a:p>
                      <a:pPr algn="ctr"/>
                      <a:r>
                        <a:rPr lang="en-PH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Feature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Mean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Median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Skewness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Distribution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1492285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Age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44.51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45.0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-0.002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Symmetric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3099969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Income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75,907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70,263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10.01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Highly Right-Skewed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1134097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TotalSpend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5,191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5,029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5.09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Highly Right-Skewed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2840622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TotalTransactions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99.99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100.0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0.10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Symmetric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4256715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CreditLimit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dirty="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14981.00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14,964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dirty="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0.00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dirty="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Symmetric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2515031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Tenure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</a:t>
                      </a:r>
                      <a:r>
                        <a:rPr lang="en-PH" sz="1300" dirty="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10 yrs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</a:t>
                      </a:r>
                      <a:r>
                        <a:rPr lang="en-PH" sz="1300" dirty="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.00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dirty="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Symmetric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41803"/>
                  </a:ext>
                </a:extLst>
              </a:tr>
            </a:tbl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ED1CE70-1F83-2629-7A41-9AC62E705D84}"/>
              </a:ext>
            </a:extLst>
          </p:cNvPr>
          <p:cNvSpPr/>
          <p:nvPr/>
        </p:nvSpPr>
        <p:spPr>
          <a:xfrm>
            <a:off x="731520" y="5120640"/>
            <a:ext cx="10698479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F94154-7054-B94A-8C4F-7BA3D1C67624}"/>
              </a:ext>
            </a:extLst>
          </p:cNvPr>
          <p:cNvSpPr/>
          <p:nvPr/>
        </p:nvSpPr>
        <p:spPr>
          <a:xfrm>
            <a:off x="731520" y="5120640"/>
            <a:ext cx="54864" cy="1097280"/>
          </a:xfrm>
          <a:prstGeom prst="rect">
            <a:avLst/>
          </a:prstGeom>
          <a:solidFill>
            <a:srgbClr val="E8B83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60003B-E870-2BC0-74B9-CD851D55F6E9}"/>
              </a:ext>
            </a:extLst>
          </p:cNvPr>
          <p:cNvSpPr txBox="1"/>
          <p:nvPr/>
        </p:nvSpPr>
        <p:spPr>
          <a:xfrm>
            <a:off x="1097280" y="5193792"/>
            <a:ext cx="10972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 b="1">
                <a:solidFill>
                  <a:srgbClr val="E8B839"/>
                </a:solidFill>
                <a:latin typeface="Arial" panose="020B0604020202020204" pitchFamily="34" charset="0"/>
              </a:rPr>
              <a:t>INSIGHT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739371-CB57-F4B5-25D9-BF69EDDC9BC1}"/>
              </a:ext>
            </a:extLst>
          </p:cNvPr>
          <p:cNvSpPr txBox="1"/>
          <p:nvPr/>
        </p:nvSpPr>
        <p:spPr>
          <a:xfrm>
            <a:off x="2286000" y="5193792"/>
            <a:ext cx="86868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dirty="0">
                <a:solidFill>
                  <a:srgbClr val="4B4B4B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Income</a:t>
            </a:r>
            <a:r>
              <a:rPr lang="en-US" sz="1600" dirty="0">
                <a:solidFill>
                  <a:srgbClr val="4B4B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600" dirty="0" err="1">
                <a:solidFill>
                  <a:srgbClr val="4B4B4B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TotalSpend</a:t>
            </a:r>
            <a:r>
              <a:rPr lang="en-US" sz="1600" dirty="0">
                <a:solidFill>
                  <a:srgbClr val="4B4B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exhibit extreme right skew (&gt;5) with leptokurtic tails. This drives the decision to </a:t>
            </a:r>
            <a:r>
              <a:rPr lang="en-US" sz="1600" b="1" dirty="0">
                <a:solidFill>
                  <a:srgbClr val="4B4B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median imputation for missing values </a:t>
            </a:r>
            <a:r>
              <a:rPr lang="en-US" sz="1600" dirty="0">
                <a:solidFill>
                  <a:srgbClr val="4B4B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1600" b="1" dirty="0" err="1">
                <a:solidFill>
                  <a:srgbClr val="4B4B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winsorization</a:t>
            </a:r>
            <a:r>
              <a:rPr lang="en-US" sz="1600" b="1" dirty="0">
                <a:solidFill>
                  <a:srgbClr val="4B4B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the outliers</a:t>
            </a:r>
            <a:r>
              <a:rPr lang="en-US" sz="1600" dirty="0">
                <a:solidFill>
                  <a:srgbClr val="4B4B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(will be used for Logistic Regression). </a:t>
            </a:r>
            <a:endParaRPr lang="en-PH" sz="1600" dirty="0">
              <a:solidFill>
                <a:srgbClr val="4B4B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3456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87DF40E-E899-E28C-1CB2-FD3466F647BB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AF3F08-512E-4EC6-40C5-E8B7A1A80E84}"/>
              </a:ext>
            </a:extLst>
          </p:cNvPr>
          <p:cNvSpPr txBox="1"/>
          <p:nvPr/>
        </p:nvSpPr>
        <p:spPr>
          <a:xfrm>
            <a:off x="731520" y="66550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 dirty="0">
                <a:solidFill>
                  <a:srgbClr val="1A2A3D"/>
                </a:solidFill>
                <a:latin typeface="Arial" panose="020B0604020202020204" pitchFamily="34" charset="0"/>
              </a:rPr>
              <a:t>1.3  Data Quality Issues Identified</a:t>
            </a:r>
            <a:endParaRPr lang="en-PH" sz="2800" b="1" dirty="0">
              <a:solidFill>
                <a:srgbClr val="1A2A3D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1F68D5F-24F0-5EA8-1F8A-2F08817E5616}"/>
              </a:ext>
            </a:extLst>
          </p:cNvPr>
          <p:cNvSpPr/>
          <p:nvPr/>
        </p:nvSpPr>
        <p:spPr>
          <a:xfrm>
            <a:off x="731520" y="1463040"/>
            <a:ext cx="347472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866F27-8023-DA11-B403-9E19CB9E164C}"/>
              </a:ext>
            </a:extLst>
          </p:cNvPr>
          <p:cNvSpPr/>
          <p:nvPr/>
        </p:nvSpPr>
        <p:spPr>
          <a:xfrm>
            <a:off x="731520" y="1463040"/>
            <a:ext cx="3474720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0A2B56-0348-3FAC-2410-45A0CAEC9A69}"/>
              </a:ext>
            </a:extLst>
          </p:cNvPr>
          <p:cNvSpPr txBox="1"/>
          <p:nvPr/>
        </p:nvSpPr>
        <p:spPr>
          <a:xfrm>
            <a:off x="1005840" y="1691640"/>
            <a:ext cx="292608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F08248"/>
                </a:solidFill>
                <a:latin typeface="Arial" panose="020B0604020202020204" pitchFamily="34" charset="0"/>
              </a:rPr>
              <a:t>Missing Values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21D6E7-42A4-FDB2-3041-F806BC2DEC82}"/>
              </a:ext>
            </a:extLst>
          </p:cNvPr>
          <p:cNvSpPr txBox="1"/>
          <p:nvPr/>
        </p:nvSpPr>
        <p:spPr>
          <a:xfrm>
            <a:off x="1005840" y="2103120"/>
            <a:ext cx="292608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000" b="1">
                <a:solidFill>
                  <a:srgbClr val="1A2A3D"/>
                </a:solidFill>
                <a:latin typeface="Arial" panose="020B0604020202020204" pitchFamily="34" charset="0"/>
              </a:rPr>
              <a:t>~5,000 each (~5%)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238DCE-8F4A-BDB8-5981-69CBFFB950A7}"/>
              </a:ext>
            </a:extLst>
          </p:cNvPr>
          <p:cNvSpPr txBox="1"/>
          <p:nvPr/>
        </p:nvSpPr>
        <p:spPr>
          <a:xfrm>
            <a:off x="1005840" y="2606040"/>
            <a:ext cx="292608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dirty="0">
                <a:solidFill>
                  <a:srgbClr val="9E9E9E"/>
                </a:solidFill>
                <a:latin typeface="Arial" panose="020B0604020202020204" pitchFamily="34" charset="0"/>
              </a:rPr>
              <a:t>Action: Median imputation + _</a:t>
            </a:r>
            <a:r>
              <a:rPr lang="en-US" sz="1200" dirty="0" err="1">
                <a:solidFill>
                  <a:srgbClr val="9E9E9E"/>
                </a:solidFill>
                <a:latin typeface="Arial" panose="020B0604020202020204" pitchFamily="34" charset="0"/>
              </a:rPr>
              <a:t>is_missing</a:t>
            </a:r>
            <a:r>
              <a:rPr lang="en-US" sz="1200" dirty="0">
                <a:solidFill>
                  <a:srgbClr val="9E9E9E"/>
                </a:solidFill>
                <a:latin typeface="Arial" panose="020B0604020202020204" pitchFamily="34" charset="0"/>
              </a:rPr>
              <a:t> flag</a:t>
            </a:r>
            <a:endParaRPr lang="en-PH" sz="1200" dirty="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75D6AC8-63C2-239D-47AA-97B6E4FFAB23}"/>
              </a:ext>
            </a:extLst>
          </p:cNvPr>
          <p:cNvSpPr/>
          <p:nvPr/>
        </p:nvSpPr>
        <p:spPr>
          <a:xfrm>
            <a:off x="4434840" y="1463040"/>
            <a:ext cx="347472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C82BA5-15E2-6E7E-FE19-A1583665133D}"/>
              </a:ext>
            </a:extLst>
          </p:cNvPr>
          <p:cNvSpPr/>
          <p:nvPr/>
        </p:nvSpPr>
        <p:spPr>
          <a:xfrm>
            <a:off x="4434840" y="1463040"/>
            <a:ext cx="3474720" cy="54864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81E991-E167-E534-C227-BD8AADE8BE03}"/>
              </a:ext>
            </a:extLst>
          </p:cNvPr>
          <p:cNvSpPr txBox="1"/>
          <p:nvPr/>
        </p:nvSpPr>
        <p:spPr>
          <a:xfrm>
            <a:off x="4709160" y="1691640"/>
            <a:ext cx="292608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E84747"/>
                </a:solidFill>
                <a:latin typeface="Arial" panose="020B0604020202020204" pitchFamily="34" charset="0"/>
              </a:rPr>
              <a:t>Negative Income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046118-DDEF-CE46-F9F2-A1903EEA07D2}"/>
              </a:ext>
            </a:extLst>
          </p:cNvPr>
          <p:cNvSpPr txBox="1"/>
          <p:nvPr/>
        </p:nvSpPr>
        <p:spPr>
          <a:xfrm>
            <a:off x="4709160" y="2103120"/>
            <a:ext cx="292608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000" b="1">
                <a:solidFill>
                  <a:srgbClr val="1A2A3D"/>
                </a:solidFill>
                <a:latin typeface="Arial" panose="020B0604020202020204" pitchFamily="34" charset="0"/>
              </a:rPr>
              <a:t>23 records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C61186-E60E-B953-E2A0-67DB5E370D66}"/>
              </a:ext>
            </a:extLst>
          </p:cNvPr>
          <p:cNvSpPr txBox="1"/>
          <p:nvPr/>
        </p:nvSpPr>
        <p:spPr>
          <a:xfrm>
            <a:off x="4709160" y="2606040"/>
            <a:ext cx="292608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dirty="0">
                <a:solidFill>
                  <a:srgbClr val="9E9E9E"/>
                </a:solidFill>
                <a:latin typeface="Arial" panose="020B0604020202020204" pitchFamily="34" charset="0"/>
              </a:rPr>
              <a:t>Action: Flagged as </a:t>
            </a:r>
            <a:r>
              <a:rPr lang="en-US" sz="1200" dirty="0" err="1">
                <a:solidFill>
                  <a:srgbClr val="9E9E9E"/>
                </a:solidFill>
                <a:latin typeface="Arial" panose="020B0604020202020204" pitchFamily="34" charset="0"/>
              </a:rPr>
              <a:t>Income_is_negative</a:t>
            </a:r>
            <a:endParaRPr lang="en-PH" sz="1200" dirty="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05FEF43-4085-F544-69CE-AB0FD10570BC}"/>
              </a:ext>
            </a:extLst>
          </p:cNvPr>
          <p:cNvSpPr/>
          <p:nvPr/>
        </p:nvSpPr>
        <p:spPr>
          <a:xfrm>
            <a:off x="8138160" y="1463040"/>
            <a:ext cx="347472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87903A-93DE-8B97-E9BC-56FF1A75C477}"/>
              </a:ext>
            </a:extLst>
          </p:cNvPr>
          <p:cNvSpPr/>
          <p:nvPr/>
        </p:nvSpPr>
        <p:spPr>
          <a:xfrm>
            <a:off x="8138160" y="1463040"/>
            <a:ext cx="3474720" cy="54864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0FB657-F738-12FA-B711-95CF2ABFCCEF}"/>
              </a:ext>
            </a:extLst>
          </p:cNvPr>
          <p:cNvSpPr txBox="1"/>
          <p:nvPr/>
        </p:nvSpPr>
        <p:spPr>
          <a:xfrm>
            <a:off x="8412480" y="1691640"/>
            <a:ext cx="292608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E84747"/>
                </a:solidFill>
                <a:latin typeface="Arial" panose="020B0604020202020204" pitchFamily="34" charset="0"/>
              </a:rPr>
              <a:t>Negative CreditLimit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BE3E4E-6C15-685F-FBCE-D346C278384B}"/>
              </a:ext>
            </a:extLst>
          </p:cNvPr>
          <p:cNvSpPr txBox="1"/>
          <p:nvPr/>
        </p:nvSpPr>
        <p:spPr>
          <a:xfrm>
            <a:off x="8412480" y="2103120"/>
            <a:ext cx="292608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000" b="1">
                <a:solidFill>
                  <a:srgbClr val="1A2A3D"/>
                </a:solidFill>
                <a:latin typeface="Arial" panose="020B0604020202020204" pitchFamily="34" charset="0"/>
              </a:rPr>
              <a:t>142 records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0C6BE9-4CDD-3E48-1D21-274229B6FDA5}"/>
              </a:ext>
            </a:extLst>
          </p:cNvPr>
          <p:cNvSpPr txBox="1"/>
          <p:nvPr/>
        </p:nvSpPr>
        <p:spPr>
          <a:xfrm>
            <a:off x="8412480" y="2606040"/>
            <a:ext cx="292608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9E9E9E"/>
                </a:solidFill>
                <a:latin typeface="Arial" panose="020B0604020202020204" pitchFamily="34" charset="0"/>
              </a:rPr>
              <a:t>Action: Flagged as CreditLimit_is_negative</a:t>
            </a:r>
            <a:endParaRPr lang="en-PH" sz="12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E8C76FB-C056-E8D1-EA65-EF36A6E29065}"/>
              </a:ext>
            </a:extLst>
          </p:cNvPr>
          <p:cNvSpPr/>
          <p:nvPr/>
        </p:nvSpPr>
        <p:spPr>
          <a:xfrm>
            <a:off x="731520" y="3840480"/>
            <a:ext cx="347472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605BADF-C70D-D02A-59E5-5E188A56F3C9}"/>
              </a:ext>
            </a:extLst>
          </p:cNvPr>
          <p:cNvSpPr/>
          <p:nvPr/>
        </p:nvSpPr>
        <p:spPr>
          <a:xfrm>
            <a:off x="731520" y="3840480"/>
            <a:ext cx="3474720" cy="54864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4DB7ED-2F52-200A-B5DE-79CADC5131A1}"/>
              </a:ext>
            </a:extLst>
          </p:cNvPr>
          <p:cNvSpPr txBox="1"/>
          <p:nvPr/>
        </p:nvSpPr>
        <p:spPr>
          <a:xfrm>
            <a:off x="1005840" y="4069080"/>
            <a:ext cx="292608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E84747"/>
                </a:solidFill>
                <a:latin typeface="Arial" panose="020B0604020202020204" pitchFamily="34" charset="0"/>
              </a:rPr>
              <a:t>Negative TotalSpend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A6B8AE-C72B-3D88-E20C-5A407C0C264F}"/>
              </a:ext>
            </a:extLst>
          </p:cNvPr>
          <p:cNvSpPr txBox="1"/>
          <p:nvPr/>
        </p:nvSpPr>
        <p:spPr>
          <a:xfrm>
            <a:off x="1005840" y="4480560"/>
            <a:ext cx="292608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000" b="1">
                <a:solidFill>
                  <a:srgbClr val="1A2A3D"/>
                </a:solidFill>
                <a:latin typeface="Arial" panose="020B0604020202020204" pitchFamily="34" charset="0"/>
              </a:rPr>
              <a:t>578 (~0.5%)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4A3B362-938A-FEA6-36F1-8C36600A2B74}"/>
              </a:ext>
            </a:extLst>
          </p:cNvPr>
          <p:cNvSpPr txBox="1"/>
          <p:nvPr/>
        </p:nvSpPr>
        <p:spPr>
          <a:xfrm>
            <a:off x="1005840" y="4983480"/>
            <a:ext cx="292608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9E9E9E"/>
                </a:solidFill>
                <a:latin typeface="Arial" panose="020B0604020202020204" pitchFamily="34" charset="0"/>
              </a:rPr>
              <a:t>Action: Flagged as TotalSpend_is_negative</a:t>
            </a:r>
            <a:endParaRPr lang="en-PH" sz="12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2A08A82-2106-3953-F128-56D38BEB21D0}"/>
              </a:ext>
            </a:extLst>
          </p:cNvPr>
          <p:cNvSpPr/>
          <p:nvPr/>
        </p:nvSpPr>
        <p:spPr>
          <a:xfrm>
            <a:off x="4434840" y="3840480"/>
            <a:ext cx="347472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11AFC17-FF8F-29AB-4FD7-A85ACBD8C874}"/>
              </a:ext>
            </a:extLst>
          </p:cNvPr>
          <p:cNvSpPr/>
          <p:nvPr/>
        </p:nvSpPr>
        <p:spPr>
          <a:xfrm>
            <a:off x="4434840" y="3840480"/>
            <a:ext cx="3474720" cy="54864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AFDC2B7-5845-54EC-1012-F4D6EFE40CEB}"/>
              </a:ext>
            </a:extLst>
          </p:cNvPr>
          <p:cNvSpPr txBox="1"/>
          <p:nvPr/>
        </p:nvSpPr>
        <p:spPr>
          <a:xfrm>
            <a:off x="4709160" y="4069080"/>
            <a:ext cx="292608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208090"/>
                </a:solidFill>
                <a:latin typeface="Arial" panose="020B0604020202020204" pitchFamily="34" charset="0"/>
              </a:rPr>
              <a:t>Duplicate Records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F23C243-54AF-2870-FF1B-3589271DF175}"/>
              </a:ext>
            </a:extLst>
          </p:cNvPr>
          <p:cNvSpPr txBox="1"/>
          <p:nvPr/>
        </p:nvSpPr>
        <p:spPr>
          <a:xfrm>
            <a:off x="4709160" y="4480560"/>
            <a:ext cx="292608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000" b="1">
                <a:solidFill>
                  <a:srgbClr val="1A2A3D"/>
                </a:solidFill>
                <a:latin typeface="Arial" panose="020B0604020202020204" pitchFamily="34" charset="0"/>
              </a:rPr>
              <a:t>1,000 exact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308D0DB-381A-4816-E293-71EFEB139110}"/>
              </a:ext>
            </a:extLst>
          </p:cNvPr>
          <p:cNvSpPr txBox="1"/>
          <p:nvPr/>
        </p:nvSpPr>
        <p:spPr>
          <a:xfrm>
            <a:off x="4709160" y="4983480"/>
            <a:ext cx="292608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9E9E9E"/>
                </a:solidFill>
                <a:latin typeface="Arial" panose="020B0604020202020204" pitchFamily="34" charset="0"/>
              </a:rPr>
              <a:t>Action: Dropped via drop_duplicates()</a:t>
            </a:r>
            <a:endParaRPr lang="en-PH" sz="12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FFB56C3-0F53-AAC9-A8AF-41932B3FF604}"/>
              </a:ext>
            </a:extLst>
          </p:cNvPr>
          <p:cNvSpPr/>
          <p:nvPr/>
        </p:nvSpPr>
        <p:spPr>
          <a:xfrm>
            <a:off x="8138160" y="3840480"/>
            <a:ext cx="347472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6B11896-E4BF-AC9B-4F37-2B029C719258}"/>
              </a:ext>
            </a:extLst>
          </p:cNvPr>
          <p:cNvSpPr/>
          <p:nvPr/>
        </p:nvSpPr>
        <p:spPr>
          <a:xfrm>
            <a:off x="8138160" y="3840480"/>
            <a:ext cx="3474720" cy="54864"/>
          </a:xfrm>
          <a:prstGeom prst="rect">
            <a:avLst/>
          </a:prstGeom>
          <a:solidFill>
            <a:srgbClr val="16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5867BE4-CC42-15B9-D5DB-4D81C48CF6EE}"/>
              </a:ext>
            </a:extLst>
          </p:cNvPr>
          <p:cNvSpPr txBox="1"/>
          <p:nvPr/>
        </p:nvSpPr>
        <p:spPr>
          <a:xfrm>
            <a:off x="8412480" y="4069080"/>
            <a:ext cx="292608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162761"/>
                </a:solidFill>
                <a:latin typeface="Arial" panose="020B0604020202020204" pitchFamily="34" charset="0"/>
              </a:rPr>
              <a:t>High Cardinality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19446C2-8F16-697F-B99B-3F6623F0C98E}"/>
              </a:ext>
            </a:extLst>
          </p:cNvPr>
          <p:cNvSpPr txBox="1"/>
          <p:nvPr/>
        </p:nvSpPr>
        <p:spPr>
          <a:xfrm>
            <a:off x="8412480" y="4480560"/>
            <a:ext cx="292608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000" b="1">
                <a:solidFill>
                  <a:srgbClr val="1A2A3D"/>
                </a:solidFill>
                <a:latin typeface="Arial" panose="020B0604020202020204" pitchFamily="34" charset="0"/>
              </a:rPr>
              <a:t>Country: 100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A37E864-ADDE-22A2-EFE2-888D711749CB}"/>
              </a:ext>
            </a:extLst>
          </p:cNvPr>
          <p:cNvSpPr txBox="1"/>
          <p:nvPr/>
        </p:nvSpPr>
        <p:spPr>
          <a:xfrm>
            <a:off x="8412480" y="4983480"/>
            <a:ext cx="292608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Action: Target Encoding (smoothed)</a:t>
            </a:r>
          </a:p>
        </p:txBody>
      </p:sp>
    </p:spTree>
    <p:extLst>
      <p:ext uri="{BB962C8B-B14F-4D97-AF65-F5344CB8AC3E}">
        <p14:creationId xmlns:p14="http://schemas.microsoft.com/office/powerpoint/2010/main" val="2175904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AB1174A-BD83-A620-9195-79FE98EB8661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2364F7-3E36-743F-245F-08B6DE4E8446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 dirty="0">
                <a:solidFill>
                  <a:srgbClr val="1A2A3D"/>
                </a:solidFill>
                <a:latin typeface="Arial" panose="020B0604020202020204" pitchFamily="34" charset="0"/>
              </a:rPr>
              <a:t>1.4  Univariate Analysis (Categorical Features)</a:t>
            </a:r>
            <a:endParaRPr lang="en-PH" sz="2800" b="1" dirty="0">
              <a:solidFill>
                <a:srgbClr val="1A2A3D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5881EC-5EB9-2773-68AB-6FCA9A4B4444}"/>
              </a:ext>
            </a:extLst>
          </p:cNvPr>
          <p:cNvSpPr txBox="1"/>
          <p:nvPr/>
        </p:nvSpPr>
        <p:spPr>
          <a:xfrm>
            <a:off x="731520" y="86868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9E9E9E"/>
                </a:solidFill>
                <a:latin typeface="Arial" panose="020B0604020202020204" pitchFamily="34" charset="0"/>
              </a:rPr>
              <a:t>Chi-square tests reveal NO significant association with attrition</a:t>
            </a:r>
            <a:endParaRPr lang="en-PH" sz="14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594B5AE-9EF4-6CE2-6EE9-B27F020DF1AF}"/>
              </a:ext>
            </a:extLst>
          </p:cNvPr>
          <p:cNvSpPr/>
          <p:nvPr/>
        </p:nvSpPr>
        <p:spPr>
          <a:xfrm>
            <a:off x="792328" y="1554480"/>
            <a:ext cx="251460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0DFAE2-8640-03AF-0FC3-910B887B41AC}"/>
              </a:ext>
            </a:extLst>
          </p:cNvPr>
          <p:cNvSpPr txBox="1"/>
          <p:nvPr/>
        </p:nvSpPr>
        <p:spPr>
          <a:xfrm>
            <a:off x="1020928" y="1737360"/>
            <a:ext cx="205740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700" b="1">
                <a:solidFill>
                  <a:srgbClr val="1A2A3D"/>
                </a:solidFill>
                <a:latin typeface="Arial" panose="020B0604020202020204" pitchFamily="34" charset="0"/>
              </a:rPr>
              <a:t>Gender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D7AE59-F477-7277-55DA-11D2B751A92C}"/>
              </a:ext>
            </a:extLst>
          </p:cNvPr>
          <p:cNvSpPr/>
          <p:nvPr/>
        </p:nvSpPr>
        <p:spPr>
          <a:xfrm>
            <a:off x="1020928" y="2148840"/>
            <a:ext cx="1371600" cy="18288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FAA9DB-535D-9AC5-3420-8ECEE7DCE80F}"/>
              </a:ext>
            </a:extLst>
          </p:cNvPr>
          <p:cNvSpPr txBox="1"/>
          <p:nvPr/>
        </p:nvSpPr>
        <p:spPr>
          <a:xfrm>
            <a:off x="1020928" y="2331720"/>
            <a:ext cx="20574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4B4B4B"/>
                </a:solidFill>
                <a:latin typeface="Arial" panose="020B0604020202020204" pitchFamily="34" charset="0"/>
              </a:rPr>
              <a:t>Male 5.02%  |  Female 4.91%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AD169F-3A21-8772-E660-2DF97A737072}"/>
              </a:ext>
            </a:extLst>
          </p:cNvPr>
          <p:cNvSpPr txBox="1"/>
          <p:nvPr/>
        </p:nvSpPr>
        <p:spPr>
          <a:xfrm>
            <a:off x="1020928" y="3063240"/>
            <a:ext cx="2057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Chi2 p = 0.43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29D825E-AA32-0E82-C6F8-E5EA83DD9325}"/>
              </a:ext>
            </a:extLst>
          </p:cNvPr>
          <p:cNvSpPr/>
          <p:nvPr/>
        </p:nvSpPr>
        <p:spPr>
          <a:xfrm>
            <a:off x="1020928" y="3520440"/>
            <a:ext cx="2057400" cy="411480"/>
          </a:xfrm>
          <a:prstGeom prst="roundRect">
            <a:avLst>
              <a:gd name="adj" fmla="val 6000"/>
            </a:avLst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6004F3-E890-BA74-BECF-C5FB5041BA14}"/>
              </a:ext>
            </a:extLst>
          </p:cNvPr>
          <p:cNvSpPr txBox="1"/>
          <p:nvPr/>
        </p:nvSpPr>
        <p:spPr>
          <a:xfrm>
            <a:off x="1020928" y="3547872"/>
            <a:ext cx="2057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 b="1">
                <a:solidFill>
                  <a:srgbClr val="FFFFFF"/>
                </a:solidFill>
                <a:latin typeface="Arial" panose="020B0604020202020204" pitchFamily="34" charset="0"/>
              </a:rPr>
              <a:t>NOT SIGNIFICANT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3BA3B8F-C9FE-985D-BA7C-CEB6EB87FFFD}"/>
              </a:ext>
            </a:extLst>
          </p:cNvPr>
          <p:cNvSpPr/>
          <p:nvPr/>
        </p:nvSpPr>
        <p:spPr>
          <a:xfrm>
            <a:off x="3489808" y="1554480"/>
            <a:ext cx="251460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DD96AB-3087-FC52-5A08-9023C41D9354}"/>
              </a:ext>
            </a:extLst>
          </p:cNvPr>
          <p:cNvSpPr txBox="1"/>
          <p:nvPr/>
        </p:nvSpPr>
        <p:spPr>
          <a:xfrm>
            <a:off x="3718408" y="1737360"/>
            <a:ext cx="205740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700" b="1">
                <a:solidFill>
                  <a:srgbClr val="1A2A3D"/>
                </a:solidFill>
                <a:latin typeface="Arial" panose="020B0604020202020204" pitchFamily="34" charset="0"/>
              </a:rPr>
              <a:t>MaritalStatus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ECF4EB-7CD3-B8BA-8BB5-800D117B9014}"/>
              </a:ext>
            </a:extLst>
          </p:cNvPr>
          <p:cNvSpPr/>
          <p:nvPr/>
        </p:nvSpPr>
        <p:spPr>
          <a:xfrm>
            <a:off x="3718408" y="2148840"/>
            <a:ext cx="1371600" cy="18288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81D112-09F6-0901-FBF4-52F7FF9AEAD9}"/>
              </a:ext>
            </a:extLst>
          </p:cNvPr>
          <p:cNvSpPr txBox="1"/>
          <p:nvPr/>
        </p:nvSpPr>
        <p:spPr>
          <a:xfrm>
            <a:off x="3718408" y="2331720"/>
            <a:ext cx="20574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4B4B4B"/>
                </a:solidFill>
                <a:latin typeface="Arial" panose="020B0604020202020204" pitchFamily="34" charset="0"/>
              </a:rPr>
              <a:t>Widowed 5.12%  |  Single 4.86%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AF5F42-7900-8EB9-6D22-D054FE2C3A44}"/>
              </a:ext>
            </a:extLst>
          </p:cNvPr>
          <p:cNvSpPr txBox="1"/>
          <p:nvPr/>
        </p:nvSpPr>
        <p:spPr>
          <a:xfrm>
            <a:off x="3718408" y="3063240"/>
            <a:ext cx="2057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Chi2 p = 0.47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F046DC3-05E2-1D9E-595D-CF7118A2F57A}"/>
              </a:ext>
            </a:extLst>
          </p:cNvPr>
          <p:cNvSpPr/>
          <p:nvPr/>
        </p:nvSpPr>
        <p:spPr>
          <a:xfrm>
            <a:off x="3718408" y="3520440"/>
            <a:ext cx="2057400" cy="411480"/>
          </a:xfrm>
          <a:prstGeom prst="roundRect">
            <a:avLst>
              <a:gd name="adj" fmla="val 6000"/>
            </a:avLst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F92DFD-1F06-08CE-272C-96ABA7055366}"/>
              </a:ext>
            </a:extLst>
          </p:cNvPr>
          <p:cNvSpPr txBox="1"/>
          <p:nvPr/>
        </p:nvSpPr>
        <p:spPr>
          <a:xfrm>
            <a:off x="3718408" y="3547872"/>
            <a:ext cx="2057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 b="1">
                <a:solidFill>
                  <a:srgbClr val="FFFFFF"/>
                </a:solidFill>
                <a:latin typeface="Arial" panose="020B0604020202020204" pitchFamily="34" charset="0"/>
              </a:rPr>
              <a:t>NOT SIGNIFICANT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0FC032D-1819-9C29-AB48-B4120ACF7452}"/>
              </a:ext>
            </a:extLst>
          </p:cNvPr>
          <p:cNvSpPr/>
          <p:nvPr/>
        </p:nvSpPr>
        <p:spPr>
          <a:xfrm>
            <a:off x="6187287" y="1554480"/>
            <a:ext cx="251460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4166C0-35B4-8819-F56E-B82BB61EEFC5}"/>
              </a:ext>
            </a:extLst>
          </p:cNvPr>
          <p:cNvSpPr txBox="1"/>
          <p:nvPr/>
        </p:nvSpPr>
        <p:spPr>
          <a:xfrm>
            <a:off x="6415887" y="1737360"/>
            <a:ext cx="205740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700" b="1">
                <a:solidFill>
                  <a:srgbClr val="1A2A3D"/>
                </a:solidFill>
                <a:latin typeface="Arial" panose="020B0604020202020204" pitchFamily="34" charset="0"/>
              </a:rPr>
              <a:t>EducationLevel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8D52377-A53C-11F5-B7E1-C587707BEFA7}"/>
              </a:ext>
            </a:extLst>
          </p:cNvPr>
          <p:cNvSpPr/>
          <p:nvPr/>
        </p:nvSpPr>
        <p:spPr>
          <a:xfrm>
            <a:off x="6415887" y="2148840"/>
            <a:ext cx="1371600" cy="18288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33533EA-51D5-FC61-412E-31AB103D42E9}"/>
              </a:ext>
            </a:extLst>
          </p:cNvPr>
          <p:cNvSpPr txBox="1"/>
          <p:nvPr/>
        </p:nvSpPr>
        <p:spPr>
          <a:xfrm>
            <a:off x="6415887" y="2331720"/>
            <a:ext cx="2057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4B4B4B"/>
                </a:solidFill>
                <a:latin typeface="Arial" panose="020B0604020202020204" pitchFamily="34" charset="0"/>
              </a:rPr>
              <a:t>Master 5.12%  |  HS 4.80%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B8BE7CD-D9DE-FA58-A6A8-965E8FC66E74}"/>
              </a:ext>
            </a:extLst>
          </p:cNvPr>
          <p:cNvSpPr txBox="1"/>
          <p:nvPr/>
        </p:nvSpPr>
        <p:spPr>
          <a:xfrm>
            <a:off x="6415887" y="3063240"/>
            <a:ext cx="2057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Chi2 p = 0.33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E3CAA17-23B5-39ED-F162-08F497B82576}"/>
              </a:ext>
            </a:extLst>
          </p:cNvPr>
          <p:cNvSpPr/>
          <p:nvPr/>
        </p:nvSpPr>
        <p:spPr>
          <a:xfrm>
            <a:off x="6415887" y="3520440"/>
            <a:ext cx="2057400" cy="411480"/>
          </a:xfrm>
          <a:prstGeom prst="roundRect">
            <a:avLst>
              <a:gd name="adj" fmla="val 6000"/>
            </a:avLst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E79DD98-01ED-B238-265D-17D6B50BCD2B}"/>
              </a:ext>
            </a:extLst>
          </p:cNvPr>
          <p:cNvSpPr txBox="1"/>
          <p:nvPr/>
        </p:nvSpPr>
        <p:spPr>
          <a:xfrm>
            <a:off x="6415887" y="3547872"/>
            <a:ext cx="2057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 b="1">
                <a:solidFill>
                  <a:srgbClr val="FFFFFF"/>
                </a:solidFill>
                <a:latin typeface="Arial" panose="020B0604020202020204" pitchFamily="34" charset="0"/>
              </a:rPr>
              <a:t>NOT SIGNIFICANT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F10817A-4D42-3DD1-6297-82E569597F8F}"/>
              </a:ext>
            </a:extLst>
          </p:cNvPr>
          <p:cNvSpPr/>
          <p:nvPr/>
        </p:nvSpPr>
        <p:spPr>
          <a:xfrm>
            <a:off x="8884768" y="1554480"/>
            <a:ext cx="251460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C4405A7-38FF-690E-53C8-EB8F3DB546C9}"/>
              </a:ext>
            </a:extLst>
          </p:cNvPr>
          <p:cNvSpPr txBox="1"/>
          <p:nvPr/>
        </p:nvSpPr>
        <p:spPr>
          <a:xfrm>
            <a:off x="9113368" y="1737360"/>
            <a:ext cx="205740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700" b="1">
                <a:solidFill>
                  <a:srgbClr val="1A2A3D"/>
                </a:solidFill>
                <a:latin typeface="Arial" panose="020B0604020202020204" pitchFamily="34" charset="0"/>
              </a:rPr>
              <a:t>CardType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F33204C-D235-5B73-173A-2D0C9D4F661D}"/>
              </a:ext>
            </a:extLst>
          </p:cNvPr>
          <p:cNvSpPr/>
          <p:nvPr/>
        </p:nvSpPr>
        <p:spPr>
          <a:xfrm>
            <a:off x="9113368" y="2148840"/>
            <a:ext cx="1371600" cy="18288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314DA9D-1EDD-83C0-8F2E-F7238A182C8B}"/>
              </a:ext>
            </a:extLst>
          </p:cNvPr>
          <p:cNvSpPr txBox="1"/>
          <p:nvPr/>
        </p:nvSpPr>
        <p:spPr>
          <a:xfrm>
            <a:off x="9113368" y="2331720"/>
            <a:ext cx="20574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4B4B4B"/>
                </a:solidFill>
                <a:latin typeface="Arial" panose="020B0604020202020204" pitchFamily="34" charset="0"/>
              </a:rPr>
              <a:t>Marginal spread across types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0AF5F49-F64E-815E-A15D-F29630573585}"/>
              </a:ext>
            </a:extLst>
          </p:cNvPr>
          <p:cNvSpPr txBox="1"/>
          <p:nvPr/>
        </p:nvSpPr>
        <p:spPr>
          <a:xfrm>
            <a:off x="9113368" y="3063240"/>
            <a:ext cx="2057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Cramer's V negligible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D93AFBB-27C4-1C7D-3C88-E23D4FDF1892}"/>
              </a:ext>
            </a:extLst>
          </p:cNvPr>
          <p:cNvSpPr/>
          <p:nvPr/>
        </p:nvSpPr>
        <p:spPr>
          <a:xfrm>
            <a:off x="9113368" y="3520440"/>
            <a:ext cx="2057400" cy="411480"/>
          </a:xfrm>
          <a:prstGeom prst="roundRect">
            <a:avLst>
              <a:gd name="adj" fmla="val 6000"/>
            </a:avLst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21867B9-D327-6EAF-CDAC-FA5E2C2BF968}"/>
              </a:ext>
            </a:extLst>
          </p:cNvPr>
          <p:cNvSpPr txBox="1"/>
          <p:nvPr/>
        </p:nvSpPr>
        <p:spPr>
          <a:xfrm>
            <a:off x="9113368" y="3547872"/>
            <a:ext cx="2057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 b="1">
                <a:solidFill>
                  <a:srgbClr val="FFFFFF"/>
                </a:solidFill>
                <a:latin typeface="Arial" panose="020B0604020202020204" pitchFamily="34" charset="0"/>
              </a:rPr>
              <a:t>NOT SIGNIFICANT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B89D5C8-521D-E018-A0D4-63F53318A643}"/>
              </a:ext>
            </a:extLst>
          </p:cNvPr>
          <p:cNvSpPr/>
          <p:nvPr/>
        </p:nvSpPr>
        <p:spPr>
          <a:xfrm>
            <a:off x="731520" y="4846320"/>
            <a:ext cx="10698479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6296D1B-184D-7730-B210-A1F33291D06A}"/>
              </a:ext>
            </a:extLst>
          </p:cNvPr>
          <p:cNvSpPr/>
          <p:nvPr/>
        </p:nvSpPr>
        <p:spPr>
          <a:xfrm>
            <a:off x="731520" y="4846320"/>
            <a:ext cx="54864" cy="1280160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F3636E7-B39A-F3BE-E468-4F8E6D471796}"/>
              </a:ext>
            </a:extLst>
          </p:cNvPr>
          <p:cNvSpPr txBox="1"/>
          <p:nvPr/>
        </p:nvSpPr>
        <p:spPr>
          <a:xfrm>
            <a:off x="1097280" y="4983480"/>
            <a:ext cx="27432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Country (100 values)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71237B9-7A9E-755A-0942-5D61DF105699}"/>
              </a:ext>
            </a:extLst>
          </p:cNvPr>
          <p:cNvSpPr txBox="1"/>
          <p:nvPr/>
        </p:nvSpPr>
        <p:spPr>
          <a:xfrm>
            <a:off x="1097280" y="5349240"/>
            <a:ext cx="96012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 dirty="0">
                <a:solidFill>
                  <a:srgbClr val="4B4B4B"/>
                </a:solidFill>
                <a:latin typeface="Arial" panose="020B0604020202020204" pitchFamily="34" charset="0"/>
              </a:rPr>
              <a:t>Target Encoding std dev = 0.0068 (extremely narrow). Zero high-risk countries identified (0 countries exceed 1.5x global churn rate). Geography adds no predictive value.</a:t>
            </a:r>
            <a:endParaRPr lang="en-PH" sz="1300" b="1" dirty="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8056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21BB262-82FE-767B-C43A-32906FFE2895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177BF2-4731-C1F0-E503-D2F172C10D2F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sv-SE" sz="2800" b="1" dirty="0">
                <a:solidFill>
                  <a:srgbClr val="1A2A3D"/>
                </a:solidFill>
                <a:latin typeface="Arial" panose="020B0604020202020204" pitchFamily="34" charset="0"/>
              </a:rPr>
              <a:t>1.5  Bivariate Analysis (Numeric vs. Attrition)</a:t>
            </a:r>
            <a:endParaRPr lang="en-PH" sz="2800" b="1" dirty="0">
              <a:solidFill>
                <a:srgbClr val="1A2A3D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C2F2F2-4E31-A3E0-DC1D-98929711F0D3}"/>
              </a:ext>
            </a:extLst>
          </p:cNvPr>
          <p:cNvSpPr txBox="1"/>
          <p:nvPr/>
        </p:nvSpPr>
        <p:spPr>
          <a:xfrm>
            <a:off x="731520" y="86868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9E9E9E"/>
                </a:solidFill>
                <a:latin typeface="Arial" panose="020B0604020202020204" pitchFamily="34" charset="0"/>
              </a:rPr>
              <a:t>Median comparisons reveal near-zero difference across all features</a:t>
            </a:r>
            <a:endParaRPr lang="en-PH" sz="14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1C50F32-3FAD-82C2-4322-C6272B6A73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3130569"/>
              </p:ext>
            </p:extLst>
          </p:nvPr>
        </p:nvGraphicFramePr>
        <p:xfrm>
          <a:off x="731520" y="1463040"/>
          <a:ext cx="10698480" cy="29260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>
                  <a:extLst>
                    <a:ext uri="{9D8B030D-6E8A-4147-A177-3AD203B41FA5}">
                      <a16:colId xmlns:a16="http://schemas.microsoft.com/office/drawing/2014/main" val="2007866615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681417500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1441881520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762079961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656414560"/>
                    </a:ext>
                  </a:extLst>
                </a:gridCol>
              </a:tblGrid>
              <a:tr h="418011">
                <a:tc>
                  <a:txBody>
                    <a:bodyPr/>
                    <a:lstStyle/>
                    <a:p>
                      <a:pPr algn="ctr"/>
                      <a:r>
                        <a:rPr lang="en-PH" sz="13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Feature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Median (Stayed)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Median (Attrited)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T-Test p-value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Cohen's d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0465082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Age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45.0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44.0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p = 0.128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Negligible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755290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Income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70,263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70,263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Not Sig.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Negligible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28900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CreditLimit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14,964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14,964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Not Sig.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Negligible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6773411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TotalTransactions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100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100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p = 0.499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d = -0.010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6001313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TotalSpend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5,029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5,029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p = 0.186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d = +0.020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8540855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Tenure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10.0 yrs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10.0 yrs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p = 0.104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d = -0.024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6891274"/>
                  </a:ext>
                </a:extLst>
              </a:tr>
            </a:tbl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B168892-C466-58C5-47F4-2393A220D0F1}"/>
              </a:ext>
            </a:extLst>
          </p:cNvPr>
          <p:cNvSpPr/>
          <p:nvPr/>
        </p:nvSpPr>
        <p:spPr>
          <a:xfrm>
            <a:off x="731520" y="4754880"/>
            <a:ext cx="10698479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A39C02-CE11-4D3E-3E0B-84A1ADED482C}"/>
              </a:ext>
            </a:extLst>
          </p:cNvPr>
          <p:cNvSpPr/>
          <p:nvPr/>
        </p:nvSpPr>
        <p:spPr>
          <a:xfrm>
            <a:off x="731520" y="4754880"/>
            <a:ext cx="54864" cy="1371600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209131-285B-6EEE-C405-22F0006419AD}"/>
              </a:ext>
            </a:extLst>
          </p:cNvPr>
          <p:cNvSpPr txBox="1"/>
          <p:nvPr/>
        </p:nvSpPr>
        <p:spPr>
          <a:xfrm>
            <a:off x="1097280" y="4846320"/>
            <a:ext cx="27432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E84747"/>
                </a:solidFill>
                <a:latin typeface="Arial" panose="020B0604020202020204" pitchFamily="34" charset="0"/>
              </a:rPr>
              <a:t>KEY FINDING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218160-1169-C0A4-91B9-7922DF7C046B}"/>
              </a:ext>
            </a:extLst>
          </p:cNvPr>
          <p:cNvSpPr txBox="1"/>
          <p:nvPr/>
        </p:nvSpPr>
        <p:spPr>
          <a:xfrm>
            <a:off x="1097280" y="5212080"/>
            <a:ext cx="987552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 dirty="0">
                <a:solidFill>
                  <a:srgbClr val="4B4B4B"/>
                </a:solidFill>
                <a:latin typeface="Arial" panose="020B0604020202020204" pitchFamily="34" charset="0"/>
              </a:rPr>
              <a:t>All features show statistically identical medians between groups. Cohen's d values are uniformly below 0.1, confirming negligible effect sizes. No raw feature separates the two classes.</a:t>
            </a:r>
            <a:endParaRPr lang="en-PH" sz="1300" b="1" dirty="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5615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264B7BA-A2FE-8E4B-8ABC-A941B53356CA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0D6A87-71B6-DF88-E1ED-8B0D465D5872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800" b="1">
                <a:solidFill>
                  <a:srgbClr val="1A2A3D"/>
                </a:solidFill>
                <a:latin typeface="Arial" panose="020B0604020202020204" pitchFamily="34" charset="0"/>
              </a:rPr>
              <a:t>1.6  Multivariate Analysis — Correlation Matrix</a:t>
            </a:r>
            <a:endParaRPr lang="en-PH" sz="2800" b="1">
              <a:solidFill>
                <a:srgbClr val="1A2A3D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7F9FA8-2120-881A-CCE0-6A8E634AE954}"/>
              </a:ext>
            </a:extLst>
          </p:cNvPr>
          <p:cNvSpPr txBox="1"/>
          <p:nvPr/>
        </p:nvSpPr>
        <p:spPr>
          <a:xfrm>
            <a:off x="731520" y="86868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9E9E9E"/>
                </a:solidFill>
                <a:latin typeface="Arial" panose="020B0604020202020204" pitchFamily="34" charset="0"/>
              </a:rPr>
              <a:t>All correlations with AttritionFlag are at noise level</a:t>
            </a:r>
            <a:endParaRPr lang="en-PH" sz="14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36E8AFC-6EDF-736B-7868-9061AC9FDB74}"/>
              </a:ext>
            </a:extLst>
          </p:cNvPr>
          <p:cNvSpPr/>
          <p:nvPr/>
        </p:nvSpPr>
        <p:spPr>
          <a:xfrm>
            <a:off x="731520" y="1554480"/>
            <a:ext cx="24688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72E4CF-7012-AD25-5F8C-D0621F3FCEA2}"/>
              </a:ext>
            </a:extLst>
          </p:cNvPr>
          <p:cNvSpPr txBox="1"/>
          <p:nvPr/>
        </p:nvSpPr>
        <p:spPr>
          <a:xfrm>
            <a:off x="914400" y="1737360"/>
            <a:ext cx="210312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5D4165-DBC0-D578-647A-901D28DF03C1}"/>
              </a:ext>
            </a:extLst>
          </p:cNvPr>
          <p:cNvSpPr txBox="1"/>
          <p:nvPr/>
        </p:nvSpPr>
        <p:spPr>
          <a:xfrm>
            <a:off x="914400" y="2148840"/>
            <a:ext cx="21031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Pearson 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9404CA-18AE-4AF2-0629-5C4B33592E83}"/>
              </a:ext>
            </a:extLst>
          </p:cNvPr>
          <p:cNvSpPr txBox="1"/>
          <p:nvPr/>
        </p:nvSpPr>
        <p:spPr>
          <a:xfrm>
            <a:off x="914400" y="2468880"/>
            <a:ext cx="210312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800" b="1">
                <a:solidFill>
                  <a:srgbClr val="E84747"/>
                </a:solidFill>
                <a:latin typeface="Arial" panose="020B0604020202020204" pitchFamily="34" charset="0"/>
              </a:rPr>
              <a:t>-0.005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65DC84-21CA-E09A-59CE-F83F2436611F}"/>
              </a:ext>
            </a:extLst>
          </p:cNvPr>
          <p:cNvSpPr txBox="1"/>
          <p:nvPr/>
        </p:nvSpPr>
        <p:spPr>
          <a:xfrm>
            <a:off x="914400" y="3017520"/>
            <a:ext cx="21031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Noise-level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9CACEB3-A22C-A5A1-50AE-0ABF904A6920}"/>
              </a:ext>
            </a:extLst>
          </p:cNvPr>
          <p:cNvSpPr/>
          <p:nvPr/>
        </p:nvSpPr>
        <p:spPr>
          <a:xfrm>
            <a:off x="3337560" y="1554480"/>
            <a:ext cx="24688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D1F057-3014-AC93-B6A4-445F29D9E667}"/>
              </a:ext>
            </a:extLst>
          </p:cNvPr>
          <p:cNvSpPr txBox="1"/>
          <p:nvPr/>
        </p:nvSpPr>
        <p:spPr>
          <a:xfrm>
            <a:off x="3520440" y="1737360"/>
            <a:ext cx="210312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Income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EAC621-8E27-B6CE-3445-F8844D42C754}"/>
              </a:ext>
            </a:extLst>
          </p:cNvPr>
          <p:cNvSpPr txBox="1"/>
          <p:nvPr/>
        </p:nvSpPr>
        <p:spPr>
          <a:xfrm>
            <a:off x="3520440" y="2148840"/>
            <a:ext cx="21031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Pearson 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54821A-A067-2081-FDCE-85F2A9D22486}"/>
              </a:ext>
            </a:extLst>
          </p:cNvPr>
          <p:cNvSpPr txBox="1"/>
          <p:nvPr/>
        </p:nvSpPr>
        <p:spPr>
          <a:xfrm>
            <a:off x="3520440" y="2468880"/>
            <a:ext cx="210312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800" b="1">
                <a:solidFill>
                  <a:srgbClr val="E84747"/>
                </a:solidFill>
                <a:latin typeface="Arial" panose="020B0604020202020204" pitchFamily="34" charset="0"/>
              </a:rPr>
              <a:t>~0.00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AD10E0-B9C7-A0F7-77AF-1CFAC2EBA73C}"/>
              </a:ext>
            </a:extLst>
          </p:cNvPr>
          <p:cNvSpPr txBox="1"/>
          <p:nvPr/>
        </p:nvSpPr>
        <p:spPr>
          <a:xfrm>
            <a:off x="3520440" y="3017520"/>
            <a:ext cx="21031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Noise-level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86AAD13-685C-CAC4-77FC-E68213EB714E}"/>
              </a:ext>
            </a:extLst>
          </p:cNvPr>
          <p:cNvSpPr/>
          <p:nvPr/>
        </p:nvSpPr>
        <p:spPr>
          <a:xfrm>
            <a:off x="5943600" y="1554480"/>
            <a:ext cx="24688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FC3EE8-8CBA-5C26-450E-DF4A4D925E90}"/>
              </a:ext>
            </a:extLst>
          </p:cNvPr>
          <p:cNvSpPr txBox="1"/>
          <p:nvPr/>
        </p:nvSpPr>
        <p:spPr>
          <a:xfrm>
            <a:off x="6126480" y="1737360"/>
            <a:ext cx="210312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CreditLimit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81CE3B-1D37-3544-0B92-A2AACEE3C263}"/>
              </a:ext>
            </a:extLst>
          </p:cNvPr>
          <p:cNvSpPr txBox="1"/>
          <p:nvPr/>
        </p:nvSpPr>
        <p:spPr>
          <a:xfrm>
            <a:off x="6126480" y="2148840"/>
            <a:ext cx="21031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Pearson 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792E83-6BA9-E8F4-8213-07893919BCAA}"/>
              </a:ext>
            </a:extLst>
          </p:cNvPr>
          <p:cNvSpPr txBox="1"/>
          <p:nvPr/>
        </p:nvSpPr>
        <p:spPr>
          <a:xfrm>
            <a:off x="6126480" y="2468880"/>
            <a:ext cx="210312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800" b="1">
                <a:solidFill>
                  <a:srgbClr val="E84747"/>
                </a:solidFill>
                <a:latin typeface="Arial" panose="020B0604020202020204" pitchFamily="34" charset="0"/>
              </a:rPr>
              <a:t>~0.00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99041A-CD19-C6A5-6A3C-192D0CD92A01}"/>
              </a:ext>
            </a:extLst>
          </p:cNvPr>
          <p:cNvSpPr txBox="1"/>
          <p:nvPr/>
        </p:nvSpPr>
        <p:spPr>
          <a:xfrm>
            <a:off x="6126480" y="3017520"/>
            <a:ext cx="21031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Noise-level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EB5A32C-1E69-747D-4EC5-F5C5A0C37816}"/>
              </a:ext>
            </a:extLst>
          </p:cNvPr>
          <p:cNvSpPr/>
          <p:nvPr/>
        </p:nvSpPr>
        <p:spPr>
          <a:xfrm>
            <a:off x="8549640" y="1554480"/>
            <a:ext cx="24688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B48B80-23F7-51BB-1A1E-6759D714F058}"/>
              </a:ext>
            </a:extLst>
          </p:cNvPr>
          <p:cNvSpPr txBox="1"/>
          <p:nvPr/>
        </p:nvSpPr>
        <p:spPr>
          <a:xfrm>
            <a:off x="8732520" y="1737360"/>
            <a:ext cx="210312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TotalTxns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5D2B901-EFC7-807D-649F-B4580840895C}"/>
              </a:ext>
            </a:extLst>
          </p:cNvPr>
          <p:cNvSpPr txBox="1"/>
          <p:nvPr/>
        </p:nvSpPr>
        <p:spPr>
          <a:xfrm>
            <a:off x="8732520" y="2148840"/>
            <a:ext cx="21031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Pearson 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3DD392-471D-E832-1B09-F4B6F4C3DE66}"/>
              </a:ext>
            </a:extLst>
          </p:cNvPr>
          <p:cNvSpPr txBox="1"/>
          <p:nvPr/>
        </p:nvSpPr>
        <p:spPr>
          <a:xfrm>
            <a:off x="8732520" y="2468880"/>
            <a:ext cx="210312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800" b="1">
                <a:solidFill>
                  <a:srgbClr val="E84747"/>
                </a:solidFill>
                <a:latin typeface="Arial" panose="020B0604020202020204" pitchFamily="34" charset="0"/>
              </a:rPr>
              <a:t>~0.00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0FB21F-A54D-ED1E-FDDB-C56C75A1B03A}"/>
              </a:ext>
            </a:extLst>
          </p:cNvPr>
          <p:cNvSpPr txBox="1"/>
          <p:nvPr/>
        </p:nvSpPr>
        <p:spPr>
          <a:xfrm>
            <a:off x="8732520" y="3017520"/>
            <a:ext cx="21031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Noise-level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AAB0F37-DB72-CB2C-DEE3-42F56F3ED8DC}"/>
              </a:ext>
            </a:extLst>
          </p:cNvPr>
          <p:cNvSpPr/>
          <p:nvPr/>
        </p:nvSpPr>
        <p:spPr>
          <a:xfrm>
            <a:off x="731520" y="3749040"/>
            <a:ext cx="24688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681C1EB-2DC7-08F5-357E-4894541DC465}"/>
              </a:ext>
            </a:extLst>
          </p:cNvPr>
          <p:cNvSpPr txBox="1"/>
          <p:nvPr/>
        </p:nvSpPr>
        <p:spPr>
          <a:xfrm>
            <a:off x="914400" y="3931920"/>
            <a:ext cx="210312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TotalSpend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594725-C7DF-9D51-D1C8-42A31A1CAAE1}"/>
              </a:ext>
            </a:extLst>
          </p:cNvPr>
          <p:cNvSpPr txBox="1"/>
          <p:nvPr/>
        </p:nvSpPr>
        <p:spPr>
          <a:xfrm>
            <a:off x="914400" y="4343400"/>
            <a:ext cx="21031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Pearson 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0711187-9899-684C-3B29-B20EEED761B8}"/>
              </a:ext>
            </a:extLst>
          </p:cNvPr>
          <p:cNvSpPr txBox="1"/>
          <p:nvPr/>
        </p:nvSpPr>
        <p:spPr>
          <a:xfrm>
            <a:off x="914400" y="4663440"/>
            <a:ext cx="210312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800" b="1">
                <a:solidFill>
                  <a:srgbClr val="E84747"/>
                </a:solidFill>
                <a:latin typeface="Arial" panose="020B0604020202020204" pitchFamily="34" charset="0"/>
              </a:rPr>
              <a:t>~0.00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695124-8A15-2474-7017-6BDCFE76F3E0}"/>
              </a:ext>
            </a:extLst>
          </p:cNvPr>
          <p:cNvSpPr txBox="1"/>
          <p:nvPr/>
        </p:nvSpPr>
        <p:spPr>
          <a:xfrm>
            <a:off x="914400" y="5212080"/>
            <a:ext cx="21031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Noise-level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03637CF-DF51-82E9-E50B-E9B6F1ACF3AD}"/>
              </a:ext>
            </a:extLst>
          </p:cNvPr>
          <p:cNvSpPr/>
          <p:nvPr/>
        </p:nvSpPr>
        <p:spPr>
          <a:xfrm>
            <a:off x="3337560" y="3749040"/>
            <a:ext cx="24688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4BC62E1-7C7B-4C96-B40E-B527386180AB}"/>
              </a:ext>
            </a:extLst>
          </p:cNvPr>
          <p:cNvSpPr txBox="1"/>
          <p:nvPr/>
        </p:nvSpPr>
        <p:spPr>
          <a:xfrm>
            <a:off x="3520440" y="3931920"/>
            <a:ext cx="210312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Tenure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E3060AD-5EB6-9582-391F-20A313A2006A}"/>
              </a:ext>
            </a:extLst>
          </p:cNvPr>
          <p:cNvSpPr txBox="1"/>
          <p:nvPr/>
        </p:nvSpPr>
        <p:spPr>
          <a:xfrm>
            <a:off x="3520440" y="4343400"/>
            <a:ext cx="21031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Pearson 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2A032FC-AD2D-7B35-A4C8-3AB86EF90E39}"/>
              </a:ext>
            </a:extLst>
          </p:cNvPr>
          <p:cNvSpPr txBox="1"/>
          <p:nvPr/>
        </p:nvSpPr>
        <p:spPr>
          <a:xfrm>
            <a:off x="3520440" y="4663440"/>
            <a:ext cx="210312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800" b="1">
                <a:solidFill>
                  <a:srgbClr val="E84747"/>
                </a:solidFill>
                <a:latin typeface="Arial" panose="020B0604020202020204" pitchFamily="34" charset="0"/>
              </a:rPr>
              <a:t>-0.005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3E9FEE0-3ABE-ED01-9CA1-0CF35B5F0093}"/>
              </a:ext>
            </a:extLst>
          </p:cNvPr>
          <p:cNvSpPr txBox="1"/>
          <p:nvPr/>
        </p:nvSpPr>
        <p:spPr>
          <a:xfrm>
            <a:off x="3520440" y="5212080"/>
            <a:ext cx="21031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Noise-level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BCC19DB-40B7-F37B-6A1D-422FCF10ADB4}"/>
              </a:ext>
            </a:extLst>
          </p:cNvPr>
          <p:cNvSpPr/>
          <p:nvPr/>
        </p:nvSpPr>
        <p:spPr>
          <a:xfrm>
            <a:off x="5943600" y="3749040"/>
            <a:ext cx="24688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16D8859-6519-6E83-B731-E26B60A35F09}"/>
              </a:ext>
            </a:extLst>
          </p:cNvPr>
          <p:cNvSpPr txBox="1"/>
          <p:nvPr/>
        </p:nvSpPr>
        <p:spPr>
          <a:xfrm>
            <a:off x="6126480" y="3931920"/>
            <a:ext cx="210312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Avg_Txn/Tenure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D5200C1-CEFA-D570-EAC9-95FC286C4A2F}"/>
              </a:ext>
            </a:extLst>
          </p:cNvPr>
          <p:cNvSpPr txBox="1"/>
          <p:nvPr/>
        </p:nvSpPr>
        <p:spPr>
          <a:xfrm>
            <a:off x="6126480" y="4343400"/>
            <a:ext cx="21031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Pearson 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8487E9A-15CD-22DB-2D6C-1043B34F663F}"/>
              </a:ext>
            </a:extLst>
          </p:cNvPr>
          <p:cNvSpPr txBox="1"/>
          <p:nvPr/>
        </p:nvSpPr>
        <p:spPr>
          <a:xfrm>
            <a:off x="6126480" y="4663440"/>
            <a:ext cx="210312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800" b="1">
                <a:solidFill>
                  <a:srgbClr val="E84747"/>
                </a:solidFill>
                <a:latin typeface="Arial" panose="020B0604020202020204" pitchFamily="34" charset="0"/>
              </a:rPr>
              <a:t>+0.007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725CEBF-8290-8840-2AF1-A516A0E58AEB}"/>
              </a:ext>
            </a:extLst>
          </p:cNvPr>
          <p:cNvSpPr txBox="1"/>
          <p:nvPr/>
        </p:nvSpPr>
        <p:spPr>
          <a:xfrm>
            <a:off x="6126480" y="5212080"/>
            <a:ext cx="21031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Noise-level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05738702-B0CC-CF01-C061-EA5CE2641377}"/>
              </a:ext>
            </a:extLst>
          </p:cNvPr>
          <p:cNvSpPr/>
          <p:nvPr/>
        </p:nvSpPr>
        <p:spPr>
          <a:xfrm>
            <a:off x="8549640" y="3749040"/>
            <a:ext cx="24688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63A498E-279B-A797-C0D5-BE7E7FE4CB8F}"/>
              </a:ext>
            </a:extLst>
          </p:cNvPr>
          <p:cNvSpPr txBox="1"/>
          <p:nvPr/>
        </p:nvSpPr>
        <p:spPr>
          <a:xfrm>
            <a:off x="8732520" y="3931920"/>
            <a:ext cx="210312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Credit_Util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BF39EB7-1064-BA3E-E65F-DE46E14047E8}"/>
              </a:ext>
            </a:extLst>
          </p:cNvPr>
          <p:cNvSpPr txBox="1"/>
          <p:nvPr/>
        </p:nvSpPr>
        <p:spPr>
          <a:xfrm>
            <a:off x="8732520" y="4343400"/>
            <a:ext cx="21031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Pearson r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9B68E41-178A-69D8-695A-E108E2F59561}"/>
              </a:ext>
            </a:extLst>
          </p:cNvPr>
          <p:cNvSpPr txBox="1"/>
          <p:nvPr/>
        </p:nvSpPr>
        <p:spPr>
          <a:xfrm>
            <a:off x="8732520" y="4663440"/>
            <a:ext cx="210312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800" b="1">
                <a:solidFill>
                  <a:srgbClr val="E84747"/>
                </a:solidFill>
                <a:latin typeface="Arial" panose="020B0604020202020204" pitchFamily="34" charset="0"/>
              </a:rPr>
              <a:t>+0.003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6E39A89-3BC2-EE99-269C-446F6AFE5DA1}"/>
              </a:ext>
            </a:extLst>
          </p:cNvPr>
          <p:cNvSpPr txBox="1"/>
          <p:nvPr/>
        </p:nvSpPr>
        <p:spPr>
          <a:xfrm>
            <a:off x="8732520" y="5212080"/>
            <a:ext cx="21031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Noise-level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2BF8A509-9322-9B4D-7870-84DB7A9560D7}"/>
              </a:ext>
            </a:extLst>
          </p:cNvPr>
          <p:cNvSpPr/>
          <p:nvPr/>
        </p:nvSpPr>
        <p:spPr>
          <a:xfrm>
            <a:off x="731520" y="6035040"/>
            <a:ext cx="10698479" cy="594360"/>
          </a:xfrm>
          <a:prstGeom prst="roundRect">
            <a:avLst>
              <a:gd name="adj" fmla="val 6000"/>
            </a:avLst>
          </a:prstGeom>
          <a:solidFill>
            <a:srgbClr val="1A2A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23D63A-BFFE-F9DE-846D-CBAABBDAA30C}"/>
              </a:ext>
            </a:extLst>
          </p:cNvPr>
          <p:cNvSpPr txBox="1"/>
          <p:nvPr/>
        </p:nvSpPr>
        <p:spPr>
          <a:xfrm>
            <a:off x="1097280" y="6099048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400" dirty="0">
                <a:solidFill>
                  <a:srgbClr val="C8DCFC"/>
                </a:solidFill>
                <a:latin typeface="Arial" panose="020B0604020202020204" pitchFamily="34" charset="0"/>
              </a:rPr>
              <a:t>Even engineered features yield correlations below |r| = 0.03. Non-linear modeling might help.</a:t>
            </a:r>
            <a:endParaRPr lang="en-PH" sz="1400" dirty="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50550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319396B-6D8D-E052-8E11-3566C0EC0F63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0E0FE6-586F-A880-EC12-2492AE2E8E9F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 dirty="0">
                <a:solidFill>
                  <a:srgbClr val="FFFFFF"/>
                </a:solidFill>
                <a:latin typeface="Arial" panose="020B0604020202020204" pitchFamily="34" charset="0"/>
              </a:rPr>
              <a:t>Section 1 Synthesis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82918D-9F7D-36CF-E3CD-626AA360B4EA}"/>
              </a:ext>
            </a:extLst>
          </p:cNvPr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>
                <a:solidFill>
                  <a:srgbClr val="F08248"/>
                </a:solidFill>
                <a:latin typeface="Arial" panose="020B0604020202020204" pitchFamily="34" charset="0"/>
              </a:rPr>
              <a:t>Raw features carry almost no discriminative signal for attrition</a:t>
            </a:r>
            <a:endParaRPr lang="en-PH" sz="1700" b="1">
              <a:solidFill>
                <a:srgbClr val="F08248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996BD38-93D3-A1E0-2A84-DCA429A0DF26}"/>
              </a:ext>
            </a:extLst>
          </p:cNvPr>
          <p:cNvSpPr/>
          <p:nvPr/>
        </p:nvSpPr>
        <p:spPr>
          <a:xfrm>
            <a:off x="731520" y="1554480"/>
            <a:ext cx="5120640" cy="438912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C98002-6C3A-C613-2B94-76EA3D4828BC}"/>
              </a:ext>
            </a:extLst>
          </p:cNvPr>
          <p:cNvSpPr txBox="1"/>
          <p:nvPr/>
        </p:nvSpPr>
        <p:spPr>
          <a:xfrm>
            <a:off x="1097280" y="1737360"/>
            <a:ext cx="438912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F08248"/>
                </a:solidFill>
                <a:latin typeface="Arial" panose="020B0604020202020204" pitchFamily="34" charset="0"/>
              </a:rPr>
              <a:t>WHAT THE DATA SHOWS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5AC583-96F7-5D52-9DF1-02B407526B72}"/>
              </a:ext>
            </a:extLst>
          </p:cNvPr>
          <p:cNvSpPr txBox="1"/>
          <p:nvPr/>
        </p:nvSpPr>
        <p:spPr>
          <a:xfrm>
            <a:off x="1097280" y="2240280"/>
            <a:ext cx="4389120" cy="203132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C8DCFC"/>
                </a:solidFill>
                <a:latin typeface="Arial" panose="020B0604020202020204" pitchFamily="34" charset="0"/>
              </a:rPr>
              <a:t>Continuous features: near-identical distributions</a:t>
            </a:r>
          </a:p>
          <a:p>
            <a:endParaRPr lang="en-US" sz="1400">
              <a:solidFill>
                <a:srgbClr val="C8DCFC"/>
              </a:solidFill>
              <a:latin typeface="Arial" panose="020B0604020202020204" pitchFamily="34" charset="0"/>
            </a:endParaRPr>
          </a:p>
          <a:p>
            <a:r>
              <a:rPr lang="en-US" sz="1400">
                <a:solidFill>
                  <a:srgbClr val="C8DCFC"/>
                </a:solidFill>
                <a:latin typeface="Arial" panose="020B0604020202020204" pitchFamily="34" charset="0"/>
              </a:rPr>
              <a:t>Categorical features: uniformly balanced</a:t>
            </a:r>
          </a:p>
          <a:p>
            <a:endParaRPr lang="en-US" sz="1400">
              <a:solidFill>
                <a:srgbClr val="C8DCFC"/>
              </a:solidFill>
              <a:latin typeface="Arial" panose="020B0604020202020204" pitchFamily="34" charset="0"/>
            </a:endParaRPr>
          </a:p>
          <a:p>
            <a:r>
              <a:rPr lang="en-US" sz="1400">
                <a:solidFill>
                  <a:srgbClr val="C8DCFC"/>
                </a:solidFill>
                <a:latin typeface="Arial" panose="020B0604020202020204" pitchFamily="34" charset="0"/>
              </a:rPr>
              <a:t>Correlation matrix: all |r| &lt; 0.01</a:t>
            </a:r>
          </a:p>
          <a:p>
            <a:endParaRPr lang="en-US" sz="1400">
              <a:solidFill>
                <a:srgbClr val="C8DCFC"/>
              </a:solidFill>
              <a:latin typeface="Arial" panose="020B0604020202020204" pitchFamily="34" charset="0"/>
            </a:endParaRPr>
          </a:p>
          <a:p>
            <a:r>
              <a:rPr lang="en-US" sz="1400">
                <a:solidFill>
                  <a:srgbClr val="C8DCFC"/>
                </a:solidFill>
                <a:latin typeface="Arial" panose="020B0604020202020204" pitchFamily="34" charset="0"/>
              </a:rPr>
              <a:t>Engineered ratios: still weak</a:t>
            </a:r>
          </a:p>
          <a:p>
            <a:endParaRPr lang="en-US" sz="1400">
              <a:solidFill>
                <a:srgbClr val="C8DCFC"/>
              </a:solidFill>
              <a:latin typeface="Arial" panose="020B0604020202020204" pitchFamily="34" charset="0"/>
            </a:endParaRPr>
          </a:p>
          <a:p>
            <a:r>
              <a:rPr lang="en-US" sz="1400">
                <a:solidFill>
                  <a:srgbClr val="C8DCFC"/>
                </a:solidFill>
                <a:latin typeface="Arial" panose="020B0604020202020204" pitchFamily="34" charset="0"/>
              </a:rPr>
              <a:t>Chi-square: all p &gt; 0.05, Cramer's V negligible</a:t>
            </a:r>
            <a:endParaRPr lang="en-PH" sz="140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EFDA4FA-3083-3584-B277-65AC716FD636}"/>
              </a:ext>
            </a:extLst>
          </p:cNvPr>
          <p:cNvSpPr/>
          <p:nvPr/>
        </p:nvSpPr>
        <p:spPr>
          <a:xfrm>
            <a:off x="6217920" y="1554480"/>
            <a:ext cx="5212080" cy="438912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DC1CCE-3547-B8F6-69DB-52208B0A64BB}"/>
              </a:ext>
            </a:extLst>
          </p:cNvPr>
          <p:cNvSpPr txBox="1"/>
          <p:nvPr/>
        </p:nvSpPr>
        <p:spPr>
          <a:xfrm>
            <a:off x="6583680" y="1737360"/>
            <a:ext cx="4572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208090"/>
                </a:solidFill>
                <a:latin typeface="Arial" panose="020B0604020202020204" pitchFamily="34" charset="0"/>
              </a:rPr>
              <a:t>MODELING IMPLICATIONS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D03D23-6002-F0C8-75BD-1291BAC3E533}"/>
              </a:ext>
            </a:extLst>
          </p:cNvPr>
          <p:cNvSpPr txBox="1"/>
          <p:nvPr/>
        </p:nvSpPr>
        <p:spPr>
          <a:xfrm>
            <a:off x="6583680" y="2240280"/>
            <a:ext cx="4572000" cy="203132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C8DCFC"/>
                </a:solidFill>
                <a:latin typeface="Arial" panose="020B0604020202020204" pitchFamily="34" charset="0"/>
              </a:rPr>
              <a:t>Simple rules CANNOT identify churners</a:t>
            </a:r>
          </a:p>
          <a:p>
            <a:endParaRPr lang="en-US" sz="1400">
              <a:solidFill>
                <a:srgbClr val="C8DCFC"/>
              </a:solidFill>
              <a:latin typeface="Arial" panose="020B0604020202020204" pitchFamily="34" charset="0"/>
            </a:endParaRPr>
          </a:p>
          <a:p>
            <a:r>
              <a:rPr lang="en-US" sz="1400">
                <a:solidFill>
                  <a:srgbClr val="C8DCFC"/>
                </a:solidFill>
                <a:latin typeface="Arial" panose="020B0604020202020204" pitchFamily="34" charset="0"/>
              </a:rPr>
              <a:t>Feature engineering: necessary but not sufficient</a:t>
            </a:r>
          </a:p>
          <a:p>
            <a:endParaRPr lang="en-US" sz="1400">
              <a:solidFill>
                <a:srgbClr val="C8DCFC"/>
              </a:solidFill>
              <a:latin typeface="Arial" panose="020B0604020202020204" pitchFamily="34" charset="0"/>
            </a:endParaRPr>
          </a:p>
          <a:p>
            <a:r>
              <a:rPr lang="en-US" sz="1400">
                <a:solidFill>
                  <a:srgbClr val="C8DCFC"/>
                </a:solidFill>
                <a:latin typeface="Arial" panose="020B0604020202020204" pitchFamily="34" charset="0"/>
              </a:rPr>
              <a:t>Non-linear ensembles (XGBoost, RF) required</a:t>
            </a:r>
          </a:p>
          <a:p>
            <a:endParaRPr lang="en-US" sz="1400">
              <a:solidFill>
                <a:srgbClr val="C8DCFC"/>
              </a:solidFill>
              <a:latin typeface="Arial" panose="020B0604020202020204" pitchFamily="34" charset="0"/>
            </a:endParaRPr>
          </a:p>
          <a:p>
            <a:r>
              <a:rPr lang="en-US" sz="1400">
                <a:solidFill>
                  <a:srgbClr val="C8DCFC"/>
                </a:solidFill>
                <a:latin typeface="Arial" panose="020B0604020202020204" pitchFamily="34" charset="0"/>
              </a:rPr>
              <a:t>Class imbalance (95/5) must be handled</a:t>
            </a:r>
          </a:p>
          <a:p>
            <a:endParaRPr lang="en-US" sz="1400">
              <a:solidFill>
                <a:srgbClr val="C8DCFC"/>
              </a:solidFill>
              <a:latin typeface="Arial" panose="020B0604020202020204" pitchFamily="34" charset="0"/>
            </a:endParaRPr>
          </a:p>
          <a:p>
            <a:r>
              <a:rPr lang="en-US" sz="1400">
                <a:solidFill>
                  <a:srgbClr val="C8DCFC"/>
                </a:solidFill>
                <a:latin typeface="Arial" panose="020B0604020202020204" pitchFamily="34" charset="0"/>
              </a:rPr>
              <a:t>Target encoding needed for Country (100 cats)</a:t>
            </a:r>
            <a:endParaRPr lang="en-PH" sz="140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73459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4F25D3-91D9-202E-C9ED-45293741E5CD}"/>
              </a:ext>
            </a:extLst>
          </p:cNvPr>
          <p:cNvSpPr txBox="1"/>
          <p:nvPr/>
        </p:nvSpPr>
        <p:spPr>
          <a:xfrm>
            <a:off x="731520" y="1371600"/>
            <a:ext cx="4572000" cy="15696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9600" b="1">
                <a:solidFill>
                  <a:srgbClr val="F08248"/>
                </a:solidFill>
                <a:latin typeface="Arial" panose="020B0604020202020204" pitchFamily="34" charset="0"/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2FA7FD-B766-4766-DA6F-04B7AEB65577}"/>
              </a:ext>
            </a:extLst>
          </p:cNvPr>
          <p:cNvSpPr/>
          <p:nvPr/>
        </p:nvSpPr>
        <p:spPr>
          <a:xfrm>
            <a:off x="731520" y="2743200"/>
            <a:ext cx="2743200" cy="36576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1C7B49-6680-C0D0-DC4A-79407C8F21D6}"/>
              </a:ext>
            </a:extLst>
          </p:cNvPr>
          <p:cNvSpPr txBox="1"/>
          <p:nvPr/>
        </p:nvSpPr>
        <p:spPr>
          <a:xfrm>
            <a:off x="731520" y="3017520"/>
            <a:ext cx="914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3600" b="1" dirty="0">
                <a:solidFill>
                  <a:srgbClr val="FFFFFF"/>
                </a:solidFill>
                <a:latin typeface="Arial" panose="020B0604020202020204" pitchFamily="34" charset="0"/>
              </a:rPr>
              <a:t>Feature Discovery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8B2F2E-DEA4-0AD8-A6A3-1EF488B2A625}"/>
              </a:ext>
            </a:extLst>
          </p:cNvPr>
          <p:cNvSpPr txBox="1"/>
          <p:nvPr/>
        </p:nvSpPr>
        <p:spPr>
          <a:xfrm>
            <a:off x="731520" y="3840480"/>
            <a:ext cx="73152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dirty="0">
                <a:solidFill>
                  <a:srgbClr val="C8DCFC"/>
                </a:solidFill>
                <a:latin typeface="Arial" panose="020B0604020202020204" pitchFamily="34" charset="0"/>
              </a:rPr>
              <a:t>Answering business questions.</a:t>
            </a:r>
            <a:endParaRPr lang="en-PH" dirty="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29033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D4BDC3-8DBD-20CE-479B-4C242AA0813C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C1173F-C4CB-11AB-E23B-61B4C6BD8DC6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>
                <a:solidFill>
                  <a:srgbClr val="1A2A3D"/>
                </a:solidFill>
                <a:latin typeface="Arial" panose="020B0604020202020204" pitchFamily="34" charset="0"/>
              </a:rPr>
              <a:t>2.1  Behavioral &amp; Transactional Indicators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7739AC-A22A-7BA6-80B0-6B57CDD94462}"/>
              </a:ext>
            </a:extLst>
          </p:cNvPr>
          <p:cNvSpPr txBox="1"/>
          <p:nvPr/>
        </p:nvSpPr>
        <p:spPr>
          <a:xfrm>
            <a:off x="731520" y="86868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dirty="0">
                <a:solidFill>
                  <a:srgbClr val="9E9E9E"/>
                </a:solidFill>
                <a:latin typeface="Arial" panose="020B0604020202020204" pitchFamily="34" charset="0"/>
              </a:rPr>
              <a:t>Transaction volume and spending are identical between groups</a:t>
            </a:r>
            <a:endParaRPr lang="en-PH" sz="1400" dirty="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9F24E8E-5956-41AE-F60D-95DB1DB13F90}"/>
              </a:ext>
            </a:extLst>
          </p:cNvPr>
          <p:cNvSpPr/>
          <p:nvPr/>
        </p:nvSpPr>
        <p:spPr>
          <a:xfrm>
            <a:off x="731520" y="1554480"/>
            <a:ext cx="33832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F65720-BA45-1C79-EF60-C4F6194ECB5B}"/>
              </a:ext>
            </a:extLst>
          </p:cNvPr>
          <p:cNvSpPr txBox="1"/>
          <p:nvPr/>
        </p:nvSpPr>
        <p:spPr>
          <a:xfrm>
            <a:off x="1005840" y="1737360"/>
            <a:ext cx="29260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400">
                <a:solidFill>
                  <a:srgbClr val="9E9E9E"/>
                </a:solidFill>
                <a:latin typeface="Arial" panose="020B0604020202020204" pitchFamily="34" charset="0"/>
              </a:rPr>
              <a:t>TotalTransactions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D7E023-8DC4-0CFB-2FFC-460584E5DF96}"/>
              </a:ext>
            </a:extLst>
          </p:cNvPr>
          <p:cNvSpPr txBox="1"/>
          <p:nvPr/>
        </p:nvSpPr>
        <p:spPr>
          <a:xfrm>
            <a:off x="1005840" y="2103120"/>
            <a:ext cx="292608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000" b="1">
                <a:solidFill>
                  <a:srgbClr val="1A2A3D"/>
                </a:solidFill>
                <a:latin typeface="Arial" panose="020B0604020202020204" pitchFamily="34" charset="0"/>
              </a:rPr>
              <a:t>100 vs 100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43947A-E05F-52CA-6BC1-619D5FA0C4E6}"/>
              </a:ext>
            </a:extLst>
          </p:cNvPr>
          <p:cNvSpPr txBox="1"/>
          <p:nvPr/>
        </p:nvSpPr>
        <p:spPr>
          <a:xfrm>
            <a:off x="1005840" y="2743200"/>
            <a:ext cx="292608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500" b="1">
                <a:solidFill>
                  <a:srgbClr val="E84747"/>
                </a:solidFill>
                <a:latin typeface="Arial" panose="020B0604020202020204" pitchFamily="34" charset="0"/>
              </a:rPr>
              <a:t>+0.0% delta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CCA20B-A388-E373-A204-3824A4F123C1}"/>
              </a:ext>
            </a:extLst>
          </p:cNvPr>
          <p:cNvSpPr txBox="1"/>
          <p:nvPr/>
        </p:nvSpPr>
        <p:spPr>
          <a:xfrm>
            <a:off x="1005840" y="3108960"/>
            <a:ext cx="292608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p=0.499, d=-0.010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F2D48F1-1996-C03C-E862-511179D9ADD8}"/>
              </a:ext>
            </a:extLst>
          </p:cNvPr>
          <p:cNvSpPr/>
          <p:nvPr/>
        </p:nvSpPr>
        <p:spPr>
          <a:xfrm>
            <a:off x="4389120" y="1554480"/>
            <a:ext cx="33832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F6DC8B-23FD-1F08-5E25-7F092D7E2E3D}"/>
              </a:ext>
            </a:extLst>
          </p:cNvPr>
          <p:cNvSpPr txBox="1"/>
          <p:nvPr/>
        </p:nvSpPr>
        <p:spPr>
          <a:xfrm>
            <a:off x="4663440" y="1737360"/>
            <a:ext cx="29260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400">
                <a:solidFill>
                  <a:srgbClr val="9E9E9E"/>
                </a:solidFill>
                <a:latin typeface="Arial" panose="020B0604020202020204" pitchFamily="34" charset="0"/>
              </a:rPr>
              <a:t>TotalSpend (Median)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094DAC-EB42-E7D0-A8F8-6D15972D6AF3}"/>
              </a:ext>
            </a:extLst>
          </p:cNvPr>
          <p:cNvSpPr txBox="1"/>
          <p:nvPr/>
        </p:nvSpPr>
        <p:spPr>
          <a:xfrm>
            <a:off x="4663440" y="2103120"/>
            <a:ext cx="292608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600" b="1">
                <a:solidFill>
                  <a:srgbClr val="1A2A3D"/>
                </a:solidFill>
                <a:latin typeface="Arial" panose="020B0604020202020204" pitchFamily="34" charset="0"/>
              </a:rPr>
              <a:t>5,029 vs 5,029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7836C5-A754-C41E-68DF-35D1A12F82E2}"/>
              </a:ext>
            </a:extLst>
          </p:cNvPr>
          <p:cNvSpPr txBox="1"/>
          <p:nvPr/>
        </p:nvSpPr>
        <p:spPr>
          <a:xfrm>
            <a:off x="4663440" y="2743200"/>
            <a:ext cx="292608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500" b="1">
                <a:solidFill>
                  <a:srgbClr val="E84747"/>
                </a:solidFill>
                <a:latin typeface="Arial" panose="020B0604020202020204" pitchFamily="34" charset="0"/>
              </a:rPr>
              <a:t>+0.0% delta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7D9042-AD01-B994-2E9C-34306A537131}"/>
              </a:ext>
            </a:extLst>
          </p:cNvPr>
          <p:cNvSpPr txBox="1"/>
          <p:nvPr/>
        </p:nvSpPr>
        <p:spPr>
          <a:xfrm>
            <a:off x="4663440" y="3108960"/>
            <a:ext cx="292608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p=0.186, d=+0.020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C6527AA-B0CC-DD97-8235-0400E2F1D010}"/>
              </a:ext>
            </a:extLst>
          </p:cNvPr>
          <p:cNvSpPr/>
          <p:nvPr/>
        </p:nvSpPr>
        <p:spPr>
          <a:xfrm>
            <a:off x="8046720" y="1554480"/>
            <a:ext cx="33832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5B0153-CEEB-594B-C702-992EAD9C3D0D}"/>
              </a:ext>
            </a:extLst>
          </p:cNvPr>
          <p:cNvSpPr txBox="1"/>
          <p:nvPr/>
        </p:nvSpPr>
        <p:spPr>
          <a:xfrm>
            <a:off x="8321040" y="1737360"/>
            <a:ext cx="29260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400">
                <a:solidFill>
                  <a:srgbClr val="9E9E9E"/>
                </a:solidFill>
                <a:latin typeface="Arial" panose="020B0604020202020204" pitchFamily="34" charset="0"/>
              </a:rPr>
              <a:t>Credit Utilization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6757E3-8921-A857-4632-0C5BE082DE20}"/>
              </a:ext>
            </a:extLst>
          </p:cNvPr>
          <p:cNvSpPr txBox="1"/>
          <p:nvPr/>
        </p:nvSpPr>
        <p:spPr>
          <a:xfrm>
            <a:off x="8321040" y="2103120"/>
            <a:ext cx="292608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600" b="1">
                <a:solidFill>
                  <a:srgbClr val="1A2A3D"/>
                </a:solidFill>
                <a:latin typeface="Arial" panose="020B0604020202020204" pitchFamily="34" charset="0"/>
              </a:rPr>
              <a:t>0.336 vs 0.337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E1C743-2B67-82BD-459D-60D8EE45C8E1}"/>
              </a:ext>
            </a:extLst>
          </p:cNvPr>
          <p:cNvSpPr txBox="1"/>
          <p:nvPr/>
        </p:nvSpPr>
        <p:spPr>
          <a:xfrm>
            <a:off x="8321040" y="2743200"/>
            <a:ext cx="292608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500" b="1">
                <a:solidFill>
                  <a:srgbClr val="E84747"/>
                </a:solidFill>
                <a:latin typeface="Arial" panose="020B0604020202020204" pitchFamily="34" charset="0"/>
              </a:rPr>
              <a:t>+0.18% delta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04625E-EDC2-5FE3-2854-1A26E5909089}"/>
              </a:ext>
            </a:extLst>
          </p:cNvPr>
          <p:cNvSpPr txBox="1"/>
          <p:nvPr/>
        </p:nvSpPr>
        <p:spPr>
          <a:xfrm>
            <a:off x="8321040" y="3108960"/>
            <a:ext cx="292608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p=0.429, r=0.003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129E4D-6233-EB67-D45F-80241A69BBD1}"/>
              </a:ext>
            </a:extLst>
          </p:cNvPr>
          <p:cNvSpPr txBox="1"/>
          <p:nvPr/>
        </p:nvSpPr>
        <p:spPr>
          <a:xfrm>
            <a:off x="731520" y="4114800"/>
            <a:ext cx="4572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1A2A3D"/>
                </a:solidFill>
                <a:latin typeface="Arial" panose="020B0604020202020204" pitchFamily="34" charset="0"/>
              </a:rPr>
              <a:t>ANOMALY FLAG LIFTS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735541E-E33C-EA70-A0FF-7E2C59CA01B9}"/>
              </a:ext>
            </a:extLst>
          </p:cNvPr>
          <p:cNvSpPr/>
          <p:nvPr/>
        </p:nvSpPr>
        <p:spPr>
          <a:xfrm>
            <a:off x="731520" y="4572000"/>
            <a:ext cx="10698479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776644-BF4B-FDA8-7A30-573B6EB22449}"/>
              </a:ext>
            </a:extLst>
          </p:cNvPr>
          <p:cNvSpPr txBox="1"/>
          <p:nvPr/>
        </p:nvSpPr>
        <p:spPr>
          <a:xfrm>
            <a:off x="1005840" y="4663440"/>
            <a:ext cx="3200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TotalSpend_is_missing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386984-0740-5C86-25E3-0930D9812473}"/>
              </a:ext>
            </a:extLst>
          </p:cNvPr>
          <p:cNvSpPr txBox="1"/>
          <p:nvPr/>
        </p:nvSpPr>
        <p:spPr>
          <a:xfrm>
            <a:off x="4572000" y="4663440"/>
            <a:ext cx="1371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500" b="1">
                <a:solidFill>
                  <a:srgbClr val="F08248"/>
                </a:solidFill>
                <a:latin typeface="Arial" panose="020B0604020202020204" pitchFamily="34" charset="0"/>
              </a:rPr>
              <a:t>+0.44 pp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3D92A4-3520-43BA-9D30-6842A9AC944C}"/>
              </a:ext>
            </a:extLst>
          </p:cNvPr>
          <p:cNvSpPr txBox="1"/>
          <p:nvPr/>
        </p:nvSpPr>
        <p:spPr>
          <a:xfrm>
            <a:off x="6400800" y="4663440"/>
            <a:ext cx="4572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9E9E9E"/>
                </a:solidFill>
                <a:latin typeface="Arial" panose="020B0604020202020204" pitchFamily="34" charset="0"/>
              </a:rPr>
              <a:t>Weak signal (below 1pp threshold)</a:t>
            </a:r>
            <a:endParaRPr lang="en-PH" sz="13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EA161A-7539-9BC9-9427-EFCE0A1E024B}"/>
              </a:ext>
            </a:extLst>
          </p:cNvPr>
          <p:cNvSpPr/>
          <p:nvPr/>
        </p:nvSpPr>
        <p:spPr>
          <a:xfrm>
            <a:off x="731520" y="5257800"/>
            <a:ext cx="10698479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C462FC9-B240-AF67-0D9A-12DA74C83062}"/>
              </a:ext>
            </a:extLst>
          </p:cNvPr>
          <p:cNvSpPr txBox="1"/>
          <p:nvPr/>
        </p:nvSpPr>
        <p:spPr>
          <a:xfrm>
            <a:off x="1005840" y="5349240"/>
            <a:ext cx="3200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CreditLimit_is_negative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F5EE5F5-45AB-D357-BD10-D42ADEB2E399}"/>
              </a:ext>
            </a:extLst>
          </p:cNvPr>
          <p:cNvSpPr txBox="1"/>
          <p:nvPr/>
        </p:nvSpPr>
        <p:spPr>
          <a:xfrm>
            <a:off x="4572000" y="5349240"/>
            <a:ext cx="1371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500" b="1">
                <a:solidFill>
                  <a:srgbClr val="F08248"/>
                </a:solidFill>
                <a:latin typeface="Arial" panose="020B0604020202020204" pitchFamily="34" charset="0"/>
              </a:rPr>
              <a:t>+0.67 pp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8949391-52FC-687E-D74C-B06720B711C5}"/>
              </a:ext>
            </a:extLst>
          </p:cNvPr>
          <p:cNvSpPr txBox="1"/>
          <p:nvPr/>
        </p:nvSpPr>
        <p:spPr>
          <a:xfrm>
            <a:off x="6400800" y="5349240"/>
            <a:ext cx="4572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9E9E9E"/>
                </a:solidFill>
                <a:latin typeface="Arial" panose="020B0604020202020204" pitchFamily="34" charset="0"/>
              </a:rPr>
              <a:t>Weak signal (below 1pp threshold)</a:t>
            </a:r>
            <a:endParaRPr lang="en-PH" sz="13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C8D86F3-A0D8-0552-F616-90DCC4AEB807}"/>
              </a:ext>
            </a:extLst>
          </p:cNvPr>
          <p:cNvSpPr/>
          <p:nvPr/>
        </p:nvSpPr>
        <p:spPr>
          <a:xfrm>
            <a:off x="731520" y="5943600"/>
            <a:ext cx="10698479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8FBD238-E62A-4F82-7371-BD2FFBBF1F22}"/>
              </a:ext>
            </a:extLst>
          </p:cNvPr>
          <p:cNvSpPr txBox="1"/>
          <p:nvPr/>
        </p:nvSpPr>
        <p:spPr>
          <a:xfrm>
            <a:off x="1005840" y="6035040"/>
            <a:ext cx="3200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TotalSpend_is_negative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A9D8264-504E-526B-9A81-61FECA5F69CF}"/>
              </a:ext>
            </a:extLst>
          </p:cNvPr>
          <p:cNvSpPr txBox="1"/>
          <p:nvPr/>
        </p:nvSpPr>
        <p:spPr>
          <a:xfrm>
            <a:off x="4572000" y="6035040"/>
            <a:ext cx="1371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500" b="1">
                <a:solidFill>
                  <a:srgbClr val="F08248"/>
                </a:solidFill>
                <a:latin typeface="Arial" panose="020B0604020202020204" pitchFamily="34" charset="0"/>
              </a:rPr>
              <a:t>+0.23 pp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843131E-F9C7-0733-B909-996B993D8308}"/>
              </a:ext>
            </a:extLst>
          </p:cNvPr>
          <p:cNvSpPr txBox="1"/>
          <p:nvPr/>
        </p:nvSpPr>
        <p:spPr>
          <a:xfrm>
            <a:off x="6400800" y="6035040"/>
            <a:ext cx="4572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Very weak signal</a:t>
            </a:r>
          </a:p>
        </p:txBody>
      </p:sp>
    </p:spTree>
    <p:extLst>
      <p:ext uri="{BB962C8B-B14F-4D97-AF65-F5344CB8AC3E}">
        <p14:creationId xmlns:p14="http://schemas.microsoft.com/office/powerpoint/2010/main" val="2882138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8EECB41-C449-4259-84B8-6516821DE91F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5DA84B-76EA-9E62-0D8F-D7F328B72842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>
                <a:solidFill>
                  <a:srgbClr val="1A2A3D"/>
                </a:solidFill>
                <a:latin typeface="Arial" panose="020B0604020202020204" pitchFamily="34" charset="0"/>
              </a:rPr>
              <a:t>2.2  Tenure &amp; Customer Lifecycle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61889A-6809-BAA7-3A2C-6E6B8E7BAB64}"/>
              </a:ext>
            </a:extLst>
          </p:cNvPr>
          <p:cNvSpPr txBox="1"/>
          <p:nvPr/>
        </p:nvSpPr>
        <p:spPr>
          <a:xfrm>
            <a:off x="731520" y="86868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9E9E9E"/>
                </a:solidFill>
                <a:latin typeface="Arial" panose="020B0604020202020204" pitchFamily="34" charset="0"/>
              </a:rPr>
              <a:t>Churn rate by tenure year  |  Searching for 'danger zones'</a:t>
            </a:r>
            <a:endParaRPr lang="en-PH" sz="14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01B76B3-CEE8-1DC8-6219-62C200E18C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1083546"/>
              </p:ext>
            </p:extLst>
          </p:nvPr>
        </p:nvGraphicFramePr>
        <p:xfrm>
          <a:off x="731520" y="1463040"/>
          <a:ext cx="6858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134878771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52098721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627917518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15945988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98138372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PH" sz="13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Tenure Year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Customers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Churn Rate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vs. Baseline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Risk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36168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Year 1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5,238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5.71%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+0.75 pp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ABOVE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42009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Year 5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5,340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5.47%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+0.51 pp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ABOVE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709222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Year 15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5,229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5.37%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+0.41 pp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ABOVE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98897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Year 11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5,359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5.22%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+0.26 pp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Marginal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24814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Year 10 (Med)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~4.96%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0.00 pp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Baseline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734330"/>
                  </a:ext>
                </a:extLst>
              </a:tr>
            </a:tbl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F1401C-3EC6-19A5-DFA6-A1098FE55280}"/>
              </a:ext>
            </a:extLst>
          </p:cNvPr>
          <p:cNvSpPr/>
          <p:nvPr/>
        </p:nvSpPr>
        <p:spPr>
          <a:xfrm>
            <a:off x="8046720" y="1463040"/>
            <a:ext cx="33832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08FC1F-B59F-5BA5-FE55-12BA2769385D}"/>
              </a:ext>
            </a:extLst>
          </p:cNvPr>
          <p:cNvSpPr/>
          <p:nvPr/>
        </p:nvSpPr>
        <p:spPr>
          <a:xfrm>
            <a:off x="8046720" y="1463040"/>
            <a:ext cx="54865" cy="2743200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2A7BC2-5462-4F4E-2535-A6C456085440}"/>
              </a:ext>
            </a:extLst>
          </p:cNvPr>
          <p:cNvSpPr txBox="1"/>
          <p:nvPr/>
        </p:nvSpPr>
        <p:spPr>
          <a:xfrm>
            <a:off x="8412480" y="1645920"/>
            <a:ext cx="27432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E84747"/>
                </a:solidFill>
                <a:latin typeface="Arial" panose="020B0604020202020204" pitchFamily="34" charset="0"/>
              </a:rPr>
              <a:t>KEY FINDING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714FFF-1A5E-BAB1-5502-8B5696B4CBEF}"/>
              </a:ext>
            </a:extLst>
          </p:cNvPr>
          <p:cNvSpPr txBox="1"/>
          <p:nvPr/>
        </p:nvSpPr>
        <p:spPr>
          <a:xfrm>
            <a:off x="8412480" y="2103120"/>
            <a:ext cx="2743200" cy="129266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No strong tenure danger zone exists. Highest churn years barely exceed the 4.96% baseline.</a:t>
            </a:r>
          </a:p>
          <a:p>
            <a:endParaRPr lang="en-US" sz="130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Spearman r = -0.005</a:t>
            </a:r>
          </a:p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50% of churns by Year 10</a:t>
            </a:r>
            <a:endParaRPr lang="en-PH" sz="13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FBE43A4-EB5D-7131-203B-378A06FFC222}"/>
              </a:ext>
            </a:extLst>
          </p:cNvPr>
          <p:cNvSpPr/>
          <p:nvPr/>
        </p:nvSpPr>
        <p:spPr>
          <a:xfrm>
            <a:off x="731520" y="4572000"/>
            <a:ext cx="10698479" cy="1097280"/>
          </a:xfrm>
          <a:prstGeom prst="roundRect">
            <a:avLst>
              <a:gd name="adj" fmla="val 6000"/>
            </a:avLst>
          </a:prstGeom>
          <a:solidFill>
            <a:srgbClr val="1A2A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9FE86C-6845-F4C0-399C-EF63514E5533}"/>
              </a:ext>
            </a:extLst>
          </p:cNvPr>
          <p:cNvSpPr txBox="1"/>
          <p:nvPr/>
        </p:nvSpPr>
        <p:spPr>
          <a:xfrm>
            <a:off x="1097280" y="4709160"/>
            <a:ext cx="10058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500" dirty="0">
                <a:solidFill>
                  <a:srgbClr val="C8DCFC"/>
                </a:solidFill>
                <a:latin typeface="Arial" panose="020B0604020202020204" pitchFamily="34" charset="0"/>
              </a:rPr>
              <a:t>Tenure offers no early-warning value. The median cohort sits at the exact global baseline.</a:t>
            </a:r>
            <a:endParaRPr lang="en-PH" sz="1500" dirty="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11132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8BAEB6C-5F80-D986-B72F-9D3C7832F9E7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483A0F-C5EC-B440-A2DF-8C4311426FAE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>
                <a:solidFill>
                  <a:srgbClr val="1A2A3D"/>
                </a:solidFill>
                <a:latin typeface="Arial" panose="020B0604020202020204" pitchFamily="34" charset="0"/>
              </a:rPr>
              <a:t>2.3  Financial &amp; Demographic Profiles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9AC34B-584C-CC2D-E4A5-5D5BE5F60D3A}"/>
              </a:ext>
            </a:extLst>
          </p:cNvPr>
          <p:cNvSpPr txBox="1"/>
          <p:nvPr/>
        </p:nvSpPr>
        <p:spPr>
          <a:xfrm>
            <a:off x="731520" y="86868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9E9E9E"/>
                </a:solidFill>
                <a:latin typeface="Arial" panose="020B0604020202020204" pitchFamily="34" charset="0"/>
              </a:rPr>
              <a:t>Income quintiles and age bands produce zero churn gradient</a:t>
            </a:r>
            <a:endParaRPr lang="en-PH" sz="14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B33BFE4-9D76-43C8-5723-0F74B68D6ADD}"/>
              </a:ext>
            </a:extLst>
          </p:cNvPr>
          <p:cNvSpPr/>
          <p:nvPr/>
        </p:nvSpPr>
        <p:spPr>
          <a:xfrm>
            <a:off x="731520" y="1554480"/>
            <a:ext cx="530352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E41B5B-AD04-B15C-FB24-9A0FFC171A7A}"/>
              </a:ext>
            </a:extLst>
          </p:cNvPr>
          <p:cNvSpPr txBox="1"/>
          <p:nvPr/>
        </p:nvSpPr>
        <p:spPr>
          <a:xfrm>
            <a:off x="1097280" y="1737360"/>
            <a:ext cx="4572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1A2A3D"/>
                </a:solidFill>
                <a:latin typeface="Arial" panose="020B0604020202020204" pitchFamily="34" charset="0"/>
              </a:rPr>
              <a:t>INCOME QUINTILE ANALYSIS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D1F3DB0-6340-BB3E-0387-20456D0FAD68}"/>
              </a:ext>
            </a:extLst>
          </p:cNvPr>
          <p:cNvSpPr/>
          <p:nvPr/>
        </p:nvSpPr>
        <p:spPr>
          <a:xfrm>
            <a:off x="1097280" y="2286000"/>
            <a:ext cx="4389120" cy="411480"/>
          </a:xfrm>
          <a:prstGeom prst="roundRect">
            <a:avLst>
              <a:gd name="adj" fmla="val 6000"/>
            </a:avLst>
          </a:prstGeom>
          <a:solidFill>
            <a:srgbClr val="F0F5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4FC0BC-AF11-1D5E-CD94-C55EB7DD5CC6}"/>
              </a:ext>
            </a:extLst>
          </p:cNvPr>
          <p:cNvSpPr/>
          <p:nvPr/>
        </p:nvSpPr>
        <p:spPr>
          <a:xfrm>
            <a:off x="1097280" y="2286000"/>
            <a:ext cx="2194560" cy="411480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DB1C59-129B-F73C-DE1D-F051CC96F9F2}"/>
              </a:ext>
            </a:extLst>
          </p:cNvPr>
          <p:cNvSpPr txBox="1"/>
          <p:nvPr/>
        </p:nvSpPr>
        <p:spPr>
          <a:xfrm>
            <a:off x="1188720" y="2331720"/>
            <a:ext cx="182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 b="1">
                <a:solidFill>
                  <a:srgbClr val="FFFFFF"/>
                </a:solidFill>
                <a:latin typeface="Arial" panose="020B0604020202020204" pitchFamily="34" charset="0"/>
              </a:rPr>
              <a:t>Q1 (Lowest)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C99F0F-A3C8-40DE-D1CB-3E9370EDC454}"/>
              </a:ext>
            </a:extLst>
          </p:cNvPr>
          <p:cNvSpPr txBox="1"/>
          <p:nvPr/>
        </p:nvSpPr>
        <p:spPr>
          <a:xfrm>
            <a:off x="4114800" y="2331720"/>
            <a:ext cx="13716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~4.96%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E9CA3A9-BAF9-A72D-489F-BA9AB936F886}"/>
              </a:ext>
            </a:extLst>
          </p:cNvPr>
          <p:cNvSpPr/>
          <p:nvPr/>
        </p:nvSpPr>
        <p:spPr>
          <a:xfrm>
            <a:off x="1097280" y="2880360"/>
            <a:ext cx="4389120" cy="411480"/>
          </a:xfrm>
          <a:prstGeom prst="roundRect">
            <a:avLst>
              <a:gd name="adj" fmla="val 6000"/>
            </a:avLst>
          </a:prstGeom>
          <a:solidFill>
            <a:srgbClr val="F0F5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872D48-3D37-FE89-B64A-343221F43A71}"/>
              </a:ext>
            </a:extLst>
          </p:cNvPr>
          <p:cNvSpPr/>
          <p:nvPr/>
        </p:nvSpPr>
        <p:spPr>
          <a:xfrm>
            <a:off x="1097280" y="2880360"/>
            <a:ext cx="2194560" cy="411480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6D02A9-514C-4297-C3A3-99CDD754D1D5}"/>
              </a:ext>
            </a:extLst>
          </p:cNvPr>
          <p:cNvSpPr txBox="1"/>
          <p:nvPr/>
        </p:nvSpPr>
        <p:spPr>
          <a:xfrm>
            <a:off x="1188720" y="2926080"/>
            <a:ext cx="182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 b="1">
                <a:solidFill>
                  <a:srgbClr val="FFFFFF"/>
                </a:solidFill>
                <a:latin typeface="Arial" panose="020B0604020202020204" pitchFamily="34" charset="0"/>
              </a:rPr>
              <a:t>Q2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E273C2-87DE-D597-7927-89FCB458FD8D}"/>
              </a:ext>
            </a:extLst>
          </p:cNvPr>
          <p:cNvSpPr txBox="1"/>
          <p:nvPr/>
        </p:nvSpPr>
        <p:spPr>
          <a:xfrm>
            <a:off x="4114800" y="2926080"/>
            <a:ext cx="13716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~4.96%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E3547CD-D632-11A2-E97C-7D39A6B72C5F}"/>
              </a:ext>
            </a:extLst>
          </p:cNvPr>
          <p:cNvSpPr/>
          <p:nvPr/>
        </p:nvSpPr>
        <p:spPr>
          <a:xfrm>
            <a:off x="1097280" y="3474720"/>
            <a:ext cx="4389120" cy="411480"/>
          </a:xfrm>
          <a:prstGeom prst="roundRect">
            <a:avLst>
              <a:gd name="adj" fmla="val 6000"/>
            </a:avLst>
          </a:prstGeom>
          <a:solidFill>
            <a:srgbClr val="F0F5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6A1155-7999-61D7-C5B8-2AEF5A0A0CA4}"/>
              </a:ext>
            </a:extLst>
          </p:cNvPr>
          <p:cNvSpPr/>
          <p:nvPr/>
        </p:nvSpPr>
        <p:spPr>
          <a:xfrm>
            <a:off x="1097280" y="3474720"/>
            <a:ext cx="2194560" cy="411480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81A926-AF46-5A4F-B701-6BF4714DE27C}"/>
              </a:ext>
            </a:extLst>
          </p:cNvPr>
          <p:cNvSpPr txBox="1"/>
          <p:nvPr/>
        </p:nvSpPr>
        <p:spPr>
          <a:xfrm>
            <a:off x="1188720" y="3520440"/>
            <a:ext cx="182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 b="1">
                <a:solidFill>
                  <a:srgbClr val="FFFFFF"/>
                </a:solidFill>
                <a:latin typeface="Arial" panose="020B0604020202020204" pitchFamily="34" charset="0"/>
              </a:rPr>
              <a:t>Q3 (Mid)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0E94AF5-54E3-8E79-7ABC-68C51A0E4897}"/>
              </a:ext>
            </a:extLst>
          </p:cNvPr>
          <p:cNvSpPr txBox="1"/>
          <p:nvPr/>
        </p:nvSpPr>
        <p:spPr>
          <a:xfrm>
            <a:off x="4114800" y="3520440"/>
            <a:ext cx="13716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~4.96%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56E0248-E411-78A2-08D5-0F95165AA319}"/>
              </a:ext>
            </a:extLst>
          </p:cNvPr>
          <p:cNvSpPr/>
          <p:nvPr/>
        </p:nvSpPr>
        <p:spPr>
          <a:xfrm>
            <a:off x="1097280" y="4069080"/>
            <a:ext cx="4389120" cy="411480"/>
          </a:xfrm>
          <a:prstGeom prst="roundRect">
            <a:avLst>
              <a:gd name="adj" fmla="val 6000"/>
            </a:avLst>
          </a:prstGeom>
          <a:solidFill>
            <a:srgbClr val="F0F5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A6C56F8-3AEF-4EE5-9812-B3DF61CC358F}"/>
              </a:ext>
            </a:extLst>
          </p:cNvPr>
          <p:cNvSpPr/>
          <p:nvPr/>
        </p:nvSpPr>
        <p:spPr>
          <a:xfrm>
            <a:off x="1097280" y="4069080"/>
            <a:ext cx="2194560" cy="411480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BD2D584-1E2C-F573-54E6-3965A78641E5}"/>
              </a:ext>
            </a:extLst>
          </p:cNvPr>
          <p:cNvSpPr txBox="1"/>
          <p:nvPr/>
        </p:nvSpPr>
        <p:spPr>
          <a:xfrm>
            <a:off x="1188720" y="4114800"/>
            <a:ext cx="182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 b="1">
                <a:solidFill>
                  <a:srgbClr val="FFFFFF"/>
                </a:solidFill>
                <a:latin typeface="Arial" panose="020B0604020202020204" pitchFamily="34" charset="0"/>
              </a:rPr>
              <a:t>Q4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445A97F-0878-FD25-0C47-D08490C5AB4A}"/>
              </a:ext>
            </a:extLst>
          </p:cNvPr>
          <p:cNvSpPr txBox="1"/>
          <p:nvPr/>
        </p:nvSpPr>
        <p:spPr>
          <a:xfrm>
            <a:off x="4114800" y="4114800"/>
            <a:ext cx="13716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~4.96%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3F13A0B-102E-DD31-C784-88F73B4B33A4}"/>
              </a:ext>
            </a:extLst>
          </p:cNvPr>
          <p:cNvSpPr/>
          <p:nvPr/>
        </p:nvSpPr>
        <p:spPr>
          <a:xfrm>
            <a:off x="1097280" y="4663440"/>
            <a:ext cx="4389120" cy="411480"/>
          </a:xfrm>
          <a:prstGeom prst="roundRect">
            <a:avLst>
              <a:gd name="adj" fmla="val 6000"/>
            </a:avLst>
          </a:prstGeom>
          <a:solidFill>
            <a:srgbClr val="F0F5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6BA97E7-225F-F7E2-48A7-9915F57333AB}"/>
              </a:ext>
            </a:extLst>
          </p:cNvPr>
          <p:cNvSpPr/>
          <p:nvPr/>
        </p:nvSpPr>
        <p:spPr>
          <a:xfrm>
            <a:off x="1097280" y="4663440"/>
            <a:ext cx="2194560" cy="411480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E8090CB-E284-1D4E-766E-628B67088D65}"/>
              </a:ext>
            </a:extLst>
          </p:cNvPr>
          <p:cNvSpPr txBox="1"/>
          <p:nvPr/>
        </p:nvSpPr>
        <p:spPr>
          <a:xfrm>
            <a:off x="1188720" y="4709160"/>
            <a:ext cx="182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 b="1">
                <a:solidFill>
                  <a:srgbClr val="FFFFFF"/>
                </a:solidFill>
                <a:latin typeface="Arial" panose="020B0604020202020204" pitchFamily="34" charset="0"/>
              </a:rPr>
              <a:t>Q5 (Highest)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3ADB157-D12E-91E2-21C6-DE672DF07EC4}"/>
              </a:ext>
            </a:extLst>
          </p:cNvPr>
          <p:cNvSpPr txBox="1"/>
          <p:nvPr/>
        </p:nvSpPr>
        <p:spPr>
          <a:xfrm>
            <a:off x="4114800" y="4709160"/>
            <a:ext cx="13716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~4.96%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13144BB-1472-9A80-3108-59E4DB6E124E}"/>
              </a:ext>
            </a:extLst>
          </p:cNvPr>
          <p:cNvSpPr/>
          <p:nvPr/>
        </p:nvSpPr>
        <p:spPr>
          <a:xfrm>
            <a:off x="6400800" y="1554480"/>
            <a:ext cx="502920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DB7D4A0-5C18-8D1C-8C74-DDD6D08EAE61}"/>
              </a:ext>
            </a:extLst>
          </p:cNvPr>
          <p:cNvSpPr txBox="1"/>
          <p:nvPr/>
        </p:nvSpPr>
        <p:spPr>
          <a:xfrm>
            <a:off x="6766560" y="1737360"/>
            <a:ext cx="438912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1A2A3D"/>
                </a:solidFill>
                <a:latin typeface="Arial" panose="020B0604020202020204" pitchFamily="34" charset="0"/>
              </a:rPr>
              <a:t>AGE BAND ANALYSIS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18DC194-0434-0B3B-AAA9-F8F69B99EE7D}"/>
              </a:ext>
            </a:extLst>
          </p:cNvPr>
          <p:cNvSpPr/>
          <p:nvPr/>
        </p:nvSpPr>
        <p:spPr>
          <a:xfrm>
            <a:off x="6766560" y="2286000"/>
            <a:ext cx="4206240" cy="411480"/>
          </a:xfrm>
          <a:prstGeom prst="roundRect">
            <a:avLst>
              <a:gd name="adj" fmla="val 6000"/>
            </a:avLst>
          </a:prstGeom>
          <a:solidFill>
            <a:srgbClr val="F0F5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8DC7665-7A32-5133-5381-0498E4CEA8DA}"/>
              </a:ext>
            </a:extLst>
          </p:cNvPr>
          <p:cNvSpPr/>
          <p:nvPr/>
        </p:nvSpPr>
        <p:spPr>
          <a:xfrm>
            <a:off x="6766560" y="2286000"/>
            <a:ext cx="2103120" cy="411480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67230F-22D7-E498-CEE8-0D160C7D4554}"/>
              </a:ext>
            </a:extLst>
          </p:cNvPr>
          <p:cNvSpPr txBox="1"/>
          <p:nvPr/>
        </p:nvSpPr>
        <p:spPr>
          <a:xfrm>
            <a:off x="6858000" y="2331720"/>
            <a:ext cx="1371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 b="1">
                <a:solidFill>
                  <a:srgbClr val="FFFFFF"/>
                </a:solidFill>
                <a:latin typeface="Arial" panose="020B0604020202020204" pitchFamily="34" charset="0"/>
              </a:rPr>
              <a:t>&lt;30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73CBC0-D818-9DA0-8F55-ED5BFA82A327}"/>
              </a:ext>
            </a:extLst>
          </p:cNvPr>
          <p:cNvSpPr txBox="1"/>
          <p:nvPr/>
        </p:nvSpPr>
        <p:spPr>
          <a:xfrm>
            <a:off x="9601200" y="2331720"/>
            <a:ext cx="10972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~4.96%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00D9F29-BD65-D53B-E0E7-00A3F3DCEFDC}"/>
              </a:ext>
            </a:extLst>
          </p:cNvPr>
          <p:cNvSpPr/>
          <p:nvPr/>
        </p:nvSpPr>
        <p:spPr>
          <a:xfrm>
            <a:off x="6766560" y="2880360"/>
            <a:ext cx="4206240" cy="411480"/>
          </a:xfrm>
          <a:prstGeom prst="roundRect">
            <a:avLst>
              <a:gd name="adj" fmla="val 6000"/>
            </a:avLst>
          </a:prstGeom>
          <a:solidFill>
            <a:srgbClr val="F0F5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77AB720-7CA2-1E5A-681A-E98199453438}"/>
              </a:ext>
            </a:extLst>
          </p:cNvPr>
          <p:cNvSpPr/>
          <p:nvPr/>
        </p:nvSpPr>
        <p:spPr>
          <a:xfrm>
            <a:off x="6766560" y="2880360"/>
            <a:ext cx="2103120" cy="411480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9C485BA-E6E3-A6D2-A98D-1BF181FD42F8}"/>
              </a:ext>
            </a:extLst>
          </p:cNvPr>
          <p:cNvSpPr txBox="1"/>
          <p:nvPr/>
        </p:nvSpPr>
        <p:spPr>
          <a:xfrm>
            <a:off x="6858000" y="2926080"/>
            <a:ext cx="1371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 b="1">
                <a:solidFill>
                  <a:srgbClr val="FFFFFF"/>
                </a:solidFill>
                <a:latin typeface="Arial" panose="020B0604020202020204" pitchFamily="34" charset="0"/>
              </a:rPr>
              <a:t>30-40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0223196-D1BB-1144-E7DE-8ABF342D585D}"/>
              </a:ext>
            </a:extLst>
          </p:cNvPr>
          <p:cNvSpPr txBox="1"/>
          <p:nvPr/>
        </p:nvSpPr>
        <p:spPr>
          <a:xfrm>
            <a:off x="9601200" y="2926080"/>
            <a:ext cx="10972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~4.96%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0AAB18D6-47FD-F0C8-DA89-F181C0A53EB4}"/>
              </a:ext>
            </a:extLst>
          </p:cNvPr>
          <p:cNvSpPr/>
          <p:nvPr/>
        </p:nvSpPr>
        <p:spPr>
          <a:xfrm>
            <a:off x="6766560" y="3474720"/>
            <a:ext cx="4206240" cy="411480"/>
          </a:xfrm>
          <a:prstGeom prst="roundRect">
            <a:avLst>
              <a:gd name="adj" fmla="val 6000"/>
            </a:avLst>
          </a:prstGeom>
          <a:solidFill>
            <a:srgbClr val="F0F5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89769CB-860C-9E8D-500F-C27F015D1CA2}"/>
              </a:ext>
            </a:extLst>
          </p:cNvPr>
          <p:cNvSpPr/>
          <p:nvPr/>
        </p:nvSpPr>
        <p:spPr>
          <a:xfrm>
            <a:off x="6766560" y="3474720"/>
            <a:ext cx="2103120" cy="411480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85ADC3B-BC45-9DA4-29CA-FB71FB038536}"/>
              </a:ext>
            </a:extLst>
          </p:cNvPr>
          <p:cNvSpPr txBox="1"/>
          <p:nvPr/>
        </p:nvSpPr>
        <p:spPr>
          <a:xfrm>
            <a:off x="6858000" y="3520440"/>
            <a:ext cx="1371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 b="1">
                <a:solidFill>
                  <a:srgbClr val="FFFFFF"/>
                </a:solidFill>
                <a:latin typeface="Arial" panose="020B0604020202020204" pitchFamily="34" charset="0"/>
              </a:rPr>
              <a:t>40-50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ACB1FF1-EB59-DEA0-A14F-2F64ED078781}"/>
              </a:ext>
            </a:extLst>
          </p:cNvPr>
          <p:cNvSpPr txBox="1"/>
          <p:nvPr/>
        </p:nvSpPr>
        <p:spPr>
          <a:xfrm>
            <a:off x="9601200" y="3520440"/>
            <a:ext cx="10972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~4.96%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100BC013-95FD-E7ED-0781-B2E8C6A78285}"/>
              </a:ext>
            </a:extLst>
          </p:cNvPr>
          <p:cNvSpPr/>
          <p:nvPr/>
        </p:nvSpPr>
        <p:spPr>
          <a:xfrm>
            <a:off x="6766560" y="4069080"/>
            <a:ext cx="4206240" cy="411480"/>
          </a:xfrm>
          <a:prstGeom prst="roundRect">
            <a:avLst>
              <a:gd name="adj" fmla="val 6000"/>
            </a:avLst>
          </a:prstGeom>
          <a:solidFill>
            <a:srgbClr val="F0F5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1CBD2BF-4D2C-0036-46DC-AB6F37CC86FD}"/>
              </a:ext>
            </a:extLst>
          </p:cNvPr>
          <p:cNvSpPr/>
          <p:nvPr/>
        </p:nvSpPr>
        <p:spPr>
          <a:xfrm>
            <a:off x="6766560" y="4069080"/>
            <a:ext cx="2103120" cy="411480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BF3B171-45EE-CF1C-36CF-AC5554D5AA80}"/>
              </a:ext>
            </a:extLst>
          </p:cNvPr>
          <p:cNvSpPr txBox="1"/>
          <p:nvPr/>
        </p:nvSpPr>
        <p:spPr>
          <a:xfrm>
            <a:off x="6858000" y="4114800"/>
            <a:ext cx="1371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 b="1">
                <a:solidFill>
                  <a:srgbClr val="FFFFFF"/>
                </a:solidFill>
                <a:latin typeface="Arial" panose="020B0604020202020204" pitchFamily="34" charset="0"/>
              </a:rPr>
              <a:t>50-60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62F1400-5F7E-8BE4-C960-1522FC216301}"/>
              </a:ext>
            </a:extLst>
          </p:cNvPr>
          <p:cNvSpPr txBox="1"/>
          <p:nvPr/>
        </p:nvSpPr>
        <p:spPr>
          <a:xfrm>
            <a:off x="9601200" y="4114800"/>
            <a:ext cx="10972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~4.96%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78B979D6-8B64-7F6F-D4E1-7D6F22BF6573}"/>
              </a:ext>
            </a:extLst>
          </p:cNvPr>
          <p:cNvSpPr/>
          <p:nvPr/>
        </p:nvSpPr>
        <p:spPr>
          <a:xfrm>
            <a:off x="6766560" y="4663440"/>
            <a:ext cx="4206240" cy="411480"/>
          </a:xfrm>
          <a:prstGeom prst="roundRect">
            <a:avLst>
              <a:gd name="adj" fmla="val 6000"/>
            </a:avLst>
          </a:prstGeom>
          <a:solidFill>
            <a:srgbClr val="F0F5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A27AEC6-8146-B090-FC4E-2EA88366F8DC}"/>
              </a:ext>
            </a:extLst>
          </p:cNvPr>
          <p:cNvSpPr/>
          <p:nvPr/>
        </p:nvSpPr>
        <p:spPr>
          <a:xfrm>
            <a:off x="6766560" y="4663440"/>
            <a:ext cx="2103120" cy="411480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FDDCF2F-56B2-E2A0-DBD5-4A3F47989700}"/>
              </a:ext>
            </a:extLst>
          </p:cNvPr>
          <p:cNvSpPr txBox="1"/>
          <p:nvPr/>
        </p:nvSpPr>
        <p:spPr>
          <a:xfrm>
            <a:off x="6858000" y="4709160"/>
            <a:ext cx="1371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 b="1">
                <a:solidFill>
                  <a:srgbClr val="FFFFFF"/>
                </a:solidFill>
                <a:latin typeface="Arial" panose="020B0604020202020204" pitchFamily="34" charset="0"/>
              </a:rPr>
              <a:t>60+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71D4CC7-A6CE-2FDE-19DB-1BF2630FCD54}"/>
              </a:ext>
            </a:extLst>
          </p:cNvPr>
          <p:cNvSpPr txBox="1"/>
          <p:nvPr/>
        </p:nvSpPr>
        <p:spPr>
          <a:xfrm>
            <a:off x="9601200" y="4709160"/>
            <a:ext cx="10972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~4.96%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C02C587A-04F9-B316-AEE1-A277B75B59E4}"/>
              </a:ext>
            </a:extLst>
          </p:cNvPr>
          <p:cNvSpPr/>
          <p:nvPr/>
        </p:nvSpPr>
        <p:spPr>
          <a:xfrm>
            <a:off x="731520" y="5943600"/>
            <a:ext cx="10698479" cy="594360"/>
          </a:xfrm>
          <a:prstGeom prst="roundRect">
            <a:avLst>
              <a:gd name="adj" fmla="val 6000"/>
            </a:avLst>
          </a:prstGeom>
          <a:solidFill>
            <a:srgbClr val="1A2A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7FB9F96-2641-5310-6016-8A1C4E0EA8E4}"/>
              </a:ext>
            </a:extLst>
          </p:cNvPr>
          <p:cNvSpPr txBox="1"/>
          <p:nvPr/>
        </p:nvSpPr>
        <p:spPr>
          <a:xfrm>
            <a:off x="1097280" y="6007608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400">
                <a:solidFill>
                  <a:srgbClr val="C8DCFC"/>
                </a:solidFill>
                <a:latin typeface="Arial" panose="020B0604020202020204" pitchFamily="34" charset="0"/>
              </a:rPr>
              <a:t>All quintiles and age bands cluster at the 4.96% global baseline. Neither wealth nor age predicts churn.</a:t>
            </a:r>
            <a:endParaRPr lang="en-PH" sz="140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1413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4A4F183-B581-EDB8-9AEC-BB3341424505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1D3366-84AE-739D-50F4-C1F15918FF15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>
                <a:solidFill>
                  <a:srgbClr val="1A2A3D"/>
                </a:solidFill>
                <a:latin typeface="Arial" panose="020B0604020202020204" pitchFamily="34" charset="0"/>
              </a:rPr>
              <a:t>2.4  Social &amp; Geographic Factors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4DC47A-9CEC-570C-F61A-AEB61C45A7B0}"/>
              </a:ext>
            </a:extLst>
          </p:cNvPr>
          <p:cNvSpPr txBox="1"/>
          <p:nvPr/>
        </p:nvSpPr>
        <p:spPr>
          <a:xfrm>
            <a:off x="731520" y="86868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9E9E9E"/>
                </a:solidFill>
                <a:latin typeface="Arial" panose="020B0604020202020204" pitchFamily="34" charset="0"/>
              </a:rPr>
              <a:t>Chi-square tests confirm zero signal across all social/geographic features</a:t>
            </a:r>
            <a:endParaRPr lang="en-PH" sz="14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8E63306-508E-F26F-400C-92E9EEFAEE8D}"/>
              </a:ext>
            </a:extLst>
          </p:cNvPr>
          <p:cNvSpPr/>
          <p:nvPr/>
        </p:nvSpPr>
        <p:spPr>
          <a:xfrm>
            <a:off x="731520" y="1371600"/>
            <a:ext cx="10698479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555172-DB91-968E-B24F-AC1A995777C1}"/>
              </a:ext>
            </a:extLst>
          </p:cNvPr>
          <p:cNvSpPr/>
          <p:nvPr/>
        </p:nvSpPr>
        <p:spPr>
          <a:xfrm>
            <a:off x="731520" y="1371600"/>
            <a:ext cx="54864" cy="777240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11801A-052F-2CD8-08E9-CA800AD6EED8}"/>
              </a:ext>
            </a:extLst>
          </p:cNvPr>
          <p:cNvSpPr txBox="1"/>
          <p:nvPr/>
        </p:nvSpPr>
        <p:spPr>
          <a:xfrm>
            <a:off x="1097280" y="1508760"/>
            <a:ext cx="228600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700" b="1">
                <a:solidFill>
                  <a:srgbClr val="1A2A3D"/>
                </a:solidFill>
                <a:latin typeface="Arial" panose="020B0604020202020204" pitchFamily="34" charset="0"/>
              </a:rPr>
              <a:t>Gender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652FDB-FF0C-0938-5BB3-431C4C9A5F37}"/>
              </a:ext>
            </a:extLst>
          </p:cNvPr>
          <p:cNvSpPr txBox="1"/>
          <p:nvPr/>
        </p:nvSpPr>
        <p:spPr>
          <a:xfrm>
            <a:off x="3474720" y="1536192"/>
            <a:ext cx="27432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Chi2=0.617, p=0.432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D68B11-E8AE-E055-A11E-E19D6CF4CE23}"/>
              </a:ext>
            </a:extLst>
          </p:cNvPr>
          <p:cNvSpPr txBox="1"/>
          <p:nvPr/>
        </p:nvSpPr>
        <p:spPr>
          <a:xfrm>
            <a:off x="6400800" y="1536192"/>
            <a:ext cx="2286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V = 0.0025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410DCAF-0822-4A50-34DB-5F95952C661B}"/>
              </a:ext>
            </a:extLst>
          </p:cNvPr>
          <p:cNvSpPr/>
          <p:nvPr/>
        </p:nvSpPr>
        <p:spPr>
          <a:xfrm>
            <a:off x="9326880" y="1536192"/>
            <a:ext cx="1828800" cy="411480"/>
          </a:xfrm>
          <a:prstGeom prst="roundRect">
            <a:avLst>
              <a:gd name="adj" fmla="val 6000"/>
            </a:avLst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919084-ECC7-5C6D-224B-3444D19BC639}"/>
              </a:ext>
            </a:extLst>
          </p:cNvPr>
          <p:cNvSpPr txBox="1"/>
          <p:nvPr/>
        </p:nvSpPr>
        <p:spPr>
          <a:xfrm>
            <a:off x="9326880" y="1554480"/>
            <a:ext cx="182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 b="1">
                <a:solidFill>
                  <a:srgbClr val="FFFFFF"/>
                </a:solidFill>
                <a:latin typeface="Arial" panose="020B0604020202020204" pitchFamily="34" charset="0"/>
              </a:rPr>
              <a:t>NOT SIGNIFICANT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ABE394C-525E-3AC4-9264-2BA49638A4E8}"/>
              </a:ext>
            </a:extLst>
          </p:cNvPr>
          <p:cNvSpPr/>
          <p:nvPr/>
        </p:nvSpPr>
        <p:spPr>
          <a:xfrm>
            <a:off x="731520" y="2331720"/>
            <a:ext cx="10698479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6DC0C9-C172-1D6A-24B8-8774D1736C23}"/>
              </a:ext>
            </a:extLst>
          </p:cNvPr>
          <p:cNvSpPr/>
          <p:nvPr/>
        </p:nvSpPr>
        <p:spPr>
          <a:xfrm>
            <a:off x="731520" y="2331720"/>
            <a:ext cx="54864" cy="777240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270D79-BCA1-E4F3-4DE0-384F5FE300C5}"/>
              </a:ext>
            </a:extLst>
          </p:cNvPr>
          <p:cNvSpPr txBox="1"/>
          <p:nvPr/>
        </p:nvSpPr>
        <p:spPr>
          <a:xfrm>
            <a:off x="1097280" y="2468880"/>
            <a:ext cx="228600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700" b="1">
                <a:solidFill>
                  <a:srgbClr val="1A2A3D"/>
                </a:solidFill>
                <a:latin typeface="Arial" panose="020B0604020202020204" pitchFamily="34" charset="0"/>
              </a:rPr>
              <a:t>MaritalStatus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365EE9-E37A-B43F-C477-1D1458A547DB}"/>
              </a:ext>
            </a:extLst>
          </p:cNvPr>
          <p:cNvSpPr txBox="1"/>
          <p:nvPr/>
        </p:nvSpPr>
        <p:spPr>
          <a:xfrm>
            <a:off x="3474720" y="2496312"/>
            <a:ext cx="27432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Chi2=2.543, p=0.468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A909EC-552D-250B-C053-EC420BD68477}"/>
              </a:ext>
            </a:extLst>
          </p:cNvPr>
          <p:cNvSpPr txBox="1"/>
          <p:nvPr/>
        </p:nvSpPr>
        <p:spPr>
          <a:xfrm>
            <a:off x="6400800" y="2496312"/>
            <a:ext cx="2286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V = 0.0050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8CE8C92-FE26-8BB9-F551-15B9DF33C85A}"/>
              </a:ext>
            </a:extLst>
          </p:cNvPr>
          <p:cNvSpPr/>
          <p:nvPr/>
        </p:nvSpPr>
        <p:spPr>
          <a:xfrm>
            <a:off x="9326880" y="2496312"/>
            <a:ext cx="1828800" cy="411480"/>
          </a:xfrm>
          <a:prstGeom prst="roundRect">
            <a:avLst>
              <a:gd name="adj" fmla="val 6000"/>
            </a:avLst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0F4112-134E-6362-0A31-4A956A500B2D}"/>
              </a:ext>
            </a:extLst>
          </p:cNvPr>
          <p:cNvSpPr txBox="1"/>
          <p:nvPr/>
        </p:nvSpPr>
        <p:spPr>
          <a:xfrm>
            <a:off x="9326880" y="2514600"/>
            <a:ext cx="182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 b="1">
                <a:solidFill>
                  <a:srgbClr val="FFFFFF"/>
                </a:solidFill>
                <a:latin typeface="Arial" panose="020B0604020202020204" pitchFamily="34" charset="0"/>
              </a:rPr>
              <a:t>NOT SIGNIFICANT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67CF8DA-7461-9D45-365F-A39902D63BBD}"/>
              </a:ext>
            </a:extLst>
          </p:cNvPr>
          <p:cNvSpPr/>
          <p:nvPr/>
        </p:nvSpPr>
        <p:spPr>
          <a:xfrm>
            <a:off x="731520" y="3291840"/>
            <a:ext cx="10698479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CE1EADA-9F4A-BB48-3568-14904333DD47}"/>
              </a:ext>
            </a:extLst>
          </p:cNvPr>
          <p:cNvSpPr/>
          <p:nvPr/>
        </p:nvSpPr>
        <p:spPr>
          <a:xfrm>
            <a:off x="731520" y="3291840"/>
            <a:ext cx="54864" cy="777240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8D00A0-C1FF-389C-B7E8-A7E4EF0B3CC4}"/>
              </a:ext>
            </a:extLst>
          </p:cNvPr>
          <p:cNvSpPr txBox="1"/>
          <p:nvPr/>
        </p:nvSpPr>
        <p:spPr>
          <a:xfrm>
            <a:off x="1097280" y="3429000"/>
            <a:ext cx="228600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700" b="1">
                <a:solidFill>
                  <a:srgbClr val="1A2A3D"/>
                </a:solidFill>
                <a:latin typeface="Arial" panose="020B0604020202020204" pitchFamily="34" charset="0"/>
              </a:rPr>
              <a:t>EducationLevel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F66FF1-7BA6-538D-3021-7DE4791EC6D2}"/>
              </a:ext>
            </a:extLst>
          </p:cNvPr>
          <p:cNvSpPr txBox="1"/>
          <p:nvPr/>
        </p:nvSpPr>
        <p:spPr>
          <a:xfrm>
            <a:off x="3474720" y="3456432"/>
            <a:ext cx="27432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Chi2=3.394, p=0.335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E0FA5B7-0B34-494B-7D26-6FF196CF3786}"/>
              </a:ext>
            </a:extLst>
          </p:cNvPr>
          <p:cNvSpPr txBox="1"/>
          <p:nvPr/>
        </p:nvSpPr>
        <p:spPr>
          <a:xfrm>
            <a:off x="6400800" y="3456432"/>
            <a:ext cx="2286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V = 0.0058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232474D-7B0D-1E59-53EF-CB025FE99F4F}"/>
              </a:ext>
            </a:extLst>
          </p:cNvPr>
          <p:cNvSpPr/>
          <p:nvPr/>
        </p:nvSpPr>
        <p:spPr>
          <a:xfrm>
            <a:off x="9326880" y="3456432"/>
            <a:ext cx="1828800" cy="411480"/>
          </a:xfrm>
          <a:prstGeom prst="roundRect">
            <a:avLst>
              <a:gd name="adj" fmla="val 6000"/>
            </a:avLst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A0EDDF2-7566-7DB0-5313-E404A63968B1}"/>
              </a:ext>
            </a:extLst>
          </p:cNvPr>
          <p:cNvSpPr txBox="1"/>
          <p:nvPr/>
        </p:nvSpPr>
        <p:spPr>
          <a:xfrm>
            <a:off x="9326880" y="3474720"/>
            <a:ext cx="182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 b="1">
                <a:solidFill>
                  <a:srgbClr val="FFFFFF"/>
                </a:solidFill>
                <a:latin typeface="Arial" panose="020B0604020202020204" pitchFamily="34" charset="0"/>
              </a:rPr>
              <a:t>NOT SIGNIFICANT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F015892-B025-6025-22D5-9092427D51F9}"/>
              </a:ext>
            </a:extLst>
          </p:cNvPr>
          <p:cNvSpPr/>
          <p:nvPr/>
        </p:nvSpPr>
        <p:spPr>
          <a:xfrm>
            <a:off x="731520" y="4251960"/>
            <a:ext cx="10698479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C465254-BC89-6EA6-A2CF-0179D90457CE}"/>
              </a:ext>
            </a:extLst>
          </p:cNvPr>
          <p:cNvSpPr/>
          <p:nvPr/>
        </p:nvSpPr>
        <p:spPr>
          <a:xfrm>
            <a:off x="731520" y="4251960"/>
            <a:ext cx="54864" cy="777240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3662964-2A5F-AEF5-F245-4FD4AC468149}"/>
              </a:ext>
            </a:extLst>
          </p:cNvPr>
          <p:cNvSpPr txBox="1"/>
          <p:nvPr/>
        </p:nvSpPr>
        <p:spPr>
          <a:xfrm>
            <a:off x="1097280" y="4389120"/>
            <a:ext cx="228600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700" b="1">
                <a:solidFill>
                  <a:srgbClr val="1A2A3D"/>
                </a:solidFill>
                <a:latin typeface="Arial" panose="020B0604020202020204" pitchFamily="34" charset="0"/>
              </a:rPr>
              <a:t>Country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6EF99D5-21DE-C6B0-CE8E-7AF186EBD294}"/>
              </a:ext>
            </a:extLst>
          </p:cNvPr>
          <p:cNvSpPr txBox="1"/>
          <p:nvPr/>
        </p:nvSpPr>
        <p:spPr>
          <a:xfrm>
            <a:off x="3474720" y="4416552"/>
            <a:ext cx="27432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TE std dev = 0.0068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A977D07-160E-97C6-8DE3-BA599F8F6E2A}"/>
              </a:ext>
            </a:extLst>
          </p:cNvPr>
          <p:cNvSpPr txBox="1"/>
          <p:nvPr/>
        </p:nvSpPr>
        <p:spPr>
          <a:xfrm>
            <a:off x="6400800" y="4416552"/>
            <a:ext cx="2286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0 high-risk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33A39BF-7F00-0EFB-7AD8-1ACEF20D8083}"/>
              </a:ext>
            </a:extLst>
          </p:cNvPr>
          <p:cNvSpPr/>
          <p:nvPr/>
        </p:nvSpPr>
        <p:spPr>
          <a:xfrm>
            <a:off x="9326880" y="4416552"/>
            <a:ext cx="1828800" cy="411480"/>
          </a:xfrm>
          <a:prstGeom prst="roundRect">
            <a:avLst>
              <a:gd name="adj" fmla="val 6000"/>
            </a:avLst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AD4E5DA-B81E-D7F9-5ACB-6E04278D56E2}"/>
              </a:ext>
            </a:extLst>
          </p:cNvPr>
          <p:cNvSpPr txBox="1"/>
          <p:nvPr/>
        </p:nvSpPr>
        <p:spPr>
          <a:xfrm>
            <a:off x="9326880" y="4434840"/>
            <a:ext cx="182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 b="1">
                <a:solidFill>
                  <a:srgbClr val="FFFFFF"/>
                </a:solidFill>
                <a:latin typeface="Arial" panose="020B0604020202020204" pitchFamily="34" charset="0"/>
              </a:rPr>
              <a:t>NO VALUE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1CD3ABE-EF95-BB88-7CDC-A5CADA422945}"/>
              </a:ext>
            </a:extLst>
          </p:cNvPr>
          <p:cNvSpPr/>
          <p:nvPr/>
        </p:nvSpPr>
        <p:spPr>
          <a:xfrm>
            <a:off x="731520" y="5212080"/>
            <a:ext cx="10698479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C85AB23-BD0E-B7A9-A811-0CF9CAD041DB}"/>
              </a:ext>
            </a:extLst>
          </p:cNvPr>
          <p:cNvSpPr/>
          <p:nvPr/>
        </p:nvSpPr>
        <p:spPr>
          <a:xfrm>
            <a:off x="731520" y="5212080"/>
            <a:ext cx="54864" cy="777240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1B61C13-9EDE-2234-CF3A-5EF8332C636E}"/>
              </a:ext>
            </a:extLst>
          </p:cNvPr>
          <p:cNvSpPr txBox="1"/>
          <p:nvPr/>
        </p:nvSpPr>
        <p:spPr>
          <a:xfrm>
            <a:off x="1097280" y="5349240"/>
            <a:ext cx="228600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700" b="1">
                <a:solidFill>
                  <a:srgbClr val="1A2A3D"/>
                </a:solidFill>
                <a:latin typeface="Arial" panose="020B0604020202020204" pitchFamily="34" charset="0"/>
              </a:rPr>
              <a:t>CardType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D168ECF-752E-6DE2-CB00-21C9394C5397}"/>
              </a:ext>
            </a:extLst>
          </p:cNvPr>
          <p:cNvSpPr txBox="1"/>
          <p:nvPr/>
        </p:nvSpPr>
        <p:spPr>
          <a:xfrm>
            <a:off x="3474720" y="5376672"/>
            <a:ext cx="27432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Not significant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B877534-606A-3155-C3B4-B0925F8CCD9A}"/>
              </a:ext>
            </a:extLst>
          </p:cNvPr>
          <p:cNvSpPr txBox="1"/>
          <p:nvPr/>
        </p:nvSpPr>
        <p:spPr>
          <a:xfrm>
            <a:off x="6400800" y="5376672"/>
            <a:ext cx="2286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V negligible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D1B297BA-16D4-3D41-D1F4-654F4D0F454C}"/>
              </a:ext>
            </a:extLst>
          </p:cNvPr>
          <p:cNvSpPr/>
          <p:nvPr/>
        </p:nvSpPr>
        <p:spPr>
          <a:xfrm>
            <a:off x="9326880" y="5376672"/>
            <a:ext cx="1828800" cy="411480"/>
          </a:xfrm>
          <a:prstGeom prst="roundRect">
            <a:avLst>
              <a:gd name="adj" fmla="val 6000"/>
            </a:avLst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8FBBEE3-68EA-E277-2797-6C42E57AE807}"/>
              </a:ext>
            </a:extLst>
          </p:cNvPr>
          <p:cNvSpPr txBox="1"/>
          <p:nvPr/>
        </p:nvSpPr>
        <p:spPr>
          <a:xfrm>
            <a:off x="9326880" y="5394960"/>
            <a:ext cx="182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 b="1">
                <a:solidFill>
                  <a:srgbClr val="FFFFFF"/>
                </a:solidFill>
                <a:latin typeface="Arial" panose="020B0604020202020204" pitchFamily="34" charset="0"/>
              </a:rPr>
              <a:t>NOT SIGNIFICANT</a:t>
            </a:r>
          </a:p>
        </p:txBody>
      </p:sp>
    </p:spTree>
    <p:extLst>
      <p:ext uri="{BB962C8B-B14F-4D97-AF65-F5344CB8AC3E}">
        <p14:creationId xmlns:p14="http://schemas.microsoft.com/office/powerpoint/2010/main" val="15269829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D23E1BD-CC78-1FA6-E4D3-BC63080FCF03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53F59E-D911-C385-7AC0-ABEE624F7C04}"/>
              </a:ext>
            </a:extLst>
          </p:cNvPr>
          <p:cNvSpPr txBox="1"/>
          <p:nvPr/>
        </p:nvSpPr>
        <p:spPr>
          <a:xfrm>
            <a:off x="731520" y="45720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 dirty="0">
                <a:solidFill>
                  <a:srgbClr val="FFFFFF"/>
                </a:solidFill>
                <a:latin typeface="Arial" panose="020B0604020202020204" pitchFamily="34" charset="0"/>
              </a:rPr>
              <a:t>Section 2 (EDA Synthesis)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A11E883-20BA-8FEF-5B3F-EA8A2189868F}"/>
              </a:ext>
            </a:extLst>
          </p:cNvPr>
          <p:cNvSpPr/>
          <p:nvPr/>
        </p:nvSpPr>
        <p:spPr>
          <a:xfrm>
            <a:off x="731520" y="1280160"/>
            <a:ext cx="10698479" cy="182880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F8081A-5A1F-4B99-34C8-41AE80139DDC}"/>
              </a:ext>
            </a:extLst>
          </p:cNvPr>
          <p:cNvSpPr txBox="1"/>
          <p:nvPr/>
        </p:nvSpPr>
        <p:spPr>
          <a:xfrm>
            <a:off x="1371600" y="1508760"/>
            <a:ext cx="96012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F08248"/>
                </a:solidFill>
                <a:latin typeface="Arial" panose="020B0604020202020204" pitchFamily="34" charset="0"/>
              </a:rPr>
              <a:t>No demographic, geographic, financial, or behavioral feature meaningfully separates attriters from non-attriters.</a:t>
            </a:r>
            <a:endParaRPr lang="en-PH" b="1">
              <a:solidFill>
                <a:srgbClr val="F08248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237246-04E7-91A1-38AA-9DB7FD226C58}"/>
              </a:ext>
            </a:extLst>
          </p:cNvPr>
          <p:cNvSpPr txBox="1"/>
          <p:nvPr/>
        </p:nvSpPr>
        <p:spPr>
          <a:xfrm>
            <a:off x="1371600" y="2148840"/>
            <a:ext cx="96012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500">
                <a:solidFill>
                  <a:srgbClr val="C8DCFC"/>
                </a:solidFill>
                <a:latin typeface="Arial" panose="020B0604020202020204" pitchFamily="34" charset="0"/>
              </a:rPr>
              <a:t>The dataset appears to be synthetic noise around a ~5% random churn baseline, presenting a deliberate challenge to test modeling approaches.</a:t>
            </a:r>
            <a:endParaRPr lang="en-PH" sz="150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81EAD5-2561-66C9-88C5-EBAA21CE0523}"/>
              </a:ext>
            </a:extLst>
          </p:cNvPr>
          <p:cNvSpPr/>
          <p:nvPr/>
        </p:nvSpPr>
        <p:spPr>
          <a:xfrm>
            <a:off x="731520" y="3474720"/>
            <a:ext cx="2560320" cy="228600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74C5B4-A2EB-8C4E-DDD9-008E31E0EFB6}"/>
              </a:ext>
            </a:extLst>
          </p:cNvPr>
          <p:cNvSpPr/>
          <p:nvPr/>
        </p:nvSpPr>
        <p:spPr>
          <a:xfrm>
            <a:off x="731520" y="3474720"/>
            <a:ext cx="2560320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E62195-0BF9-F133-93BE-5D94B1ED86E9}"/>
              </a:ext>
            </a:extLst>
          </p:cNvPr>
          <p:cNvSpPr txBox="1"/>
          <p:nvPr/>
        </p:nvSpPr>
        <p:spPr>
          <a:xfrm>
            <a:off x="1005840" y="3703320"/>
            <a:ext cx="201168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>
                <a:solidFill>
                  <a:srgbClr val="F08248"/>
                </a:solidFill>
                <a:latin typeface="Arial" panose="020B0604020202020204" pitchFamily="34" charset="0"/>
              </a:rPr>
              <a:t>Behavioral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FEA5D3-3573-BC4B-32FD-B5DA893E4644}"/>
              </a:ext>
            </a:extLst>
          </p:cNvPr>
          <p:cNvSpPr txBox="1"/>
          <p:nvPr/>
        </p:nvSpPr>
        <p:spPr>
          <a:xfrm>
            <a:off x="1005840" y="4160520"/>
            <a:ext cx="201168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C8DCFC"/>
                </a:solidFill>
                <a:latin typeface="Arial" panose="020B0604020202020204" pitchFamily="34" charset="0"/>
              </a:rPr>
              <a:t>Zero transaction or spending difference between groups</a:t>
            </a:r>
            <a:endParaRPr lang="en-PH" sz="130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CDABEFF-ACF9-E9D2-BDE5-56C5854869A8}"/>
              </a:ext>
            </a:extLst>
          </p:cNvPr>
          <p:cNvSpPr/>
          <p:nvPr/>
        </p:nvSpPr>
        <p:spPr>
          <a:xfrm>
            <a:off x="3520440" y="3474720"/>
            <a:ext cx="2560320" cy="228600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354810-7E4D-CCC6-BB12-3C367D30F6EC}"/>
              </a:ext>
            </a:extLst>
          </p:cNvPr>
          <p:cNvSpPr/>
          <p:nvPr/>
        </p:nvSpPr>
        <p:spPr>
          <a:xfrm>
            <a:off x="3520440" y="3474720"/>
            <a:ext cx="2560320" cy="54864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8F7228-8EA1-7382-98B4-AB32A185A421}"/>
              </a:ext>
            </a:extLst>
          </p:cNvPr>
          <p:cNvSpPr txBox="1"/>
          <p:nvPr/>
        </p:nvSpPr>
        <p:spPr>
          <a:xfrm>
            <a:off x="3794760" y="3703320"/>
            <a:ext cx="201168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>
                <a:solidFill>
                  <a:srgbClr val="208090"/>
                </a:solidFill>
                <a:latin typeface="Arial" panose="020B0604020202020204" pitchFamily="34" charset="0"/>
              </a:rPr>
              <a:t>Lifecycle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6B3BF0-AC01-AF17-BCB5-5AF5900E3AEB}"/>
              </a:ext>
            </a:extLst>
          </p:cNvPr>
          <p:cNvSpPr txBox="1"/>
          <p:nvPr/>
        </p:nvSpPr>
        <p:spPr>
          <a:xfrm>
            <a:off x="3794760" y="4160520"/>
            <a:ext cx="201168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C8DCFC"/>
                </a:solidFill>
                <a:latin typeface="Arial" panose="020B0604020202020204" pitchFamily="34" charset="0"/>
              </a:rPr>
              <a:t>No tenure danger zone; churn barely exceeds baseline</a:t>
            </a:r>
            <a:endParaRPr lang="en-PH" sz="130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0951DBA-5BC4-755E-77B8-0BE9783204AA}"/>
              </a:ext>
            </a:extLst>
          </p:cNvPr>
          <p:cNvSpPr/>
          <p:nvPr/>
        </p:nvSpPr>
        <p:spPr>
          <a:xfrm>
            <a:off x="6309360" y="3474720"/>
            <a:ext cx="2560320" cy="228600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019479-319F-D55A-6092-FB03125DB0E5}"/>
              </a:ext>
            </a:extLst>
          </p:cNvPr>
          <p:cNvSpPr/>
          <p:nvPr/>
        </p:nvSpPr>
        <p:spPr>
          <a:xfrm>
            <a:off x="6309360" y="3474720"/>
            <a:ext cx="2560320" cy="54864"/>
          </a:xfrm>
          <a:prstGeom prst="rect">
            <a:avLst/>
          </a:prstGeom>
          <a:solidFill>
            <a:srgbClr val="E8B83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403E97-5CB9-5AA5-02E1-B794F4A4A079}"/>
              </a:ext>
            </a:extLst>
          </p:cNvPr>
          <p:cNvSpPr txBox="1"/>
          <p:nvPr/>
        </p:nvSpPr>
        <p:spPr>
          <a:xfrm>
            <a:off x="6583680" y="3703320"/>
            <a:ext cx="201168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>
                <a:solidFill>
                  <a:srgbClr val="E8B839"/>
                </a:solidFill>
                <a:latin typeface="Arial" panose="020B0604020202020204" pitchFamily="34" charset="0"/>
              </a:rPr>
              <a:t>Financial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E5DC8A-1999-1CA0-2AD2-552AB9BCE2E7}"/>
              </a:ext>
            </a:extLst>
          </p:cNvPr>
          <p:cNvSpPr txBox="1"/>
          <p:nvPr/>
        </p:nvSpPr>
        <p:spPr>
          <a:xfrm>
            <a:off x="6583680" y="4160520"/>
            <a:ext cx="201168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C8DCFC"/>
                </a:solidFill>
                <a:latin typeface="Arial" panose="020B0604020202020204" pitchFamily="34" charset="0"/>
              </a:rPr>
              <a:t>All income quintiles flat at ~4.96%</a:t>
            </a:r>
            <a:endParaRPr lang="en-PH" sz="130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8E27E43-5666-5023-F961-FCE3CC62E83A}"/>
              </a:ext>
            </a:extLst>
          </p:cNvPr>
          <p:cNvSpPr/>
          <p:nvPr/>
        </p:nvSpPr>
        <p:spPr>
          <a:xfrm>
            <a:off x="9098280" y="3474720"/>
            <a:ext cx="2560319" cy="228600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49ED645-949B-2A00-26FD-39E67752B7B4}"/>
              </a:ext>
            </a:extLst>
          </p:cNvPr>
          <p:cNvSpPr/>
          <p:nvPr/>
        </p:nvSpPr>
        <p:spPr>
          <a:xfrm>
            <a:off x="9098280" y="3474720"/>
            <a:ext cx="2560319" cy="54864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2516D95-8E1E-B0F4-736D-B17DC8D700F9}"/>
              </a:ext>
            </a:extLst>
          </p:cNvPr>
          <p:cNvSpPr txBox="1"/>
          <p:nvPr/>
        </p:nvSpPr>
        <p:spPr>
          <a:xfrm>
            <a:off x="9372600" y="3703320"/>
            <a:ext cx="201168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>
                <a:solidFill>
                  <a:srgbClr val="E84747"/>
                </a:solidFill>
                <a:latin typeface="Arial" panose="020B0604020202020204" pitchFamily="34" charset="0"/>
              </a:rPr>
              <a:t>Geographic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8B5559-5400-97A2-BCF4-C4C213739564}"/>
              </a:ext>
            </a:extLst>
          </p:cNvPr>
          <p:cNvSpPr txBox="1"/>
          <p:nvPr/>
        </p:nvSpPr>
        <p:spPr>
          <a:xfrm>
            <a:off x="9372600" y="4160520"/>
            <a:ext cx="201168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C8DCFC"/>
                </a:solidFill>
                <a:latin typeface="Arial" panose="020B0604020202020204" pitchFamily="34" charset="0"/>
              </a:rPr>
              <a:t>0 high-risk countries; TE range extremely narrow</a:t>
            </a:r>
            <a:endParaRPr lang="en-PH" sz="130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0621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137215-0971-FC95-33D4-07B10416C157}"/>
              </a:ext>
            </a:extLst>
          </p:cNvPr>
          <p:cNvSpPr txBox="1"/>
          <p:nvPr/>
        </p:nvSpPr>
        <p:spPr>
          <a:xfrm>
            <a:off x="731520" y="1371600"/>
            <a:ext cx="4572000" cy="15696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9600" b="1">
                <a:solidFill>
                  <a:srgbClr val="F08248"/>
                </a:solidFill>
                <a:latin typeface="Arial" panose="020B0604020202020204" pitchFamily="34" charset="0"/>
              </a:rPr>
              <a:t>04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63A611-88CE-0810-57A2-A87565AC1D39}"/>
              </a:ext>
            </a:extLst>
          </p:cNvPr>
          <p:cNvSpPr/>
          <p:nvPr/>
        </p:nvSpPr>
        <p:spPr>
          <a:xfrm>
            <a:off x="731520" y="2743200"/>
            <a:ext cx="2743200" cy="36576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961F68-BA16-9EB0-824A-4358755C97AC}"/>
              </a:ext>
            </a:extLst>
          </p:cNvPr>
          <p:cNvSpPr txBox="1"/>
          <p:nvPr/>
        </p:nvSpPr>
        <p:spPr>
          <a:xfrm>
            <a:off x="731520" y="3017520"/>
            <a:ext cx="914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3600" b="1">
                <a:solidFill>
                  <a:srgbClr val="FFFFFF"/>
                </a:solidFill>
                <a:latin typeface="Arial" panose="020B0604020202020204" pitchFamily="34" charset="0"/>
              </a:rPr>
              <a:t>Pre-processing Pipeline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8A8976-34E1-1BAC-AE82-D21D1151D0E7}"/>
              </a:ext>
            </a:extLst>
          </p:cNvPr>
          <p:cNvSpPr txBox="1"/>
          <p:nvPr/>
        </p:nvSpPr>
        <p:spPr>
          <a:xfrm>
            <a:off x="731520" y="3840480"/>
            <a:ext cx="73152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C8DCFC"/>
                </a:solidFill>
                <a:latin typeface="Arial" panose="020B0604020202020204" pitchFamily="34" charset="0"/>
              </a:rPr>
              <a:t>Three model-specific data tables  |  Shared train/test indices  |  Fair comparison</a:t>
            </a:r>
            <a:endParaRPr lang="en-PH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7452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7E6F3B-2DCA-6A82-7AD7-F0F8EDECF059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E56C08-A388-8607-52A8-DCED7435CAE3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>
                <a:solidFill>
                  <a:srgbClr val="1A2A3D"/>
                </a:solidFill>
                <a:latin typeface="Arial" panose="020B0604020202020204" pitchFamily="34" charset="0"/>
              </a:rPr>
              <a:t>4.1–4.8  Pipeline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32A222-33D0-AC5C-4320-6E7E47125879}"/>
              </a:ext>
            </a:extLst>
          </p:cNvPr>
          <p:cNvSpPr txBox="1"/>
          <p:nvPr/>
        </p:nvSpPr>
        <p:spPr>
          <a:xfrm>
            <a:off x="731520" y="86868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9E9E9E"/>
                </a:solidFill>
                <a:latin typeface="Arial" panose="020B0604020202020204" pitchFamily="34" charset="0"/>
              </a:rPr>
              <a:t>Clean once, branch twice  |  80/20 stratified split  |  ADASYN on train only</a:t>
            </a:r>
            <a:endParaRPr lang="en-PH" sz="14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57F8924-B3AF-AB93-A16D-124A741BF13E}"/>
              </a:ext>
            </a:extLst>
          </p:cNvPr>
          <p:cNvSpPr/>
          <p:nvPr/>
        </p:nvSpPr>
        <p:spPr>
          <a:xfrm>
            <a:off x="4114800" y="1371600"/>
            <a:ext cx="393192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F404ED-4C27-CC62-0129-DE61B750AFD1}"/>
              </a:ext>
            </a:extLst>
          </p:cNvPr>
          <p:cNvSpPr/>
          <p:nvPr/>
        </p:nvSpPr>
        <p:spPr>
          <a:xfrm>
            <a:off x="4114800" y="1371600"/>
            <a:ext cx="3931920" cy="64008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711AD1-A440-4A82-78CB-70BB2EB21215}"/>
              </a:ext>
            </a:extLst>
          </p:cNvPr>
          <p:cNvSpPr txBox="1"/>
          <p:nvPr/>
        </p:nvSpPr>
        <p:spPr>
          <a:xfrm>
            <a:off x="4389120" y="1554480"/>
            <a:ext cx="338328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600" b="1">
                <a:solidFill>
                  <a:srgbClr val="208090"/>
                </a:solidFill>
                <a:latin typeface="Arial" panose="020B0604020202020204" pitchFamily="34" charset="0"/>
              </a:rPr>
              <a:t>df_base  (100K rows)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3F23CC-6B1A-3DB1-6489-DBCB8FDDE664}"/>
              </a:ext>
            </a:extLst>
          </p:cNvPr>
          <p:cNvSpPr txBox="1"/>
          <p:nvPr/>
        </p:nvSpPr>
        <p:spPr>
          <a:xfrm>
            <a:off x="4389120" y="1920240"/>
            <a:ext cx="33832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 dirty="0" err="1">
                <a:solidFill>
                  <a:srgbClr val="4B4B4B"/>
                </a:solidFill>
                <a:latin typeface="Arial" panose="020B0604020202020204" pitchFamily="34" charset="0"/>
              </a:rPr>
              <a:t>Dedup</a:t>
            </a:r>
            <a:r>
              <a:rPr lang="en-PH" sz="1300" dirty="0">
                <a:solidFill>
                  <a:srgbClr val="4B4B4B"/>
                </a:solidFill>
                <a:latin typeface="Arial" panose="020B0604020202020204" pitchFamily="34" charset="0"/>
              </a:rPr>
              <a:t> &gt; Median impute &gt; Negative flags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18332D-3DE7-F595-4E9B-8877B953EB8C}"/>
              </a:ext>
            </a:extLst>
          </p:cNvPr>
          <p:cNvSpPr/>
          <p:nvPr/>
        </p:nvSpPr>
        <p:spPr>
          <a:xfrm>
            <a:off x="3840480" y="2788920"/>
            <a:ext cx="2011680" cy="27432"/>
          </a:xfrm>
          <a:prstGeom prst="rect">
            <a:avLst/>
          </a:prstGeom>
          <a:solidFill>
            <a:srgbClr val="9E9E9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FA07FC-6CDB-F196-A1CB-139B17D5E24B}"/>
              </a:ext>
            </a:extLst>
          </p:cNvPr>
          <p:cNvSpPr/>
          <p:nvPr/>
        </p:nvSpPr>
        <p:spPr>
          <a:xfrm>
            <a:off x="6400800" y="2788920"/>
            <a:ext cx="2011680" cy="27432"/>
          </a:xfrm>
          <a:prstGeom prst="rect">
            <a:avLst/>
          </a:prstGeom>
          <a:solidFill>
            <a:srgbClr val="9E9E9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FC69DEA-52AC-051A-0E7F-C6D875C8CE52}"/>
              </a:ext>
            </a:extLst>
          </p:cNvPr>
          <p:cNvSpPr/>
          <p:nvPr/>
        </p:nvSpPr>
        <p:spPr>
          <a:xfrm>
            <a:off x="731520" y="3108960"/>
            <a:ext cx="502920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8BF063-1A40-13B7-53E7-B6ED69F39E7C}"/>
              </a:ext>
            </a:extLst>
          </p:cNvPr>
          <p:cNvSpPr/>
          <p:nvPr/>
        </p:nvSpPr>
        <p:spPr>
          <a:xfrm>
            <a:off x="731520" y="3108960"/>
            <a:ext cx="73152" cy="3108960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D7023F-F0D8-A35E-94C7-13C1B15E84B2}"/>
              </a:ext>
            </a:extLst>
          </p:cNvPr>
          <p:cNvSpPr txBox="1"/>
          <p:nvPr/>
        </p:nvSpPr>
        <p:spPr>
          <a:xfrm>
            <a:off x="1097280" y="3246120"/>
            <a:ext cx="438912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>
                <a:solidFill>
                  <a:srgbClr val="F08248"/>
                </a:solidFill>
                <a:latin typeface="Arial" panose="020B0604020202020204" pitchFamily="34" charset="0"/>
              </a:rPr>
              <a:t>df_lr  (LR + EBM)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9F27F4-27FD-2EEE-DFFE-7C6274200E48}"/>
              </a:ext>
            </a:extLst>
          </p:cNvPr>
          <p:cNvSpPr txBox="1"/>
          <p:nvPr/>
        </p:nvSpPr>
        <p:spPr>
          <a:xfrm>
            <a:off x="1097280" y="3703320"/>
            <a:ext cx="4389120" cy="169277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Winsorized (IQR 1.5x clip)</a:t>
            </a:r>
          </a:p>
          <a:p>
            <a:endParaRPr lang="en-PH" sz="130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2 engineered features kept:</a:t>
            </a:r>
          </a:p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  Credit_Utilization, Avg_Txn/Tenure</a:t>
            </a:r>
          </a:p>
          <a:p>
            <a:endParaRPr lang="en-PH" sz="130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OHE drop_first=True (26 cols)</a:t>
            </a:r>
          </a:p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Target Encoding for Country</a:t>
            </a:r>
          </a:p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StandardScaler applied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66C637C-1D54-6902-A212-5AC6574E11F4}"/>
              </a:ext>
            </a:extLst>
          </p:cNvPr>
          <p:cNvSpPr/>
          <p:nvPr/>
        </p:nvSpPr>
        <p:spPr>
          <a:xfrm>
            <a:off x="6400800" y="3108960"/>
            <a:ext cx="502920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85C44F-4E8B-A4A2-3D06-1E5B70274B80}"/>
              </a:ext>
            </a:extLst>
          </p:cNvPr>
          <p:cNvSpPr/>
          <p:nvPr/>
        </p:nvSpPr>
        <p:spPr>
          <a:xfrm>
            <a:off x="6400800" y="3108960"/>
            <a:ext cx="73152" cy="3108960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50F7AD-7693-A2B4-891C-61FF450EFB9F}"/>
              </a:ext>
            </a:extLst>
          </p:cNvPr>
          <p:cNvSpPr txBox="1"/>
          <p:nvPr/>
        </p:nvSpPr>
        <p:spPr>
          <a:xfrm>
            <a:off x="6766560" y="3246120"/>
            <a:ext cx="438912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>
                <a:solidFill>
                  <a:srgbClr val="208090"/>
                </a:solidFill>
                <a:latin typeface="Arial" panose="020B0604020202020204" pitchFamily="34" charset="0"/>
              </a:rPr>
              <a:t>df_tree  (XGBoost)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8AB167-44F6-BD3E-4AA2-CB6A440E9A6C}"/>
              </a:ext>
            </a:extLst>
          </p:cNvPr>
          <p:cNvSpPr txBox="1"/>
          <p:nvPr/>
        </p:nvSpPr>
        <p:spPr>
          <a:xfrm>
            <a:off x="6766560" y="3703320"/>
            <a:ext cx="4389120" cy="169277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Raw outliers retained</a:t>
            </a:r>
          </a:p>
          <a:p>
            <a:endParaRPr lang="en-US" sz="130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All 6 engineered features kept</a:t>
            </a:r>
          </a:p>
          <a:p>
            <a:endParaRPr lang="en-US" sz="130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OHE full (no drop_first) → 34 cols</a:t>
            </a:r>
          </a:p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Target Encoding for Country</a:t>
            </a:r>
          </a:p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No scaling (rank-based splits)</a:t>
            </a:r>
          </a:p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ADASYN: 80K → 151,704 rows (50/50)</a:t>
            </a:r>
            <a:endParaRPr lang="en-PH" sz="13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09617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31E0D6-BF28-1016-B6E8-7698E7B24A43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387BC5-A7C7-15BC-D4AA-B7A786250B51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>
                <a:solidFill>
                  <a:srgbClr val="1A2A3D"/>
                </a:solidFill>
                <a:latin typeface="Arial" panose="020B0604020202020204" pitchFamily="34" charset="0"/>
              </a:rPr>
              <a:t>4.11  Pipeline Summary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71EB7D-3247-9C03-4A5C-E1A59171205F}"/>
              </a:ext>
            </a:extLst>
          </p:cNvPr>
          <p:cNvSpPr txBox="1"/>
          <p:nvPr/>
        </p:nvSpPr>
        <p:spPr>
          <a:xfrm>
            <a:off x="731520" y="86868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9E9E9E"/>
                </a:solidFill>
                <a:latin typeface="Arial" panose="020B0604020202020204" pitchFamily="34" charset="0"/>
              </a:rPr>
              <a:t>All tables share the same train_idx / test_idx  |  Apples-to-apples comparison</a:t>
            </a:r>
            <a:endParaRPr lang="en-PH" sz="14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08F3492-E0B1-A14B-C8C7-FC7D739697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0393757"/>
              </p:ext>
            </p:extLst>
          </p:nvPr>
        </p:nvGraphicFramePr>
        <p:xfrm>
          <a:off x="731520" y="1463040"/>
          <a:ext cx="10698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331786489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342664523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3464691476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1619141195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931253939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158451301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PH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Table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Models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Base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Engineered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Encoding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Scaling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654431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df_base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Reference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Clean only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None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None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None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928153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df_lr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LR, EBM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Winsorized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2 features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OHE + TE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StandardScaler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03969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df_tree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XGBoost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Raw outliers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All 6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OHE full + TE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None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36283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83C26FF-031F-5E7C-F142-99F44B20A448}"/>
              </a:ext>
            </a:extLst>
          </p:cNvPr>
          <p:cNvSpPr txBox="1"/>
          <p:nvPr/>
        </p:nvSpPr>
        <p:spPr>
          <a:xfrm>
            <a:off x="731520" y="4023360"/>
            <a:ext cx="4572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1A2A3D"/>
                </a:solidFill>
                <a:latin typeface="Arial" panose="020B0604020202020204" pitchFamily="34" charset="0"/>
              </a:rPr>
              <a:t>SPLIT VERIFICATION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10DEB70-9274-A3D5-9057-7E8A4648BEE6}"/>
              </a:ext>
            </a:extLst>
          </p:cNvPr>
          <p:cNvSpPr/>
          <p:nvPr/>
        </p:nvSpPr>
        <p:spPr>
          <a:xfrm>
            <a:off x="731520" y="4480560"/>
            <a:ext cx="10698479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B484BD-C3EE-1148-F03B-BC905A504EC9}"/>
              </a:ext>
            </a:extLst>
          </p:cNvPr>
          <p:cNvSpPr txBox="1"/>
          <p:nvPr/>
        </p:nvSpPr>
        <p:spPr>
          <a:xfrm>
            <a:off x="1371600" y="4572000"/>
            <a:ext cx="201168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600" b="1">
                <a:solidFill>
                  <a:srgbClr val="1A2A3D"/>
                </a:solidFill>
                <a:latin typeface="Arial" panose="020B0604020202020204" pitchFamily="34" charset="0"/>
              </a:rPr>
              <a:t>80,000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1758B9-4FE1-6E1C-5A26-597BB0722DD0}"/>
              </a:ext>
            </a:extLst>
          </p:cNvPr>
          <p:cNvSpPr txBox="1"/>
          <p:nvPr/>
        </p:nvSpPr>
        <p:spPr>
          <a:xfrm>
            <a:off x="1371600" y="5074920"/>
            <a:ext cx="201168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Train set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AF1E5C-D7DC-5DE8-8CC4-3334CAC4199A}"/>
              </a:ext>
            </a:extLst>
          </p:cNvPr>
          <p:cNvSpPr txBox="1"/>
          <p:nvPr/>
        </p:nvSpPr>
        <p:spPr>
          <a:xfrm>
            <a:off x="3657600" y="4572000"/>
            <a:ext cx="201168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600" b="1">
                <a:solidFill>
                  <a:srgbClr val="1A2A3D"/>
                </a:solidFill>
                <a:latin typeface="Arial" panose="020B0604020202020204" pitchFamily="34" charset="0"/>
              </a:rPr>
              <a:t>20,000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21DC09-A435-A65E-B08D-5CD0981FBD25}"/>
              </a:ext>
            </a:extLst>
          </p:cNvPr>
          <p:cNvSpPr txBox="1"/>
          <p:nvPr/>
        </p:nvSpPr>
        <p:spPr>
          <a:xfrm>
            <a:off x="3657600" y="5074920"/>
            <a:ext cx="201168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Test set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A1C709-9306-6B31-AD05-03B6B6A56B47}"/>
              </a:ext>
            </a:extLst>
          </p:cNvPr>
          <p:cNvSpPr txBox="1"/>
          <p:nvPr/>
        </p:nvSpPr>
        <p:spPr>
          <a:xfrm>
            <a:off x="5943600" y="4572000"/>
            <a:ext cx="2286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600" b="1">
                <a:solidFill>
                  <a:srgbClr val="E84747"/>
                </a:solidFill>
                <a:latin typeface="Arial" panose="020B0604020202020204" pitchFamily="34" charset="0"/>
              </a:rPr>
              <a:t>4.96%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2D1B0F-94E5-CAFA-3419-23AD0141C636}"/>
              </a:ext>
            </a:extLst>
          </p:cNvPr>
          <p:cNvSpPr txBox="1"/>
          <p:nvPr/>
        </p:nvSpPr>
        <p:spPr>
          <a:xfrm>
            <a:off x="5943600" y="507492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Churn rate (both sets)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957F8F-DA9B-89C5-FCC6-3E0904BB1ABF}"/>
              </a:ext>
            </a:extLst>
          </p:cNvPr>
          <p:cNvSpPr txBox="1"/>
          <p:nvPr/>
        </p:nvSpPr>
        <p:spPr>
          <a:xfrm>
            <a:off x="8503920" y="4572000"/>
            <a:ext cx="256032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600" b="1">
                <a:solidFill>
                  <a:srgbClr val="208090"/>
                </a:solidFill>
                <a:latin typeface="Arial" panose="020B0604020202020204" pitchFamily="34" charset="0"/>
              </a:rPr>
              <a:t>151,704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FC0532-EF5F-0815-92C8-8BAE0133E8EC}"/>
              </a:ext>
            </a:extLst>
          </p:cNvPr>
          <p:cNvSpPr txBox="1"/>
          <p:nvPr/>
        </p:nvSpPr>
        <p:spPr>
          <a:xfrm>
            <a:off x="8503920" y="5074920"/>
            <a:ext cx="25603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Post-ADASYN train (tree)</a:t>
            </a:r>
          </a:p>
        </p:txBody>
      </p:sp>
    </p:spTree>
    <p:extLst>
      <p:ext uri="{BB962C8B-B14F-4D97-AF65-F5344CB8AC3E}">
        <p14:creationId xmlns:p14="http://schemas.microsoft.com/office/powerpoint/2010/main" val="14885974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7BAF88-FCCF-4678-0D45-7C618ED9D3CB}"/>
              </a:ext>
            </a:extLst>
          </p:cNvPr>
          <p:cNvSpPr txBox="1"/>
          <p:nvPr/>
        </p:nvSpPr>
        <p:spPr>
          <a:xfrm>
            <a:off x="731520" y="1371600"/>
            <a:ext cx="4572000" cy="15696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9600" b="1">
                <a:solidFill>
                  <a:srgbClr val="F08248"/>
                </a:solidFill>
                <a:latin typeface="Arial" panose="020B0604020202020204" pitchFamily="34" charset="0"/>
              </a:rPr>
              <a:t>05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D9FF78-C330-8249-389E-4763E824311E}"/>
              </a:ext>
            </a:extLst>
          </p:cNvPr>
          <p:cNvSpPr/>
          <p:nvPr/>
        </p:nvSpPr>
        <p:spPr>
          <a:xfrm>
            <a:off x="731520" y="2743200"/>
            <a:ext cx="2743200" cy="36576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9D853D-0794-F298-FBA0-24A85913F679}"/>
              </a:ext>
            </a:extLst>
          </p:cNvPr>
          <p:cNvSpPr txBox="1"/>
          <p:nvPr/>
        </p:nvSpPr>
        <p:spPr>
          <a:xfrm>
            <a:off x="731520" y="3017520"/>
            <a:ext cx="914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3600" b="1">
                <a:solidFill>
                  <a:srgbClr val="FFFFFF"/>
                </a:solidFill>
                <a:latin typeface="Arial" panose="020B0604020202020204" pitchFamily="34" charset="0"/>
              </a:rPr>
              <a:t>Model Development &amp; Evaluation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C8F286-8B1C-2303-1E4D-F35BF55C4897}"/>
              </a:ext>
            </a:extLst>
          </p:cNvPr>
          <p:cNvSpPr txBox="1"/>
          <p:nvPr/>
        </p:nvSpPr>
        <p:spPr>
          <a:xfrm>
            <a:off x="731520" y="3840480"/>
            <a:ext cx="73152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dirty="0">
                <a:solidFill>
                  <a:srgbClr val="C8DCFC"/>
                </a:solidFill>
                <a:latin typeface="Arial" panose="020B0604020202020204" pitchFamily="34" charset="0"/>
              </a:rPr>
              <a:t>LR  |  EBM  |  </a:t>
            </a:r>
            <a:r>
              <a:rPr lang="en-US" dirty="0" err="1">
                <a:solidFill>
                  <a:srgbClr val="C8DCFC"/>
                </a:solidFill>
                <a:latin typeface="Arial" panose="020B0604020202020204" pitchFamily="34" charset="0"/>
              </a:rPr>
              <a:t>XGBoost</a:t>
            </a:r>
            <a:r>
              <a:rPr lang="en-US" dirty="0">
                <a:solidFill>
                  <a:srgbClr val="C8DCFC"/>
                </a:solidFill>
                <a:latin typeface="Arial" panose="020B0604020202020204" pitchFamily="34" charset="0"/>
              </a:rPr>
              <a:t>  - tuned, evaluated, compared on same test set</a:t>
            </a:r>
            <a:endParaRPr lang="en-PH" dirty="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09699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903950-0BDA-7657-53AB-2EBA20A7E2F6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E0DF42-B7AF-59E2-D1A2-8015129A5F16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>
                <a:solidFill>
                  <a:srgbClr val="1A2A3D"/>
                </a:solidFill>
                <a:latin typeface="Arial" panose="020B0604020202020204" pitchFamily="34" charset="0"/>
              </a:rPr>
              <a:t>5.0  Model Selection Strategy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A0636C-E2F6-C0BC-31DC-C78E8A56CAEA}"/>
              </a:ext>
            </a:extLst>
          </p:cNvPr>
          <p:cNvSpPr txBox="1"/>
          <p:nvPr/>
        </p:nvSpPr>
        <p:spPr>
          <a:xfrm>
            <a:off x="731520" y="86868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9E9E9E"/>
                </a:solidFill>
                <a:latin typeface="Arial" panose="020B0604020202020204" pitchFamily="34" charset="0"/>
              </a:rPr>
              <a:t>Three models spanning the interpretability–flexibility spectrum</a:t>
            </a:r>
            <a:endParaRPr lang="en-PH" sz="14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3328B0F-57AF-0DED-8A97-43684E9B24D4}"/>
              </a:ext>
            </a:extLst>
          </p:cNvPr>
          <p:cNvSpPr/>
          <p:nvPr/>
        </p:nvSpPr>
        <p:spPr>
          <a:xfrm>
            <a:off x="731520" y="1554480"/>
            <a:ext cx="338328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932CBE-F1AA-3F36-22E1-BFE76F148D78}"/>
              </a:ext>
            </a:extLst>
          </p:cNvPr>
          <p:cNvSpPr/>
          <p:nvPr/>
        </p:nvSpPr>
        <p:spPr>
          <a:xfrm>
            <a:off x="731520" y="1554480"/>
            <a:ext cx="3383280" cy="64008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EB0F35-AAE6-42F9-2470-F8946D2E0531}"/>
              </a:ext>
            </a:extLst>
          </p:cNvPr>
          <p:cNvSpPr txBox="1"/>
          <p:nvPr/>
        </p:nvSpPr>
        <p:spPr>
          <a:xfrm>
            <a:off x="1005840" y="1783080"/>
            <a:ext cx="292608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>
                <a:solidFill>
                  <a:srgbClr val="F08248"/>
                </a:solidFill>
                <a:latin typeface="Arial" panose="020B0604020202020204" pitchFamily="34" charset="0"/>
              </a:rPr>
              <a:t>Logistic Regression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3CC706-8807-26FE-F0E6-EAAFB388EFA3}"/>
              </a:ext>
            </a:extLst>
          </p:cNvPr>
          <p:cNvSpPr txBox="1"/>
          <p:nvPr/>
        </p:nvSpPr>
        <p:spPr>
          <a:xfrm>
            <a:off x="1005840" y="2148840"/>
            <a:ext cx="29260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Interpretability Anchor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3FD4E5-305A-74D2-EC2A-71AEEB823DDA}"/>
              </a:ext>
            </a:extLst>
          </p:cNvPr>
          <p:cNvSpPr txBox="1"/>
          <p:nvPr/>
        </p:nvSpPr>
        <p:spPr>
          <a:xfrm>
            <a:off x="1005840" y="2560320"/>
            <a:ext cx="2926080" cy="169277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SMOTE inside imblearn pipeline</a:t>
            </a:r>
          </a:p>
          <a:p>
            <a:endParaRPr lang="en-PH" sz="130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GridSearchCV (C, penalty, solver)</a:t>
            </a:r>
          </a:p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Optimized for Recall</a:t>
            </a:r>
          </a:p>
          <a:p>
            <a:endParaRPr lang="en-PH" sz="130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6 assumptions checked:</a:t>
            </a:r>
          </a:p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Binary, Independent, VIF,</a:t>
            </a:r>
          </a:p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Box-Tidwell, Outliers, EPV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B4B62C6-8097-C187-ABD5-7B7D5DF38921}"/>
              </a:ext>
            </a:extLst>
          </p:cNvPr>
          <p:cNvSpPr/>
          <p:nvPr/>
        </p:nvSpPr>
        <p:spPr>
          <a:xfrm>
            <a:off x="4389120" y="1554480"/>
            <a:ext cx="338328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777E81-53C0-42C7-3344-1A7098AB1AA3}"/>
              </a:ext>
            </a:extLst>
          </p:cNvPr>
          <p:cNvSpPr/>
          <p:nvPr/>
        </p:nvSpPr>
        <p:spPr>
          <a:xfrm>
            <a:off x="4389120" y="1554480"/>
            <a:ext cx="3383280" cy="64008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EFACEE-973A-000C-6CB1-1453EDEEF78B}"/>
              </a:ext>
            </a:extLst>
          </p:cNvPr>
          <p:cNvSpPr txBox="1"/>
          <p:nvPr/>
        </p:nvSpPr>
        <p:spPr>
          <a:xfrm>
            <a:off x="4663440" y="1783080"/>
            <a:ext cx="292608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>
                <a:solidFill>
                  <a:srgbClr val="208090"/>
                </a:solidFill>
                <a:latin typeface="Arial" panose="020B0604020202020204" pitchFamily="34" charset="0"/>
              </a:rPr>
              <a:t>EBM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3BF053-209D-ADF9-238E-5460C98AB3AF}"/>
              </a:ext>
            </a:extLst>
          </p:cNvPr>
          <p:cNvSpPr txBox="1"/>
          <p:nvPr/>
        </p:nvSpPr>
        <p:spPr>
          <a:xfrm>
            <a:off x="4663440" y="2148840"/>
            <a:ext cx="29260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Glass-Box Bridge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5D0998-BDCC-3D50-555A-28478A82A018}"/>
              </a:ext>
            </a:extLst>
          </p:cNvPr>
          <p:cNvSpPr txBox="1"/>
          <p:nvPr/>
        </p:nvSpPr>
        <p:spPr>
          <a:xfrm>
            <a:off x="4663440" y="2560320"/>
            <a:ext cx="2926080" cy="169277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GAM + pairwise interactions</a:t>
            </a:r>
          </a:p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(Microsoft Research)</a:t>
            </a:r>
          </a:p>
          <a:p>
            <a:endParaRPr lang="en-PH" sz="130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RandomizedSearchCV (100 iter)</a:t>
            </a:r>
          </a:p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Handles Box-Tidwell violations</a:t>
            </a:r>
          </a:p>
          <a:p>
            <a:endParaRPr lang="en-PH" sz="130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Per-feature shape functions</a:t>
            </a:r>
          </a:p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Best CV AUC: 0.5414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D362053-81B2-C67B-4064-4709CA14EA1D}"/>
              </a:ext>
            </a:extLst>
          </p:cNvPr>
          <p:cNvSpPr/>
          <p:nvPr/>
        </p:nvSpPr>
        <p:spPr>
          <a:xfrm>
            <a:off x="8046720" y="1554480"/>
            <a:ext cx="338328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D2BFE8-99FD-3012-9873-69B99E204084}"/>
              </a:ext>
            </a:extLst>
          </p:cNvPr>
          <p:cNvSpPr/>
          <p:nvPr/>
        </p:nvSpPr>
        <p:spPr>
          <a:xfrm>
            <a:off x="8046720" y="1554480"/>
            <a:ext cx="3383280" cy="64008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FE7B20-8AD1-E6BF-37F0-5A30A73CE787}"/>
              </a:ext>
            </a:extLst>
          </p:cNvPr>
          <p:cNvSpPr txBox="1"/>
          <p:nvPr/>
        </p:nvSpPr>
        <p:spPr>
          <a:xfrm>
            <a:off x="8321040" y="1783080"/>
            <a:ext cx="292608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>
                <a:solidFill>
                  <a:srgbClr val="E84747"/>
                </a:solidFill>
                <a:latin typeface="Arial" panose="020B0604020202020204" pitchFamily="34" charset="0"/>
              </a:rPr>
              <a:t>XGBoost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3CB1E0-9291-59FD-B760-2BEF83E0E105}"/>
              </a:ext>
            </a:extLst>
          </p:cNvPr>
          <p:cNvSpPr txBox="1"/>
          <p:nvPr/>
        </p:nvSpPr>
        <p:spPr>
          <a:xfrm>
            <a:off x="8321040" y="2148840"/>
            <a:ext cx="29260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Performance Ceiling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BBF361-41FD-AAAE-844F-C489E9E1A1C7}"/>
              </a:ext>
            </a:extLst>
          </p:cNvPr>
          <p:cNvSpPr txBox="1"/>
          <p:nvPr/>
        </p:nvSpPr>
        <p:spPr>
          <a:xfrm>
            <a:off x="8321040" y="2560320"/>
            <a:ext cx="2926080" cy="169277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RandomizedSearchCV (60 iter)</a:t>
            </a:r>
          </a:p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scale_pos_weight = 19.16</a:t>
            </a:r>
          </a:p>
          <a:p>
            <a:endParaRPr lang="en-US" sz="130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All 6 engineered features</a:t>
            </a:r>
          </a:p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ADASYN-balanced training</a:t>
            </a:r>
          </a:p>
          <a:p>
            <a:endParaRPr lang="en-US" sz="130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max_depth=3, lr=0.01</a:t>
            </a:r>
          </a:p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Best CV Recall: 0.1932</a:t>
            </a:r>
            <a:endParaRPr lang="en-PH" sz="13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9AFC20C-676B-DB6D-CDF8-25915C27EF82}"/>
              </a:ext>
            </a:extLst>
          </p:cNvPr>
          <p:cNvSpPr/>
          <p:nvPr/>
        </p:nvSpPr>
        <p:spPr>
          <a:xfrm>
            <a:off x="731520" y="5943600"/>
            <a:ext cx="10698479" cy="594360"/>
          </a:xfrm>
          <a:prstGeom prst="roundRect">
            <a:avLst>
              <a:gd name="adj" fmla="val 6000"/>
            </a:avLst>
          </a:prstGeom>
          <a:solidFill>
            <a:srgbClr val="1A2A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EC7293-4B6B-3564-C290-47CBF59B5D86}"/>
              </a:ext>
            </a:extLst>
          </p:cNvPr>
          <p:cNvSpPr txBox="1"/>
          <p:nvPr/>
        </p:nvSpPr>
        <p:spPr>
          <a:xfrm>
            <a:off x="1097280" y="6007608"/>
            <a:ext cx="10058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>
                <a:solidFill>
                  <a:srgbClr val="C8DCFC"/>
                </a:solidFill>
                <a:latin typeface="Arial" panose="020B0604020202020204" pitchFamily="34" charset="0"/>
              </a:rPr>
              <a:t>Primary: PR-AUC (imbalance-aware)  |  Secondary: F2-Score (Recall-weighted)  |  Business: missed churner &gt; false alarm</a:t>
            </a:r>
            <a:endParaRPr lang="en-PH" sz="130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80056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213357-26D8-1D03-B1E8-42C065F0AD60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06A5F2-09BF-6BF9-957C-FEC3BFAD0B43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>
                <a:solidFill>
                  <a:srgbClr val="1A2A3D"/>
                </a:solidFill>
                <a:latin typeface="Arial" panose="020B0604020202020204" pitchFamily="34" charset="0"/>
              </a:rPr>
              <a:t>5.1–5.3  Individual Model 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BDC72A-304C-278B-C36D-7C23DB706B14}"/>
              </a:ext>
            </a:extLst>
          </p:cNvPr>
          <p:cNvSpPr txBox="1"/>
          <p:nvPr/>
        </p:nvSpPr>
        <p:spPr>
          <a:xfrm>
            <a:off x="731520" y="86868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9E9E9E"/>
                </a:solidFill>
                <a:latin typeface="Arial" panose="020B0604020202020204" pitchFamily="34" charset="0"/>
              </a:rPr>
              <a:t>All models evaluated at F2-optimal thresholds on the same held-out test set</a:t>
            </a:r>
            <a:endParaRPr lang="en-PH" sz="14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5C4E9F8-EB1B-2023-E5A9-4DF71BFFB394}"/>
              </a:ext>
            </a:extLst>
          </p:cNvPr>
          <p:cNvSpPr/>
          <p:nvPr/>
        </p:nvSpPr>
        <p:spPr>
          <a:xfrm>
            <a:off x="731520" y="1463040"/>
            <a:ext cx="347472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0EB6BC-14CD-C01D-8C18-9655F24EB9E1}"/>
              </a:ext>
            </a:extLst>
          </p:cNvPr>
          <p:cNvSpPr/>
          <p:nvPr/>
        </p:nvSpPr>
        <p:spPr>
          <a:xfrm>
            <a:off x="731520" y="1463040"/>
            <a:ext cx="3474720" cy="64008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C7E8E6-C62F-4D55-CD7A-0AD1971C878F}"/>
              </a:ext>
            </a:extLst>
          </p:cNvPr>
          <p:cNvSpPr txBox="1"/>
          <p:nvPr/>
        </p:nvSpPr>
        <p:spPr>
          <a:xfrm>
            <a:off x="1005840" y="1691640"/>
            <a:ext cx="292608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600" b="1">
                <a:solidFill>
                  <a:srgbClr val="F08248"/>
                </a:solidFill>
                <a:latin typeface="Arial" panose="020B0604020202020204" pitchFamily="34" charset="0"/>
              </a:rPr>
              <a:t>Logistic Regression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73B382-6086-4CB0-C5E7-57153006BAA5}"/>
              </a:ext>
            </a:extLst>
          </p:cNvPr>
          <p:cNvSpPr txBox="1"/>
          <p:nvPr/>
        </p:nvSpPr>
        <p:spPr>
          <a:xfrm>
            <a:off x="1005840" y="2194560"/>
            <a:ext cx="292608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PR-AUC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4A177A-4A53-2355-7E22-DC1BF265C059}"/>
              </a:ext>
            </a:extLst>
          </p:cNvPr>
          <p:cNvSpPr txBox="1"/>
          <p:nvPr/>
        </p:nvSpPr>
        <p:spPr>
          <a:xfrm>
            <a:off x="1005840" y="2423160"/>
            <a:ext cx="292608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600" b="1">
                <a:solidFill>
                  <a:srgbClr val="1A2A3D"/>
                </a:solidFill>
                <a:latin typeface="Arial" panose="020B0604020202020204" pitchFamily="34" charset="0"/>
              </a:rPr>
              <a:t>0.0495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4367F3-BF07-F679-0081-8DC5C62389DC}"/>
              </a:ext>
            </a:extLst>
          </p:cNvPr>
          <p:cNvSpPr/>
          <p:nvPr/>
        </p:nvSpPr>
        <p:spPr>
          <a:xfrm>
            <a:off x="1188720" y="3108960"/>
            <a:ext cx="2560320" cy="9144"/>
          </a:xfrm>
          <a:prstGeom prst="rect">
            <a:avLst/>
          </a:prstGeom>
          <a:solidFill>
            <a:srgbClr val="D0D0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597AB4-0D2F-F7F9-4989-6983634EED76}"/>
              </a:ext>
            </a:extLst>
          </p:cNvPr>
          <p:cNvSpPr txBox="1"/>
          <p:nvPr/>
        </p:nvSpPr>
        <p:spPr>
          <a:xfrm>
            <a:off x="1005840" y="3246120"/>
            <a:ext cx="146304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ROC-AUC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62A874-573F-ACE9-963B-DCCD3A50613E}"/>
              </a:ext>
            </a:extLst>
          </p:cNvPr>
          <p:cNvSpPr txBox="1"/>
          <p:nvPr/>
        </p:nvSpPr>
        <p:spPr>
          <a:xfrm>
            <a:off x="2377440" y="3246120"/>
            <a:ext cx="15544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~0.50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DA656F-8A88-B5B0-5C46-133CF0738BAC}"/>
              </a:ext>
            </a:extLst>
          </p:cNvPr>
          <p:cNvSpPr txBox="1"/>
          <p:nvPr/>
        </p:nvSpPr>
        <p:spPr>
          <a:xfrm>
            <a:off x="1005840" y="3611880"/>
            <a:ext cx="146304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F2 (tuned)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EA09E3-DA5A-D3F4-ECBC-BC27331BEAEE}"/>
              </a:ext>
            </a:extLst>
          </p:cNvPr>
          <p:cNvSpPr txBox="1"/>
          <p:nvPr/>
        </p:nvSpPr>
        <p:spPr>
          <a:xfrm>
            <a:off x="2377440" y="3611880"/>
            <a:ext cx="15544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0.207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B4C661-9952-D159-1A45-545D37B1A147}"/>
              </a:ext>
            </a:extLst>
          </p:cNvPr>
          <p:cNvSpPr txBox="1"/>
          <p:nvPr/>
        </p:nvSpPr>
        <p:spPr>
          <a:xfrm>
            <a:off x="1005840" y="3977640"/>
            <a:ext cx="146304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Threshold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CA5606-32AD-54C3-9F55-0F7663A3AF41}"/>
              </a:ext>
            </a:extLst>
          </p:cNvPr>
          <p:cNvSpPr txBox="1"/>
          <p:nvPr/>
        </p:nvSpPr>
        <p:spPr>
          <a:xfrm>
            <a:off x="2377440" y="3977640"/>
            <a:ext cx="15544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0.01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0FF990-5611-6F3C-5D32-46CC0783DA4C}"/>
              </a:ext>
            </a:extLst>
          </p:cNvPr>
          <p:cNvSpPr txBox="1"/>
          <p:nvPr/>
        </p:nvSpPr>
        <p:spPr>
          <a:xfrm>
            <a:off x="1005840" y="4434840"/>
            <a:ext cx="29260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 b="1">
                <a:solidFill>
                  <a:srgbClr val="E84747"/>
                </a:solidFill>
                <a:latin typeface="Arial" panose="020B0604020202020204" pitchFamily="34" charset="0"/>
              </a:rPr>
              <a:t>Recall @tuned = 1.00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72048CC-203C-1E9C-F3BC-090365013FFD}"/>
              </a:ext>
            </a:extLst>
          </p:cNvPr>
          <p:cNvSpPr/>
          <p:nvPr/>
        </p:nvSpPr>
        <p:spPr>
          <a:xfrm>
            <a:off x="4480560" y="1463040"/>
            <a:ext cx="347472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33D6861-80BE-4C4C-80DF-0E852FC3BAC9}"/>
              </a:ext>
            </a:extLst>
          </p:cNvPr>
          <p:cNvSpPr/>
          <p:nvPr/>
        </p:nvSpPr>
        <p:spPr>
          <a:xfrm>
            <a:off x="4480560" y="1463040"/>
            <a:ext cx="3474720" cy="64008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8C7FF4-FC03-32B3-05E1-56A4BFC2C058}"/>
              </a:ext>
            </a:extLst>
          </p:cNvPr>
          <p:cNvSpPr txBox="1"/>
          <p:nvPr/>
        </p:nvSpPr>
        <p:spPr>
          <a:xfrm>
            <a:off x="4754880" y="1691640"/>
            <a:ext cx="292608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600" b="1">
                <a:solidFill>
                  <a:srgbClr val="208090"/>
                </a:solidFill>
                <a:latin typeface="Arial" panose="020B0604020202020204" pitchFamily="34" charset="0"/>
              </a:rPr>
              <a:t>EBM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4B76DD-93FD-4D20-F77C-BBE220CA1F3A}"/>
              </a:ext>
            </a:extLst>
          </p:cNvPr>
          <p:cNvSpPr txBox="1"/>
          <p:nvPr/>
        </p:nvSpPr>
        <p:spPr>
          <a:xfrm>
            <a:off x="4754880" y="2194560"/>
            <a:ext cx="292608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PR-AUC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B8890B8-4473-A924-3C44-747A7A330865}"/>
              </a:ext>
            </a:extLst>
          </p:cNvPr>
          <p:cNvSpPr txBox="1"/>
          <p:nvPr/>
        </p:nvSpPr>
        <p:spPr>
          <a:xfrm>
            <a:off x="4754880" y="2423160"/>
            <a:ext cx="292608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600" b="1">
                <a:solidFill>
                  <a:srgbClr val="1A2A3D"/>
                </a:solidFill>
                <a:latin typeface="Arial" panose="020B0604020202020204" pitchFamily="34" charset="0"/>
              </a:rPr>
              <a:t>0.0485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03ABCE0-8736-9AF3-8DA4-57F68348E0A8}"/>
              </a:ext>
            </a:extLst>
          </p:cNvPr>
          <p:cNvSpPr/>
          <p:nvPr/>
        </p:nvSpPr>
        <p:spPr>
          <a:xfrm>
            <a:off x="4937760" y="3108960"/>
            <a:ext cx="2560320" cy="9144"/>
          </a:xfrm>
          <a:prstGeom prst="rect">
            <a:avLst/>
          </a:prstGeom>
          <a:solidFill>
            <a:srgbClr val="D0D0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A5B361E-9307-AB5D-A904-4FEC1C0E7551}"/>
              </a:ext>
            </a:extLst>
          </p:cNvPr>
          <p:cNvSpPr txBox="1"/>
          <p:nvPr/>
        </p:nvSpPr>
        <p:spPr>
          <a:xfrm>
            <a:off x="4754880" y="3246120"/>
            <a:ext cx="146304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ROC-AUC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767738-87A8-8C0D-77EA-9481F4457971}"/>
              </a:ext>
            </a:extLst>
          </p:cNvPr>
          <p:cNvSpPr txBox="1"/>
          <p:nvPr/>
        </p:nvSpPr>
        <p:spPr>
          <a:xfrm>
            <a:off x="6126480" y="3246120"/>
            <a:ext cx="15544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0.495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116C7F-69BF-F91A-AEBD-CDD23E9730CD}"/>
              </a:ext>
            </a:extLst>
          </p:cNvPr>
          <p:cNvSpPr txBox="1"/>
          <p:nvPr/>
        </p:nvSpPr>
        <p:spPr>
          <a:xfrm>
            <a:off x="4754880" y="3611880"/>
            <a:ext cx="146304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F2 (tuned)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080F98C-FBA5-81A2-8130-7618E24C228C}"/>
              </a:ext>
            </a:extLst>
          </p:cNvPr>
          <p:cNvSpPr txBox="1"/>
          <p:nvPr/>
        </p:nvSpPr>
        <p:spPr>
          <a:xfrm>
            <a:off x="6126480" y="3611880"/>
            <a:ext cx="15544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0.207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089B3E-3B55-73BB-C185-03DEDB9CBA15}"/>
              </a:ext>
            </a:extLst>
          </p:cNvPr>
          <p:cNvSpPr txBox="1"/>
          <p:nvPr/>
        </p:nvSpPr>
        <p:spPr>
          <a:xfrm>
            <a:off x="4754880" y="3977640"/>
            <a:ext cx="146304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Threshold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6C37AF4-155D-703F-291C-0C712C990187}"/>
              </a:ext>
            </a:extLst>
          </p:cNvPr>
          <p:cNvSpPr txBox="1"/>
          <p:nvPr/>
        </p:nvSpPr>
        <p:spPr>
          <a:xfrm>
            <a:off x="6126480" y="3977640"/>
            <a:ext cx="15544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0.17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5F6E8E2-2687-C5ED-B6FC-C22B013E487C}"/>
              </a:ext>
            </a:extLst>
          </p:cNvPr>
          <p:cNvSpPr txBox="1"/>
          <p:nvPr/>
        </p:nvSpPr>
        <p:spPr>
          <a:xfrm>
            <a:off x="4754880" y="4434840"/>
            <a:ext cx="29260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 b="1">
                <a:solidFill>
                  <a:srgbClr val="E84747"/>
                </a:solidFill>
                <a:latin typeface="Arial" panose="020B0604020202020204" pitchFamily="34" charset="0"/>
              </a:rPr>
              <a:t>Recall @tuned = 1.00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62458CF-E881-6ED1-168F-C902C2B1212D}"/>
              </a:ext>
            </a:extLst>
          </p:cNvPr>
          <p:cNvSpPr/>
          <p:nvPr/>
        </p:nvSpPr>
        <p:spPr>
          <a:xfrm>
            <a:off x="8229600" y="1463040"/>
            <a:ext cx="347472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73ACA2C-1368-2B74-9907-0119C45A7F56}"/>
              </a:ext>
            </a:extLst>
          </p:cNvPr>
          <p:cNvSpPr/>
          <p:nvPr/>
        </p:nvSpPr>
        <p:spPr>
          <a:xfrm>
            <a:off x="8229600" y="1463040"/>
            <a:ext cx="3474720" cy="64008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BF5500E-96FD-2ADA-778F-43B198924C5E}"/>
              </a:ext>
            </a:extLst>
          </p:cNvPr>
          <p:cNvSpPr txBox="1"/>
          <p:nvPr/>
        </p:nvSpPr>
        <p:spPr>
          <a:xfrm>
            <a:off x="8503920" y="1691640"/>
            <a:ext cx="292608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600" b="1">
                <a:solidFill>
                  <a:srgbClr val="E84747"/>
                </a:solidFill>
                <a:latin typeface="Arial" panose="020B0604020202020204" pitchFamily="34" charset="0"/>
              </a:rPr>
              <a:t>XGBoost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9441432-C456-8CE5-E86F-58C30F323CE2}"/>
              </a:ext>
            </a:extLst>
          </p:cNvPr>
          <p:cNvSpPr txBox="1"/>
          <p:nvPr/>
        </p:nvSpPr>
        <p:spPr>
          <a:xfrm>
            <a:off x="8503920" y="2194560"/>
            <a:ext cx="292608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PR-AUC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603E933-0136-DFFF-1D3F-F9FF8FC50B42}"/>
              </a:ext>
            </a:extLst>
          </p:cNvPr>
          <p:cNvSpPr txBox="1"/>
          <p:nvPr/>
        </p:nvSpPr>
        <p:spPr>
          <a:xfrm>
            <a:off x="8503920" y="2423160"/>
            <a:ext cx="292608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600" b="1">
                <a:solidFill>
                  <a:srgbClr val="1A2A3D"/>
                </a:solidFill>
                <a:latin typeface="Arial" panose="020B0604020202020204" pitchFamily="34" charset="0"/>
              </a:rPr>
              <a:t>0.0494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E856858-B651-41A1-7895-C34B29DB4DC2}"/>
              </a:ext>
            </a:extLst>
          </p:cNvPr>
          <p:cNvSpPr/>
          <p:nvPr/>
        </p:nvSpPr>
        <p:spPr>
          <a:xfrm>
            <a:off x="8686800" y="3108960"/>
            <a:ext cx="2560320" cy="9144"/>
          </a:xfrm>
          <a:prstGeom prst="rect">
            <a:avLst/>
          </a:prstGeom>
          <a:solidFill>
            <a:srgbClr val="D0D0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A5169B5-3FFC-CAAF-FEBE-9D6095D73825}"/>
              </a:ext>
            </a:extLst>
          </p:cNvPr>
          <p:cNvSpPr txBox="1"/>
          <p:nvPr/>
        </p:nvSpPr>
        <p:spPr>
          <a:xfrm>
            <a:off x="8503920" y="3246120"/>
            <a:ext cx="146304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ROC-AUC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FEC2E5A-7B7B-58CA-6A93-F7FAECEF30FA}"/>
              </a:ext>
            </a:extLst>
          </p:cNvPr>
          <p:cNvSpPr txBox="1"/>
          <p:nvPr/>
        </p:nvSpPr>
        <p:spPr>
          <a:xfrm>
            <a:off x="9875520" y="3246120"/>
            <a:ext cx="15544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0.502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3575AEB-CD6A-C98A-0295-D21EB1AC365D}"/>
              </a:ext>
            </a:extLst>
          </p:cNvPr>
          <p:cNvSpPr txBox="1"/>
          <p:nvPr/>
        </p:nvSpPr>
        <p:spPr>
          <a:xfrm>
            <a:off x="8503920" y="3611880"/>
            <a:ext cx="146304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F2 (tuned)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C0D150F-2BBA-A196-84BF-8DF4C1451A29}"/>
              </a:ext>
            </a:extLst>
          </p:cNvPr>
          <p:cNvSpPr txBox="1"/>
          <p:nvPr/>
        </p:nvSpPr>
        <p:spPr>
          <a:xfrm>
            <a:off x="9875520" y="3611880"/>
            <a:ext cx="15544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0.207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81DFF0D-A995-A834-4C4F-ECE06D526DD8}"/>
              </a:ext>
            </a:extLst>
          </p:cNvPr>
          <p:cNvSpPr txBox="1"/>
          <p:nvPr/>
        </p:nvSpPr>
        <p:spPr>
          <a:xfrm>
            <a:off x="8503920" y="3977640"/>
            <a:ext cx="146304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Threshold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0ED303F-0B5B-EA5A-A961-80BB5DEB3640}"/>
              </a:ext>
            </a:extLst>
          </p:cNvPr>
          <p:cNvSpPr txBox="1"/>
          <p:nvPr/>
        </p:nvSpPr>
        <p:spPr>
          <a:xfrm>
            <a:off x="9875520" y="3977640"/>
            <a:ext cx="15544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0.01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7BC57B1-6989-79FE-3D04-8AEC59E6F9C8}"/>
              </a:ext>
            </a:extLst>
          </p:cNvPr>
          <p:cNvSpPr txBox="1"/>
          <p:nvPr/>
        </p:nvSpPr>
        <p:spPr>
          <a:xfrm>
            <a:off x="8503920" y="4434840"/>
            <a:ext cx="29260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 b="1">
                <a:solidFill>
                  <a:srgbClr val="E84747"/>
                </a:solidFill>
                <a:latin typeface="Arial" panose="020B0604020202020204" pitchFamily="34" charset="0"/>
              </a:rPr>
              <a:t>Recall @tuned = 1.00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DB502307-CE26-F3BD-D350-300278256AA8}"/>
              </a:ext>
            </a:extLst>
          </p:cNvPr>
          <p:cNvSpPr/>
          <p:nvPr/>
        </p:nvSpPr>
        <p:spPr>
          <a:xfrm>
            <a:off x="731520" y="5577840"/>
            <a:ext cx="10698479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068E998-7EAE-8B85-DB59-893898EA175A}"/>
              </a:ext>
            </a:extLst>
          </p:cNvPr>
          <p:cNvSpPr/>
          <p:nvPr/>
        </p:nvSpPr>
        <p:spPr>
          <a:xfrm>
            <a:off x="731520" y="5577840"/>
            <a:ext cx="54864" cy="1005840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8644046-6EDD-47B3-472C-5779A37B7B5A}"/>
              </a:ext>
            </a:extLst>
          </p:cNvPr>
          <p:cNvSpPr txBox="1"/>
          <p:nvPr/>
        </p:nvSpPr>
        <p:spPr>
          <a:xfrm>
            <a:off x="1097280" y="566928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E84747"/>
                </a:solidFill>
                <a:latin typeface="Arial" panose="020B0604020202020204" pitchFamily="34" charset="0"/>
              </a:rPr>
              <a:t>INTERPRETATION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F43B305-8554-0A0F-2C34-34D499F53D43}"/>
              </a:ext>
            </a:extLst>
          </p:cNvPr>
          <p:cNvSpPr txBox="1"/>
          <p:nvPr/>
        </p:nvSpPr>
        <p:spPr>
          <a:xfrm>
            <a:off x="1097280" y="5989320"/>
            <a:ext cx="100584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dirty="0">
                <a:solidFill>
                  <a:srgbClr val="4B4B4B"/>
                </a:solidFill>
                <a:latin typeface="Arial" panose="020B0604020202020204" pitchFamily="34" charset="0"/>
              </a:rPr>
              <a:t>All three models converge to PR-AUC ≈ 0.05 (random baseline for 5% churn). At F2-optimal thresholds, all predict everyone as a churner.</a:t>
            </a:r>
            <a:endParaRPr lang="en-PH" sz="1300" dirty="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4543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19864B0-AC44-63EA-FC47-8E5048192EB9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E93C57-CFED-99BB-B5B8-93A86156DF14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>
                <a:solidFill>
                  <a:srgbClr val="1A2A3D"/>
                </a:solidFill>
                <a:latin typeface="Arial" panose="020B0604020202020204" pitchFamily="34" charset="0"/>
              </a:rPr>
              <a:t>5.4  Final Model Comparison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5C5F0F-541F-768B-3C99-F011DA323FFF}"/>
              </a:ext>
            </a:extLst>
          </p:cNvPr>
          <p:cNvSpPr txBox="1"/>
          <p:nvPr/>
        </p:nvSpPr>
        <p:spPr>
          <a:xfrm>
            <a:off x="731520" y="86868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9E9E9E"/>
                </a:solidFill>
                <a:latin typeface="Arial" panose="020B0604020202020204" pitchFamily="34" charset="0"/>
              </a:rPr>
              <a:t>Same test set  |  Same metrics  |  Same conclusion</a:t>
            </a:r>
            <a:endParaRPr lang="en-PH" sz="14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8E92ABD-4059-FD74-80E4-6935B5CCFC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9761461"/>
              </p:ext>
            </p:extLst>
          </p:nvPr>
        </p:nvGraphicFramePr>
        <p:xfrm>
          <a:off x="731520" y="1463040"/>
          <a:ext cx="10698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1248558829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1823763975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4012835097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34241605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444119064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3412244738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PH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Model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PR-AUC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F2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Recall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Precision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Threshold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0636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Logistic Regression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0.0495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0.2070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1.00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0.0496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0.01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28683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EBM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0.0485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0.2070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1.00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0.0496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0.17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56653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XGBoost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0.0494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0.2069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1.00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0.0496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0.01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004552"/>
                  </a:ext>
                </a:extLst>
              </a:tr>
            </a:tbl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A939D40-F668-A667-9F38-B2848A744B17}"/>
              </a:ext>
            </a:extLst>
          </p:cNvPr>
          <p:cNvSpPr/>
          <p:nvPr/>
        </p:nvSpPr>
        <p:spPr>
          <a:xfrm>
            <a:off x="731520" y="4023360"/>
            <a:ext cx="512064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08EDDA-E666-633F-B9B9-E80CF5B24C3B}"/>
              </a:ext>
            </a:extLst>
          </p:cNvPr>
          <p:cNvSpPr/>
          <p:nvPr/>
        </p:nvSpPr>
        <p:spPr>
          <a:xfrm>
            <a:off x="731520" y="4023360"/>
            <a:ext cx="73152" cy="2286000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B24A1A-4C87-BA21-47A2-8DB4D6E818B9}"/>
              </a:ext>
            </a:extLst>
          </p:cNvPr>
          <p:cNvSpPr txBox="1"/>
          <p:nvPr/>
        </p:nvSpPr>
        <p:spPr>
          <a:xfrm>
            <a:off x="1097280" y="4206240"/>
            <a:ext cx="438912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F08248"/>
                </a:solidFill>
                <a:latin typeface="Arial" panose="020B0604020202020204" pitchFamily="34" charset="0"/>
              </a:rPr>
              <a:t>RECOMMENDED MODEL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F83384-08A5-FAC3-0230-5AC8C7F15767}"/>
              </a:ext>
            </a:extLst>
          </p:cNvPr>
          <p:cNvSpPr txBox="1"/>
          <p:nvPr/>
        </p:nvSpPr>
        <p:spPr>
          <a:xfrm>
            <a:off x="1097280" y="4572000"/>
            <a:ext cx="438912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400" b="1">
                <a:solidFill>
                  <a:srgbClr val="1A2A3D"/>
                </a:solidFill>
                <a:latin typeface="Arial" panose="020B0604020202020204" pitchFamily="34" charset="0"/>
              </a:rPr>
              <a:t>Logistic Regression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4EF219-983A-9438-CA2C-6ED24BA71709}"/>
              </a:ext>
            </a:extLst>
          </p:cNvPr>
          <p:cNvSpPr txBox="1"/>
          <p:nvPr/>
        </p:nvSpPr>
        <p:spPr>
          <a:xfrm>
            <a:off x="1097280" y="5074920"/>
            <a:ext cx="438912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Best PR-AUC (0.0495) and F2 (0.2070). Simplest, most interpretable, cheapest to deploy. All models are effectively random.</a:t>
            </a:r>
            <a:endParaRPr lang="en-PH" sz="13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83DB5BF-278C-51D3-07B6-9ADCDD4812AE}"/>
              </a:ext>
            </a:extLst>
          </p:cNvPr>
          <p:cNvSpPr/>
          <p:nvPr/>
        </p:nvSpPr>
        <p:spPr>
          <a:xfrm>
            <a:off x="6217920" y="4023360"/>
            <a:ext cx="52120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30F9B4-B1B0-01F0-4F1B-6B26FA4383DB}"/>
              </a:ext>
            </a:extLst>
          </p:cNvPr>
          <p:cNvSpPr/>
          <p:nvPr/>
        </p:nvSpPr>
        <p:spPr>
          <a:xfrm>
            <a:off x="6217920" y="4023360"/>
            <a:ext cx="73152" cy="2286000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B13F6F-517C-90DD-C3F0-B23D5E0B954E}"/>
              </a:ext>
            </a:extLst>
          </p:cNvPr>
          <p:cNvSpPr txBox="1"/>
          <p:nvPr/>
        </p:nvSpPr>
        <p:spPr>
          <a:xfrm>
            <a:off x="6583680" y="4206240"/>
            <a:ext cx="4572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E84747"/>
                </a:solidFill>
                <a:latin typeface="Arial" panose="020B0604020202020204" pitchFamily="34" charset="0"/>
              </a:rPr>
              <a:t>ROOT CAUSE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3D4325-E2C3-1805-8CB2-EFD89C6C6578}"/>
              </a:ext>
            </a:extLst>
          </p:cNvPr>
          <p:cNvSpPr txBox="1"/>
          <p:nvPr/>
        </p:nvSpPr>
        <p:spPr>
          <a:xfrm>
            <a:off x="6583680" y="4572000"/>
            <a:ext cx="4572000" cy="95410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The bottleneck is not the model but the feature set. All 13 core features show zero discriminative signal. No algorithm can learn patterns that do not exist in the data.</a:t>
            </a:r>
            <a:endParaRPr lang="en-PH" sz="1400" dirty="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55182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F6A1DF-B829-A648-87DE-A8F0DA021E00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C4CB96-4056-0FC1-DC3C-CEEE47181EE1}"/>
              </a:ext>
            </a:extLst>
          </p:cNvPr>
          <p:cNvSpPr txBox="1"/>
          <p:nvPr/>
        </p:nvSpPr>
        <p:spPr>
          <a:xfrm>
            <a:off x="731520" y="731520"/>
            <a:ext cx="10515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F08248"/>
                </a:solidFill>
                <a:latin typeface="Arial" panose="020B0604020202020204" pitchFamily="34" charset="0"/>
              </a:rPr>
              <a:t>SECTIONS 1–5 VERDICT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73191D-C1DC-3EC6-3D34-AABE22F3D18F}"/>
              </a:ext>
            </a:extLst>
          </p:cNvPr>
          <p:cNvSpPr/>
          <p:nvPr/>
        </p:nvSpPr>
        <p:spPr>
          <a:xfrm>
            <a:off x="731520" y="1280160"/>
            <a:ext cx="3657600" cy="36576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E80C1B-4373-5F40-BFE5-B73D50201F02}"/>
              </a:ext>
            </a:extLst>
          </p:cNvPr>
          <p:cNvSpPr txBox="1"/>
          <p:nvPr/>
        </p:nvSpPr>
        <p:spPr>
          <a:xfrm>
            <a:off x="731520" y="1645920"/>
            <a:ext cx="10515600" cy="101566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>
                <a:solidFill>
                  <a:srgbClr val="FFFFFF"/>
                </a:solidFill>
                <a:latin typeface="Arial" panose="020B0604020202020204" pitchFamily="34" charset="0"/>
              </a:rPr>
              <a:t>Models don't fail because of modeling.</a:t>
            </a:r>
          </a:p>
          <a:p>
            <a:r>
              <a:rPr lang="en-US" sz="3000" b="1">
                <a:solidFill>
                  <a:srgbClr val="FFFFFF"/>
                </a:solidFill>
                <a:latin typeface="Arial" panose="020B0604020202020204" pitchFamily="34" charset="0"/>
              </a:rPr>
              <a:t>They fail because the data has no signal.</a:t>
            </a:r>
            <a:endParaRPr lang="en-PH" sz="3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C861CE0-7831-2DFB-4BB0-D49F9BBFCB33}"/>
              </a:ext>
            </a:extLst>
          </p:cNvPr>
          <p:cNvSpPr/>
          <p:nvPr/>
        </p:nvSpPr>
        <p:spPr>
          <a:xfrm>
            <a:off x="731520" y="3017520"/>
            <a:ext cx="3383280" cy="237744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F0B3B2-BF0A-43AF-4578-CBB612A5BAAA}"/>
              </a:ext>
            </a:extLst>
          </p:cNvPr>
          <p:cNvSpPr/>
          <p:nvPr/>
        </p:nvSpPr>
        <p:spPr>
          <a:xfrm>
            <a:off x="731520" y="3017520"/>
            <a:ext cx="3383280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FDB66F-51DE-DB33-ADA4-28A2C375DE95}"/>
              </a:ext>
            </a:extLst>
          </p:cNvPr>
          <p:cNvSpPr txBox="1"/>
          <p:nvPr/>
        </p:nvSpPr>
        <p:spPr>
          <a:xfrm>
            <a:off x="1005840" y="3246120"/>
            <a:ext cx="29260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F08248"/>
                </a:solidFill>
                <a:latin typeface="Arial" panose="020B0604020202020204" pitchFamily="34" charset="0"/>
              </a:rPr>
              <a:t>STATISTICAL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E68363-B9FF-4316-7C6B-3E6AF0EDB4D2}"/>
              </a:ext>
            </a:extLst>
          </p:cNvPr>
          <p:cNvSpPr txBox="1"/>
          <p:nvPr/>
        </p:nvSpPr>
        <p:spPr>
          <a:xfrm>
            <a:off x="1005840" y="3657600"/>
            <a:ext cx="2926080" cy="89255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C8DCFC"/>
                </a:solidFill>
                <a:latin typeface="Arial" panose="020B0604020202020204" pitchFamily="34" charset="0"/>
              </a:rPr>
              <a:t>All t-tests, Chi-square, correlation: p &gt; 0.05</a:t>
            </a:r>
          </a:p>
          <a:p>
            <a:r>
              <a:rPr lang="en-US" sz="1300">
                <a:solidFill>
                  <a:srgbClr val="C8DCFC"/>
                </a:solidFill>
                <a:latin typeface="Arial" panose="020B0604020202020204" pitchFamily="34" charset="0"/>
              </a:rPr>
              <a:t>Cohen's d &lt; 0.03 everywhere</a:t>
            </a:r>
          </a:p>
          <a:p>
            <a:r>
              <a:rPr lang="en-US" sz="1300">
                <a:solidFill>
                  <a:srgbClr val="C8DCFC"/>
                </a:solidFill>
                <a:latin typeface="Arial" panose="020B0604020202020204" pitchFamily="34" charset="0"/>
              </a:rPr>
              <a:t>Even engineered features: |r| &lt; 0.01</a:t>
            </a:r>
            <a:endParaRPr lang="en-PH" sz="130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DFE0D95-7C04-8546-4685-0DF2331922AA}"/>
              </a:ext>
            </a:extLst>
          </p:cNvPr>
          <p:cNvSpPr/>
          <p:nvPr/>
        </p:nvSpPr>
        <p:spPr>
          <a:xfrm>
            <a:off x="4389120" y="3017520"/>
            <a:ext cx="3383280" cy="237744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D0F3B2-D5CC-A480-1AD9-C94FDB9B6670}"/>
              </a:ext>
            </a:extLst>
          </p:cNvPr>
          <p:cNvSpPr/>
          <p:nvPr/>
        </p:nvSpPr>
        <p:spPr>
          <a:xfrm>
            <a:off x="4389120" y="3017520"/>
            <a:ext cx="3383280" cy="54864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64B7B0-9771-3C62-8E9F-F8AB9991F629}"/>
              </a:ext>
            </a:extLst>
          </p:cNvPr>
          <p:cNvSpPr txBox="1"/>
          <p:nvPr/>
        </p:nvSpPr>
        <p:spPr>
          <a:xfrm>
            <a:off x="4663440" y="3246120"/>
            <a:ext cx="29260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208090"/>
                </a:solidFill>
                <a:latin typeface="Arial" panose="020B0604020202020204" pitchFamily="34" charset="0"/>
              </a:rPr>
              <a:t>EDA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9256A7-5C98-F45B-F08F-A9BA5139B06C}"/>
              </a:ext>
            </a:extLst>
          </p:cNvPr>
          <p:cNvSpPr txBox="1"/>
          <p:nvPr/>
        </p:nvSpPr>
        <p:spPr>
          <a:xfrm>
            <a:off x="4663440" y="3657600"/>
            <a:ext cx="2926080" cy="89255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C8DCFC"/>
                </a:solidFill>
                <a:latin typeface="Arial" panose="020B0604020202020204" pitchFamily="34" charset="0"/>
              </a:rPr>
              <a:t>Perfect overlap in all distributions</a:t>
            </a:r>
          </a:p>
          <a:p>
            <a:r>
              <a:rPr lang="en-US" sz="1300">
                <a:solidFill>
                  <a:srgbClr val="C8DCFC"/>
                </a:solidFill>
                <a:latin typeface="Arial" panose="020B0604020202020204" pitchFamily="34" charset="0"/>
              </a:rPr>
              <a:t>All income quintiles: ~4.96%</a:t>
            </a:r>
          </a:p>
          <a:p>
            <a:r>
              <a:rPr lang="en-US" sz="1300">
                <a:solidFill>
                  <a:srgbClr val="C8DCFC"/>
                </a:solidFill>
                <a:latin typeface="Arial" panose="020B0604020202020204" pitchFamily="34" charset="0"/>
              </a:rPr>
              <a:t>All age bands: ~4.96%</a:t>
            </a:r>
          </a:p>
          <a:p>
            <a:r>
              <a:rPr lang="en-US" sz="1300">
                <a:solidFill>
                  <a:srgbClr val="C8DCFC"/>
                </a:solidFill>
                <a:latin typeface="Arial" panose="020B0604020202020204" pitchFamily="34" charset="0"/>
              </a:rPr>
              <a:t>0 high-risk countries</a:t>
            </a:r>
            <a:endParaRPr lang="en-PH" sz="130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D16D278-3B32-9F71-57EF-48E34C244893}"/>
              </a:ext>
            </a:extLst>
          </p:cNvPr>
          <p:cNvSpPr/>
          <p:nvPr/>
        </p:nvSpPr>
        <p:spPr>
          <a:xfrm>
            <a:off x="8046720" y="3017520"/>
            <a:ext cx="3383280" cy="237744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764FB10-60C6-E057-4C22-580F13B337F0}"/>
              </a:ext>
            </a:extLst>
          </p:cNvPr>
          <p:cNvSpPr/>
          <p:nvPr/>
        </p:nvSpPr>
        <p:spPr>
          <a:xfrm>
            <a:off x="8046720" y="3017520"/>
            <a:ext cx="3383280" cy="54864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21851D-3885-BC7E-D70B-912394526C3F}"/>
              </a:ext>
            </a:extLst>
          </p:cNvPr>
          <p:cNvSpPr txBox="1"/>
          <p:nvPr/>
        </p:nvSpPr>
        <p:spPr>
          <a:xfrm>
            <a:off x="8321040" y="3246120"/>
            <a:ext cx="29260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E84747"/>
                </a:solidFill>
                <a:latin typeface="Arial" panose="020B0604020202020204" pitchFamily="34" charset="0"/>
              </a:rPr>
              <a:t>MODELING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5426D5-1495-B0D9-82C9-7AAFB4719221}"/>
              </a:ext>
            </a:extLst>
          </p:cNvPr>
          <p:cNvSpPr txBox="1"/>
          <p:nvPr/>
        </p:nvSpPr>
        <p:spPr>
          <a:xfrm>
            <a:off x="8321040" y="3657600"/>
            <a:ext cx="2926080" cy="89255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C8DCFC"/>
                </a:solidFill>
                <a:latin typeface="Arial" panose="020B0604020202020204" pitchFamily="34" charset="0"/>
              </a:rPr>
              <a:t>LR, EBM, XGBoost: PR-AUC ≈ 0.05</a:t>
            </a:r>
          </a:p>
          <a:p>
            <a:r>
              <a:rPr lang="en-PH" sz="1300">
                <a:solidFill>
                  <a:srgbClr val="C8DCFC"/>
                </a:solidFill>
                <a:latin typeface="Arial" panose="020B0604020202020204" pitchFamily="34" charset="0"/>
              </a:rPr>
              <a:t>Decision Tree: AUC = 0.503</a:t>
            </a:r>
          </a:p>
          <a:p>
            <a:r>
              <a:rPr lang="en-PH" sz="1300">
                <a:solidFill>
                  <a:srgbClr val="C8DCFC"/>
                </a:solidFill>
                <a:latin typeface="Arial" panose="020B0604020202020204" pitchFamily="34" charset="0"/>
              </a:rPr>
              <a:t>Sec 3 XGBoost: AUC = 0.499</a:t>
            </a:r>
          </a:p>
          <a:p>
            <a:r>
              <a:rPr lang="en-PH" sz="1300">
                <a:solidFill>
                  <a:srgbClr val="C8DCFC"/>
                </a:solidFill>
                <a:latin typeface="Arial" panose="020B0604020202020204" pitchFamily="34" charset="0"/>
              </a:rPr>
              <a:t>Tuned XGBoost: AUC = 0.502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E3850F7-18D4-4701-7160-EB022670A169}"/>
              </a:ext>
            </a:extLst>
          </p:cNvPr>
          <p:cNvSpPr/>
          <p:nvPr/>
        </p:nvSpPr>
        <p:spPr>
          <a:xfrm>
            <a:off x="731520" y="5669280"/>
            <a:ext cx="10698479" cy="82296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09DAD09-5A5D-B881-1214-2C99D428E0D0}"/>
              </a:ext>
            </a:extLst>
          </p:cNvPr>
          <p:cNvSpPr txBox="1"/>
          <p:nvPr/>
        </p:nvSpPr>
        <p:spPr>
          <a:xfrm>
            <a:off x="1097280" y="5779008"/>
            <a:ext cx="10058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500" dirty="0">
                <a:solidFill>
                  <a:srgbClr val="E8B839"/>
                </a:solidFill>
                <a:latin typeface="Arial" panose="020B0604020202020204" pitchFamily="34" charset="0"/>
              </a:rPr>
              <a:t>We need more and better data. The production pipeline is built and ready to ingest new features at scale.</a:t>
            </a:r>
            <a:endParaRPr lang="en-PH" sz="1500" dirty="0">
              <a:solidFill>
                <a:srgbClr val="E8B83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00157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3DA17B-6549-6A46-D98E-27566B01CA5F}"/>
              </a:ext>
            </a:extLst>
          </p:cNvPr>
          <p:cNvSpPr txBox="1"/>
          <p:nvPr/>
        </p:nvSpPr>
        <p:spPr>
          <a:xfrm>
            <a:off x="731520" y="1371600"/>
            <a:ext cx="4572000" cy="15696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9600" b="1">
                <a:solidFill>
                  <a:srgbClr val="F08248"/>
                </a:solidFill>
                <a:latin typeface="Arial" panose="020B0604020202020204" pitchFamily="34" charset="0"/>
              </a:rPr>
              <a:t>06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C19D4F-1695-F7B3-79FD-FED9A3D8A6FB}"/>
              </a:ext>
            </a:extLst>
          </p:cNvPr>
          <p:cNvSpPr/>
          <p:nvPr/>
        </p:nvSpPr>
        <p:spPr>
          <a:xfrm>
            <a:off x="731520" y="2743200"/>
            <a:ext cx="2743200" cy="36576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88EE8E-7D8A-3613-5711-EBD8139EA90C}"/>
              </a:ext>
            </a:extLst>
          </p:cNvPr>
          <p:cNvSpPr txBox="1"/>
          <p:nvPr/>
        </p:nvSpPr>
        <p:spPr>
          <a:xfrm>
            <a:off x="731520" y="3017520"/>
            <a:ext cx="914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3600" b="1" dirty="0">
                <a:solidFill>
                  <a:srgbClr val="FFFFFF"/>
                </a:solidFill>
                <a:latin typeface="Arial" panose="020B0604020202020204" pitchFamily="34" charset="0"/>
              </a:rPr>
              <a:t>Production Pipeline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4EEF87-9E83-B429-B0FE-B04E2792565E}"/>
              </a:ext>
            </a:extLst>
          </p:cNvPr>
          <p:cNvSpPr txBox="1"/>
          <p:nvPr/>
        </p:nvSpPr>
        <p:spPr>
          <a:xfrm>
            <a:off x="731520" y="3840480"/>
            <a:ext cx="73152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>
                <a:solidFill>
                  <a:srgbClr val="C8DCFC"/>
                </a:solidFill>
                <a:latin typeface="Arial" panose="020B0604020202020204" pitchFamily="34" charset="0"/>
              </a:rPr>
              <a:t>FastAPI  |  PSI Drift Monitoring  |  Rule-Based Recommender  |  Docker</a:t>
            </a:r>
          </a:p>
        </p:txBody>
      </p:sp>
    </p:spTree>
    <p:extLst>
      <p:ext uri="{BB962C8B-B14F-4D97-AF65-F5344CB8AC3E}">
        <p14:creationId xmlns:p14="http://schemas.microsoft.com/office/powerpoint/2010/main" val="25177759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B03E017-8D81-511D-325F-0E6C7F5CE5C0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E86F-D5AA-C73E-53AE-DCA068C19799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 dirty="0">
                <a:solidFill>
                  <a:srgbClr val="1A2A3D"/>
                </a:solidFill>
                <a:latin typeface="Arial" panose="020B0604020202020204" pitchFamily="34" charset="0"/>
              </a:rPr>
              <a:t>6.1  Prediction API  (Endpoints)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721DC9-A1DA-794A-BD44-28B7AF110729}"/>
              </a:ext>
            </a:extLst>
          </p:cNvPr>
          <p:cNvSpPr txBox="1"/>
          <p:nvPr/>
        </p:nvSpPr>
        <p:spPr>
          <a:xfrm>
            <a:off x="731520" y="86868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9E9E9E"/>
                </a:solidFill>
                <a:latin typeface="Arial" panose="020B0604020202020204" pitchFamily="34" charset="0"/>
              </a:rPr>
              <a:t>FastAPI + Pydantic  |  Model loaded once at startup via @asynccontextmanager</a:t>
            </a:r>
            <a:endParaRPr lang="en-PH" sz="14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B097917-1D93-9B34-879D-506ACD74C53A}"/>
              </a:ext>
            </a:extLst>
          </p:cNvPr>
          <p:cNvSpPr/>
          <p:nvPr/>
        </p:nvSpPr>
        <p:spPr>
          <a:xfrm>
            <a:off x="731520" y="1463040"/>
            <a:ext cx="521208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D44AF4-BDC7-19CF-54D6-D8F7C1C8B73E}"/>
              </a:ext>
            </a:extLst>
          </p:cNvPr>
          <p:cNvSpPr/>
          <p:nvPr/>
        </p:nvSpPr>
        <p:spPr>
          <a:xfrm>
            <a:off x="731520" y="1463040"/>
            <a:ext cx="5212080" cy="64008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1BE043-A459-461F-8345-B1C6F9A823C1}"/>
              </a:ext>
            </a:extLst>
          </p:cNvPr>
          <p:cNvSpPr txBox="1"/>
          <p:nvPr/>
        </p:nvSpPr>
        <p:spPr>
          <a:xfrm>
            <a:off x="1005840" y="169164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b="1">
                <a:solidFill>
                  <a:srgbClr val="F08248"/>
                </a:solidFill>
                <a:latin typeface="Arial" panose="020B0604020202020204" pitchFamily="34" charset="0"/>
              </a:rPr>
              <a:t>/predict/single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C745C9-19FF-5555-53E1-CC37D3334382}"/>
              </a:ext>
            </a:extLst>
          </p:cNvPr>
          <p:cNvSpPr txBox="1"/>
          <p:nvPr/>
        </p:nvSpPr>
        <p:spPr>
          <a:xfrm>
            <a:off x="1005840" y="2103120"/>
            <a:ext cx="466344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Input: JSON  |  11 client fields  |  Pydantic-validated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CA8F64-217D-3B45-0F9F-E83EF49E6A2F}"/>
              </a:ext>
            </a:extLst>
          </p:cNvPr>
          <p:cNvSpPr txBox="1"/>
          <p:nvPr/>
        </p:nvSpPr>
        <p:spPr>
          <a:xfrm>
            <a:off x="1005840" y="2514600"/>
            <a:ext cx="4663440" cy="15696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4B4B4B"/>
                </a:solidFill>
                <a:latin typeface="Arial" panose="020B0604020202020204" pitchFamily="34" charset="0"/>
              </a:rPr>
              <a:t>attrition_probability: 0.73</a:t>
            </a:r>
          </a:p>
          <a:p>
            <a:r>
              <a:rPr lang="en-PH" sz="1200">
                <a:solidFill>
                  <a:srgbClr val="4B4B4B"/>
                </a:solidFill>
                <a:latin typeface="Arial" panose="020B0604020202020204" pitchFamily="34" charset="0"/>
              </a:rPr>
              <a:t>attrition_flag: 1</a:t>
            </a:r>
          </a:p>
          <a:p>
            <a:r>
              <a:rPr lang="en-PH" sz="1200">
                <a:solidFill>
                  <a:srgbClr val="4B4B4B"/>
                </a:solidFill>
                <a:latin typeface="Arial" panose="020B0604020202020204" pitchFamily="34" charset="0"/>
              </a:rPr>
              <a:t>attrition_risk_tier: "High"</a:t>
            </a:r>
          </a:p>
          <a:p>
            <a:r>
              <a:rPr lang="en-PH" sz="1200">
                <a:solidFill>
                  <a:srgbClr val="4B4B4B"/>
                </a:solidFill>
                <a:latin typeface="Arial" panose="020B0604020202020204" pitchFamily="34" charset="0"/>
              </a:rPr>
              <a:t>top_drivers: { Credit_Utilization: -0.42, ... }</a:t>
            </a:r>
          </a:p>
          <a:p>
            <a:r>
              <a:rPr lang="en-PH" sz="1200">
                <a:solidFill>
                  <a:srgbClr val="4B4B4B"/>
                </a:solidFill>
                <a:latin typeface="Arial" panose="020B0604020202020204" pitchFamily="34" charset="0"/>
              </a:rPr>
              <a:t>recommended_products: [</a:t>
            </a:r>
          </a:p>
          <a:p>
            <a:r>
              <a:rPr lang="en-PH" sz="1200">
                <a:solidFill>
                  <a:srgbClr val="4B4B4B"/>
                </a:solidFill>
                <a:latin typeface="Arial" panose="020B0604020202020204" pitchFamily="34" charset="0"/>
              </a:rPr>
              <a:t>  { product: "Rewards Upgrade",</a:t>
            </a:r>
          </a:p>
          <a:p>
            <a:r>
              <a:rPr lang="en-PH" sz="1200">
                <a:solidFill>
                  <a:srgbClr val="4B4B4B"/>
                </a:solidFill>
                <a:latin typeface="Arial" panose="020B0604020202020204" pitchFamily="34" charset="0"/>
              </a:rPr>
              <a:t>    reason: "High churn risk" }</a:t>
            </a:r>
          </a:p>
          <a:p>
            <a:r>
              <a:rPr lang="en-PH" sz="1200">
                <a:solidFill>
                  <a:srgbClr val="4B4B4B"/>
                </a:solidFill>
                <a:latin typeface="Arial" panose="020B0604020202020204" pitchFamily="34" charset="0"/>
              </a:rPr>
              <a:t>]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E4B617A-C388-105D-0233-0B2571990E6A}"/>
              </a:ext>
            </a:extLst>
          </p:cNvPr>
          <p:cNvSpPr/>
          <p:nvPr/>
        </p:nvSpPr>
        <p:spPr>
          <a:xfrm>
            <a:off x="6217920" y="1463040"/>
            <a:ext cx="521208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E0075B-D086-F08D-8590-9B1082DAFD7B}"/>
              </a:ext>
            </a:extLst>
          </p:cNvPr>
          <p:cNvSpPr/>
          <p:nvPr/>
        </p:nvSpPr>
        <p:spPr>
          <a:xfrm>
            <a:off x="6217920" y="1463040"/>
            <a:ext cx="5212080" cy="64008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9DE6DF-F8B0-2B5D-DC07-A22821826280}"/>
              </a:ext>
            </a:extLst>
          </p:cNvPr>
          <p:cNvSpPr txBox="1"/>
          <p:nvPr/>
        </p:nvSpPr>
        <p:spPr>
          <a:xfrm>
            <a:off x="6492240" y="169164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b="1">
                <a:solidFill>
                  <a:srgbClr val="208090"/>
                </a:solidFill>
                <a:latin typeface="Arial" panose="020B0604020202020204" pitchFamily="34" charset="0"/>
              </a:rPr>
              <a:t>/predict/batch/upload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A025DC-A789-BE4C-5786-3DDC9B1F0CB4}"/>
              </a:ext>
            </a:extLst>
          </p:cNvPr>
          <p:cNvSpPr txBox="1"/>
          <p:nvPr/>
        </p:nvSpPr>
        <p:spPr>
          <a:xfrm>
            <a:off x="6492240" y="2103120"/>
            <a:ext cx="466344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Input: CSV upload  |  UploadFile  |  Returns JSON array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E997D7-CEF0-E1E8-2BC8-24674F4966F8}"/>
              </a:ext>
            </a:extLst>
          </p:cNvPr>
          <p:cNvSpPr txBox="1"/>
          <p:nvPr/>
        </p:nvSpPr>
        <p:spPr>
          <a:xfrm>
            <a:off x="6492240" y="2514600"/>
            <a:ext cx="4663440" cy="138499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4B4B4B"/>
                </a:solidFill>
                <a:latin typeface="Arial" panose="020B0604020202020204" pitchFamily="34" charset="0"/>
              </a:rPr>
              <a:t>Reads CSV → Pandas DataFrame</a:t>
            </a:r>
          </a:p>
          <a:p>
            <a:r>
              <a:rPr lang="en-PH" sz="1200">
                <a:solidFill>
                  <a:srgbClr val="4B4B4B"/>
                </a:solidFill>
                <a:latin typeface="Arial" panose="020B0604020202020204" pitchFamily="34" charset="0"/>
              </a:rPr>
              <a:t>Validates all rows via schema</a:t>
            </a:r>
          </a:p>
          <a:p>
            <a:r>
              <a:rPr lang="en-PH" sz="1200">
                <a:solidFill>
                  <a:srgbClr val="4B4B4B"/>
                </a:solidFill>
                <a:latin typeface="Arial" panose="020B0604020202020204" pitchFamily="34" charset="0"/>
              </a:rPr>
              <a:t>Runs pipeline.predict_proba()</a:t>
            </a:r>
          </a:p>
          <a:p>
            <a:r>
              <a:rPr lang="en-PH" sz="1200">
                <a:solidFill>
                  <a:srgbClr val="4B4B4B"/>
                </a:solidFill>
                <a:latin typeface="Arial" panose="020B0604020202020204" pitchFamily="34" charset="0"/>
              </a:rPr>
              <a:t>Applies recommender per row</a:t>
            </a:r>
          </a:p>
          <a:p>
            <a:r>
              <a:rPr lang="en-PH" sz="1200">
                <a:solidFill>
                  <a:srgbClr val="4B4B4B"/>
                </a:solidFill>
                <a:latin typeface="Arial" panose="020B0604020202020204" pitchFamily="34" charset="0"/>
              </a:rPr>
              <a:t>Returns full JSON array</a:t>
            </a:r>
          </a:p>
          <a:p>
            <a:r>
              <a:rPr lang="en-PH" sz="1200">
                <a:solidFill>
                  <a:srgbClr val="4B4B4B"/>
                </a:solidFill>
                <a:latin typeface="Arial" panose="020B0604020202020204" pitchFamily="34" charset="0"/>
              </a:rPr>
              <a:t>Logs all predictions to</a:t>
            </a:r>
          </a:p>
          <a:p>
            <a:r>
              <a:rPr lang="en-PH" sz="1200">
                <a:solidFill>
                  <a:srgbClr val="4B4B4B"/>
                </a:solidFill>
                <a:latin typeface="Arial" panose="020B0604020202020204" pitchFamily="34" charset="0"/>
              </a:rPr>
              <a:t>logs/predictions.csv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0629B07-7B32-2076-5CC3-E06F2BCEFFDD}"/>
              </a:ext>
            </a:extLst>
          </p:cNvPr>
          <p:cNvSpPr/>
          <p:nvPr/>
        </p:nvSpPr>
        <p:spPr>
          <a:xfrm>
            <a:off x="731520" y="5486400"/>
            <a:ext cx="10698479" cy="685800"/>
          </a:xfrm>
          <a:prstGeom prst="roundRect">
            <a:avLst>
              <a:gd name="adj" fmla="val 6000"/>
            </a:avLst>
          </a:prstGeom>
          <a:solidFill>
            <a:srgbClr val="1A2A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AB9D9D-967E-C394-CC0C-D3F233E8A7A4}"/>
              </a:ext>
            </a:extLst>
          </p:cNvPr>
          <p:cNvSpPr txBox="1"/>
          <p:nvPr/>
        </p:nvSpPr>
        <p:spPr>
          <a:xfrm>
            <a:off x="1097280" y="5577840"/>
            <a:ext cx="10058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>
                <a:solidFill>
                  <a:srgbClr val="C8DCFC"/>
                </a:solidFill>
                <a:latin typeface="Arial" panose="020B0604020202020204" pitchFamily="34" charset="0"/>
              </a:rPr>
              <a:t>Invalid input on any field returns HTTP 422 with the exact missing/malformed field  —  zero custom validation code required.</a:t>
            </a:r>
            <a:endParaRPr lang="en-PH" sz="130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26911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2B4455-F32D-2679-8397-996ADB8ED823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85954A-6D90-BF43-D935-FAB443AF2F7F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 dirty="0">
                <a:solidFill>
                  <a:srgbClr val="1A2A3D"/>
                </a:solidFill>
                <a:latin typeface="Arial" panose="020B0604020202020204" pitchFamily="34" charset="0"/>
              </a:rPr>
              <a:t>6.2  Data Drift Monitoring (PSI)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923742-C3EB-EE8B-A445-27638EB82048}"/>
              </a:ext>
            </a:extLst>
          </p:cNvPr>
          <p:cNvSpPr txBox="1"/>
          <p:nvPr/>
        </p:nvSpPr>
        <p:spPr>
          <a:xfrm>
            <a:off x="731520" y="86868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>
                <a:solidFill>
                  <a:srgbClr val="9E9E9E"/>
                </a:solidFill>
                <a:latin typeface="Arial" panose="020B0604020202020204" pitchFamily="34" charset="0"/>
              </a:rPr>
              <a:t>Population Stability Index  |  SR 11-7 banking standard  |  Run weekly via scripts/monitor_drift.py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4761C9D-9988-7ADB-F494-327F75DA2C16}"/>
              </a:ext>
            </a:extLst>
          </p:cNvPr>
          <p:cNvSpPr/>
          <p:nvPr/>
        </p:nvSpPr>
        <p:spPr>
          <a:xfrm>
            <a:off x="731520" y="1463040"/>
            <a:ext cx="347472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B3AA20-6DC5-F590-3D51-4A3822F3204F}"/>
              </a:ext>
            </a:extLst>
          </p:cNvPr>
          <p:cNvSpPr/>
          <p:nvPr/>
        </p:nvSpPr>
        <p:spPr>
          <a:xfrm>
            <a:off x="731520" y="1463040"/>
            <a:ext cx="3474720" cy="64008"/>
          </a:xfrm>
          <a:prstGeom prst="rect">
            <a:avLst/>
          </a:prstGeom>
          <a:solidFill>
            <a:srgbClr val="59AA6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BBA46D-FB58-4CC0-CB34-DDDBB0EB4009}"/>
              </a:ext>
            </a:extLst>
          </p:cNvPr>
          <p:cNvSpPr txBox="1"/>
          <p:nvPr/>
        </p:nvSpPr>
        <p:spPr>
          <a:xfrm>
            <a:off x="1005840" y="1691640"/>
            <a:ext cx="292608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600" b="1">
                <a:solidFill>
                  <a:srgbClr val="1A2A3D"/>
                </a:solidFill>
                <a:latin typeface="Arial" panose="020B0604020202020204" pitchFamily="34" charset="0"/>
              </a:rPr>
              <a:t>PSI &lt; 0.10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6D9C7C-0633-DB6C-FD77-6DB62A0DFFBB}"/>
              </a:ext>
            </a:extLst>
          </p:cNvPr>
          <p:cNvSpPr txBox="1"/>
          <p:nvPr/>
        </p:nvSpPr>
        <p:spPr>
          <a:xfrm>
            <a:off x="1005840" y="2103120"/>
            <a:ext cx="292608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200" b="1">
                <a:solidFill>
                  <a:srgbClr val="59AA6D"/>
                </a:solidFill>
                <a:latin typeface="Arial" panose="020B0604020202020204" pitchFamily="34" charset="0"/>
              </a:rPr>
              <a:t>STABLE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F45D54-5721-859C-D737-7DDD15424AA1}"/>
              </a:ext>
            </a:extLst>
          </p:cNvPr>
          <p:cNvSpPr txBox="1"/>
          <p:nvPr/>
        </p:nvSpPr>
        <p:spPr>
          <a:xfrm>
            <a:off x="1005840" y="2606040"/>
            <a:ext cx="29260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No action needed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49128A2-685A-DB1E-F532-36C643E751E8}"/>
              </a:ext>
            </a:extLst>
          </p:cNvPr>
          <p:cNvSpPr/>
          <p:nvPr/>
        </p:nvSpPr>
        <p:spPr>
          <a:xfrm>
            <a:off x="4434840" y="1463040"/>
            <a:ext cx="347472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91C226-E5E7-297F-8D54-6A94F2119A84}"/>
              </a:ext>
            </a:extLst>
          </p:cNvPr>
          <p:cNvSpPr/>
          <p:nvPr/>
        </p:nvSpPr>
        <p:spPr>
          <a:xfrm>
            <a:off x="4434840" y="1463040"/>
            <a:ext cx="3474720" cy="64008"/>
          </a:xfrm>
          <a:prstGeom prst="rect">
            <a:avLst/>
          </a:prstGeom>
          <a:solidFill>
            <a:srgbClr val="E8B83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B6CDAF-053B-9FB6-DB72-9CA621D3A790}"/>
              </a:ext>
            </a:extLst>
          </p:cNvPr>
          <p:cNvSpPr txBox="1"/>
          <p:nvPr/>
        </p:nvSpPr>
        <p:spPr>
          <a:xfrm>
            <a:off x="4709160" y="1691640"/>
            <a:ext cx="292608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600" b="1">
                <a:solidFill>
                  <a:srgbClr val="1A2A3D"/>
                </a:solidFill>
                <a:latin typeface="Arial" panose="020B0604020202020204" pitchFamily="34" charset="0"/>
              </a:rPr>
              <a:t>PSI &lt; 0.20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9BF448-794A-A551-810A-D813A6FCDA22}"/>
              </a:ext>
            </a:extLst>
          </p:cNvPr>
          <p:cNvSpPr txBox="1"/>
          <p:nvPr/>
        </p:nvSpPr>
        <p:spPr>
          <a:xfrm>
            <a:off x="4709160" y="2103120"/>
            <a:ext cx="292608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200" b="1">
                <a:solidFill>
                  <a:srgbClr val="E8B839"/>
                </a:solidFill>
                <a:latin typeface="Arial" panose="020B0604020202020204" pitchFamily="34" charset="0"/>
              </a:rPr>
              <a:t>MODERATE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5A7BDB-8C61-2D14-5022-FA756248D3D2}"/>
              </a:ext>
            </a:extLst>
          </p:cNvPr>
          <p:cNvSpPr txBox="1"/>
          <p:nvPr/>
        </p:nvSpPr>
        <p:spPr>
          <a:xfrm>
            <a:off x="4709160" y="2606040"/>
            <a:ext cx="29260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Monitor closely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7F728F6-6E5C-07EB-523B-1764F2C3FE13}"/>
              </a:ext>
            </a:extLst>
          </p:cNvPr>
          <p:cNvSpPr/>
          <p:nvPr/>
        </p:nvSpPr>
        <p:spPr>
          <a:xfrm>
            <a:off x="8138160" y="1463040"/>
            <a:ext cx="347472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431FEB8-4F0A-20F6-1D55-B3D1BAD4583C}"/>
              </a:ext>
            </a:extLst>
          </p:cNvPr>
          <p:cNvSpPr/>
          <p:nvPr/>
        </p:nvSpPr>
        <p:spPr>
          <a:xfrm>
            <a:off x="8138160" y="1463040"/>
            <a:ext cx="3474720" cy="64008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64E1E8-8E47-B5EF-7123-69CEB22439A1}"/>
              </a:ext>
            </a:extLst>
          </p:cNvPr>
          <p:cNvSpPr txBox="1"/>
          <p:nvPr/>
        </p:nvSpPr>
        <p:spPr>
          <a:xfrm>
            <a:off x="8412480" y="1691640"/>
            <a:ext cx="292608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600" b="1">
                <a:solidFill>
                  <a:srgbClr val="1A2A3D"/>
                </a:solidFill>
                <a:latin typeface="Arial" panose="020B0604020202020204" pitchFamily="34" charset="0"/>
              </a:rPr>
              <a:t>PSI ≥ 0.20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060AA0-AEA8-CA85-294F-53AE1E97E141}"/>
              </a:ext>
            </a:extLst>
          </p:cNvPr>
          <p:cNvSpPr txBox="1"/>
          <p:nvPr/>
        </p:nvSpPr>
        <p:spPr>
          <a:xfrm>
            <a:off x="8412480" y="2103120"/>
            <a:ext cx="292608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200" b="1">
                <a:solidFill>
                  <a:srgbClr val="E84747"/>
                </a:solidFill>
                <a:latin typeface="Arial" panose="020B0604020202020204" pitchFamily="34" charset="0"/>
              </a:rPr>
              <a:t>ALERT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839382-5EE0-AB59-4D45-5D9AA892DACE}"/>
              </a:ext>
            </a:extLst>
          </p:cNvPr>
          <p:cNvSpPr txBox="1"/>
          <p:nvPr/>
        </p:nvSpPr>
        <p:spPr>
          <a:xfrm>
            <a:off x="8412480" y="2606040"/>
            <a:ext cx="29260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Investigate &amp; retrain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93C506-4A63-91C7-9A67-F6E6ADC7C43A}"/>
              </a:ext>
            </a:extLst>
          </p:cNvPr>
          <p:cNvSpPr txBox="1"/>
          <p:nvPr/>
        </p:nvSpPr>
        <p:spPr>
          <a:xfrm>
            <a:off x="731520" y="342900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HOW IT WORKS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391982B-59C9-5913-2704-F2B1872C518B}"/>
              </a:ext>
            </a:extLst>
          </p:cNvPr>
          <p:cNvSpPr/>
          <p:nvPr/>
        </p:nvSpPr>
        <p:spPr>
          <a:xfrm>
            <a:off x="731520" y="3840480"/>
            <a:ext cx="10698479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25CB84-1FD7-E77A-0AFB-3F2631702AD2}"/>
              </a:ext>
            </a:extLst>
          </p:cNvPr>
          <p:cNvSpPr txBox="1"/>
          <p:nvPr/>
        </p:nvSpPr>
        <p:spPr>
          <a:xfrm>
            <a:off x="777240" y="3931920"/>
            <a:ext cx="237744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 b="1">
                <a:solidFill>
                  <a:srgbClr val="F08248"/>
                </a:solidFill>
                <a:latin typeface="Arial" panose="020B0604020202020204" pitchFamily="34" charset="0"/>
              </a:rPr>
              <a:t>1.  Serialize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C8E5C71-07E1-023E-96A4-B168EAD6A129}"/>
              </a:ext>
            </a:extLst>
          </p:cNvPr>
          <p:cNvSpPr txBox="1"/>
          <p:nvPr/>
        </p:nvSpPr>
        <p:spPr>
          <a:xfrm>
            <a:off x="777240" y="4206240"/>
            <a:ext cx="246888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100">
                <a:solidFill>
                  <a:srgbClr val="4B4B4B"/>
                </a:solidFill>
                <a:latin typeface="Arial" panose="020B0604020202020204" pitchFamily="34" charset="0"/>
              </a:rPr>
              <a:t>serialize_model.py saves training_profile.json</a:t>
            </a:r>
          </a:p>
          <a:p>
            <a:r>
              <a:rPr lang="en-PH" sz="1100">
                <a:solidFill>
                  <a:srgbClr val="4B4B4B"/>
                </a:solidFill>
                <a:latin typeface="Arial" panose="020B0604020202020204" pitchFamily="34" charset="0"/>
              </a:rPr>
              <a:t>(feature distributions + score dist.)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4AF9C7E-9455-CF28-4D89-FF891F789414}"/>
              </a:ext>
            </a:extLst>
          </p:cNvPr>
          <p:cNvSpPr txBox="1"/>
          <p:nvPr/>
        </p:nvSpPr>
        <p:spPr>
          <a:xfrm>
            <a:off x="3474720" y="3931920"/>
            <a:ext cx="237744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 b="1">
                <a:solidFill>
                  <a:srgbClr val="F08248"/>
                </a:solidFill>
                <a:latin typeface="Arial" panose="020B0604020202020204" pitchFamily="34" charset="0"/>
              </a:rPr>
              <a:t>2.  Log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5EEA126-074C-783B-123B-72098B7D160B}"/>
              </a:ext>
            </a:extLst>
          </p:cNvPr>
          <p:cNvSpPr txBox="1"/>
          <p:nvPr/>
        </p:nvSpPr>
        <p:spPr>
          <a:xfrm>
            <a:off x="3474720" y="4206240"/>
            <a:ext cx="246888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>
                <a:solidFill>
                  <a:srgbClr val="4B4B4B"/>
                </a:solidFill>
                <a:latin typeface="Arial" panose="020B0604020202020204" pitchFamily="34" charset="0"/>
              </a:rPr>
              <a:t>Every API prediction appended to</a:t>
            </a:r>
          </a:p>
          <a:p>
            <a:r>
              <a:rPr lang="en-US" sz="1100">
                <a:solidFill>
                  <a:srgbClr val="4B4B4B"/>
                </a:solidFill>
                <a:latin typeface="Arial" panose="020B0604020202020204" pitchFamily="34" charset="0"/>
              </a:rPr>
              <a:t>logs/predictions.csv with timestamp</a:t>
            </a:r>
            <a:endParaRPr lang="en-PH" sz="11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F465168-18C8-6F34-634F-56ACD144CB1D}"/>
              </a:ext>
            </a:extLst>
          </p:cNvPr>
          <p:cNvSpPr txBox="1"/>
          <p:nvPr/>
        </p:nvSpPr>
        <p:spPr>
          <a:xfrm>
            <a:off x="6172200" y="3931920"/>
            <a:ext cx="237744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 b="1">
                <a:solidFill>
                  <a:srgbClr val="F08248"/>
                </a:solidFill>
                <a:latin typeface="Arial" panose="020B0604020202020204" pitchFamily="34" charset="0"/>
              </a:rPr>
              <a:t>3.  Compare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7667A82-E798-9458-AF24-20A88654625E}"/>
              </a:ext>
            </a:extLst>
          </p:cNvPr>
          <p:cNvSpPr txBox="1"/>
          <p:nvPr/>
        </p:nvSpPr>
        <p:spPr>
          <a:xfrm>
            <a:off x="6172200" y="4206240"/>
            <a:ext cx="246888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>
                <a:solidFill>
                  <a:srgbClr val="4B4B4B"/>
                </a:solidFill>
                <a:latin typeface="Arial" panose="020B0604020202020204" pitchFamily="34" charset="0"/>
              </a:rPr>
              <a:t>monitor_drift.py computes PSI</a:t>
            </a:r>
          </a:p>
          <a:p>
            <a:r>
              <a:rPr lang="en-US" sz="1100">
                <a:solidFill>
                  <a:srgbClr val="4B4B4B"/>
                </a:solidFill>
                <a:latin typeface="Arial" panose="020B0604020202020204" pitchFamily="34" charset="0"/>
              </a:rPr>
              <a:t>per feature vs. training baseline</a:t>
            </a:r>
            <a:endParaRPr lang="en-PH" sz="11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8A7414-029A-3FB0-0EBC-55D56CE3E308}"/>
              </a:ext>
            </a:extLst>
          </p:cNvPr>
          <p:cNvSpPr txBox="1"/>
          <p:nvPr/>
        </p:nvSpPr>
        <p:spPr>
          <a:xfrm>
            <a:off x="8869680" y="3931920"/>
            <a:ext cx="237744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 b="1">
                <a:solidFill>
                  <a:srgbClr val="F08248"/>
                </a:solidFill>
                <a:latin typeface="Arial" panose="020B0604020202020204" pitchFamily="34" charset="0"/>
              </a:rPr>
              <a:t>4.  Alert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0990D1F-8784-0DA8-12FA-8202703EC392}"/>
              </a:ext>
            </a:extLst>
          </p:cNvPr>
          <p:cNvSpPr txBox="1"/>
          <p:nvPr/>
        </p:nvSpPr>
        <p:spPr>
          <a:xfrm>
            <a:off x="8869680" y="4206240"/>
            <a:ext cx="246888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>
                <a:solidFill>
                  <a:srgbClr val="4B4B4B"/>
                </a:solidFill>
                <a:latin typeface="Arial" panose="020B0604020202020204" pitchFamily="34" charset="0"/>
              </a:rPr>
              <a:t>PSI ≥ 0.20 on any feature or score</a:t>
            </a:r>
          </a:p>
          <a:p>
            <a:r>
              <a:rPr lang="en-US" sz="1100">
                <a:solidFill>
                  <a:srgbClr val="4B4B4B"/>
                </a:solidFill>
                <a:latin typeface="Arial" panose="020B0604020202020204" pitchFamily="34" charset="0"/>
              </a:rPr>
              <a:t>triggers retraining flag</a:t>
            </a:r>
            <a:endParaRPr lang="en-PH" sz="11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4CD0E04-987F-A052-E7E1-B354166B557B}"/>
              </a:ext>
            </a:extLst>
          </p:cNvPr>
          <p:cNvSpPr/>
          <p:nvPr/>
        </p:nvSpPr>
        <p:spPr>
          <a:xfrm>
            <a:off x="731520" y="5074920"/>
            <a:ext cx="10698479" cy="594360"/>
          </a:xfrm>
          <a:prstGeom prst="roundRect">
            <a:avLst>
              <a:gd name="adj" fmla="val 6000"/>
            </a:avLst>
          </a:prstGeom>
          <a:solidFill>
            <a:srgbClr val="1A2A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866707-5663-2A84-2ECE-0353E6AA132A}"/>
              </a:ext>
            </a:extLst>
          </p:cNvPr>
          <p:cNvSpPr txBox="1"/>
          <p:nvPr/>
        </p:nvSpPr>
        <p:spPr>
          <a:xfrm>
            <a:off x="1097280" y="5166360"/>
            <a:ext cx="10058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>
                <a:solidFill>
                  <a:srgbClr val="C8DCFC"/>
                </a:solidFill>
                <a:latin typeface="Arial" panose="020B0604020202020204" pitchFamily="34" charset="0"/>
              </a:rPr>
              <a:t>Monitored:  Age  |  Income  |  CreditLimit  |  TotalTransactions  |  TotalSpend  |  Tenure  |  attrition_probability (score drift)</a:t>
            </a:r>
            <a:endParaRPr lang="en-PH" sz="130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80233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D6B2EBF-67C1-EF89-B5B0-9380009EBE32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4C2C05-525A-3003-B7E7-1FF983C00860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>
                <a:solidFill>
                  <a:srgbClr val="1A2A3D"/>
                </a:solidFill>
                <a:latin typeface="Arial" panose="020B0604020202020204" pitchFamily="34" charset="0"/>
              </a:rPr>
              <a:t>6.3  Rule-Based Recommender Engine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7FB003-81BF-521C-165E-78D75B2151F9}"/>
              </a:ext>
            </a:extLst>
          </p:cNvPr>
          <p:cNvSpPr txBox="1"/>
          <p:nvPr/>
        </p:nvSpPr>
        <p:spPr>
          <a:xfrm>
            <a:off x="731520" y="86868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>
                <a:solidFill>
                  <a:srgbClr val="9E9E9E"/>
                </a:solidFill>
                <a:latin typeface="Arial" panose="020B0604020202020204" pitchFamily="34" charset="0"/>
              </a:rPr>
              <a:t>Post-prediction layer  |  api/recommender.py  |  Zero ML  |  Zero retraining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C170263-322F-8420-9DBF-2EA258501089}"/>
              </a:ext>
            </a:extLst>
          </p:cNvPr>
          <p:cNvSpPr/>
          <p:nvPr/>
        </p:nvSpPr>
        <p:spPr>
          <a:xfrm>
            <a:off x="731520" y="1417320"/>
            <a:ext cx="10698479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098201-804D-4DA9-1416-5A233835F4D1}"/>
              </a:ext>
            </a:extLst>
          </p:cNvPr>
          <p:cNvSpPr/>
          <p:nvPr/>
        </p:nvSpPr>
        <p:spPr>
          <a:xfrm>
            <a:off x="731520" y="1417320"/>
            <a:ext cx="64008" cy="621792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86AC46-62E8-38CF-C705-A5E4D2A1F49F}"/>
              </a:ext>
            </a:extLst>
          </p:cNvPr>
          <p:cNvSpPr txBox="1"/>
          <p:nvPr/>
        </p:nvSpPr>
        <p:spPr>
          <a:xfrm>
            <a:off x="1005840" y="1554480"/>
            <a:ext cx="20116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E84747"/>
                </a:solidFill>
                <a:latin typeface="Arial" panose="020B0604020202020204" pitchFamily="34" charset="0"/>
              </a:rPr>
              <a:t>Attrition Risk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7DD147-B380-88A0-54B2-C9493E3838BC}"/>
              </a:ext>
            </a:extLst>
          </p:cNvPr>
          <p:cNvSpPr txBox="1"/>
          <p:nvPr/>
        </p:nvSpPr>
        <p:spPr>
          <a:xfrm>
            <a:off x="3200400" y="1554480"/>
            <a:ext cx="3200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Probability ≥ 0.70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3B6499-9AAD-4A8B-F9C3-DFC30745747B}"/>
              </a:ext>
            </a:extLst>
          </p:cNvPr>
          <p:cNvSpPr txBox="1"/>
          <p:nvPr/>
        </p:nvSpPr>
        <p:spPr>
          <a:xfrm>
            <a:off x="6675120" y="1554480"/>
            <a:ext cx="438912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Rewards Upgrade  |  Retention cashback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F96E4A5-A4C9-E24B-6DD1-1A670E87D69C}"/>
              </a:ext>
            </a:extLst>
          </p:cNvPr>
          <p:cNvSpPr/>
          <p:nvPr/>
        </p:nvSpPr>
        <p:spPr>
          <a:xfrm>
            <a:off x="731520" y="2167128"/>
            <a:ext cx="10698479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EB0F56-31BF-53F4-129C-FAD9CC2D06C6}"/>
              </a:ext>
            </a:extLst>
          </p:cNvPr>
          <p:cNvSpPr/>
          <p:nvPr/>
        </p:nvSpPr>
        <p:spPr>
          <a:xfrm>
            <a:off x="731520" y="2167128"/>
            <a:ext cx="64008" cy="621792"/>
          </a:xfrm>
          <a:prstGeom prst="rect">
            <a:avLst/>
          </a:prstGeom>
          <a:solidFill>
            <a:srgbClr val="E8B83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723551-E409-D18D-5F12-E79744C7EAFD}"/>
              </a:ext>
            </a:extLst>
          </p:cNvPr>
          <p:cNvSpPr txBox="1"/>
          <p:nvPr/>
        </p:nvSpPr>
        <p:spPr>
          <a:xfrm>
            <a:off x="1005840" y="2304288"/>
            <a:ext cx="20116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E8B839"/>
                </a:solidFill>
                <a:latin typeface="Arial" panose="020B0604020202020204" pitchFamily="34" charset="0"/>
              </a:rPr>
              <a:t>Card Upgrade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8BF0C4-3FD2-B5CD-D500-621BF1FAE000}"/>
              </a:ext>
            </a:extLst>
          </p:cNvPr>
          <p:cNvSpPr txBox="1"/>
          <p:nvPr/>
        </p:nvSpPr>
        <p:spPr>
          <a:xfrm>
            <a:off x="3200400" y="2304288"/>
            <a:ext cx="3200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Income ≥ 80K + Blue/Silver card</a:t>
            </a:r>
            <a:endParaRPr lang="en-PH" sz="13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901ACA-3ACF-2392-32D0-4549EA4E310A}"/>
              </a:ext>
            </a:extLst>
          </p:cNvPr>
          <p:cNvSpPr txBox="1"/>
          <p:nvPr/>
        </p:nvSpPr>
        <p:spPr>
          <a:xfrm>
            <a:off x="6675120" y="2304288"/>
            <a:ext cx="438912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UnionBank Gold / Platinum Card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9277226-097A-3FBC-027E-4853153D5730}"/>
              </a:ext>
            </a:extLst>
          </p:cNvPr>
          <p:cNvSpPr/>
          <p:nvPr/>
        </p:nvSpPr>
        <p:spPr>
          <a:xfrm>
            <a:off x="731520" y="2916936"/>
            <a:ext cx="10698479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A27E152-EC69-4224-02FE-8D537E6A8B92}"/>
              </a:ext>
            </a:extLst>
          </p:cNvPr>
          <p:cNvSpPr/>
          <p:nvPr/>
        </p:nvSpPr>
        <p:spPr>
          <a:xfrm>
            <a:off x="731520" y="2916936"/>
            <a:ext cx="64008" cy="621792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977B1B-0AAA-2A9B-686D-90FA09AC44F9}"/>
              </a:ext>
            </a:extLst>
          </p:cNvPr>
          <p:cNvSpPr txBox="1"/>
          <p:nvPr/>
        </p:nvSpPr>
        <p:spPr>
          <a:xfrm>
            <a:off x="1005840" y="3054096"/>
            <a:ext cx="20116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208090"/>
                </a:solidFill>
                <a:latin typeface="Arial" panose="020B0604020202020204" pitchFamily="34" charset="0"/>
              </a:rPr>
              <a:t>Wealth Tier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152DD6-8E9C-CF8A-A39F-95864B48F4C0}"/>
              </a:ext>
            </a:extLst>
          </p:cNvPr>
          <p:cNvSpPr txBox="1"/>
          <p:nvPr/>
        </p:nvSpPr>
        <p:spPr>
          <a:xfrm>
            <a:off x="3200400" y="3054096"/>
            <a:ext cx="3200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Income ≥ 150K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69FEDE-8D67-73ED-04A2-3426E24BFAC6}"/>
              </a:ext>
            </a:extLst>
          </p:cNvPr>
          <p:cNvSpPr txBox="1"/>
          <p:nvPr/>
        </p:nvSpPr>
        <p:spPr>
          <a:xfrm>
            <a:off x="6675120" y="3054096"/>
            <a:ext cx="438912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Wealth Management  |  Priority Banking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7D179A3-FF9C-7386-447D-279E1F9127CE}"/>
              </a:ext>
            </a:extLst>
          </p:cNvPr>
          <p:cNvSpPr/>
          <p:nvPr/>
        </p:nvSpPr>
        <p:spPr>
          <a:xfrm>
            <a:off x="731520" y="3666744"/>
            <a:ext cx="10698479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CCBACA-5D40-D3F0-37D3-E547756D2367}"/>
              </a:ext>
            </a:extLst>
          </p:cNvPr>
          <p:cNvSpPr/>
          <p:nvPr/>
        </p:nvSpPr>
        <p:spPr>
          <a:xfrm>
            <a:off x="731520" y="3666744"/>
            <a:ext cx="64008" cy="621792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6CA049-2887-E6A4-41A6-C8DB1878602E}"/>
              </a:ext>
            </a:extLst>
          </p:cNvPr>
          <p:cNvSpPr txBox="1"/>
          <p:nvPr/>
        </p:nvSpPr>
        <p:spPr>
          <a:xfrm>
            <a:off x="1005840" y="3803904"/>
            <a:ext cx="20116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F08248"/>
                </a:solidFill>
                <a:latin typeface="Arial" panose="020B0604020202020204" pitchFamily="34" charset="0"/>
              </a:rPr>
              <a:t>Loyalty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316054-1676-8772-CDA0-5EBF4A6A32AF}"/>
              </a:ext>
            </a:extLst>
          </p:cNvPr>
          <p:cNvSpPr txBox="1"/>
          <p:nvPr/>
        </p:nvSpPr>
        <p:spPr>
          <a:xfrm>
            <a:off x="3200400" y="3803904"/>
            <a:ext cx="3200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Tenure ≥ 48 months + prob ≥ 0.40</a:t>
            </a:r>
            <a:endParaRPr lang="en-PH" sz="13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D9B879-9A12-0A4E-0498-BA873B821211}"/>
              </a:ext>
            </a:extLst>
          </p:cNvPr>
          <p:cNvSpPr txBox="1"/>
          <p:nvPr/>
        </p:nvSpPr>
        <p:spPr>
          <a:xfrm>
            <a:off x="6675120" y="3803904"/>
            <a:ext cx="438912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Loyalty Cashback  |  Tenure reward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4FCB56E-87C8-6564-17F3-581AF02356E3}"/>
              </a:ext>
            </a:extLst>
          </p:cNvPr>
          <p:cNvSpPr/>
          <p:nvPr/>
        </p:nvSpPr>
        <p:spPr>
          <a:xfrm>
            <a:off x="731520" y="4416552"/>
            <a:ext cx="10698479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C2D38AD-FB02-C039-450B-9F256D65D00F}"/>
              </a:ext>
            </a:extLst>
          </p:cNvPr>
          <p:cNvSpPr/>
          <p:nvPr/>
        </p:nvSpPr>
        <p:spPr>
          <a:xfrm>
            <a:off x="731520" y="4416552"/>
            <a:ext cx="64008" cy="621792"/>
          </a:xfrm>
          <a:prstGeom prst="rect">
            <a:avLst/>
          </a:prstGeom>
          <a:solidFill>
            <a:srgbClr val="16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FD2E4F-05BE-EC4B-FC12-6084A7914144}"/>
              </a:ext>
            </a:extLst>
          </p:cNvPr>
          <p:cNvSpPr txBox="1"/>
          <p:nvPr/>
        </p:nvSpPr>
        <p:spPr>
          <a:xfrm>
            <a:off x="1005840" y="4553712"/>
            <a:ext cx="20116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62761"/>
                </a:solidFill>
                <a:latin typeface="Arial" panose="020B0604020202020204" pitchFamily="34" charset="0"/>
              </a:rPr>
              <a:t>New Client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C15EE9B-FC66-0757-6A3C-931602E5D4E0}"/>
              </a:ext>
            </a:extLst>
          </p:cNvPr>
          <p:cNvSpPr txBox="1"/>
          <p:nvPr/>
        </p:nvSpPr>
        <p:spPr>
          <a:xfrm>
            <a:off x="3200400" y="4553712"/>
            <a:ext cx="3200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Tenure &lt; 12 months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78BB256-CC6E-B9AD-BB4F-2438160A33D9}"/>
              </a:ext>
            </a:extLst>
          </p:cNvPr>
          <p:cNvSpPr txBox="1"/>
          <p:nvPr/>
        </p:nvSpPr>
        <p:spPr>
          <a:xfrm>
            <a:off x="6675120" y="4553712"/>
            <a:ext cx="438912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Digital Onboarding  |  UnionBank Online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D4F01C7-2478-9A59-CD4F-FFD72D9E7E8B}"/>
              </a:ext>
            </a:extLst>
          </p:cNvPr>
          <p:cNvSpPr txBox="1"/>
          <p:nvPr/>
        </p:nvSpPr>
        <p:spPr>
          <a:xfrm>
            <a:off x="1005840" y="1234440"/>
            <a:ext cx="201168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100" b="1">
                <a:solidFill>
                  <a:srgbClr val="9E9E9E"/>
                </a:solidFill>
                <a:latin typeface="Arial" panose="020B0604020202020204" pitchFamily="34" charset="0"/>
              </a:rPr>
              <a:t>Rule Layer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1CF9DE1-316E-AF27-EE49-92178905250E}"/>
              </a:ext>
            </a:extLst>
          </p:cNvPr>
          <p:cNvSpPr txBox="1"/>
          <p:nvPr/>
        </p:nvSpPr>
        <p:spPr>
          <a:xfrm>
            <a:off x="3200400" y="1234440"/>
            <a:ext cx="3200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100" b="1">
                <a:solidFill>
                  <a:srgbClr val="9E9E9E"/>
                </a:solidFill>
                <a:latin typeface="Arial" panose="020B0604020202020204" pitchFamily="34" charset="0"/>
              </a:rPr>
              <a:t>Trigger Condition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A74AFD9-345C-A8F2-7C61-89D55156BE90}"/>
              </a:ext>
            </a:extLst>
          </p:cNvPr>
          <p:cNvSpPr txBox="1"/>
          <p:nvPr/>
        </p:nvSpPr>
        <p:spPr>
          <a:xfrm>
            <a:off x="6675120" y="1234440"/>
            <a:ext cx="438912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100" b="1">
                <a:solidFill>
                  <a:srgbClr val="9E9E9E"/>
                </a:solidFill>
                <a:latin typeface="Arial" panose="020B0604020202020204" pitchFamily="34" charset="0"/>
              </a:rPr>
              <a:t>Recommended Products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F76BEB3-47C5-B15F-8ABB-31D0B583AB45}"/>
              </a:ext>
            </a:extLst>
          </p:cNvPr>
          <p:cNvSpPr/>
          <p:nvPr/>
        </p:nvSpPr>
        <p:spPr>
          <a:xfrm>
            <a:off x="731520" y="5486400"/>
            <a:ext cx="10698479" cy="685800"/>
          </a:xfrm>
          <a:prstGeom prst="roundRect">
            <a:avLst>
              <a:gd name="adj" fmla="val 6000"/>
            </a:avLst>
          </a:prstGeom>
          <a:solidFill>
            <a:srgbClr val="1A2A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9B290DB-B0F6-47BB-D828-C5A1FD1796CA}"/>
              </a:ext>
            </a:extLst>
          </p:cNvPr>
          <p:cNvSpPr txBox="1"/>
          <p:nvPr/>
        </p:nvSpPr>
        <p:spPr>
          <a:xfrm>
            <a:off x="1097280" y="5596128"/>
            <a:ext cx="100584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400" b="1" dirty="0">
                <a:solidFill>
                  <a:srgbClr val="C8DCFC"/>
                </a:solidFill>
                <a:latin typeface="Arial" panose="020B0604020202020204" pitchFamily="34" charset="0"/>
              </a:rPr>
              <a:t>Pipeline ends at probability  -&gt;  recommender reads output + raw features -&gt; New dataset ingestion capable.</a:t>
            </a:r>
            <a:endParaRPr lang="en-PH" sz="1400" b="1" dirty="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74936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7D6F0B-3E84-41B1-550E-06F67C2F9D63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0C86A6-1461-A219-43F9-187471C20855}"/>
              </a:ext>
            </a:extLst>
          </p:cNvPr>
          <p:cNvSpPr txBox="1"/>
          <p:nvPr/>
        </p:nvSpPr>
        <p:spPr>
          <a:xfrm>
            <a:off x="838200" y="3013501"/>
            <a:ext cx="105156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4800" b="1" dirty="0">
                <a:latin typeface="Arial" panose="020B0604020202020204" pitchFamily="34" charset="0"/>
              </a:rPr>
              <a:t>Thank You.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089F56-E613-01F4-861D-00DA567581F7}"/>
              </a:ext>
            </a:extLst>
          </p:cNvPr>
          <p:cNvSpPr/>
          <p:nvPr/>
        </p:nvSpPr>
        <p:spPr>
          <a:xfrm>
            <a:off x="5044440" y="3844498"/>
            <a:ext cx="2103120" cy="36576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58830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AFF1C56-5CF4-6931-A0C8-06FAE506A3C0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CA30B3-BF22-AC9E-38AE-5BB67619C457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 dirty="0">
                <a:solidFill>
                  <a:srgbClr val="1A2A3D"/>
                </a:solidFill>
                <a:latin typeface="Arial" panose="020B0604020202020204" pitchFamily="34" charset="0"/>
              </a:rPr>
              <a:t>Production Pipeline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D54D44-6B31-F903-21B3-4B89B18FCEE6}"/>
              </a:ext>
            </a:extLst>
          </p:cNvPr>
          <p:cNvSpPr txBox="1"/>
          <p:nvPr/>
        </p:nvSpPr>
        <p:spPr>
          <a:xfrm>
            <a:off x="731520" y="86868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9E9E9E"/>
                </a:solidFill>
                <a:latin typeface="Arial" panose="020B0604020202020204" pitchFamily="34" charset="0"/>
              </a:rPr>
              <a:t>Scalable, deployable, explainable — built and ready</a:t>
            </a:r>
            <a:endParaRPr lang="en-PH" sz="14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C3A03F1-9101-F720-16D7-8FDED387B7D0}"/>
              </a:ext>
            </a:extLst>
          </p:cNvPr>
          <p:cNvSpPr/>
          <p:nvPr/>
        </p:nvSpPr>
        <p:spPr>
          <a:xfrm>
            <a:off x="731520" y="1325880"/>
            <a:ext cx="10698479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29E4B5-88D3-2693-BCE5-4E4677CECEC9}"/>
              </a:ext>
            </a:extLst>
          </p:cNvPr>
          <p:cNvSpPr/>
          <p:nvPr/>
        </p:nvSpPr>
        <p:spPr>
          <a:xfrm>
            <a:off x="731520" y="1325880"/>
            <a:ext cx="73152" cy="868680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A3D130-2DD9-5646-8CE7-6E8DA0584B71}"/>
              </a:ext>
            </a:extLst>
          </p:cNvPr>
          <p:cNvSpPr txBox="1"/>
          <p:nvPr/>
        </p:nvSpPr>
        <p:spPr>
          <a:xfrm>
            <a:off x="1051560" y="1463040"/>
            <a:ext cx="54864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200" b="1">
                <a:solidFill>
                  <a:srgbClr val="F08248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328300-2EE7-9264-1214-22BC13C58A9E}"/>
              </a:ext>
            </a:extLst>
          </p:cNvPr>
          <p:cNvSpPr txBox="1"/>
          <p:nvPr/>
        </p:nvSpPr>
        <p:spPr>
          <a:xfrm>
            <a:off x="1828800" y="1399032"/>
            <a:ext cx="3657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1A2A3D"/>
                </a:solidFill>
                <a:latin typeface="Arial" panose="020B0604020202020204" pitchFamily="34" charset="0"/>
              </a:rPr>
              <a:t>Data Ingestion &amp; Validation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DE6D80-6730-303A-C84F-0DB283AA367A}"/>
              </a:ext>
            </a:extLst>
          </p:cNvPr>
          <p:cNvSpPr txBox="1"/>
          <p:nvPr/>
        </p:nvSpPr>
        <p:spPr>
          <a:xfrm>
            <a:off x="1828800" y="1764792"/>
            <a:ext cx="9144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FastAPI + Pydantic schemas. Auto-reject malformed rows with 422 errors.</a:t>
            </a:r>
            <a:endParaRPr lang="en-PH" sz="13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BFE7CD8-68A0-3896-9AFD-65BE49A8CDAD}"/>
              </a:ext>
            </a:extLst>
          </p:cNvPr>
          <p:cNvSpPr/>
          <p:nvPr/>
        </p:nvSpPr>
        <p:spPr>
          <a:xfrm>
            <a:off x="731520" y="2350008"/>
            <a:ext cx="10698479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962323-D6F2-3734-4D10-41F0A592E303}"/>
              </a:ext>
            </a:extLst>
          </p:cNvPr>
          <p:cNvSpPr/>
          <p:nvPr/>
        </p:nvSpPr>
        <p:spPr>
          <a:xfrm>
            <a:off x="731520" y="2350008"/>
            <a:ext cx="73152" cy="868680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D624DB-11C8-654C-4A2B-015269EAD035}"/>
              </a:ext>
            </a:extLst>
          </p:cNvPr>
          <p:cNvSpPr txBox="1"/>
          <p:nvPr/>
        </p:nvSpPr>
        <p:spPr>
          <a:xfrm>
            <a:off x="1051560" y="2487168"/>
            <a:ext cx="54864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200" b="1">
                <a:solidFill>
                  <a:srgbClr val="20809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5910DD-4273-74B9-1DCE-DCA97C2A8E1D}"/>
              </a:ext>
            </a:extLst>
          </p:cNvPr>
          <p:cNvSpPr txBox="1"/>
          <p:nvPr/>
        </p:nvSpPr>
        <p:spPr>
          <a:xfrm>
            <a:off x="1828800" y="2423160"/>
            <a:ext cx="3657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1A2A3D"/>
                </a:solidFill>
                <a:latin typeface="Arial" panose="020B0604020202020204" pitchFamily="34" charset="0"/>
              </a:rPr>
              <a:t>Batch &amp; Single Prediction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2A38ED-42BC-FC6A-6A5D-52E478E50084}"/>
              </a:ext>
            </a:extLst>
          </p:cNvPr>
          <p:cNvSpPr txBox="1"/>
          <p:nvPr/>
        </p:nvSpPr>
        <p:spPr>
          <a:xfrm>
            <a:off x="1828800" y="2788920"/>
            <a:ext cx="9144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/predict/single for real-time  |  /predict/batch with CSV upload for end-of-day runs.</a:t>
            </a:r>
            <a:endParaRPr lang="en-PH" sz="13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F7C9101-159E-E579-9284-980ACE0E20FF}"/>
              </a:ext>
            </a:extLst>
          </p:cNvPr>
          <p:cNvSpPr/>
          <p:nvPr/>
        </p:nvSpPr>
        <p:spPr>
          <a:xfrm>
            <a:off x="731520" y="3374136"/>
            <a:ext cx="10698479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B1B0F45-3731-4CFB-BE2D-887CCC662620}"/>
              </a:ext>
            </a:extLst>
          </p:cNvPr>
          <p:cNvSpPr/>
          <p:nvPr/>
        </p:nvSpPr>
        <p:spPr>
          <a:xfrm>
            <a:off x="731520" y="3374136"/>
            <a:ext cx="73152" cy="868680"/>
          </a:xfrm>
          <a:prstGeom prst="rect">
            <a:avLst/>
          </a:prstGeom>
          <a:solidFill>
            <a:srgbClr val="E8B83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80733D-6441-C028-34B1-5611DD155212}"/>
              </a:ext>
            </a:extLst>
          </p:cNvPr>
          <p:cNvSpPr txBox="1"/>
          <p:nvPr/>
        </p:nvSpPr>
        <p:spPr>
          <a:xfrm>
            <a:off x="1051560" y="3511296"/>
            <a:ext cx="54864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200" b="1">
                <a:solidFill>
                  <a:srgbClr val="E8B839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3078C1-1DBA-D153-3FBE-C9BF773B8D29}"/>
              </a:ext>
            </a:extLst>
          </p:cNvPr>
          <p:cNvSpPr txBox="1"/>
          <p:nvPr/>
        </p:nvSpPr>
        <p:spPr>
          <a:xfrm>
            <a:off x="1828800" y="3447288"/>
            <a:ext cx="3657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1A2A3D"/>
                </a:solidFill>
                <a:latin typeface="Arial" panose="020B0604020202020204" pitchFamily="34" charset="0"/>
              </a:rPr>
              <a:t>Explainability Layer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E77F59-8887-FB22-7DFA-A4F6F7D5D04E}"/>
              </a:ext>
            </a:extLst>
          </p:cNvPr>
          <p:cNvSpPr txBox="1"/>
          <p:nvPr/>
        </p:nvSpPr>
        <p:spPr>
          <a:xfrm>
            <a:off x="1828800" y="3813048"/>
            <a:ext cx="9144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SHAP TreeExplainer for population-level drivers. Per-client attrition probability + top features.</a:t>
            </a:r>
            <a:endParaRPr lang="en-PH" sz="13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53313CA-5C62-2855-AE3D-6EF623C503CF}"/>
              </a:ext>
            </a:extLst>
          </p:cNvPr>
          <p:cNvSpPr/>
          <p:nvPr/>
        </p:nvSpPr>
        <p:spPr>
          <a:xfrm>
            <a:off x="731520" y="4398264"/>
            <a:ext cx="10698479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F762BCD-41BF-867A-9B05-85C13CF45C40}"/>
              </a:ext>
            </a:extLst>
          </p:cNvPr>
          <p:cNvSpPr/>
          <p:nvPr/>
        </p:nvSpPr>
        <p:spPr>
          <a:xfrm>
            <a:off x="731520" y="4398264"/>
            <a:ext cx="73152" cy="868680"/>
          </a:xfrm>
          <a:prstGeom prst="rect">
            <a:avLst/>
          </a:prstGeom>
          <a:solidFill>
            <a:srgbClr val="16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82F2F7-7D9B-7B02-B8B4-06292A95A22D}"/>
              </a:ext>
            </a:extLst>
          </p:cNvPr>
          <p:cNvSpPr txBox="1"/>
          <p:nvPr/>
        </p:nvSpPr>
        <p:spPr>
          <a:xfrm>
            <a:off x="1051560" y="4535424"/>
            <a:ext cx="54864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200" b="1">
                <a:solidFill>
                  <a:srgbClr val="162761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6A7B54-3E8B-66AC-47F8-7362BD2BA287}"/>
              </a:ext>
            </a:extLst>
          </p:cNvPr>
          <p:cNvSpPr txBox="1"/>
          <p:nvPr/>
        </p:nvSpPr>
        <p:spPr>
          <a:xfrm>
            <a:off x="1828800" y="4471416"/>
            <a:ext cx="3657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1A2A3D"/>
                </a:solidFill>
                <a:latin typeface="Arial" panose="020B0604020202020204" pitchFamily="34" charset="0"/>
              </a:rPr>
              <a:t>App Lifecycle &amp; State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7891CFC-B1C0-8B58-DD6C-6A3124D944D6}"/>
              </a:ext>
            </a:extLst>
          </p:cNvPr>
          <p:cNvSpPr txBox="1"/>
          <p:nvPr/>
        </p:nvSpPr>
        <p:spPr>
          <a:xfrm>
            <a:off x="1828800" y="4837176"/>
            <a:ext cx="9144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Model loaded once at startup via @asynccontextmanager. No disk I/O per request.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CEF1406-7023-ECCD-37B6-56465F164410}"/>
              </a:ext>
            </a:extLst>
          </p:cNvPr>
          <p:cNvSpPr/>
          <p:nvPr/>
        </p:nvSpPr>
        <p:spPr>
          <a:xfrm>
            <a:off x="731520" y="5422392"/>
            <a:ext cx="10698479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403ADC5-077B-5A4F-63AB-91B270E13F06}"/>
              </a:ext>
            </a:extLst>
          </p:cNvPr>
          <p:cNvSpPr/>
          <p:nvPr/>
        </p:nvSpPr>
        <p:spPr>
          <a:xfrm>
            <a:off x="731520" y="5422392"/>
            <a:ext cx="73152" cy="868680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C98B2EB-D563-2C4D-5BDB-A47EE6C29F19}"/>
              </a:ext>
            </a:extLst>
          </p:cNvPr>
          <p:cNvSpPr txBox="1"/>
          <p:nvPr/>
        </p:nvSpPr>
        <p:spPr>
          <a:xfrm>
            <a:off x="1051560" y="5559552"/>
            <a:ext cx="54864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200" b="1">
                <a:solidFill>
                  <a:srgbClr val="E84747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7D938E6-9721-842F-C1B0-13D6BC64721B}"/>
              </a:ext>
            </a:extLst>
          </p:cNvPr>
          <p:cNvSpPr txBox="1"/>
          <p:nvPr/>
        </p:nvSpPr>
        <p:spPr>
          <a:xfrm>
            <a:off x="1828800" y="5495544"/>
            <a:ext cx="3657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1A2A3D"/>
                </a:solidFill>
                <a:latin typeface="Arial" panose="020B0604020202020204" pitchFamily="34" charset="0"/>
              </a:rPr>
              <a:t>Containerized Deployment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24E774-9559-3229-76FB-C6FBC4D4FCC6}"/>
              </a:ext>
            </a:extLst>
          </p:cNvPr>
          <p:cNvSpPr txBox="1"/>
          <p:nvPr/>
        </p:nvSpPr>
        <p:spPr>
          <a:xfrm>
            <a:off x="1828800" y="5861304"/>
            <a:ext cx="9144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Docker (python:3.10-slim) + uvicorn. Identical: local, staging, production.</a:t>
            </a:r>
            <a:endParaRPr lang="en-PH" sz="13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058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095894-3AFC-92CA-1161-5734BB3CA727}"/>
              </a:ext>
            </a:extLst>
          </p:cNvPr>
          <p:cNvSpPr txBox="1"/>
          <p:nvPr/>
        </p:nvSpPr>
        <p:spPr>
          <a:xfrm>
            <a:off x="731520" y="1371600"/>
            <a:ext cx="4572000" cy="15696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9600" b="1">
                <a:solidFill>
                  <a:srgbClr val="F08248"/>
                </a:solidFill>
                <a:latin typeface="Arial" panose="020B0604020202020204" pitchFamily="34" charset="0"/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C1A402-5F4D-83EF-0464-0ACE75B5884C}"/>
              </a:ext>
            </a:extLst>
          </p:cNvPr>
          <p:cNvSpPr/>
          <p:nvPr/>
        </p:nvSpPr>
        <p:spPr>
          <a:xfrm>
            <a:off x="731520" y="2743200"/>
            <a:ext cx="2743200" cy="36576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8298EA-9BD4-431C-BE56-2AA92A97F462}"/>
              </a:ext>
            </a:extLst>
          </p:cNvPr>
          <p:cNvSpPr txBox="1"/>
          <p:nvPr/>
        </p:nvSpPr>
        <p:spPr>
          <a:xfrm>
            <a:off x="731520" y="3017520"/>
            <a:ext cx="914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3600" b="1">
                <a:solidFill>
                  <a:srgbClr val="FFFFFF"/>
                </a:solidFill>
                <a:latin typeface="Arial" panose="020B0604020202020204" pitchFamily="34" charset="0"/>
              </a:rPr>
              <a:t>Model-Based Signal Validation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44C2C2-58AE-8718-5CCC-DAE3D2B4DC71}"/>
              </a:ext>
            </a:extLst>
          </p:cNvPr>
          <p:cNvSpPr txBox="1"/>
          <p:nvPr/>
        </p:nvSpPr>
        <p:spPr>
          <a:xfrm>
            <a:off x="731520" y="2971353"/>
            <a:ext cx="731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dirty="0">
                <a:latin typeface="Arial" panose="020B0604020202020204" pitchFamily="34" charset="0"/>
              </a:rPr>
              <a:t>Nonlinear models as confirmation of earlier EDA findings.</a:t>
            </a:r>
            <a:endParaRPr lang="en-PH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0802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268643-9074-C7B9-6923-91FBF070DE4F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D5DAF3-6117-76CF-530C-8042813E0F60}"/>
              </a:ext>
            </a:extLst>
          </p:cNvPr>
          <p:cNvSpPr txBox="1"/>
          <p:nvPr/>
        </p:nvSpPr>
        <p:spPr>
          <a:xfrm>
            <a:off x="731520" y="66550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 dirty="0">
                <a:solidFill>
                  <a:srgbClr val="1A2A3D"/>
                </a:solidFill>
                <a:latin typeface="Arial" panose="020B0604020202020204" pitchFamily="34" charset="0"/>
              </a:rPr>
              <a:t>3.1  Setup &amp; Data Configuration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510AE62-BD50-A53B-B8BB-5F8D513E08F2}"/>
              </a:ext>
            </a:extLst>
          </p:cNvPr>
          <p:cNvSpPr/>
          <p:nvPr/>
        </p:nvSpPr>
        <p:spPr>
          <a:xfrm>
            <a:off x="731520" y="1554480"/>
            <a:ext cx="530352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51A3C5-18CC-05BC-473F-2A0BBE1DBFB6}"/>
              </a:ext>
            </a:extLst>
          </p:cNvPr>
          <p:cNvSpPr/>
          <p:nvPr/>
        </p:nvSpPr>
        <p:spPr>
          <a:xfrm>
            <a:off x="731520" y="1554480"/>
            <a:ext cx="54864" cy="4114800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0327DA-0FA5-D5C6-5404-A70D7B861137}"/>
              </a:ext>
            </a:extLst>
          </p:cNvPr>
          <p:cNvSpPr txBox="1"/>
          <p:nvPr/>
        </p:nvSpPr>
        <p:spPr>
          <a:xfrm>
            <a:off x="1097280" y="1737360"/>
            <a:ext cx="4572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F08248"/>
                </a:solidFill>
                <a:latin typeface="Arial" panose="020B0604020202020204" pitchFamily="34" charset="0"/>
              </a:rPr>
              <a:t>DATASET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37C690-D1E8-8174-AFD7-9615B9E9134B}"/>
              </a:ext>
            </a:extLst>
          </p:cNvPr>
          <p:cNvSpPr txBox="1"/>
          <p:nvPr/>
        </p:nvSpPr>
        <p:spPr>
          <a:xfrm>
            <a:off x="1097280" y="2194560"/>
            <a:ext cx="4572000" cy="224676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Full 63-column dataset (incl. Feature_0 to Feature_49)</a:t>
            </a:r>
          </a:p>
          <a:p>
            <a:endParaRPr lang="en-US" sz="1400" dirty="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101K raw &gt; 100K post-</a:t>
            </a:r>
            <a:r>
              <a:rPr lang="en-US" sz="1400" dirty="0" err="1">
                <a:solidFill>
                  <a:srgbClr val="4B4B4B"/>
                </a:solidFill>
                <a:latin typeface="Arial" panose="020B0604020202020204" pitchFamily="34" charset="0"/>
              </a:rPr>
              <a:t>dedup</a:t>
            </a:r>
            <a:endParaRPr lang="en-US" sz="1400" dirty="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endParaRPr lang="en-US" sz="1400" dirty="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Churn rate: 4.96% (4,960 </a:t>
            </a:r>
            <a:r>
              <a:rPr lang="en-US" sz="1400" dirty="0" err="1">
                <a:solidFill>
                  <a:srgbClr val="4B4B4B"/>
                </a:solidFill>
                <a:latin typeface="Arial" panose="020B0604020202020204" pitchFamily="34" charset="0"/>
              </a:rPr>
              <a:t>attrited</a:t>
            </a:r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)</a:t>
            </a:r>
          </a:p>
          <a:p>
            <a:endParaRPr lang="en-US" sz="1400" dirty="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Stratified 70/30 train-test split</a:t>
            </a:r>
          </a:p>
          <a:p>
            <a:endParaRPr lang="en-US" sz="1400" dirty="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Decision Tree: </a:t>
            </a:r>
            <a:r>
              <a:rPr lang="en-US" sz="1400" dirty="0" err="1">
                <a:solidFill>
                  <a:srgbClr val="4B4B4B"/>
                </a:solidFill>
                <a:latin typeface="Arial" panose="020B0604020202020204" pitchFamily="34" charset="0"/>
              </a:rPr>
              <a:t>class_weight</a:t>
            </a:r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='balanced'</a:t>
            </a:r>
          </a:p>
          <a:p>
            <a:r>
              <a:rPr lang="en-US" sz="1400" dirty="0" err="1">
                <a:solidFill>
                  <a:srgbClr val="4B4B4B"/>
                </a:solidFill>
                <a:latin typeface="Arial" panose="020B0604020202020204" pitchFamily="34" charset="0"/>
              </a:rPr>
              <a:t>XGBoost</a:t>
            </a:r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: </a:t>
            </a:r>
            <a:r>
              <a:rPr lang="en-US" sz="1400" dirty="0" err="1">
                <a:solidFill>
                  <a:srgbClr val="4B4B4B"/>
                </a:solidFill>
                <a:latin typeface="Arial" panose="020B0604020202020204" pitchFamily="34" charset="0"/>
              </a:rPr>
              <a:t>scale_pos_weight</a:t>
            </a:r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 = 19.14</a:t>
            </a:r>
            <a:endParaRPr lang="en-PH" sz="1400" dirty="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7313B14-30B7-D315-7B6E-58A33D28EA61}"/>
              </a:ext>
            </a:extLst>
          </p:cNvPr>
          <p:cNvSpPr/>
          <p:nvPr/>
        </p:nvSpPr>
        <p:spPr>
          <a:xfrm>
            <a:off x="6400800" y="1554480"/>
            <a:ext cx="502920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E7FF16-7330-A970-4054-2504CAAAE282}"/>
              </a:ext>
            </a:extLst>
          </p:cNvPr>
          <p:cNvSpPr/>
          <p:nvPr/>
        </p:nvSpPr>
        <p:spPr>
          <a:xfrm>
            <a:off x="6400800" y="1554480"/>
            <a:ext cx="54864" cy="4114800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D9EEAE-53D4-AABF-042C-96244DC3C367}"/>
              </a:ext>
            </a:extLst>
          </p:cNvPr>
          <p:cNvSpPr txBox="1"/>
          <p:nvPr/>
        </p:nvSpPr>
        <p:spPr>
          <a:xfrm>
            <a:off x="6766560" y="1737360"/>
            <a:ext cx="438912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208090"/>
                </a:solidFill>
                <a:latin typeface="Arial" panose="020B0604020202020204" pitchFamily="34" charset="0"/>
              </a:rPr>
              <a:t>FEATURE ENGINEERING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2F7483-57D3-72D6-687D-296FB314CD5B}"/>
              </a:ext>
            </a:extLst>
          </p:cNvPr>
          <p:cNvSpPr txBox="1"/>
          <p:nvPr/>
        </p:nvSpPr>
        <p:spPr>
          <a:xfrm>
            <a:off x="6766560" y="2194560"/>
            <a:ext cx="4389120" cy="224676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>
                <a:solidFill>
                  <a:srgbClr val="4B4B4B"/>
                </a:solidFill>
                <a:latin typeface="Arial" panose="020B0604020202020204" pitchFamily="34" charset="0"/>
              </a:rPr>
              <a:t>SpendToLimit = TotalSpend / CreditLimit</a:t>
            </a:r>
          </a:p>
          <a:p>
            <a:endParaRPr lang="en-PH" sz="140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PH" sz="1400">
                <a:solidFill>
                  <a:srgbClr val="4B4B4B"/>
                </a:solidFill>
                <a:latin typeface="Arial" panose="020B0604020202020204" pitchFamily="34" charset="0"/>
              </a:rPr>
              <a:t>TxPerTenure = TotalTransactions / Tenure</a:t>
            </a:r>
          </a:p>
          <a:p>
            <a:endParaRPr lang="en-PH" sz="140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PH" sz="1400">
                <a:solidFill>
                  <a:srgbClr val="4B4B4B"/>
                </a:solidFill>
                <a:latin typeface="Arial" panose="020B0604020202020204" pitchFamily="34" charset="0"/>
              </a:rPr>
              <a:t>SpendPerTx = TotalSpend / TotalTransactions</a:t>
            </a:r>
          </a:p>
          <a:p>
            <a:endParaRPr lang="en-PH" sz="140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PH" sz="1400">
                <a:solidFill>
                  <a:srgbClr val="4B4B4B"/>
                </a:solidFill>
                <a:latin typeface="Arial" panose="020B0604020202020204" pitchFamily="34" charset="0"/>
              </a:rPr>
              <a:t>log1p transforms: Income, CreditLimit, TotalSpend, TotalTransactions</a:t>
            </a:r>
          </a:p>
          <a:p>
            <a:endParaRPr lang="en-PH" sz="140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PH" sz="1400">
                <a:solidFill>
                  <a:srgbClr val="4B4B4B"/>
                </a:solidFill>
                <a:latin typeface="Arial" panose="020B0604020202020204" pitchFamily="34" charset="0"/>
              </a:rPr>
              <a:t>Interaction terms: Age×Tenure, Income×CreditLimit</a:t>
            </a:r>
          </a:p>
        </p:txBody>
      </p:sp>
    </p:spTree>
    <p:extLst>
      <p:ext uri="{BB962C8B-B14F-4D97-AF65-F5344CB8AC3E}">
        <p14:creationId xmlns:p14="http://schemas.microsoft.com/office/powerpoint/2010/main" val="13121018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FAF3DCA-468F-E99C-99D5-B14397DEC98C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4F3F90-4D50-A4E0-0996-E7D591E80682}"/>
              </a:ext>
            </a:extLst>
          </p:cNvPr>
          <p:cNvSpPr txBox="1"/>
          <p:nvPr/>
        </p:nvSpPr>
        <p:spPr>
          <a:xfrm>
            <a:off x="731520" y="76965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 dirty="0">
                <a:solidFill>
                  <a:srgbClr val="1A2A3D"/>
                </a:solidFill>
                <a:latin typeface="Arial" panose="020B0604020202020204" pitchFamily="34" charset="0"/>
              </a:rPr>
              <a:t>3.2  Shallow Decision Tree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C8AE187-BC7C-DD08-A752-715B0778C7CD}"/>
              </a:ext>
            </a:extLst>
          </p:cNvPr>
          <p:cNvSpPr/>
          <p:nvPr/>
        </p:nvSpPr>
        <p:spPr>
          <a:xfrm>
            <a:off x="731520" y="1554480"/>
            <a:ext cx="347472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95D9E5-90AB-5165-B12F-C8034F92254E}"/>
              </a:ext>
            </a:extLst>
          </p:cNvPr>
          <p:cNvSpPr txBox="1"/>
          <p:nvPr/>
        </p:nvSpPr>
        <p:spPr>
          <a:xfrm>
            <a:off x="1005840" y="1691640"/>
            <a:ext cx="292608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500" b="1">
                <a:solidFill>
                  <a:srgbClr val="1A2A3D"/>
                </a:solidFill>
                <a:latin typeface="Arial" panose="020B0604020202020204" pitchFamily="34" charset="0"/>
              </a:rPr>
              <a:t>Depth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424E11-AA40-7DD8-7F41-2142FBEBEC67}"/>
              </a:ext>
            </a:extLst>
          </p:cNvPr>
          <p:cNvSpPr txBox="1"/>
          <p:nvPr/>
        </p:nvSpPr>
        <p:spPr>
          <a:xfrm>
            <a:off x="1005840" y="2057400"/>
            <a:ext cx="292608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800" b="1">
                <a:solidFill>
                  <a:srgbClr val="E84747"/>
                </a:solidFill>
                <a:latin typeface="Arial" panose="020B0604020202020204" pitchFamily="34" charset="0"/>
              </a:rPr>
              <a:t>AUC 0.489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AD415E-D4E6-8CC5-AE70-9654B94839B0}"/>
              </a:ext>
            </a:extLst>
          </p:cNvPr>
          <p:cNvSpPr txBox="1"/>
          <p:nvPr/>
        </p:nvSpPr>
        <p:spPr>
          <a:xfrm>
            <a:off x="1005840" y="2651760"/>
            <a:ext cx="29260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Below random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38B482F-693D-9DF5-BF55-D2FDAF1C5E6A}"/>
              </a:ext>
            </a:extLst>
          </p:cNvPr>
          <p:cNvSpPr/>
          <p:nvPr/>
        </p:nvSpPr>
        <p:spPr>
          <a:xfrm>
            <a:off x="4434840" y="1554480"/>
            <a:ext cx="347472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A3E44F-C7A5-7A91-319F-722A3FD17776}"/>
              </a:ext>
            </a:extLst>
          </p:cNvPr>
          <p:cNvSpPr txBox="1"/>
          <p:nvPr/>
        </p:nvSpPr>
        <p:spPr>
          <a:xfrm>
            <a:off x="4709160" y="1691640"/>
            <a:ext cx="292608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500" b="1">
                <a:solidFill>
                  <a:srgbClr val="1A2A3D"/>
                </a:solidFill>
                <a:latin typeface="Arial" panose="020B0604020202020204" pitchFamily="34" charset="0"/>
              </a:rPr>
              <a:t>Depth 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FFF9D5-8584-2D24-51BE-5A2820C80992}"/>
              </a:ext>
            </a:extLst>
          </p:cNvPr>
          <p:cNvSpPr txBox="1"/>
          <p:nvPr/>
        </p:nvSpPr>
        <p:spPr>
          <a:xfrm>
            <a:off x="4709160" y="2057400"/>
            <a:ext cx="292608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800" b="1">
                <a:solidFill>
                  <a:srgbClr val="E84747"/>
                </a:solidFill>
                <a:latin typeface="Arial" panose="020B0604020202020204" pitchFamily="34" charset="0"/>
              </a:rPr>
              <a:t>AUC 0.496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22F1B4-EDBD-3CF9-CFF8-405D0B66EBF6}"/>
              </a:ext>
            </a:extLst>
          </p:cNvPr>
          <p:cNvSpPr txBox="1"/>
          <p:nvPr/>
        </p:nvSpPr>
        <p:spPr>
          <a:xfrm>
            <a:off x="4709160" y="2651760"/>
            <a:ext cx="29260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Effectively random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0226653-392D-E7D5-0BB5-CE43E8C80E88}"/>
              </a:ext>
            </a:extLst>
          </p:cNvPr>
          <p:cNvSpPr/>
          <p:nvPr/>
        </p:nvSpPr>
        <p:spPr>
          <a:xfrm>
            <a:off x="8138160" y="1554480"/>
            <a:ext cx="347472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46648F-DF92-3CCC-9649-5D0972AF4AE4}"/>
              </a:ext>
            </a:extLst>
          </p:cNvPr>
          <p:cNvSpPr txBox="1"/>
          <p:nvPr/>
        </p:nvSpPr>
        <p:spPr>
          <a:xfrm>
            <a:off x="8412480" y="1691640"/>
            <a:ext cx="292608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500" b="1">
                <a:solidFill>
                  <a:srgbClr val="1A2A3D"/>
                </a:solidFill>
                <a:latin typeface="Arial" panose="020B0604020202020204" pitchFamily="34" charset="0"/>
              </a:rPr>
              <a:t>Depth 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7AB85C-B809-457E-97D5-D7970353294A}"/>
              </a:ext>
            </a:extLst>
          </p:cNvPr>
          <p:cNvSpPr txBox="1"/>
          <p:nvPr/>
        </p:nvSpPr>
        <p:spPr>
          <a:xfrm>
            <a:off x="8412480" y="2057400"/>
            <a:ext cx="292608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800" b="1">
                <a:solidFill>
                  <a:srgbClr val="E8B839"/>
                </a:solidFill>
                <a:latin typeface="Arial" panose="020B0604020202020204" pitchFamily="34" charset="0"/>
              </a:rPr>
              <a:t>AUC 0.503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775A74-E63E-C049-E752-3F6A3BED1652}"/>
              </a:ext>
            </a:extLst>
          </p:cNvPr>
          <p:cNvSpPr txBox="1"/>
          <p:nvPr/>
        </p:nvSpPr>
        <p:spPr>
          <a:xfrm>
            <a:off x="8412480" y="2651760"/>
            <a:ext cx="29260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Best (barely)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FCAF06-95F3-C90E-CE10-75134DD260F7}"/>
              </a:ext>
            </a:extLst>
          </p:cNvPr>
          <p:cNvSpPr txBox="1"/>
          <p:nvPr/>
        </p:nvSpPr>
        <p:spPr>
          <a:xfrm>
            <a:off x="731520" y="3474720"/>
            <a:ext cx="73152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1A2A3D"/>
                </a:solidFill>
                <a:latin typeface="Arial" panose="020B0604020202020204" pitchFamily="34" charset="0"/>
              </a:rPr>
              <a:t>BEST TREE (DEPTH 4) — FEATURE IMPORTANCE</a:t>
            </a:r>
            <a:endParaRPr lang="en-PH" sz="1500" b="1">
              <a:solidFill>
                <a:srgbClr val="1A2A3D"/>
              </a:solidFill>
              <a:latin typeface="Arial" panose="020B06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5274FC6-71C9-C1FB-D023-736514C19E46}"/>
              </a:ext>
            </a:extLst>
          </p:cNvPr>
          <p:cNvSpPr/>
          <p:nvPr/>
        </p:nvSpPr>
        <p:spPr>
          <a:xfrm>
            <a:off x="731520" y="3931920"/>
            <a:ext cx="10698479" cy="457200"/>
          </a:xfrm>
          <a:prstGeom prst="roundRect">
            <a:avLst>
              <a:gd name="adj" fmla="val 6000"/>
            </a:avLst>
          </a:prstGeom>
          <a:solidFill>
            <a:srgbClr val="F0F5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926FE63-A55C-7C71-96DF-139F4C426268}"/>
              </a:ext>
            </a:extLst>
          </p:cNvPr>
          <p:cNvSpPr/>
          <p:nvPr/>
        </p:nvSpPr>
        <p:spPr>
          <a:xfrm>
            <a:off x="731520" y="3931920"/>
            <a:ext cx="8814816" cy="457200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5445C0-5424-5A28-7A70-F737420BD8B9}"/>
              </a:ext>
            </a:extLst>
          </p:cNvPr>
          <p:cNvSpPr txBox="1"/>
          <p:nvPr/>
        </p:nvSpPr>
        <p:spPr>
          <a:xfrm>
            <a:off x="1005840" y="3959352"/>
            <a:ext cx="457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FFFFFF"/>
                </a:solidFill>
                <a:latin typeface="Arial" panose="020B0604020202020204" pitchFamily="34" charset="0"/>
              </a:rPr>
              <a:t>log1p_Income  82.4%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E10AE32-6A52-5D2A-94D7-0787EAD086C4}"/>
              </a:ext>
            </a:extLst>
          </p:cNvPr>
          <p:cNvSpPr/>
          <p:nvPr/>
        </p:nvSpPr>
        <p:spPr>
          <a:xfrm>
            <a:off x="731520" y="4526280"/>
            <a:ext cx="10698479" cy="457200"/>
          </a:xfrm>
          <a:prstGeom prst="roundRect">
            <a:avLst>
              <a:gd name="adj" fmla="val 6000"/>
            </a:avLst>
          </a:prstGeom>
          <a:solidFill>
            <a:srgbClr val="F0F5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B24EF31-1D74-8F7C-1CBA-75662EE24D8D}"/>
              </a:ext>
            </a:extLst>
          </p:cNvPr>
          <p:cNvSpPr/>
          <p:nvPr/>
        </p:nvSpPr>
        <p:spPr>
          <a:xfrm>
            <a:off x="731520" y="4526280"/>
            <a:ext cx="1883664" cy="457200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818759-DF82-A415-294A-4BE5322656C4}"/>
              </a:ext>
            </a:extLst>
          </p:cNvPr>
          <p:cNvSpPr txBox="1"/>
          <p:nvPr/>
        </p:nvSpPr>
        <p:spPr>
          <a:xfrm>
            <a:off x="1005840" y="4553712"/>
            <a:ext cx="457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FFFFFF"/>
                </a:solidFill>
                <a:latin typeface="Arial" panose="020B0604020202020204" pitchFamily="34" charset="0"/>
              </a:rPr>
              <a:t>log1p_TotalSpend  17.6%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3637B65-57E0-3E12-D309-DE534285CD86}"/>
              </a:ext>
            </a:extLst>
          </p:cNvPr>
          <p:cNvSpPr/>
          <p:nvPr/>
        </p:nvSpPr>
        <p:spPr>
          <a:xfrm>
            <a:off x="731520" y="5120640"/>
            <a:ext cx="10698479" cy="457200"/>
          </a:xfrm>
          <a:prstGeom prst="roundRect">
            <a:avLst>
              <a:gd name="adj" fmla="val 6000"/>
            </a:avLst>
          </a:prstGeom>
          <a:solidFill>
            <a:srgbClr val="F0F5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8C103AF-1B64-1E41-BE92-F54AC813AF96}"/>
              </a:ext>
            </a:extLst>
          </p:cNvPr>
          <p:cNvSpPr txBox="1"/>
          <p:nvPr/>
        </p:nvSpPr>
        <p:spPr>
          <a:xfrm>
            <a:off x="1005840" y="5148072"/>
            <a:ext cx="457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9E9E9E"/>
                </a:solidFill>
                <a:latin typeface="Arial" panose="020B0604020202020204" pitchFamily="34" charset="0"/>
              </a:rPr>
              <a:t>All other features  0.0%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06FCEF5-F795-7822-6082-8F100AEFCFC0}"/>
              </a:ext>
            </a:extLst>
          </p:cNvPr>
          <p:cNvSpPr/>
          <p:nvPr/>
        </p:nvSpPr>
        <p:spPr>
          <a:xfrm>
            <a:off x="731520" y="5852160"/>
            <a:ext cx="10698479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063874A-6B51-F516-1DDF-0195BBDDE414}"/>
              </a:ext>
            </a:extLst>
          </p:cNvPr>
          <p:cNvSpPr/>
          <p:nvPr/>
        </p:nvSpPr>
        <p:spPr>
          <a:xfrm>
            <a:off x="731520" y="5852160"/>
            <a:ext cx="54864" cy="731520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A4388EB-0539-8DA7-2B69-5C10B0442015}"/>
              </a:ext>
            </a:extLst>
          </p:cNvPr>
          <p:cNvSpPr txBox="1"/>
          <p:nvPr/>
        </p:nvSpPr>
        <p:spPr>
          <a:xfrm>
            <a:off x="1097280" y="594360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4B4B4B"/>
                </a:solidFill>
                <a:latin typeface="Arial" panose="020B0604020202020204" pitchFamily="34" charset="0"/>
              </a:rPr>
              <a:t>Best leaf: 327 customers at 1.79x lift — too small for a bank-scale retention campaign.</a:t>
            </a:r>
            <a:endParaRPr lang="en-PH" sz="14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53945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AC0ABC0-B700-4B85-7858-87D12CEC8778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91143E-33EF-5B6C-B8B4-0F3EE964BE65}"/>
              </a:ext>
            </a:extLst>
          </p:cNvPr>
          <p:cNvSpPr txBox="1"/>
          <p:nvPr/>
        </p:nvSpPr>
        <p:spPr>
          <a:xfrm>
            <a:off x="731520" y="66550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 dirty="0">
                <a:solidFill>
                  <a:srgbClr val="1A2A3D"/>
                </a:solidFill>
                <a:latin typeface="Arial" panose="020B0604020202020204" pitchFamily="34" charset="0"/>
              </a:rPr>
              <a:t>3.3  </a:t>
            </a:r>
            <a:r>
              <a:rPr lang="en-US" sz="2800" b="1" dirty="0" err="1">
                <a:solidFill>
                  <a:srgbClr val="1A2A3D"/>
                </a:solidFill>
                <a:latin typeface="Arial" panose="020B0604020202020204" pitchFamily="34" charset="0"/>
              </a:rPr>
              <a:t>XGBoost</a:t>
            </a:r>
            <a:r>
              <a:rPr lang="en-US" sz="2800" b="1" dirty="0">
                <a:solidFill>
                  <a:srgbClr val="1A2A3D"/>
                </a:solidFill>
                <a:latin typeface="Arial" panose="020B0604020202020204" pitchFamily="34" charset="0"/>
              </a:rPr>
              <a:t> — Full Feature Set</a:t>
            </a:r>
            <a:endParaRPr lang="en-PH" sz="2800" b="1" dirty="0">
              <a:solidFill>
                <a:srgbClr val="1A2A3D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712518B-59B1-4681-9E0B-BDB20F036E2B}"/>
              </a:ext>
            </a:extLst>
          </p:cNvPr>
          <p:cNvSpPr/>
          <p:nvPr/>
        </p:nvSpPr>
        <p:spPr>
          <a:xfrm>
            <a:off x="731520" y="1554480"/>
            <a:ext cx="365760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2C056B-0A7A-E081-410A-4841D3929914}"/>
              </a:ext>
            </a:extLst>
          </p:cNvPr>
          <p:cNvSpPr txBox="1"/>
          <p:nvPr/>
        </p:nvSpPr>
        <p:spPr>
          <a:xfrm>
            <a:off x="914400" y="1691640"/>
            <a:ext cx="329184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400">
                <a:solidFill>
                  <a:srgbClr val="9E9E9E"/>
                </a:solidFill>
                <a:latin typeface="Arial" panose="020B0604020202020204" pitchFamily="34" charset="0"/>
              </a:rPr>
              <a:t>TEST ROC-AUC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DCDA4C-824C-E4E6-1AA1-110A6332FAF9}"/>
              </a:ext>
            </a:extLst>
          </p:cNvPr>
          <p:cNvSpPr txBox="1"/>
          <p:nvPr/>
        </p:nvSpPr>
        <p:spPr>
          <a:xfrm>
            <a:off x="914400" y="2011680"/>
            <a:ext cx="3291840" cy="95410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5600" b="1">
                <a:solidFill>
                  <a:srgbClr val="E84747"/>
                </a:solidFill>
                <a:latin typeface="Arial" panose="020B0604020202020204" pitchFamily="34" charset="0"/>
              </a:rPr>
              <a:t>0.499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2304AB-E8EC-90BC-71D7-D24B782B7739}"/>
              </a:ext>
            </a:extLst>
          </p:cNvPr>
          <p:cNvSpPr txBox="1"/>
          <p:nvPr/>
        </p:nvSpPr>
        <p:spPr>
          <a:xfrm>
            <a:off x="914400" y="3017520"/>
            <a:ext cx="329184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400">
                <a:solidFill>
                  <a:srgbClr val="E84747"/>
                </a:solidFill>
                <a:latin typeface="Arial" panose="020B0604020202020204" pitchFamily="34" charset="0"/>
              </a:rPr>
              <a:t>Effectively a coin flip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FB60E79-79CC-0FDB-E793-7C06E2F2E80E}"/>
              </a:ext>
            </a:extLst>
          </p:cNvPr>
          <p:cNvGraphicFramePr>
            <a:graphicFrameLocks noGrp="1"/>
          </p:cNvGraphicFramePr>
          <p:nvPr/>
        </p:nvGraphicFramePr>
        <p:xfrm>
          <a:off x="4754880" y="1554480"/>
          <a:ext cx="66751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8780">
                  <a:extLst>
                    <a:ext uri="{9D8B030D-6E8A-4147-A177-3AD203B41FA5}">
                      <a16:colId xmlns:a16="http://schemas.microsoft.com/office/drawing/2014/main" val="2802749881"/>
                    </a:ext>
                  </a:extLst>
                </a:gridCol>
                <a:gridCol w="1668780">
                  <a:extLst>
                    <a:ext uri="{9D8B030D-6E8A-4147-A177-3AD203B41FA5}">
                      <a16:colId xmlns:a16="http://schemas.microsoft.com/office/drawing/2014/main" val="2757935055"/>
                    </a:ext>
                  </a:extLst>
                </a:gridCol>
                <a:gridCol w="1668780">
                  <a:extLst>
                    <a:ext uri="{9D8B030D-6E8A-4147-A177-3AD203B41FA5}">
                      <a16:colId xmlns:a16="http://schemas.microsoft.com/office/drawing/2014/main" val="3565832998"/>
                    </a:ext>
                  </a:extLst>
                </a:gridCol>
                <a:gridCol w="1668780">
                  <a:extLst>
                    <a:ext uri="{9D8B030D-6E8A-4147-A177-3AD203B41FA5}">
                      <a16:colId xmlns:a16="http://schemas.microsoft.com/office/drawing/2014/main" val="2569176858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algn="ctr"/>
                      <a:r>
                        <a:rPr lang="en-PH" sz="13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Decile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Attrition Rate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Avg Pred Prob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Lift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6079337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9 (Top)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4.79%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0.549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0.96x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139706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5.05%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0.517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1.02x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53914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5.18%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0.472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1.04x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210705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 (Low)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4.98%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0.354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1.00x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4955100"/>
                  </a:ext>
                </a:extLst>
              </a:tr>
            </a:tbl>
          </a:graphicData>
        </a:graphic>
      </p:graphicFrame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7B5D71D-8DEA-2698-B47B-585FDC12F7BD}"/>
              </a:ext>
            </a:extLst>
          </p:cNvPr>
          <p:cNvSpPr/>
          <p:nvPr/>
        </p:nvSpPr>
        <p:spPr>
          <a:xfrm>
            <a:off x="731520" y="4754880"/>
            <a:ext cx="10698479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3737DB-50A4-8C48-1A29-A8EC43A4196F}"/>
              </a:ext>
            </a:extLst>
          </p:cNvPr>
          <p:cNvSpPr/>
          <p:nvPr/>
        </p:nvSpPr>
        <p:spPr>
          <a:xfrm>
            <a:off x="731520" y="4754880"/>
            <a:ext cx="54864" cy="1371600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C2E2DA-FB45-4A43-079D-1DFE664CEF19}"/>
              </a:ext>
            </a:extLst>
          </p:cNvPr>
          <p:cNvSpPr txBox="1"/>
          <p:nvPr/>
        </p:nvSpPr>
        <p:spPr>
          <a:xfrm>
            <a:off x="1097280" y="4892040"/>
            <a:ext cx="10058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E84747"/>
                </a:solidFill>
                <a:latin typeface="Arial" panose="020B0604020202020204" pitchFamily="34" charset="0"/>
              </a:rPr>
              <a:t>VERDICT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B43C67-8FCD-2276-B29A-956D96ADA1B0}"/>
              </a:ext>
            </a:extLst>
          </p:cNvPr>
          <p:cNvSpPr txBox="1"/>
          <p:nvPr/>
        </p:nvSpPr>
        <p:spPr>
          <a:xfrm>
            <a:off x="1097280" y="530352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4B4B4B"/>
                </a:solidFill>
                <a:latin typeface="Arial" panose="020B0604020202020204" pitchFamily="34" charset="0"/>
              </a:rPr>
              <a:t>Decile lifts oscillate between 0.94x and 1.04x — no decile meaningfully concentrates attrition. The model cannot rank customers by attrition risk.</a:t>
            </a:r>
            <a:endParaRPr lang="en-PH" sz="14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71549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72E796A-56DC-16E9-5D44-D47A2A0BC67E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66DB03-3171-2C10-D4B7-7E21A9BFD3E1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1A2A3D"/>
                </a:solidFill>
                <a:latin typeface="Arial" panose="020B0604020202020204" pitchFamily="34" charset="0"/>
              </a:rPr>
              <a:t>3.4  XGBoost Feature Importance (Gain)</a:t>
            </a:r>
            <a:endParaRPr lang="en-PH" sz="2800" b="1">
              <a:solidFill>
                <a:srgbClr val="1A2A3D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B85603-F50B-3094-1657-9B8159C31A35}"/>
              </a:ext>
            </a:extLst>
          </p:cNvPr>
          <p:cNvSpPr txBox="1"/>
          <p:nvPr/>
        </p:nvSpPr>
        <p:spPr>
          <a:xfrm>
            <a:off x="731520" y="86868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dirty="0">
                <a:solidFill>
                  <a:srgbClr val="9E9E9E"/>
                </a:solidFill>
                <a:latin typeface="Arial" panose="020B0604020202020204" pitchFamily="34" charset="0"/>
              </a:rPr>
              <a:t>Model latches onto high-cardinality noise and statistically insignificant features</a:t>
            </a:r>
            <a:endParaRPr lang="en-PH" sz="1400" dirty="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F2E5E3-EC5F-A1E2-3636-C411B39B1011}"/>
              </a:ext>
            </a:extLst>
          </p:cNvPr>
          <p:cNvSpPr txBox="1"/>
          <p:nvPr/>
        </p:nvSpPr>
        <p:spPr>
          <a:xfrm>
            <a:off x="731520" y="1435608"/>
            <a:ext cx="20116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Country_19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922502F-D18B-66F7-EA54-E6CD096AA9B9}"/>
              </a:ext>
            </a:extLst>
          </p:cNvPr>
          <p:cNvSpPr/>
          <p:nvPr/>
        </p:nvSpPr>
        <p:spPr>
          <a:xfrm>
            <a:off x="2743200" y="1417320"/>
            <a:ext cx="6400800" cy="365760"/>
          </a:xfrm>
          <a:prstGeom prst="roundRect">
            <a:avLst>
              <a:gd name="adj" fmla="val 6000"/>
            </a:avLst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627862-787D-2F1B-B63F-2CB2154C56BD}"/>
              </a:ext>
            </a:extLst>
          </p:cNvPr>
          <p:cNvSpPr txBox="1"/>
          <p:nvPr/>
        </p:nvSpPr>
        <p:spPr>
          <a:xfrm>
            <a:off x="9281160" y="1435608"/>
            <a:ext cx="914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153.9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C8C62E-D130-4167-FDF3-3E3ADC7857F1}"/>
              </a:ext>
            </a:extLst>
          </p:cNvPr>
          <p:cNvSpPr txBox="1"/>
          <p:nvPr/>
        </p:nvSpPr>
        <p:spPr>
          <a:xfrm>
            <a:off x="9601200" y="1435608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Geographic dummy (noise)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8F5008-9F6A-CE7B-9376-46491CB52C80}"/>
              </a:ext>
            </a:extLst>
          </p:cNvPr>
          <p:cNvSpPr txBox="1"/>
          <p:nvPr/>
        </p:nvSpPr>
        <p:spPr>
          <a:xfrm>
            <a:off x="731520" y="2121408"/>
            <a:ext cx="20116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Country_22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0C0BB9D-051A-4EC2-5D99-F81DA532F8AA}"/>
              </a:ext>
            </a:extLst>
          </p:cNvPr>
          <p:cNvSpPr/>
          <p:nvPr/>
        </p:nvSpPr>
        <p:spPr>
          <a:xfrm>
            <a:off x="2743200" y="2103120"/>
            <a:ext cx="4891060" cy="365760"/>
          </a:xfrm>
          <a:prstGeom prst="roundRect">
            <a:avLst>
              <a:gd name="adj" fmla="val 6000"/>
            </a:avLst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0FD791-15B4-14DA-3EC4-0A8D67D1A8F0}"/>
              </a:ext>
            </a:extLst>
          </p:cNvPr>
          <p:cNvSpPr txBox="1"/>
          <p:nvPr/>
        </p:nvSpPr>
        <p:spPr>
          <a:xfrm>
            <a:off x="7771420" y="2121408"/>
            <a:ext cx="914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117.6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CFC377-66FB-5F5E-D096-32A29DE12FC4}"/>
              </a:ext>
            </a:extLst>
          </p:cNvPr>
          <p:cNvSpPr txBox="1"/>
          <p:nvPr/>
        </p:nvSpPr>
        <p:spPr>
          <a:xfrm>
            <a:off x="9601200" y="2121408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Geographic dummy (noise)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EF5600-8581-B54C-C045-EA7480F7CB08}"/>
              </a:ext>
            </a:extLst>
          </p:cNvPr>
          <p:cNvSpPr txBox="1"/>
          <p:nvPr/>
        </p:nvSpPr>
        <p:spPr>
          <a:xfrm>
            <a:off x="731520" y="2807208"/>
            <a:ext cx="20116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Country_15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758A682-B1CD-5A34-C52B-89F07E249811}"/>
              </a:ext>
            </a:extLst>
          </p:cNvPr>
          <p:cNvSpPr/>
          <p:nvPr/>
        </p:nvSpPr>
        <p:spPr>
          <a:xfrm>
            <a:off x="2743200" y="2788920"/>
            <a:ext cx="4849469" cy="365760"/>
          </a:xfrm>
          <a:prstGeom prst="roundRect">
            <a:avLst>
              <a:gd name="adj" fmla="val 6000"/>
            </a:avLst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FEE39C-8CCE-31BB-9247-9B38F154D408}"/>
              </a:ext>
            </a:extLst>
          </p:cNvPr>
          <p:cNvSpPr txBox="1"/>
          <p:nvPr/>
        </p:nvSpPr>
        <p:spPr>
          <a:xfrm>
            <a:off x="7729829" y="2807208"/>
            <a:ext cx="914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116.6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437872-F741-8461-1377-E3CA9C1450B9}"/>
              </a:ext>
            </a:extLst>
          </p:cNvPr>
          <p:cNvSpPr txBox="1"/>
          <p:nvPr/>
        </p:nvSpPr>
        <p:spPr>
          <a:xfrm>
            <a:off x="9601200" y="2807208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Geographic dummy (noise)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00C851-5DC3-A240-F8DF-38EAEBF2FA4E}"/>
              </a:ext>
            </a:extLst>
          </p:cNvPr>
          <p:cNvSpPr txBox="1"/>
          <p:nvPr/>
        </p:nvSpPr>
        <p:spPr>
          <a:xfrm>
            <a:off x="731520" y="3493008"/>
            <a:ext cx="20116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Edu_HighSchool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98D2AE4-5977-DFBD-E6EE-397D84ABC8B0}"/>
              </a:ext>
            </a:extLst>
          </p:cNvPr>
          <p:cNvSpPr/>
          <p:nvPr/>
        </p:nvSpPr>
        <p:spPr>
          <a:xfrm>
            <a:off x="2743200" y="3474720"/>
            <a:ext cx="4774606" cy="365760"/>
          </a:xfrm>
          <a:prstGeom prst="roundRect">
            <a:avLst>
              <a:gd name="adj" fmla="val 6000"/>
            </a:avLst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26E4B4-7B66-C0E3-D562-556E6F414A0D}"/>
              </a:ext>
            </a:extLst>
          </p:cNvPr>
          <p:cNvSpPr txBox="1"/>
          <p:nvPr/>
        </p:nvSpPr>
        <p:spPr>
          <a:xfrm>
            <a:off x="7654966" y="3493008"/>
            <a:ext cx="914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114.8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4B863E-CE1C-3ACD-8AE7-CC2EF5F9A16F}"/>
              </a:ext>
            </a:extLst>
          </p:cNvPr>
          <p:cNvSpPr txBox="1"/>
          <p:nvPr/>
        </p:nvSpPr>
        <p:spPr>
          <a:xfrm>
            <a:off x="9601200" y="3493008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Chi2 p &gt; 0.33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428388-CD17-3B86-6C7A-E9E6242048CB}"/>
              </a:ext>
            </a:extLst>
          </p:cNvPr>
          <p:cNvSpPr txBox="1"/>
          <p:nvPr/>
        </p:nvSpPr>
        <p:spPr>
          <a:xfrm>
            <a:off x="731520" y="4178808"/>
            <a:ext cx="20116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Card_Platinum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4D94AD3-5493-9D76-66D7-8E7C0808874D}"/>
              </a:ext>
            </a:extLst>
          </p:cNvPr>
          <p:cNvSpPr/>
          <p:nvPr/>
        </p:nvSpPr>
        <p:spPr>
          <a:xfrm>
            <a:off x="2743200" y="4160520"/>
            <a:ext cx="4558334" cy="365760"/>
          </a:xfrm>
          <a:prstGeom prst="roundRect">
            <a:avLst>
              <a:gd name="adj" fmla="val 6000"/>
            </a:avLst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125D51-659A-0FF7-574C-0502F517DF8E}"/>
              </a:ext>
            </a:extLst>
          </p:cNvPr>
          <p:cNvSpPr txBox="1"/>
          <p:nvPr/>
        </p:nvSpPr>
        <p:spPr>
          <a:xfrm>
            <a:off x="7438694" y="4178808"/>
            <a:ext cx="914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109.6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6339303-164D-31BE-ED9F-4603409AF234}"/>
              </a:ext>
            </a:extLst>
          </p:cNvPr>
          <p:cNvSpPr txBox="1"/>
          <p:nvPr/>
        </p:nvSpPr>
        <p:spPr>
          <a:xfrm>
            <a:off x="9601200" y="4178808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Marginal at best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DD9ECB-3141-B573-6D26-AFE20A28ECB7}"/>
              </a:ext>
            </a:extLst>
          </p:cNvPr>
          <p:cNvSpPr txBox="1"/>
          <p:nvPr/>
        </p:nvSpPr>
        <p:spPr>
          <a:xfrm>
            <a:off x="731520" y="4864608"/>
            <a:ext cx="20116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Feature_28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8883786-5B6E-FA15-AC70-A55428D14E0C}"/>
              </a:ext>
            </a:extLst>
          </p:cNvPr>
          <p:cNvSpPr/>
          <p:nvPr/>
        </p:nvSpPr>
        <p:spPr>
          <a:xfrm>
            <a:off x="2743200" y="4846320"/>
            <a:ext cx="4308790" cy="365760"/>
          </a:xfrm>
          <a:prstGeom prst="roundRect">
            <a:avLst>
              <a:gd name="adj" fmla="val 6000"/>
            </a:avLst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87FADA4-143B-6A44-DC33-CB954D3FC64D}"/>
              </a:ext>
            </a:extLst>
          </p:cNvPr>
          <p:cNvSpPr txBox="1"/>
          <p:nvPr/>
        </p:nvSpPr>
        <p:spPr>
          <a:xfrm>
            <a:off x="7189150" y="4864608"/>
            <a:ext cx="914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103.6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1AA83C1-5694-1E42-7FD8-14E3F0E1F865}"/>
              </a:ext>
            </a:extLst>
          </p:cNvPr>
          <p:cNvSpPr txBox="1"/>
          <p:nvPr/>
        </p:nvSpPr>
        <p:spPr>
          <a:xfrm>
            <a:off x="9601200" y="4864608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Anonymous feature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4B45DB-68FD-FE5E-9F5C-71066986CF4B}"/>
              </a:ext>
            </a:extLst>
          </p:cNvPr>
          <p:cNvSpPr txBox="1"/>
          <p:nvPr/>
        </p:nvSpPr>
        <p:spPr>
          <a:xfrm>
            <a:off x="731520" y="5550408"/>
            <a:ext cx="20116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Tenure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5E44923-8011-12FD-17DF-5F741EF2C86D}"/>
              </a:ext>
            </a:extLst>
          </p:cNvPr>
          <p:cNvSpPr/>
          <p:nvPr/>
        </p:nvSpPr>
        <p:spPr>
          <a:xfrm>
            <a:off x="2743200" y="5532120"/>
            <a:ext cx="4067565" cy="365760"/>
          </a:xfrm>
          <a:prstGeom prst="roundRect">
            <a:avLst>
              <a:gd name="adj" fmla="val 6000"/>
            </a:avLst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D34C9D-8F16-CA12-FCC0-F58C972FB62F}"/>
              </a:ext>
            </a:extLst>
          </p:cNvPr>
          <p:cNvSpPr txBox="1"/>
          <p:nvPr/>
        </p:nvSpPr>
        <p:spPr>
          <a:xfrm>
            <a:off x="6947926" y="5550408"/>
            <a:ext cx="914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97.8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8395999-C06A-2CB9-3860-F2D84D09843E}"/>
              </a:ext>
            </a:extLst>
          </p:cNvPr>
          <p:cNvSpPr txBox="1"/>
          <p:nvPr/>
        </p:nvSpPr>
        <p:spPr>
          <a:xfrm>
            <a:off x="9601200" y="5550408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Spearman r = -0.005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AF0EF9DF-1AAB-4910-D410-5BF8AF3431E1}"/>
              </a:ext>
            </a:extLst>
          </p:cNvPr>
          <p:cNvSpPr/>
          <p:nvPr/>
        </p:nvSpPr>
        <p:spPr>
          <a:xfrm>
            <a:off x="731520" y="5760720"/>
            <a:ext cx="10698479" cy="822960"/>
          </a:xfrm>
          <a:prstGeom prst="roundRect">
            <a:avLst>
              <a:gd name="adj" fmla="val 6000"/>
            </a:avLst>
          </a:prstGeom>
          <a:solidFill>
            <a:srgbClr val="1A2A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1748C9C-953C-0DA9-E759-9BFB50682B04}"/>
              </a:ext>
            </a:extLst>
          </p:cNvPr>
          <p:cNvSpPr txBox="1"/>
          <p:nvPr/>
        </p:nvSpPr>
        <p:spPr>
          <a:xfrm>
            <a:off x="1066647" y="6018311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400">
                <a:solidFill>
                  <a:srgbClr val="C8DCFC"/>
                </a:solidFill>
                <a:latin typeface="Arial" panose="020B0604020202020204" pitchFamily="34" charset="0"/>
              </a:rPr>
              <a:t>Top features are country dummies (noise) and insignificant categoricals. Consistent with AUC = 0.499.</a:t>
            </a:r>
            <a:endParaRPr lang="en-PH" sz="140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79913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6079CA-902B-7E5F-DD50-A1C362B9E492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3CD3BB-D1C0-19C4-A5F2-BB87FFC481F2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 dirty="0">
                <a:solidFill>
                  <a:srgbClr val="FFFFFF"/>
                </a:solidFill>
                <a:latin typeface="Arial" panose="020B0604020202020204" pitchFamily="34" charset="0"/>
              </a:rPr>
              <a:t>Section 3 (Model Validation Summary)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677BFF8-C7FB-0224-03A6-B514C77BC754}"/>
              </a:ext>
            </a:extLst>
          </p:cNvPr>
          <p:cNvSpPr/>
          <p:nvPr/>
        </p:nvSpPr>
        <p:spPr>
          <a:xfrm>
            <a:off x="525043" y="210312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A3A0E7-E7D3-0734-602B-3BDA1A0B6D2C}"/>
              </a:ext>
            </a:extLst>
          </p:cNvPr>
          <p:cNvSpPr txBox="1"/>
          <p:nvPr/>
        </p:nvSpPr>
        <p:spPr>
          <a:xfrm>
            <a:off x="707923" y="2286000"/>
            <a:ext cx="22402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400" b="1">
                <a:solidFill>
                  <a:srgbClr val="C8DCFC"/>
                </a:solidFill>
                <a:latin typeface="Arial" panose="020B0604020202020204" pitchFamily="34" charset="0"/>
              </a:rPr>
              <a:t>DT (d=2)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E7D889-90F5-9692-BC74-228C7BE0D2FF}"/>
              </a:ext>
            </a:extLst>
          </p:cNvPr>
          <p:cNvSpPr txBox="1"/>
          <p:nvPr/>
        </p:nvSpPr>
        <p:spPr>
          <a:xfrm>
            <a:off x="707923" y="2834640"/>
            <a:ext cx="224028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600" b="1">
                <a:solidFill>
                  <a:srgbClr val="E84747"/>
                </a:solidFill>
                <a:latin typeface="Arial" panose="020B0604020202020204" pitchFamily="34" charset="0"/>
              </a:rPr>
              <a:t>0.489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995798-DA6A-2DF1-567C-935D0D4EBEF7}"/>
              </a:ext>
            </a:extLst>
          </p:cNvPr>
          <p:cNvSpPr txBox="1"/>
          <p:nvPr/>
        </p:nvSpPr>
        <p:spPr>
          <a:xfrm>
            <a:off x="707923" y="3474720"/>
            <a:ext cx="22402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AUC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E9234B-0034-BC4D-9F4C-1C1F731A8F31}"/>
              </a:ext>
            </a:extLst>
          </p:cNvPr>
          <p:cNvSpPr/>
          <p:nvPr/>
        </p:nvSpPr>
        <p:spPr>
          <a:xfrm>
            <a:off x="890803" y="3840480"/>
            <a:ext cx="1874520" cy="9144"/>
          </a:xfrm>
          <a:prstGeom prst="rect">
            <a:avLst/>
          </a:prstGeom>
          <a:solidFill>
            <a:srgbClr val="9E9E9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BE97AA-DDB9-7FFD-2ADE-00783C6A7AA4}"/>
              </a:ext>
            </a:extLst>
          </p:cNvPr>
          <p:cNvSpPr txBox="1"/>
          <p:nvPr/>
        </p:nvSpPr>
        <p:spPr>
          <a:xfrm>
            <a:off x="707923" y="3977640"/>
            <a:ext cx="22402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>
                <a:solidFill>
                  <a:srgbClr val="C8DCFC"/>
                </a:solidFill>
                <a:latin typeface="Arial" panose="020B0604020202020204" pitchFamily="34" charset="0"/>
              </a:rPr>
              <a:t>Lift: None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01C510-298A-3E95-D528-FC8AB74E666A}"/>
              </a:ext>
            </a:extLst>
          </p:cNvPr>
          <p:cNvSpPr txBox="1"/>
          <p:nvPr/>
        </p:nvSpPr>
        <p:spPr>
          <a:xfrm>
            <a:off x="707923" y="4297680"/>
            <a:ext cx="224028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Below random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FB72247-5D5A-3803-5121-7636E9E104E6}"/>
              </a:ext>
            </a:extLst>
          </p:cNvPr>
          <p:cNvSpPr/>
          <p:nvPr/>
        </p:nvSpPr>
        <p:spPr>
          <a:xfrm>
            <a:off x="3359683" y="210312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BAA7DD-8654-8457-4F68-7F32B7BBB1B3}"/>
              </a:ext>
            </a:extLst>
          </p:cNvPr>
          <p:cNvSpPr txBox="1"/>
          <p:nvPr/>
        </p:nvSpPr>
        <p:spPr>
          <a:xfrm>
            <a:off x="3542563" y="2286000"/>
            <a:ext cx="22402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400" b="1">
                <a:solidFill>
                  <a:srgbClr val="C8DCFC"/>
                </a:solidFill>
                <a:latin typeface="Arial" panose="020B0604020202020204" pitchFamily="34" charset="0"/>
              </a:rPr>
              <a:t>DT (d=3)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C1E890-6C4E-7DA7-9E42-B447DD0CFE87}"/>
              </a:ext>
            </a:extLst>
          </p:cNvPr>
          <p:cNvSpPr txBox="1"/>
          <p:nvPr/>
        </p:nvSpPr>
        <p:spPr>
          <a:xfrm>
            <a:off x="3542563" y="2834640"/>
            <a:ext cx="224028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600" b="1">
                <a:solidFill>
                  <a:srgbClr val="E84747"/>
                </a:solidFill>
                <a:latin typeface="Arial" panose="020B0604020202020204" pitchFamily="34" charset="0"/>
              </a:rPr>
              <a:t>0.496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D64196-F8A2-EDB6-D9ED-C6813C46815B}"/>
              </a:ext>
            </a:extLst>
          </p:cNvPr>
          <p:cNvSpPr txBox="1"/>
          <p:nvPr/>
        </p:nvSpPr>
        <p:spPr>
          <a:xfrm>
            <a:off x="3542563" y="3474720"/>
            <a:ext cx="22402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AUC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4B3EF6-D516-A4CE-3F49-9BCB01711DCD}"/>
              </a:ext>
            </a:extLst>
          </p:cNvPr>
          <p:cNvSpPr/>
          <p:nvPr/>
        </p:nvSpPr>
        <p:spPr>
          <a:xfrm>
            <a:off x="3725443" y="3840480"/>
            <a:ext cx="1874520" cy="9144"/>
          </a:xfrm>
          <a:prstGeom prst="rect">
            <a:avLst/>
          </a:prstGeom>
          <a:solidFill>
            <a:srgbClr val="9E9E9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7783CD-91E8-F7B0-03BA-AF856295A8BF}"/>
              </a:ext>
            </a:extLst>
          </p:cNvPr>
          <p:cNvSpPr txBox="1"/>
          <p:nvPr/>
        </p:nvSpPr>
        <p:spPr>
          <a:xfrm>
            <a:off x="3542563" y="3977640"/>
            <a:ext cx="22402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>
                <a:solidFill>
                  <a:srgbClr val="C8DCFC"/>
                </a:solidFill>
                <a:latin typeface="Arial" panose="020B0604020202020204" pitchFamily="34" charset="0"/>
              </a:rPr>
              <a:t>Lift: Marginal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5D7678-522D-C916-AEC0-524681F534F2}"/>
              </a:ext>
            </a:extLst>
          </p:cNvPr>
          <p:cNvSpPr txBox="1"/>
          <p:nvPr/>
        </p:nvSpPr>
        <p:spPr>
          <a:xfrm>
            <a:off x="3542563" y="4297680"/>
            <a:ext cx="224028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Effectively random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D3C3A78-03EE-02D4-AC73-1311E8C496A3}"/>
              </a:ext>
            </a:extLst>
          </p:cNvPr>
          <p:cNvSpPr/>
          <p:nvPr/>
        </p:nvSpPr>
        <p:spPr>
          <a:xfrm>
            <a:off x="6194323" y="210312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4EFBB8-E776-2543-C2FB-794130A5BF9F}"/>
              </a:ext>
            </a:extLst>
          </p:cNvPr>
          <p:cNvSpPr txBox="1"/>
          <p:nvPr/>
        </p:nvSpPr>
        <p:spPr>
          <a:xfrm>
            <a:off x="6377203" y="2286000"/>
            <a:ext cx="22402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400" b="1">
                <a:solidFill>
                  <a:srgbClr val="C8DCFC"/>
                </a:solidFill>
                <a:latin typeface="Arial" panose="020B0604020202020204" pitchFamily="34" charset="0"/>
              </a:rPr>
              <a:t>DT (d=4)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B22073-2658-36D4-C7BE-B7971E86944C}"/>
              </a:ext>
            </a:extLst>
          </p:cNvPr>
          <p:cNvSpPr txBox="1"/>
          <p:nvPr/>
        </p:nvSpPr>
        <p:spPr>
          <a:xfrm>
            <a:off x="6377203" y="2834640"/>
            <a:ext cx="224028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600" b="1">
                <a:solidFill>
                  <a:srgbClr val="E84747"/>
                </a:solidFill>
                <a:latin typeface="Arial" panose="020B0604020202020204" pitchFamily="34" charset="0"/>
              </a:rPr>
              <a:t>0.503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E7E881-E262-17B4-0EC7-2269F5CB6715}"/>
              </a:ext>
            </a:extLst>
          </p:cNvPr>
          <p:cNvSpPr txBox="1"/>
          <p:nvPr/>
        </p:nvSpPr>
        <p:spPr>
          <a:xfrm>
            <a:off x="6377203" y="3474720"/>
            <a:ext cx="22402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AUC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23492F7-1E1D-6D56-5899-67087F1C6240}"/>
              </a:ext>
            </a:extLst>
          </p:cNvPr>
          <p:cNvSpPr/>
          <p:nvPr/>
        </p:nvSpPr>
        <p:spPr>
          <a:xfrm>
            <a:off x="6560083" y="3840480"/>
            <a:ext cx="1874520" cy="9144"/>
          </a:xfrm>
          <a:prstGeom prst="rect">
            <a:avLst/>
          </a:prstGeom>
          <a:solidFill>
            <a:srgbClr val="9E9E9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A93884-5E7B-4D7D-10C7-092B64B9807B}"/>
              </a:ext>
            </a:extLst>
          </p:cNvPr>
          <p:cNvSpPr txBox="1"/>
          <p:nvPr/>
        </p:nvSpPr>
        <p:spPr>
          <a:xfrm>
            <a:off x="6377203" y="3977640"/>
            <a:ext cx="22402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>
                <a:solidFill>
                  <a:srgbClr val="C8DCFC"/>
                </a:solidFill>
                <a:latin typeface="Arial" panose="020B0604020202020204" pitchFamily="34" charset="0"/>
              </a:rPr>
              <a:t>Lift: 1.79x (n=327)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AC68DE-84B9-1F3F-46D5-451DCD35959E}"/>
              </a:ext>
            </a:extLst>
          </p:cNvPr>
          <p:cNvSpPr txBox="1"/>
          <p:nvPr/>
        </p:nvSpPr>
        <p:spPr>
          <a:xfrm>
            <a:off x="6377203" y="4297680"/>
            <a:ext cx="224028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Leaf too small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AB1B8EC-E6AB-1867-87AC-11C4C5ABF048}"/>
              </a:ext>
            </a:extLst>
          </p:cNvPr>
          <p:cNvSpPr/>
          <p:nvPr/>
        </p:nvSpPr>
        <p:spPr>
          <a:xfrm>
            <a:off x="9028963" y="210312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7F04AC3-E799-9246-5A2C-067DE3F00801}"/>
              </a:ext>
            </a:extLst>
          </p:cNvPr>
          <p:cNvSpPr txBox="1"/>
          <p:nvPr/>
        </p:nvSpPr>
        <p:spPr>
          <a:xfrm>
            <a:off x="9211843" y="2286000"/>
            <a:ext cx="22402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400" b="1">
                <a:solidFill>
                  <a:srgbClr val="C8DCFC"/>
                </a:solidFill>
                <a:latin typeface="Arial" panose="020B0604020202020204" pitchFamily="34" charset="0"/>
              </a:rPr>
              <a:t>XGBoost (4K)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5D5DF2A-2D8E-5C37-DD86-CBF3A425ECE3}"/>
              </a:ext>
            </a:extLst>
          </p:cNvPr>
          <p:cNvSpPr txBox="1"/>
          <p:nvPr/>
        </p:nvSpPr>
        <p:spPr>
          <a:xfrm>
            <a:off x="9211843" y="2834640"/>
            <a:ext cx="224028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600" b="1">
                <a:solidFill>
                  <a:srgbClr val="E84747"/>
                </a:solidFill>
                <a:latin typeface="Arial" panose="020B0604020202020204" pitchFamily="34" charset="0"/>
              </a:rPr>
              <a:t>0.499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BCC5507-5EEE-4A2D-1A42-8FFC1ED01501}"/>
              </a:ext>
            </a:extLst>
          </p:cNvPr>
          <p:cNvSpPr txBox="1"/>
          <p:nvPr/>
        </p:nvSpPr>
        <p:spPr>
          <a:xfrm>
            <a:off x="9211843" y="3474720"/>
            <a:ext cx="22402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AUC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AC40222-7040-CD77-7242-D214A0850002}"/>
              </a:ext>
            </a:extLst>
          </p:cNvPr>
          <p:cNvSpPr/>
          <p:nvPr/>
        </p:nvSpPr>
        <p:spPr>
          <a:xfrm>
            <a:off x="9394723" y="3840480"/>
            <a:ext cx="1874520" cy="9144"/>
          </a:xfrm>
          <a:prstGeom prst="rect">
            <a:avLst/>
          </a:prstGeom>
          <a:solidFill>
            <a:srgbClr val="9E9E9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1E53819-3FF5-53D9-38D9-C8CCC427545C}"/>
              </a:ext>
            </a:extLst>
          </p:cNvPr>
          <p:cNvSpPr txBox="1"/>
          <p:nvPr/>
        </p:nvSpPr>
        <p:spPr>
          <a:xfrm>
            <a:off x="9211843" y="3977640"/>
            <a:ext cx="22402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>
                <a:solidFill>
                  <a:srgbClr val="C8DCFC"/>
                </a:solidFill>
                <a:latin typeface="Arial" panose="020B0604020202020204" pitchFamily="34" charset="0"/>
              </a:rPr>
              <a:t>Lift: 1.04x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252D5E0-A643-CA78-3647-F2881A4423FB}"/>
              </a:ext>
            </a:extLst>
          </p:cNvPr>
          <p:cNvSpPr txBox="1"/>
          <p:nvPr/>
        </p:nvSpPr>
        <p:spPr>
          <a:xfrm>
            <a:off x="9211843" y="4297680"/>
            <a:ext cx="224028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No usable signal</a:t>
            </a:r>
          </a:p>
        </p:txBody>
      </p:sp>
    </p:spTree>
    <p:extLst>
      <p:ext uri="{BB962C8B-B14F-4D97-AF65-F5344CB8AC3E}">
        <p14:creationId xmlns:p14="http://schemas.microsoft.com/office/powerpoint/2010/main" val="820614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3305</Words>
  <Application>Microsoft Office PowerPoint</Application>
  <PresentationFormat>Custom</PresentationFormat>
  <Paragraphs>788</Paragraphs>
  <Slides>39</Slides>
  <Notes>3</Notes>
  <HiddenSlides>7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Roland</dc:creator>
  <cp:lastModifiedBy>Roland</cp:lastModifiedBy>
  <cp:revision>28</cp:revision>
  <dcterms:created xsi:type="dcterms:W3CDTF">2026-03-13T13:04:16Z</dcterms:created>
  <dcterms:modified xsi:type="dcterms:W3CDTF">2026-03-13T13:52:07Z</dcterms:modified>
</cp:coreProperties>
</file>