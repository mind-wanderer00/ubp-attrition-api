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90" r:id="rId29"/>
    <p:sldId id="291" r:id="rId30"/>
    <p:sldId id="292" r:id="rId31"/>
    <p:sldId id="293" r:id="rId32"/>
    <p:sldId id="294" r:id="rId33"/>
    <p:sldId id="289" r:id="rId34"/>
    <p:sldId id="275" r:id="rId35"/>
    <p:sldId id="276" r:id="rId36"/>
    <p:sldId id="277" r:id="rId37"/>
    <p:sldId id="278" r:id="rId38"/>
    <p:sldId id="279" r:id="rId39"/>
    <p:sldId id="280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C7A2B-4258-4842-ADBD-6F50B0998435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5E93F-2514-4B81-921C-6961CBA23D3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7626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428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Three depth configurations tested  |  Purpose: find simple split rules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3799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4,000 rounds with early stopping  | 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scale_pos_weight</a:t>
            </a: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 = 19.14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5597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015B-AB89-10F2-BBD9-BF5B228AA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F86A6-2E2F-6140-F0AE-32004E3FF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C78D-AA96-FC75-1359-C623E276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81E87-51C7-6DAD-9F1F-043B714E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55C23-0D8F-6CA6-5384-674DFB67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8272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BC4B-3625-4A8C-95C1-AFF19FC9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5614-120A-CDC2-19B4-B02A61CE3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97703-783F-90DC-8A4B-2CD14067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78C01-4F8C-6364-8F83-03B3E8BE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B38FF-BAE8-5722-D3D0-90B4222A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9437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08719-A9A8-CF5A-B4BB-7DFD3475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686EC-EAA9-8043-E1A4-2476038CC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09951-48CE-0E6B-A88C-8074A371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F8D3A-6BA8-D3E7-4188-91B3A03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D5667-E787-B1DF-21EA-73A57873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064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C2F1-4156-1128-C51F-1F9FB09C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8DB7D-A73E-B22E-10BB-5CF5E9DDA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3AEBF-A32A-5F42-E28D-186790C58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33B5A-4BB6-D7ED-61FC-1D267931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3541C-270B-F40E-23AD-7BB81914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75A11-6A89-C219-6E07-99FDA1C8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487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F9F5-9DDC-26BC-DAA1-F4CDEC9AD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33504-6A46-3D78-1C21-C86B286D3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6FA5A-3D74-4A40-470E-BA2B6014F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D7DE7-F8C1-E444-66DD-46EBC687C1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8791E-C37C-7C90-16AF-E5556674C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6F40A-5731-B339-9A1A-47CDA364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EB6CDA-2BDE-68C9-804B-D4AA6A534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0ABA9-316E-53C9-8102-5F98A758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386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59BC-7DAE-DC52-23DF-B8F17645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1E60F-2551-13FF-2977-9C0256CE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3EEE19-48E0-46A1-6D77-EDF9DDC2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E6048-D145-5013-1C18-421A4477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629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2F06E-E787-F8EC-B085-0445B3B6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31E9F-3F36-8A42-0B36-135E0860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74BCB-4BBD-1B08-076A-4F1A04EA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156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8786-5263-36B0-91F9-0F0E8FAC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E16FE-297F-7FFE-BBDD-3A1A46E10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4ECBF-5596-48DF-F32A-F3C0DA9AB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F3503-1C97-4ED5-E1B8-8F45AB68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AD452-5984-C5BA-5E8E-ECE2DF29E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6653A-EC78-1797-8B4D-FAF98433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174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0163-88FC-44E9-C1AE-742D28C8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105A8-B5A3-5C78-45FA-8B0924198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89FF7-42D5-735E-3EAC-89B146839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FDAE8-C25A-BF99-8E09-5FDBDCCB9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43C2F-7522-A24F-4E79-6CF321F6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1A4A8-115D-DB65-D1B9-3765C05F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784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723F-7E93-1F12-F1CC-6AF6D15A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4E325-39BA-331B-31D7-582A2D700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51E37-6961-5336-22DD-A6FB58DD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D3EF1-1065-0FAE-DC84-C90124855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18B10-6914-4C2D-D9F5-AB17011C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443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37BCD2-8511-5F07-E281-C8DD192889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258F1-DF1D-5EBF-D02E-1BB24B250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0ABED-6654-E696-A82C-76D71993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23E25-A2DA-F2E5-BABB-137E73B4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466C3-D725-52A0-744B-7748E4EE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9580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D285D-8AD3-FFB7-7C4E-C1108011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D123C-0759-66EC-6B6C-26F96A4BF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3A276-B6CC-8B9B-9E84-4D1B4E9C8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25AAC-E67F-4BC5-ADA8-09D7F4F5F138}" type="datetimeFigureOut">
              <a:rPr lang="en-PH" smtClean="0"/>
              <a:t>13/03/2026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165A5-E39F-46A8-FF85-14844B751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7A089-D9B8-1319-1791-AA1244A1D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74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732303-6ACD-CA59-1E53-C8BB13A6DFC1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73BDE-36C8-2C4D-496E-E3B72373213B}"/>
              </a:ext>
            </a:extLst>
          </p:cNvPr>
          <p:cNvSpPr/>
          <p:nvPr/>
        </p:nvSpPr>
        <p:spPr>
          <a:xfrm>
            <a:off x="457200" y="2377440"/>
            <a:ext cx="4114800" cy="914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B70225-555C-DCD6-3F41-B69CD7AC5846}"/>
              </a:ext>
            </a:extLst>
          </p:cNvPr>
          <p:cNvSpPr/>
          <p:nvPr/>
        </p:nvSpPr>
        <p:spPr>
          <a:xfrm>
            <a:off x="457200" y="4754880"/>
            <a:ext cx="2743200" cy="914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AF05D-EBC4-F4DD-3870-57E5DD6961A0}"/>
              </a:ext>
            </a:extLst>
          </p:cNvPr>
          <p:cNvSpPr txBox="1"/>
          <p:nvPr/>
        </p:nvSpPr>
        <p:spPr>
          <a:xfrm>
            <a:off x="731520" y="1097280"/>
            <a:ext cx="914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4800" b="1">
                <a:solidFill>
                  <a:srgbClr val="FFFFFF"/>
                </a:solidFill>
                <a:latin typeface="Arial" panose="020B0604020202020204" pitchFamily="34" charset="0"/>
              </a:rPr>
              <a:t>CREDIT CARD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18455-D882-EA9D-B306-ABDD44E9D78E}"/>
              </a:ext>
            </a:extLst>
          </p:cNvPr>
          <p:cNvSpPr txBox="1"/>
          <p:nvPr/>
        </p:nvSpPr>
        <p:spPr>
          <a:xfrm>
            <a:off x="731520" y="1691640"/>
            <a:ext cx="914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4800" b="1">
                <a:solidFill>
                  <a:srgbClr val="F08248"/>
                </a:solidFill>
                <a:latin typeface="Arial" panose="020B0604020202020204" pitchFamily="34" charset="0"/>
              </a:rPr>
              <a:t>CUSTOMER ATTRITION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0008F7-81DE-E67A-CE3B-52C7AC358EB8}"/>
              </a:ext>
            </a:extLst>
          </p:cNvPr>
          <p:cNvSpPr txBox="1"/>
          <p:nvPr/>
        </p:nvSpPr>
        <p:spPr>
          <a:xfrm>
            <a:off x="731520" y="2606040"/>
            <a:ext cx="7315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>
                <a:solidFill>
                  <a:srgbClr val="C8DCFC"/>
                </a:solidFill>
                <a:latin typeface="Arial" panose="020B0604020202020204" pitchFamily="34" charset="0"/>
              </a:rPr>
              <a:t>Predictive Modeling &amp;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75882-065B-6BA2-653F-7486670C9C9C}"/>
              </a:ext>
            </a:extLst>
          </p:cNvPr>
          <p:cNvSpPr txBox="1"/>
          <p:nvPr/>
        </p:nvSpPr>
        <p:spPr>
          <a:xfrm>
            <a:off x="914400" y="393192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100K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932428-0242-EF97-BB95-69BC80119391}"/>
              </a:ext>
            </a:extLst>
          </p:cNvPr>
          <p:cNvSpPr txBox="1"/>
          <p:nvPr/>
        </p:nvSpPr>
        <p:spPr>
          <a:xfrm>
            <a:off x="914400" y="443484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Customer Records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763818-2B81-54CE-8DC5-381E0A61C8B0}"/>
              </a:ext>
            </a:extLst>
          </p:cNvPr>
          <p:cNvSpPr txBox="1"/>
          <p:nvPr/>
        </p:nvSpPr>
        <p:spPr>
          <a:xfrm>
            <a:off x="3474720" y="393192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71FC2B-A975-C6E6-C954-703FA7C499E8}"/>
              </a:ext>
            </a:extLst>
          </p:cNvPr>
          <p:cNvSpPr txBox="1"/>
          <p:nvPr/>
        </p:nvSpPr>
        <p:spPr>
          <a:xfrm>
            <a:off x="3474720" y="443484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Core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3F8A1C-6E21-50EA-60E6-1CE135FF1E8C}"/>
              </a:ext>
            </a:extLst>
          </p:cNvPr>
          <p:cNvSpPr txBox="1"/>
          <p:nvPr/>
        </p:nvSpPr>
        <p:spPr>
          <a:xfrm>
            <a:off x="6035040" y="393192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~5%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22AE6-CF1B-DE83-3A69-567904B10160}"/>
              </a:ext>
            </a:extLst>
          </p:cNvPr>
          <p:cNvSpPr txBox="1"/>
          <p:nvPr/>
        </p:nvSpPr>
        <p:spPr>
          <a:xfrm>
            <a:off x="6035040" y="443484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Churn Rate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23E857-49A3-0812-A260-5C686D04BDBD}"/>
              </a:ext>
            </a:extLst>
          </p:cNvPr>
          <p:cNvSpPr txBox="1"/>
          <p:nvPr/>
        </p:nvSpPr>
        <p:spPr>
          <a:xfrm>
            <a:off x="8595360" y="393192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0.05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7A5EB-0A2F-FA9E-4CA3-4EFF94F80937}"/>
              </a:ext>
            </a:extLst>
          </p:cNvPr>
          <p:cNvSpPr txBox="1"/>
          <p:nvPr/>
        </p:nvSpPr>
        <p:spPr>
          <a:xfrm>
            <a:off x="8595360" y="443484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Best PR-AUC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DD29B-BC6C-44AC-1A9F-BDDCEDAFE3E2}"/>
              </a:ext>
            </a:extLst>
          </p:cNvPr>
          <p:cNvSpPr txBox="1"/>
          <p:nvPr/>
        </p:nvSpPr>
        <p:spPr>
          <a:xfrm>
            <a:off x="731520" y="6217920"/>
            <a:ext cx="548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dirty="0">
                <a:solidFill>
                  <a:srgbClr val="9E9E9E"/>
                </a:solidFill>
                <a:latin typeface="Arial" panose="020B0604020202020204" pitchFamily="34" charset="0"/>
              </a:rPr>
              <a:t>Copino, Roland D. | UBP Data Science Applicant</a:t>
            </a:r>
          </a:p>
        </p:txBody>
      </p:sp>
    </p:spTree>
    <p:extLst>
      <p:ext uri="{BB962C8B-B14F-4D97-AF65-F5344CB8AC3E}">
        <p14:creationId xmlns:p14="http://schemas.microsoft.com/office/powerpoint/2010/main" val="247837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649C45-F6A0-95AE-7E57-AED239DECB35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88CE6-926E-A38B-04A2-9B16FB4CFBA5}"/>
              </a:ext>
            </a:extLst>
          </p:cNvPr>
          <p:cNvSpPr txBox="1"/>
          <p:nvPr/>
        </p:nvSpPr>
        <p:spPr>
          <a:xfrm>
            <a:off x="731520" y="762765"/>
            <a:ext cx="9144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200" b="1" dirty="0">
                <a:solidFill>
                  <a:srgbClr val="FFFFFF"/>
                </a:solidFill>
                <a:latin typeface="Arial" panose="020B0604020202020204" pitchFamily="34" charset="0"/>
              </a:rPr>
              <a:t>OUTLINE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B2A8A9-D245-E1E0-56B7-BCD3275D3329}"/>
              </a:ext>
            </a:extLst>
          </p:cNvPr>
          <p:cNvSpPr/>
          <p:nvPr/>
        </p:nvSpPr>
        <p:spPr>
          <a:xfrm>
            <a:off x="731520" y="178623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674C6-6169-18CD-7C8F-C909D2500C44}"/>
              </a:ext>
            </a:extLst>
          </p:cNvPr>
          <p:cNvSpPr txBox="1"/>
          <p:nvPr/>
        </p:nvSpPr>
        <p:spPr>
          <a:xfrm>
            <a:off x="1005840" y="187767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0C6F04-1B50-D091-F11F-FCACDD64F966}"/>
              </a:ext>
            </a:extLst>
          </p:cNvPr>
          <p:cNvSpPr txBox="1"/>
          <p:nvPr/>
        </p:nvSpPr>
        <p:spPr>
          <a:xfrm>
            <a:off x="1920240" y="183195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Statistical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12981-F1D0-E41A-2302-2FE558BD32C9}"/>
              </a:ext>
            </a:extLst>
          </p:cNvPr>
          <p:cNvSpPr txBox="1"/>
          <p:nvPr/>
        </p:nvSpPr>
        <p:spPr>
          <a:xfrm>
            <a:off x="1920240" y="217027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200" dirty="0">
                <a:solidFill>
                  <a:srgbClr val="9E9E9E"/>
                </a:solidFill>
                <a:latin typeface="Arial" panose="020B0604020202020204" pitchFamily="34" charset="0"/>
              </a:rPr>
              <a:t>Univariate, Bivariate, Multivariate, Significance Tests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5E542A-21DB-25EE-F48C-677B4919A2B6}"/>
              </a:ext>
            </a:extLst>
          </p:cNvPr>
          <p:cNvSpPr/>
          <p:nvPr/>
        </p:nvSpPr>
        <p:spPr>
          <a:xfrm>
            <a:off x="731520" y="265491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EFB0D-C8F2-B9C8-A6DA-97E9EB50D9C7}"/>
              </a:ext>
            </a:extLst>
          </p:cNvPr>
          <p:cNvSpPr txBox="1"/>
          <p:nvPr/>
        </p:nvSpPr>
        <p:spPr>
          <a:xfrm>
            <a:off x="1005840" y="274635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B4E6C9-5431-02BC-15C7-B6DDE43FCB45}"/>
              </a:ext>
            </a:extLst>
          </p:cNvPr>
          <p:cNvSpPr txBox="1"/>
          <p:nvPr/>
        </p:nvSpPr>
        <p:spPr>
          <a:xfrm>
            <a:off x="1920240" y="270063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1A4E35-1944-8DA2-8165-F63FAA658EC2}"/>
              </a:ext>
            </a:extLst>
          </p:cNvPr>
          <p:cNvSpPr txBox="1"/>
          <p:nvPr/>
        </p:nvSpPr>
        <p:spPr>
          <a:xfrm>
            <a:off x="1920240" y="303895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Behavioral, Lifecycle, Demographic, Geographic deep-dive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C6BD3B4-4815-7D7B-6C41-24B1AF584179}"/>
              </a:ext>
            </a:extLst>
          </p:cNvPr>
          <p:cNvSpPr/>
          <p:nvPr/>
        </p:nvSpPr>
        <p:spPr>
          <a:xfrm>
            <a:off x="731520" y="352359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29303B-9D12-53B2-B43A-E868801E6F9F}"/>
              </a:ext>
            </a:extLst>
          </p:cNvPr>
          <p:cNvSpPr txBox="1"/>
          <p:nvPr/>
        </p:nvSpPr>
        <p:spPr>
          <a:xfrm>
            <a:off x="1005840" y="361503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 dirty="0">
                <a:solidFill>
                  <a:srgbClr val="F08248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FD6226-E145-26F6-D2D6-DFA805B8DDD1}"/>
              </a:ext>
            </a:extLst>
          </p:cNvPr>
          <p:cNvSpPr txBox="1"/>
          <p:nvPr/>
        </p:nvSpPr>
        <p:spPr>
          <a:xfrm>
            <a:off x="1920240" y="356931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Pre-processing Pipeline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F6648D-9F10-1204-8A5D-B5273469CB9D}"/>
              </a:ext>
            </a:extLst>
          </p:cNvPr>
          <p:cNvSpPr txBox="1"/>
          <p:nvPr/>
        </p:nvSpPr>
        <p:spPr>
          <a:xfrm>
            <a:off x="1920240" y="390763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Three model-specific data tables, shared split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1B10854-DFD5-94E8-4386-F0CBD0653319}"/>
              </a:ext>
            </a:extLst>
          </p:cNvPr>
          <p:cNvSpPr/>
          <p:nvPr/>
        </p:nvSpPr>
        <p:spPr>
          <a:xfrm>
            <a:off x="731520" y="439227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7A4791-EED5-1AA8-19E7-2FE86FFB31B7}"/>
              </a:ext>
            </a:extLst>
          </p:cNvPr>
          <p:cNvSpPr txBox="1"/>
          <p:nvPr/>
        </p:nvSpPr>
        <p:spPr>
          <a:xfrm>
            <a:off x="1005840" y="448371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dirty="0">
                <a:solidFill>
                  <a:srgbClr val="F08248"/>
                </a:solidFill>
                <a:latin typeface="Arial" panose="020B0604020202020204" pitchFamily="34" charset="0"/>
              </a:rPr>
              <a:t>0</a:t>
            </a:r>
            <a:r>
              <a:rPr lang="en-PH" sz="2400" b="1" dirty="0">
                <a:solidFill>
                  <a:srgbClr val="F08248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C050F5-DF0D-92A5-16B7-FBDD38220D56}"/>
              </a:ext>
            </a:extLst>
          </p:cNvPr>
          <p:cNvSpPr txBox="1"/>
          <p:nvPr/>
        </p:nvSpPr>
        <p:spPr>
          <a:xfrm>
            <a:off x="1920240" y="443799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Model Development &amp; Evaluation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2DFFEA-F0CE-9338-8735-240D2A0C3ACC}"/>
              </a:ext>
            </a:extLst>
          </p:cNvPr>
          <p:cNvSpPr txBox="1"/>
          <p:nvPr/>
        </p:nvSpPr>
        <p:spPr>
          <a:xfrm>
            <a:off x="1920240" y="477631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LR, EBM,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XGBoost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8EAA754-6D6B-2E85-DC9F-92765AC94B99}"/>
              </a:ext>
            </a:extLst>
          </p:cNvPr>
          <p:cNvSpPr/>
          <p:nvPr/>
        </p:nvSpPr>
        <p:spPr>
          <a:xfrm>
            <a:off x="731520" y="526095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27444A-2F0B-9D59-E220-0C86AA982D61}"/>
              </a:ext>
            </a:extLst>
          </p:cNvPr>
          <p:cNvSpPr txBox="1"/>
          <p:nvPr/>
        </p:nvSpPr>
        <p:spPr>
          <a:xfrm>
            <a:off x="1005840" y="535239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 dirty="0">
                <a:solidFill>
                  <a:srgbClr val="F08248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078290-0CB1-E86B-CE87-0945DA39BE06}"/>
              </a:ext>
            </a:extLst>
          </p:cNvPr>
          <p:cNvSpPr txBox="1"/>
          <p:nvPr/>
        </p:nvSpPr>
        <p:spPr>
          <a:xfrm>
            <a:off x="1920240" y="530667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Production Pipeline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CCCF41-18C8-C914-53C8-B71FE1CFFAA9}"/>
              </a:ext>
            </a:extLst>
          </p:cNvPr>
          <p:cNvSpPr txBox="1"/>
          <p:nvPr/>
        </p:nvSpPr>
        <p:spPr>
          <a:xfrm>
            <a:off x="1920240" y="564499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FastAPI, PSI Drift Monitoring, Rule-Based Recommender, Docker</a:t>
            </a:r>
          </a:p>
        </p:txBody>
      </p:sp>
    </p:spTree>
    <p:extLst>
      <p:ext uri="{BB962C8B-B14F-4D97-AF65-F5344CB8AC3E}">
        <p14:creationId xmlns:p14="http://schemas.microsoft.com/office/powerpoint/2010/main" val="377802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B18D48-46EA-0A8E-77C5-3B7FB36B46C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E158B-4D06-9590-E835-EF90F910FECB}"/>
              </a:ext>
            </a:extLst>
          </p:cNvPr>
          <p:cNvSpPr txBox="1"/>
          <p:nvPr/>
        </p:nvSpPr>
        <p:spPr>
          <a:xfrm>
            <a:off x="731520" y="58677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Problem Statement &amp; Background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A28ACE-F4C7-0D67-4CDD-11B92A313440}"/>
              </a:ext>
            </a:extLst>
          </p:cNvPr>
          <p:cNvSpPr/>
          <p:nvPr/>
        </p:nvSpPr>
        <p:spPr>
          <a:xfrm>
            <a:off x="731520" y="146304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66162-E0C5-4972-39A4-08D707DB186C}"/>
              </a:ext>
            </a:extLst>
          </p:cNvPr>
          <p:cNvSpPr/>
          <p:nvPr/>
        </p:nvSpPr>
        <p:spPr>
          <a:xfrm>
            <a:off x="731520" y="1463040"/>
            <a:ext cx="54864" cy="20116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35674-2593-5AED-5797-BAA6CC3D124B}"/>
              </a:ext>
            </a:extLst>
          </p:cNvPr>
          <p:cNvSpPr txBox="1"/>
          <p:nvPr/>
        </p:nvSpPr>
        <p:spPr>
          <a:xfrm>
            <a:off x="1097280" y="160020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CHALLENGE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3839A-ACD1-9015-C84C-568CEABEF862}"/>
              </a:ext>
            </a:extLst>
          </p:cNvPr>
          <p:cNvSpPr txBox="1"/>
          <p:nvPr/>
        </p:nvSpPr>
        <p:spPr>
          <a:xfrm>
            <a:off x="1097280" y="2011680"/>
            <a:ext cx="4572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A major bank is experiencing customer churn in its credit card division. </a:t>
            </a:r>
            <a:r>
              <a:rPr lang="en-US" sz="1400" b="1" dirty="0">
                <a:latin typeface="Arial" panose="020B0604020202020204" pitchFamily="34" charset="0"/>
              </a:rPr>
              <a:t>Understanding the drivers of attrition</a:t>
            </a:r>
            <a:r>
              <a:rPr lang="en-US" sz="1400" dirty="0">
                <a:latin typeface="Arial" panose="020B0604020202020204" pitchFamily="34" charset="0"/>
              </a:rPr>
              <a:t> is critical for retention strategy design and improving customer satisfaction.</a:t>
            </a:r>
            <a:endParaRPr lang="en-PH" sz="1400" dirty="0"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658C2F-0100-C452-2D40-5A85E1349F5D}"/>
              </a:ext>
            </a:extLst>
          </p:cNvPr>
          <p:cNvSpPr/>
          <p:nvPr/>
        </p:nvSpPr>
        <p:spPr>
          <a:xfrm>
            <a:off x="6400800" y="1463040"/>
            <a:ext cx="50292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7F2C39-4809-E1A9-11E1-E7298AF312A6}"/>
              </a:ext>
            </a:extLst>
          </p:cNvPr>
          <p:cNvSpPr/>
          <p:nvPr/>
        </p:nvSpPr>
        <p:spPr>
          <a:xfrm>
            <a:off x="6400800" y="1463040"/>
            <a:ext cx="54864" cy="20116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5E404-4DF5-45D1-C3ED-33B6A94C557D}"/>
              </a:ext>
            </a:extLst>
          </p:cNvPr>
          <p:cNvSpPr txBox="1"/>
          <p:nvPr/>
        </p:nvSpPr>
        <p:spPr>
          <a:xfrm>
            <a:off x="6766560" y="160020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208090"/>
                </a:solidFill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B43F6-857F-CD34-0F47-C4A8DD158AEE}"/>
              </a:ext>
            </a:extLst>
          </p:cNvPr>
          <p:cNvSpPr txBox="1"/>
          <p:nvPr/>
        </p:nvSpPr>
        <p:spPr>
          <a:xfrm>
            <a:off x="6766560" y="2011680"/>
            <a:ext cx="438912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Build a predictive model to </a:t>
            </a:r>
            <a:r>
              <a:rPr lang="en-US" sz="1400" b="1" dirty="0">
                <a:latin typeface="Arial" panose="020B0604020202020204" pitchFamily="34" charset="0"/>
              </a:rPr>
              <a:t>identify customers likely to close their credit card accounts</a:t>
            </a:r>
            <a:r>
              <a:rPr lang="en-US" sz="1400" dirty="0">
                <a:latin typeface="Arial" panose="020B0604020202020204" pitchFamily="34" charset="0"/>
              </a:rPr>
              <a:t>, enabling proactive intervention before attrition occurs.</a:t>
            </a:r>
            <a:endParaRPr lang="en-PH" sz="1400" dirty="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FD83A-AAD1-14E2-F805-0785B44945E4}"/>
              </a:ext>
            </a:extLst>
          </p:cNvPr>
          <p:cNvSpPr txBox="1"/>
          <p:nvPr/>
        </p:nvSpPr>
        <p:spPr>
          <a:xfrm>
            <a:off x="731520" y="374904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TASK SCOPE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976913-3A75-98E1-959E-68F708151F23}"/>
              </a:ext>
            </a:extLst>
          </p:cNvPr>
          <p:cNvSpPr/>
          <p:nvPr/>
        </p:nvSpPr>
        <p:spPr>
          <a:xfrm>
            <a:off x="73152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CB93D9-2324-E255-C917-14B0C6A863F4}"/>
              </a:ext>
            </a:extLst>
          </p:cNvPr>
          <p:cNvSpPr txBox="1"/>
          <p:nvPr/>
        </p:nvSpPr>
        <p:spPr>
          <a:xfrm>
            <a:off x="100584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1. Data Understanding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49E37C-75CB-761D-85AC-2FD130CCBBC4}"/>
              </a:ext>
            </a:extLst>
          </p:cNvPr>
          <p:cNvSpPr txBox="1"/>
          <p:nvPr/>
        </p:nvSpPr>
        <p:spPr>
          <a:xfrm>
            <a:off x="1005840" y="459943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Missing values, outliers, duplicates, imbalance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9E3554-E5BB-3ED6-341E-C8CB2F8A3C64}"/>
              </a:ext>
            </a:extLst>
          </p:cNvPr>
          <p:cNvSpPr/>
          <p:nvPr/>
        </p:nvSpPr>
        <p:spPr>
          <a:xfrm>
            <a:off x="448056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FDE267-E9AF-8458-06D5-AC7AEEA8B7D0}"/>
              </a:ext>
            </a:extLst>
          </p:cNvPr>
          <p:cNvSpPr txBox="1"/>
          <p:nvPr/>
        </p:nvSpPr>
        <p:spPr>
          <a:xfrm>
            <a:off x="475488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2. Feature Engineering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BFD739-86C3-649E-B19B-BEAFB3A56339}"/>
              </a:ext>
            </a:extLst>
          </p:cNvPr>
          <p:cNvSpPr txBox="1"/>
          <p:nvPr/>
        </p:nvSpPr>
        <p:spPr>
          <a:xfrm>
            <a:off x="4754880" y="459943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Ratio features, log transforms, interactions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0A9E65-394E-3AAF-4133-0EA606FA1EAA}"/>
              </a:ext>
            </a:extLst>
          </p:cNvPr>
          <p:cNvSpPr/>
          <p:nvPr/>
        </p:nvSpPr>
        <p:spPr>
          <a:xfrm>
            <a:off x="822960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06130D-582A-0B2A-3546-53574DBB3D00}"/>
              </a:ext>
            </a:extLst>
          </p:cNvPr>
          <p:cNvSpPr txBox="1"/>
          <p:nvPr/>
        </p:nvSpPr>
        <p:spPr>
          <a:xfrm>
            <a:off x="850392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3. Model Development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91BB3F-3B7C-4819-14FF-EF9F18054B16}"/>
              </a:ext>
            </a:extLst>
          </p:cNvPr>
          <p:cNvSpPr txBox="1"/>
          <p:nvPr/>
        </p:nvSpPr>
        <p:spPr>
          <a:xfrm>
            <a:off x="8503920" y="459943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LR, EBM, XGBoost, Random Forest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7A8D1C-F1F6-B63B-F2BE-00AD5EF4159D}"/>
              </a:ext>
            </a:extLst>
          </p:cNvPr>
          <p:cNvSpPr/>
          <p:nvPr/>
        </p:nvSpPr>
        <p:spPr>
          <a:xfrm>
            <a:off x="73152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964E4E-78AA-9024-938F-252B8DCF3559}"/>
              </a:ext>
            </a:extLst>
          </p:cNvPr>
          <p:cNvSpPr txBox="1"/>
          <p:nvPr/>
        </p:nvSpPr>
        <p:spPr>
          <a:xfrm>
            <a:off x="100584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4. Model Evaluation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7D43B4-2DD5-13E6-C291-2AB701CE8F41}"/>
              </a:ext>
            </a:extLst>
          </p:cNvPr>
          <p:cNvSpPr txBox="1"/>
          <p:nvPr/>
        </p:nvSpPr>
        <p:spPr>
          <a:xfrm>
            <a:off x="1005840" y="565099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Accuracy, Precision, Recall, F1, ROC-AUC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90B7578-26C6-9D78-F390-1A9D54DA437A}"/>
              </a:ext>
            </a:extLst>
          </p:cNvPr>
          <p:cNvSpPr/>
          <p:nvPr/>
        </p:nvSpPr>
        <p:spPr>
          <a:xfrm>
            <a:off x="448056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2ED5B3-0BDF-2195-C2AD-0F19CAACD6CD}"/>
              </a:ext>
            </a:extLst>
          </p:cNvPr>
          <p:cNvSpPr txBox="1"/>
          <p:nvPr/>
        </p:nvSpPr>
        <p:spPr>
          <a:xfrm>
            <a:off x="475488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5. Insights &amp; Strategy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71A3E5-43D0-824F-9BF0-68B6EE4CD347}"/>
              </a:ext>
            </a:extLst>
          </p:cNvPr>
          <p:cNvSpPr txBox="1"/>
          <p:nvPr/>
        </p:nvSpPr>
        <p:spPr>
          <a:xfrm>
            <a:off x="4754880" y="565099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Key drivers, actionable bank strategies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7CE920C-A78C-E67C-8BE4-CDD67F4E61D4}"/>
              </a:ext>
            </a:extLst>
          </p:cNvPr>
          <p:cNvSpPr/>
          <p:nvPr/>
        </p:nvSpPr>
        <p:spPr>
          <a:xfrm>
            <a:off x="822960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4F8244-0D39-5DCB-602A-89B7177AE01C}"/>
              </a:ext>
            </a:extLst>
          </p:cNvPr>
          <p:cNvSpPr txBox="1"/>
          <p:nvPr/>
        </p:nvSpPr>
        <p:spPr>
          <a:xfrm>
            <a:off x="850392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6. Dashboard (Bonus)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A921B0-8DC6-5434-DEC7-0B1A9314FC15}"/>
              </a:ext>
            </a:extLst>
          </p:cNvPr>
          <p:cNvSpPr txBox="1"/>
          <p:nvPr/>
        </p:nvSpPr>
        <p:spPr>
          <a:xfrm>
            <a:off x="8503920" y="565099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Streamlit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85633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D6EF86-E38A-D77F-6453-BF4757103EF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8B814-588B-5E72-87EC-EA93EA72D77E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Why Prediction Has Monetary Value</a:t>
            </a:r>
            <a:endParaRPr lang="en-PH" sz="2800" b="1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A46DB-C62C-1F23-CE35-EBF45C30140B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 model that identifies the right 500 clients out of 100,000 - before they leave - is worth ₱6.95M in preserved revenue per cycle.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64880B-0AE1-CD3C-5310-ECD1F803BA56}"/>
              </a:ext>
            </a:extLst>
          </p:cNvPr>
          <p:cNvSpPr/>
          <p:nvPr/>
        </p:nvSpPr>
        <p:spPr>
          <a:xfrm>
            <a:off x="731520" y="1587043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518758-B533-7B87-952D-9B57AF3B8D6F}"/>
              </a:ext>
            </a:extLst>
          </p:cNvPr>
          <p:cNvSpPr/>
          <p:nvPr/>
        </p:nvSpPr>
        <p:spPr>
          <a:xfrm>
            <a:off x="731520" y="1587043"/>
            <a:ext cx="338328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5E440-4AB7-360C-DD66-4EEBB1B5B0EB}"/>
              </a:ext>
            </a:extLst>
          </p:cNvPr>
          <p:cNvSpPr txBox="1"/>
          <p:nvPr/>
        </p:nvSpPr>
        <p:spPr>
          <a:xfrm>
            <a:off x="1005840" y="1769923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9E9E9E"/>
                </a:solidFill>
                <a:latin typeface="Arial" panose="020B0604020202020204" pitchFamily="34" charset="0"/>
              </a:rPr>
              <a:t>Cost to Acquire 1 Client</a:t>
            </a:r>
            <a:endParaRPr lang="en-PH" sz="13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21C3F0-53D3-630D-C32D-39C5C6A3E46D}"/>
              </a:ext>
            </a:extLst>
          </p:cNvPr>
          <p:cNvSpPr txBox="1"/>
          <p:nvPr/>
        </p:nvSpPr>
        <p:spPr>
          <a:xfrm>
            <a:off x="1005840" y="2089963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₱5K – ₱15K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01AD46-C78B-80AA-0296-DD4696ACC314}"/>
              </a:ext>
            </a:extLst>
          </p:cNvPr>
          <p:cNvSpPr txBox="1"/>
          <p:nvPr/>
        </p:nvSpPr>
        <p:spPr>
          <a:xfrm>
            <a:off x="1005840" y="2684323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vs. ~₱500 to retain  (BSP, 2023)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8C9978-AE10-2A17-CC80-FBC7A1A1DAD6}"/>
              </a:ext>
            </a:extLst>
          </p:cNvPr>
          <p:cNvSpPr/>
          <p:nvPr/>
        </p:nvSpPr>
        <p:spPr>
          <a:xfrm>
            <a:off x="4389120" y="1587043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F25929-0B0B-F72F-B8BD-5E81D9E8FEFA}"/>
              </a:ext>
            </a:extLst>
          </p:cNvPr>
          <p:cNvSpPr/>
          <p:nvPr/>
        </p:nvSpPr>
        <p:spPr>
          <a:xfrm>
            <a:off x="4389120" y="1587043"/>
            <a:ext cx="3383280" cy="64008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0D64BE-5D93-A874-7B7F-99B48EA29B76}"/>
              </a:ext>
            </a:extLst>
          </p:cNvPr>
          <p:cNvSpPr txBox="1"/>
          <p:nvPr/>
        </p:nvSpPr>
        <p:spPr>
          <a:xfrm>
            <a:off x="4663440" y="1769923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9E9E9E"/>
                </a:solidFill>
                <a:latin typeface="Arial" panose="020B0604020202020204" pitchFamily="34" charset="0"/>
              </a:rPr>
              <a:t>Avg. Credit Card CLV (PH)</a:t>
            </a:r>
            <a:endParaRPr lang="en-PH" sz="13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48657D-423B-0D23-C27F-94A2838F2BBA}"/>
              </a:ext>
            </a:extLst>
          </p:cNvPr>
          <p:cNvSpPr txBox="1"/>
          <p:nvPr/>
        </p:nvSpPr>
        <p:spPr>
          <a:xfrm>
            <a:off x="4663440" y="2089963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B839"/>
                </a:solidFill>
                <a:latin typeface="Arial" panose="020B0604020202020204" pitchFamily="34" charset="0"/>
              </a:rPr>
              <a:t>₱30K – ₱60K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454D0-236D-4E38-B69A-01A17C6EFFDE}"/>
              </a:ext>
            </a:extLst>
          </p:cNvPr>
          <p:cNvSpPr txBox="1"/>
          <p:nvPr/>
        </p:nvSpPr>
        <p:spPr>
          <a:xfrm>
            <a:off x="4663440" y="2684323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200">
                <a:solidFill>
                  <a:srgbClr val="9E9E9E"/>
                </a:solidFill>
                <a:latin typeface="Arial" panose="020B0604020202020204" pitchFamily="34" charset="0"/>
              </a:rPr>
              <a:t>3–5 yr tenure × ~₱9K/yr net revenue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1978DB-ED87-9BE8-1FC2-74ECA0707296}"/>
              </a:ext>
            </a:extLst>
          </p:cNvPr>
          <p:cNvSpPr/>
          <p:nvPr/>
        </p:nvSpPr>
        <p:spPr>
          <a:xfrm>
            <a:off x="8046720" y="1587043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F9D44B-1717-71C5-655A-15ED6B5E7590}"/>
              </a:ext>
            </a:extLst>
          </p:cNvPr>
          <p:cNvSpPr/>
          <p:nvPr/>
        </p:nvSpPr>
        <p:spPr>
          <a:xfrm>
            <a:off x="8046720" y="1587043"/>
            <a:ext cx="33832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D6CAA7-86D3-479E-A696-FC3CF6919840}"/>
              </a:ext>
            </a:extLst>
          </p:cNvPr>
          <p:cNvSpPr txBox="1"/>
          <p:nvPr/>
        </p:nvSpPr>
        <p:spPr>
          <a:xfrm>
            <a:off x="8321040" y="1769923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Retention ↑5%  →  Profit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B42481-ED35-FFF1-8491-25A6FF222438}"/>
              </a:ext>
            </a:extLst>
          </p:cNvPr>
          <p:cNvSpPr txBox="1"/>
          <p:nvPr/>
        </p:nvSpPr>
        <p:spPr>
          <a:xfrm>
            <a:off x="8321040" y="2089963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F08248"/>
                </a:solidFill>
                <a:latin typeface="Arial" panose="020B0604020202020204" pitchFamily="34" charset="0"/>
              </a:rPr>
              <a:t>+25 – 55%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9CE3B1-5047-F42E-941B-50C3B810BF14}"/>
              </a:ext>
            </a:extLst>
          </p:cNvPr>
          <p:cNvSpPr txBox="1"/>
          <p:nvPr/>
        </p:nvSpPr>
        <p:spPr>
          <a:xfrm>
            <a:off x="8321040" y="2684323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Bain &amp; Company (2013)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30DB66-C233-0A75-E6EB-4DBBC37EE06B}"/>
              </a:ext>
            </a:extLst>
          </p:cNvPr>
          <p:cNvSpPr txBox="1"/>
          <p:nvPr/>
        </p:nvSpPr>
        <p:spPr>
          <a:xfrm>
            <a:off x="731520" y="3415843"/>
            <a:ext cx="8229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D"/>
                </a:solidFill>
                <a:latin typeface="Arial" panose="020B0604020202020204" pitchFamily="34" charset="0"/>
              </a:rPr>
              <a:t>EXPECTED VALUE FRAMEWORK  —  100K Portfolio  |  5% Annual Churn  |  Avg CLV ₱36,000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D21D86-D8E4-7B60-3E7F-F88BB105E984}"/>
              </a:ext>
            </a:extLst>
          </p:cNvPr>
          <p:cNvSpPr/>
          <p:nvPr/>
        </p:nvSpPr>
        <p:spPr>
          <a:xfrm>
            <a:off x="731520" y="3873043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7A8DF-79C6-448D-0A64-9CDA5ABCE492}"/>
              </a:ext>
            </a:extLst>
          </p:cNvPr>
          <p:cNvSpPr txBox="1"/>
          <p:nvPr/>
        </p:nvSpPr>
        <p:spPr>
          <a:xfrm>
            <a:off x="1005840" y="3927907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At-risk clients (5% of 100K)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56F006-21A7-78EA-2E30-1ADBCAAF6187}"/>
              </a:ext>
            </a:extLst>
          </p:cNvPr>
          <p:cNvSpPr txBox="1"/>
          <p:nvPr/>
        </p:nvSpPr>
        <p:spPr>
          <a:xfrm>
            <a:off x="7772400" y="3927907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5,000 clients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DF10A8-BA38-A690-E03D-685FEF37E4D2}"/>
              </a:ext>
            </a:extLst>
          </p:cNvPr>
          <p:cNvSpPr txBox="1"/>
          <p:nvPr/>
        </p:nvSpPr>
        <p:spPr>
          <a:xfrm>
            <a:off x="9966960" y="3927907"/>
            <a:ext cx="1371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PH" sz="11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B77BDCC-05E0-ABD2-B908-949BA73F9C45}"/>
              </a:ext>
            </a:extLst>
          </p:cNvPr>
          <p:cNvSpPr/>
          <p:nvPr/>
        </p:nvSpPr>
        <p:spPr>
          <a:xfrm>
            <a:off x="731520" y="4311955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DD0DAD-14E1-2C7C-1479-4E8A10B667B0}"/>
              </a:ext>
            </a:extLst>
          </p:cNvPr>
          <p:cNvSpPr txBox="1"/>
          <p:nvPr/>
        </p:nvSpPr>
        <p:spPr>
          <a:xfrm>
            <a:off x="1005840" y="4366819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Revenue at risk (5,000 × ₱36,000 avg CLV)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5E9E3B-8A07-93E7-319D-4142A0AC8E89}"/>
              </a:ext>
            </a:extLst>
          </p:cNvPr>
          <p:cNvSpPr txBox="1"/>
          <p:nvPr/>
        </p:nvSpPr>
        <p:spPr>
          <a:xfrm>
            <a:off x="7772400" y="4366819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₱180,000,000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D74D47-2B1C-80C6-5E32-2BB9ADCA4F55}"/>
              </a:ext>
            </a:extLst>
          </p:cNvPr>
          <p:cNvSpPr txBox="1"/>
          <p:nvPr/>
        </p:nvSpPr>
        <p:spPr>
          <a:xfrm>
            <a:off x="9966960" y="4366819"/>
            <a:ext cx="1371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9E9E9E"/>
                </a:solidFill>
                <a:latin typeface="Arial" panose="020B0604020202020204" pitchFamily="34" charset="0"/>
              </a:rPr>
              <a:t>annually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07E5F6F-4036-1CB6-C549-AB9FF3416EF1}"/>
              </a:ext>
            </a:extLst>
          </p:cNvPr>
          <p:cNvSpPr/>
          <p:nvPr/>
        </p:nvSpPr>
        <p:spPr>
          <a:xfrm>
            <a:off x="731520" y="4750867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78777D-D5EA-F939-ED1E-439926502936}"/>
              </a:ext>
            </a:extLst>
          </p:cNvPr>
          <p:cNvSpPr txBox="1"/>
          <p:nvPr/>
        </p:nvSpPr>
        <p:spPr>
          <a:xfrm>
            <a:off x="1005840" y="4805731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Targeted intervention (top decile, 40% success rate)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EC6B6-828C-DB5B-CDDF-9A50C0355812}"/>
              </a:ext>
            </a:extLst>
          </p:cNvPr>
          <p:cNvSpPr txBox="1"/>
          <p:nvPr/>
        </p:nvSpPr>
        <p:spPr>
          <a:xfrm>
            <a:off x="7772400" y="4805731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~200 retained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ABC481-C768-89C9-F05F-428DF8F84672}"/>
              </a:ext>
            </a:extLst>
          </p:cNvPr>
          <p:cNvSpPr txBox="1"/>
          <p:nvPr/>
        </p:nvSpPr>
        <p:spPr>
          <a:xfrm>
            <a:off x="9966960" y="4805731"/>
            <a:ext cx="137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9E9E9E"/>
                </a:solidFill>
                <a:latin typeface="Arial" panose="020B0604020202020204" pitchFamily="34" charset="0"/>
              </a:rPr>
              <a:t>500 contacted × 40%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4FFC3F-1ECB-6992-14BE-24741D1F8D30}"/>
              </a:ext>
            </a:extLst>
          </p:cNvPr>
          <p:cNvSpPr/>
          <p:nvPr/>
        </p:nvSpPr>
        <p:spPr>
          <a:xfrm>
            <a:off x="731520" y="5189779"/>
            <a:ext cx="10698479" cy="384047"/>
          </a:xfrm>
          <a:prstGeom prst="roundRect">
            <a:avLst>
              <a:gd name="adj" fmla="val 6000"/>
            </a:avLst>
          </a:prstGeom>
          <a:solidFill>
            <a:srgbClr val="59AA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0F3BD9-A499-F5C1-807C-8B42BD322766}"/>
              </a:ext>
            </a:extLst>
          </p:cNvPr>
          <p:cNvSpPr txBox="1"/>
          <p:nvPr/>
        </p:nvSpPr>
        <p:spPr>
          <a:xfrm>
            <a:off x="1005840" y="5244643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4B4B4B"/>
                </a:solidFill>
                <a:latin typeface="Arial" panose="020B0604020202020204" pitchFamily="34" charset="0"/>
              </a:rPr>
              <a:t>Net revenue preserved (200 × ₱36K CLV − ₱250K cost)</a:t>
            </a:r>
            <a:endParaRPr lang="en-PH" sz="1300" b="1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16233B-7836-B02B-A0F2-14E40E78BC9A}"/>
              </a:ext>
            </a:extLst>
          </p:cNvPr>
          <p:cNvSpPr txBox="1"/>
          <p:nvPr/>
        </p:nvSpPr>
        <p:spPr>
          <a:xfrm>
            <a:off x="7772400" y="5244643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~₱6,950,000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E55D7-4DFB-D006-AA25-DF20FAFDE47B}"/>
              </a:ext>
            </a:extLst>
          </p:cNvPr>
          <p:cNvSpPr txBox="1"/>
          <p:nvPr/>
        </p:nvSpPr>
        <p:spPr>
          <a:xfrm>
            <a:off x="9966960" y="5244643"/>
            <a:ext cx="137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dirty="0">
                <a:solidFill>
                  <a:schemeClr val="bg1"/>
                </a:solidFill>
                <a:latin typeface="Arial" panose="020B0604020202020204" pitchFamily="34" charset="0"/>
              </a:rPr>
              <a:t>per intervention cycle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453F008-210F-57D6-33A5-B23697C8AD30}"/>
              </a:ext>
            </a:extLst>
          </p:cNvPr>
          <p:cNvSpPr/>
          <p:nvPr/>
        </p:nvSpPr>
        <p:spPr>
          <a:xfrm>
            <a:off x="731520" y="5747563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1CF8FF-4F95-0BB3-3AC5-0C1BD37D82D9}"/>
              </a:ext>
            </a:extLst>
          </p:cNvPr>
          <p:cNvSpPr txBox="1"/>
          <p:nvPr/>
        </p:nvSpPr>
        <p:spPr>
          <a:xfrm>
            <a:off x="1005840" y="5899892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i="1" dirty="0">
                <a:solidFill>
                  <a:srgbClr val="C8DCFC"/>
                </a:solidFill>
                <a:latin typeface="Arial" panose="020B0604020202020204" pitchFamily="34" charset="0"/>
              </a:rPr>
              <a:t>Note: This calculation assumes 5% churn out of 100k customers with 40% real-world success rate (McKinsey estimate). </a:t>
            </a:r>
            <a:endParaRPr lang="en-PH" sz="1300" i="1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A1C825-23DC-2ED4-B55C-6CB3C2BA4B33}"/>
              </a:ext>
            </a:extLst>
          </p:cNvPr>
          <p:cNvSpPr txBox="1"/>
          <p:nvPr/>
        </p:nvSpPr>
        <p:spPr>
          <a:xfrm>
            <a:off x="731520" y="6629400"/>
            <a:ext cx="1069848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850">
                <a:solidFill>
                  <a:srgbClr val="9E9E9E"/>
                </a:solidFill>
                <a:latin typeface="Arial" panose="020B0604020202020204" pitchFamily="34" charset="0"/>
              </a:rPr>
              <a:t>Sources:  (1) BSP, "Credit Card Industry Report &amp; Financial Stability Report," 2023  ·  (2) Bangko Sentral ng Pilipinas, "Consumer Finance Survey," 2022  ·  (3) Bain &amp; Company, "Customer Loyalty in Retail Banking," 2013  ·  (4) McKinsey &amp; Company, "Remaking the bank for an ecosystem world," 2017  ·  (5) Reichheld &amp; Sasser, "Zero Defections: Quality Comes to Services," Harvard Business Review, 1990</a:t>
            </a:r>
          </a:p>
        </p:txBody>
      </p:sp>
    </p:spTree>
    <p:extLst>
      <p:ext uri="{BB962C8B-B14F-4D97-AF65-F5344CB8AC3E}">
        <p14:creationId xmlns:p14="http://schemas.microsoft.com/office/powerpoint/2010/main" val="3656350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E8839A-2BB8-A161-E01E-1ABA4BE7CA7D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C8F6E-091A-514E-AD4B-7C3CB1645DD4}"/>
              </a:ext>
            </a:extLst>
          </p:cNvPr>
          <p:cNvSpPr txBox="1"/>
          <p:nvPr/>
        </p:nvSpPr>
        <p:spPr>
          <a:xfrm>
            <a:off x="731520" y="70107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Dataset Overview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AA3DCA-E5D4-0ECC-2974-EA78B51D5ED6}"/>
              </a:ext>
            </a:extLst>
          </p:cNvPr>
          <p:cNvSpPr/>
          <p:nvPr/>
        </p:nvSpPr>
        <p:spPr>
          <a:xfrm>
            <a:off x="632308" y="15544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3477B-0E7C-1569-A939-C29B4D90DC94}"/>
              </a:ext>
            </a:extLst>
          </p:cNvPr>
          <p:cNvSpPr/>
          <p:nvPr/>
        </p:nvSpPr>
        <p:spPr>
          <a:xfrm>
            <a:off x="632308" y="1554480"/>
            <a:ext cx="256032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AF8D4-7443-6CEC-DF12-A6F57EEF3C80}"/>
              </a:ext>
            </a:extLst>
          </p:cNvPr>
          <p:cNvSpPr txBox="1"/>
          <p:nvPr/>
        </p:nvSpPr>
        <p:spPr>
          <a:xfrm>
            <a:off x="90662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DEMOGRAPHIC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B2F7F-DC2B-06F9-1CE1-71542A5922E2}"/>
              </a:ext>
            </a:extLst>
          </p:cNvPr>
          <p:cNvSpPr txBox="1"/>
          <p:nvPr/>
        </p:nvSpPr>
        <p:spPr>
          <a:xfrm>
            <a:off x="906628" y="219456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Age, Gender,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MaritalStatus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EducationLevel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, Country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7D2518-2B29-8DD8-AF6B-D33C4968B2B5}"/>
              </a:ext>
            </a:extLst>
          </p:cNvPr>
          <p:cNvSpPr/>
          <p:nvPr/>
        </p:nvSpPr>
        <p:spPr>
          <a:xfrm>
            <a:off x="3421228" y="1554480"/>
            <a:ext cx="25603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639F75-7C97-69B7-60AB-D1D651A57B82}"/>
              </a:ext>
            </a:extLst>
          </p:cNvPr>
          <p:cNvSpPr/>
          <p:nvPr/>
        </p:nvSpPr>
        <p:spPr>
          <a:xfrm>
            <a:off x="3421228" y="1554480"/>
            <a:ext cx="2560319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AAA4B-E9B5-1ED9-B181-5176BA0DABD0}"/>
              </a:ext>
            </a:extLst>
          </p:cNvPr>
          <p:cNvSpPr txBox="1"/>
          <p:nvPr/>
        </p:nvSpPr>
        <p:spPr>
          <a:xfrm>
            <a:off x="369554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FINANCIAL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3669C9-AC13-E16E-279B-53A07DEB3199}"/>
              </a:ext>
            </a:extLst>
          </p:cNvPr>
          <p:cNvSpPr txBox="1"/>
          <p:nvPr/>
        </p:nvSpPr>
        <p:spPr>
          <a:xfrm>
            <a:off x="369554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Income,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CreditLimit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TotalSpend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F56BD2-0BF7-DF3D-9C60-78691C4B3FC5}"/>
              </a:ext>
            </a:extLst>
          </p:cNvPr>
          <p:cNvSpPr/>
          <p:nvPr/>
        </p:nvSpPr>
        <p:spPr>
          <a:xfrm>
            <a:off x="6210148" y="15544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B928D3-582A-92F8-0053-E87FE5F5305D}"/>
              </a:ext>
            </a:extLst>
          </p:cNvPr>
          <p:cNvSpPr/>
          <p:nvPr/>
        </p:nvSpPr>
        <p:spPr>
          <a:xfrm>
            <a:off x="6210148" y="1554480"/>
            <a:ext cx="2560320" cy="64008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5A8D3B-F21E-5F1D-D1FC-77ECFDBFA019}"/>
              </a:ext>
            </a:extLst>
          </p:cNvPr>
          <p:cNvSpPr txBox="1"/>
          <p:nvPr/>
        </p:nvSpPr>
        <p:spPr>
          <a:xfrm>
            <a:off x="648446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62761"/>
                </a:solidFill>
                <a:latin typeface="Arial" panose="020B0604020202020204" pitchFamily="34" charset="0"/>
              </a:rPr>
              <a:t>BEHAVIORAL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4A6B75-D7F8-0482-F3AA-7E6BF307C36A}"/>
              </a:ext>
            </a:extLst>
          </p:cNvPr>
          <p:cNvSpPr txBox="1"/>
          <p:nvPr/>
        </p:nvSpPr>
        <p:spPr>
          <a:xfrm>
            <a:off x="648446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TotalTransactions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Tenure,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CardType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E3BAB1-1FD0-49CA-27B0-288B67350D5D}"/>
              </a:ext>
            </a:extLst>
          </p:cNvPr>
          <p:cNvSpPr/>
          <p:nvPr/>
        </p:nvSpPr>
        <p:spPr>
          <a:xfrm>
            <a:off x="8999068" y="1554480"/>
            <a:ext cx="25603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053E9E-3A32-426C-F954-BAFD587B0A6A}"/>
              </a:ext>
            </a:extLst>
          </p:cNvPr>
          <p:cNvSpPr/>
          <p:nvPr/>
        </p:nvSpPr>
        <p:spPr>
          <a:xfrm>
            <a:off x="8999068" y="1554480"/>
            <a:ext cx="2560319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A52357-5545-C4C8-58E0-7CBED19C0FE7}"/>
              </a:ext>
            </a:extLst>
          </p:cNvPr>
          <p:cNvSpPr txBox="1"/>
          <p:nvPr/>
        </p:nvSpPr>
        <p:spPr>
          <a:xfrm>
            <a:off x="927338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TARGET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5DB2A9-E20B-854C-A35E-F54972D2F3B1}"/>
              </a:ext>
            </a:extLst>
          </p:cNvPr>
          <p:cNvSpPr txBox="1"/>
          <p:nvPr/>
        </p:nvSpPr>
        <p:spPr>
          <a:xfrm>
            <a:off x="927338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AttritionFlag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 (binary: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0 = Stayed, 1 =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Attrited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)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D35969-378E-B622-D4CD-399E321CE9DD}"/>
              </a:ext>
            </a:extLst>
          </p:cNvPr>
          <p:cNvSpPr txBox="1"/>
          <p:nvPr/>
        </p:nvSpPr>
        <p:spPr>
          <a:xfrm>
            <a:off x="731520" y="393192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KEY NUMBERS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3C34109-760C-DD45-A797-C6FBD22E4426}"/>
              </a:ext>
            </a:extLst>
          </p:cNvPr>
          <p:cNvSpPr/>
          <p:nvPr/>
        </p:nvSpPr>
        <p:spPr>
          <a:xfrm>
            <a:off x="731520" y="4434840"/>
            <a:ext cx="106984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EBB1F4-46AF-EB51-25F2-7168F27D869B}"/>
              </a:ext>
            </a:extLst>
          </p:cNvPr>
          <p:cNvSpPr txBox="1"/>
          <p:nvPr/>
        </p:nvSpPr>
        <p:spPr>
          <a:xfrm>
            <a:off x="1188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 dirty="0">
                <a:solidFill>
                  <a:srgbClr val="1A2A3D"/>
                </a:solidFill>
                <a:latin typeface="Arial" panose="020B0604020202020204" pitchFamily="34" charset="0"/>
              </a:rPr>
              <a:t>100,000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F2391C-9B59-1F49-3237-480E8A3D2005}"/>
              </a:ext>
            </a:extLst>
          </p:cNvPr>
          <p:cNvSpPr txBox="1"/>
          <p:nvPr/>
        </p:nvSpPr>
        <p:spPr>
          <a:xfrm>
            <a:off x="1188720" y="5074920"/>
            <a:ext cx="20116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Clean Records (post-</a:t>
            </a:r>
            <a:r>
              <a:rPr lang="en-PH" sz="1100" b="1" dirty="0" err="1">
                <a:solidFill>
                  <a:srgbClr val="9E9E9E"/>
                </a:solidFill>
                <a:latin typeface="Arial" panose="020B0604020202020204" pitchFamily="34" charset="0"/>
              </a:rPr>
              <a:t>dedup</a:t>
            </a:r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454ADB-550B-EFE9-4A0B-8653EF3D2D03}"/>
              </a:ext>
            </a:extLst>
          </p:cNvPr>
          <p:cNvSpPr txBox="1"/>
          <p:nvPr/>
        </p:nvSpPr>
        <p:spPr>
          <a:xfrm>
            <a:off x="3474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95 / 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AF7C51-4438-9DC8-D4D3-937E2FC24C0C}"/>
              </a:ext>
            </a:extLst>
          </p:cNvPr>
          <p:cNvSpPr txBox="1"/>
          <p:nvPr/>
        </p:nvSpPr>
        <p:spPr>
          <a:xfrm>
            <a:off x="347472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Stayed vs. </a:t>
            </a:r>
            <a:r>
              <a:rPr lang="en-PH" sz="1200" b="1" dirty="0" err="1">
                <a:solidFill>
                  <a:srgbClr val="9E9E9E"/>
                </a:solidFill>
                <a:latin typeface="Arial" panose="020B0604020202020204" pitchFamily="34" charset="0"/>
              </a:rPr>
              <a:t>Attrited</a:t>
            </a:r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 (%)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4F1DCB-FF24-2A4B-0B2D-B060C95F3FAF}"/>
              </a:ext>
            </a:extLst>
          </p:cNvPr>
          <p:cNvSpPr txBox="1"/>
          <p:nvPr/>
        </p:nvSpPr>
        <p:spPr>
          <a:xfrm>
            <a:off x="5760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208090"/>
                </a:solidFill>
                <a:latin typeface="Arial" panose="020B0604020202020204" pitchFamily="34" charset="0"/>
              </a:rPr>
              <a:t>13 + 50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15310A-D457-A590-48AE-4E43570A04E6}"/>
              </a:ext>
            </a:extLst>
          </p:cNvPr>
          <p:cNvSpPr txBox="1"/>
          <p:nvPr/>
        </p:nvSpPr>
        <p:spPr>
          <a:xfrm>
            <a:off x="5760720" y="5074920"/>
            <a:ext cx="20116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Core + Anonymous Features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8A743A-6A81-BDE7-3E1D-6C1E2B3DE3C8}"/>
              </a:ext>
            </a:extLst>
          </p:cNvPr>
          <p:cNvSpPr txBox="1"/>
          <p:nvPr/>
        </p:nvSpPr>
        <p:spPr>
          <a:xfrm>
            <a:off x="8046720" y="4572000"/>
            <a:ext cx="256032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~5,000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CB58BC-3E03-C13C-E301-87C092294012}"/>
              </a:ext>
            </a:extLst>
          </p:cNvPr>
          <p:cNvSpPr txBox="1"/>
          <p:nvPr/>
        </p:nvSpPr>
        <p:spPr>
          <a:xfrm>
            <a:off x="8046720" y="5074920"/>
            <a:ext cx="25603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Missing per Column (~5%)</a:t>
            </a:r>
          </a:p>
        </p:txBody>
      </p:sp>
    </p:spTree>
    <p:extLst>
      <p:ext uri="{BB962C8B-B14F-4D97-AF65-F5344CB8AC3E}">
        <p14:creationId xmlns:p14="http://schemas.microsoft.com/office/powerpoint/2010/main" val="586615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796412-5A82-A86D-C9D6-18BE3357E4BF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C716CB-55FC-2F71-846F-9228BE3C431E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B72DD-227A-8F6E-32F5-3FFFB5B5449D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Statistical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B3149-FD42-01F4-B1D2-1425A9E2E60B}"/>
              </a:ext>
            </a:extLst>
          </p:cNvPr>
          <p:cNvSpPr txBox="1"/>
          <p:nvPr/>
        </p:nvSpPr>
        <p:spPr>
          <a:xfrm>
            <a:off x="731520" y="3840480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>
                <a:solidFill>
                  <a:srgbClr val="C8DCFC"/>
                </a:solidFill>
                <a:latin typeface="Arial" panose="020B0604020202020204" pitchFamily="34" charset="0"/>
              </a:rPr>
              <a:t>Univariate, Bivariate, Multivariate &amp; Significance Tests</a:t>
            </a:r>
            <a:endParaRPr lang="en-PH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1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F53F50-3255-8A0F-5448-AD05520BBDE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468A4-1560-1303-3512-1CA59EFCEDA4}"/>
              </a:ext>
            </a:extLst>
          </p:cNvPr>
          <p:cNvSpPr txBox="1"/>
          <p:nvPr/>
        </p:nvSpPr>
        <p:spPr>
          <a:xfrm>
            <a:off x="731520" y="705642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1.1  Class Imbalance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AEBCA6-5727-4420-1A4C-D42A0560036E}"/>
              </a:ext>
            </a:extLst>
          </p:cNvPr>
          <p:cNvSpPr/>
          <p:nvPr/>
        </p:nvSpPr>
        <p:spPr>
          <a:xfrm>
            <a:off x="731520" y="1645920"/>
            <a:ext cx="8686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330802-0835-4933-D02E-628A6044F8E0}"/>
              </a:ext>
            </a:extLst>
          </p:cNvPr>
          <p:cNvSpPr/>
          <p:nvPr/>
        </p:nvSpPr>
        <p:spPr>
          <a:xfrm>
            <a:off x="731520" y="1645920"/>
            <a:ext cx="8183879" cy="10972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83910-3418-774B-9C95-7AE8F420C7D4}"/>
              </a:ext>
            </a:extLst>
          </p:cNvPr>
          <p:cNvSpPr txBox="1"/>
          <p:nvPr/>
        </p:nvSpPr>
        <p:spPr>
          <a:xfrm>
            <a:off x="1005840" y="1755648"/>
            <a:ext cx="2743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FFFFFF"/>
                </a:solidFill>
                <a:latin typeface="Arial" panose="020B0604020202020204" pitchFamily="34" charset="0"/>
              </a:rPr>
              <a:t>STAYED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24544B-4509-11BD-A0D7-7C4BA2B99227}"/>
              </a:ext>
            </a:extLst>
          </p:cNvPr>
          <p:cNvSpPr txBox="1"/>
          <p:nvPr/>
        </p:nvSpPr>
        <p:spPr>
          <a:xfrm>
            <a:off x="1005840" y="214884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dirty="0">
                <a:solidFill>
                  <a:srgbClr val="FFFFFF"/>
                </a:solidFill>
                <a:latin typeface="Arial" panose="020B0604020202020204" pitchFamily="34" charset="0"/>
              </a:rPr>
              <a:t>95,040 customers  (95.04%)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C1C3B3-A91B-F32D-F507-AD32FFC0F3CE}"/>
              </a:ext>
            </a:extLst>
          </p:cNvPr>
          <p:cNvSpPr/>
          <p:nvPr/>
        </p:nvSpPr>
        <p:spPr>
          <a:xfrm>
            <a:off x="731520" y="2926080"/>
            <a:ext cx="8686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DEC22D-A315-DF2F-FAB9-9C611CB86964}"/>
              </a:ext>
            </a:extLst>
          </p:cNvPr>
          <p:cNvSpPr/>
          <p:nvPr/>
        </p:nvSpPr>
        <p:spPr>
          <a:xfrm>
            <a:off x="731520" y="2926080"/>
            <a:ext cx="448056" cy="109728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BB1AE-DBFA-13FD-FCE8-97A3023B3FB9}"/>
              </a:ext>
            </a:extLst>
          </p:cNvPr>
          <p:cNvSpPr txBox="1"/>
          <p:nvPr/>
        </p:nvSpPr>
        <p:spPr>
          <a:xfrm>
            <a:off x="1371600" y="3035808"/>
            <a:ext cx="2743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E84747"/>
                </a:solidFill>
                <a:latin typeface="Arial" panose="020B0604020202020204" pitchFamily="34" charset="0"/>
              </a:rPr>
              <a:t>ATTRITED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7CF9CD-8D6E-9488-F7F6-F83DDF6FB98C}"/>
              </a:ext>
            </a:extLst>
          </p:cNvPr>
          <p:cNvSpPr txBox="1"/>
          <p:nvPr/>
        </p:nvSpPr>
        <p:spPr>
          <a:xfrm>
            <a:off x="1371600" y="342900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dirty="0">
                <a:solidFill>
                  <a:srgbClr val="4B4B4B"/>
                </a:solidFill>
                <a:latin typeface="Arial" panose="020B0604020202020204" pitchFamily="34" charset="0"/>
              </a:rPr>
              <a:t>4,960 customers  (4.96%)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F2533E-C667-757A-B45F-1E293A5069F4}"/>
              </a:ext>
            </a:extLst>
          </p:cNvPr>
          <p:cNvSpPr/>
          <p:nvPr/>
        </p:nvSpPr>
        <p:spPr>
          <a:xfrm>
            <a:off x="731520" y="4389120"/>
            <a:ext cx="512064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E0B8D7-0D9C-7398-AFA3-4605E7972D36}"/>
              </a:ext>
            </a:extLst>
          </p:cNvPr>
          <p:cNvSpPr/>
          <p:nvPr/>
        </p:nvSpPr>
        <p:spPr>
          <a:xfrm>
            <a:off x="731520" y="4389120"/>
            <a:ext cx="54864" cy="164592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4F44F6-BD52-0E4D-B8C7-80B43CFFB02E}"/>
              </a:ext>
            </a:extLst>
          </p:cNvPr>
          <p:cNvSpPr txBox="1"/>
          <p:nvPr/>
        </p:nvSpPr>
        <p:spPr>
          <a:xfrm>
            <a:off x="1097280" y="452628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IMPLICATION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BDFA4-7E1F-A9C5-2F13-B1099D06E3DD}"/>
              </a:ext>
            </a:extLst>
          </p:cNvPr>
          <p:cNvSpPr txBox="1"/>
          <p:nvPr/>
        </p:nvSpPr>
        <p:spPr>
          <a:xfrm>
            <a:off x="1097280" y="4892040"/>
            <a:ext cx="4572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Model must not default to always predicting the majority class. Oversampling and class-weighting strategies are required.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6CFAD54-B865-9C94-40D2-A753E5B08645}"/>
              </a:ext>
            </a:extLst>
          </p:cNvPr>
          <p:cNvSpPr/>
          <p:nvPr/>
        </p:nvSpPr>
        <p:spPr>
          <a:xfrm>
            <a:off x="6217920" y="4389120"/>
            <a:ext cx="52120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A50090-8F2F-D38B-E091-77CC36B98F2F}"/>
              </a:ext>
            </a:extLst>
          </p:cNvPr>
          <p:cNvSpPr/>
          <p:nvPr/>
        </p:nvSpPr>
        <p:spPr>
          <a:xfrm>
            <a:off x="6217920" y="4389120"/>
            <a:ext cx="54864" cy="164592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68CD0D-5041-E6FF-D1B0-699C2D6495EC}"/>
              </a:ext>
            </a:extLst>
          </p:cNvPr>
          <p:cNvSpPr txBox="1"/>
          <p:nvPr/>
        </p:nvSpPr>
        <p:spPr>
          <a:xfrm>
            <a:off x="6583680" y="452628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solidFill>
                  <a:srgbClr val="208090"/>
                </a:solidFill>
                <a:latin typeface="Arial" panose="020B0604020202020204" pitchFamily="34" charset="0"/>
              </a:rPr>
              <a:t>N</a:t>
            </a:r>
            <a:r>
              <a:rPr lang="en-PH" sz="1400" b="1" dirty="0">
                <a:solidFill>
                  <a:srgbClr val="208090"/>
                </a:solidFill>
                <a:latin typeface="Arial" panose="020B0604020202020204" pitchFamily="34" charset="0"/>
              </a:rPr>
              <a:t>OTE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0D918E-FDBC-170B-1B4F-A5B61CAEB38A}"/>
              </a:ext>
            </a:extLst>
          </p:cNvPr>
          <p:cNvSpPr txBox="1"/>
          <p:nvPr/>
        </p:nvSpPr>
        <p:spPr>
          <a:xfrm>
            <a:off x="6583680" y="4892040"/>
            <a:ext cx="4572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After </a:t>
            </a:r>
            <a:r>
              <a:rPr lang="en-US" sz="1300" b="1" dirty="0" err="1">
                <a:solidFill>
                  <a:srgbClr val="4B4B4B"/>
                </a:solidFill>
                <a:latin typeface="Arial" panose="020B0604020202020204" pitchFamily="34" charset="0"/>
              </a:rPr>
              <a:t>drop_duplicates</a:t>
            </a:r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(), 1,000 duplicate rows removed. 100,000 clean records remain. 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859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0A948E-1609-15BC-5379-5621E1F81074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A6A59-617F-3091-1A7E-499423CF3203}"/>
              </a:ext>
            </a:extLst>
          </p:cNvPr>
          <p:cNvSpPr txBox="1"/>
          <p:nvPr/>
        </p:nvSpPr>
        <p:spPr>
          <a:xfrm>
            <a:off x="731520" y="574061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1.2  Univariate Analysis (Continuous Features)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D64E80-6699-A802-0FB7-E4AF10E13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06210"/>
              </p:ext>
            </p:extLst>
          </p:nvPr>
        </p:nvGraphicFramePr>
        <p:xfrm>
          <a:off x="731520" y="1463040"/>
          <a:ext cx="10698480" cy="3291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4280153726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377961705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301493826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206180655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1445964569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Skewness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Distribution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49228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Age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44.51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45.0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-0.002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99969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75,907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Highly Right-Skewed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134097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5,191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5.09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Highly Right-Skewed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84062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TotalTransactions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99.99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0.10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25671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14981.00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1503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</a:t>
                      </a:r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41803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D1CE70-1F83-2629-7A41-9AC62E705D84}"/>
              </a:ext>
            </a:extLst>
          </p:cNvPr>
          <p:cNvSpPr/>
          <p:nvPr/>
        </p:nvSpPr>
        <p:spPr>
          <a:xfrm>
            <a:off x="731520" y="5120640"/>
            <a:ext cx="10698479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F94154-7054-B94A-8C4F-7BA3D1C67624}"/>
              </a:ext>
            </a:extLst>
          </p:cNvPr>
          <p:cNvSpPr/>
          <p:nvPr/>
        </p:nvSpPr>
        <p:spPr>
          <a:xfrm>
            <a:off x="731520" y="5120640"/>
            <a:ext cx="54864" cy="1097280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60003B-E870-2BC0-74B9-CD851D55F6E9}"/>
              </a:ext>
            </a:extLst>
          </p:cNvPr>
          <p:cNvSpPr txBox="1"/>
          <p:nvPr/>
        </p:nvSpPr>
        <p:spPr>
          <a:xfrm>
            <a:off x="1097280" y="5193792"/>
            <a:ext cx="1097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E8B839"/>
                </a:solidFill>
                <a:latin typeface="Arial" panose="020B0604020202020204" pitchFamily="34" charset="0"/>
              </a:rPr>
              <a:t>INSIGHT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39371-CB57-F4B5-25D9-BF69EDDC9BC1}"/>
              </a:ext>
            </a:extLst>
          </p:cNvPr>
          <p:cNvSpPr txBox="1"/>
          <p:nvPr/>
        </p:nvSpPr>
        <p:spPr>
          <a:xfrm>
            <a:off x="2286000" y="5193792"/>
            <a:ext cx="8686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4B4B4B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Income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dirty="0" err="1">
                <a:solidFill>
                  <a:srgbClr val="4B4B4B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TotalSpend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exhibit extreme right skew (&gt;5) with leptokurtic tails. This drives the decision to </a:t>
            </a:r>
            <a:r>
              <a:rPr lang="en-US" sz="1600" b="1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median imputation for missing values 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600" b="1" dirty="0" err="1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winsorization</a:t>
            </a:r>
            <a:r>
              <a:rPr lang="en-US" sz="1600" b="1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the outliers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(will be used for Logistic Regression). </a:t>
            </a:r>
            <a:endParaRPr lang="en-PH" sz="1600" dirty="0">
              <a:solidFill>
                <a:srgbClr val="4B4B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456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7DF40E-E899-E28C-1CB2-FD3466F647BB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F3F08-512E-4EC6-40C5-E8B7A1A80E84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1.3  Data Quality Issues Identified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F68D5F-24F0-5EA8-1F8A-2F08817E5616}"/>
              </a:ext>
            </a:extLst>
          </p:cNvPr>
          <p:cNvSpPr/>
          <p:nvPr/>
        </p:nvSpPr>
        <p:spPr>
          <a:xfrm>
            <a:off x="73152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866F27-8023-DA11-B403-9E19CB9E164C}"/>
              </a:ext>
            </a:extLst>
          </p:cNvPr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A2B56-0348-3FAC-2410-45A0CAEC9A69}"/>
              </a:ext>
            </a:extLst>
          </p:cNvPr>
          <p:cNvSpPr txBox="1"/>
          <p:nvPr/>
        </p:nvSpPr>
        <p:spPr>
          <a:xfrm>
            <a:off x="100584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Missing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1D6E7-42A4-FDB2-3041-F806BC2DEC82}"/>
              </a:ext>
            </a:extLst>
          </p:cNvPr>
          <p:cNvSpPr txBox="1"/>
          <p:nvPr/>
        </p:nvSpPr>
        <p:spPr>
          <a:xfrm>
            <a:off x="100584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~5,000 each (~5%)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8DCE-8F4A-BDB8-5981-69CBFFB950A7}"/>
              </a:ext>
            </a:extLst>
          </p:cNvPr>
          <p:cNvSpPr txBox="1"/>
          <p:nvPr/>
        </p:nvSpPr>
        <p:spPr>
          <a:xfrm>
            <a:off x="1005840" y="260604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Action: Median imputation + _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is_missing</a:t>
            </a: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 flag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5D6AC8-63C2-239D-47AA-97B6E4FFAB23}"/>
              </a:ext>
            </a:extLst>
          </p:cNvPr>
          <p:cNvSpPr/>
          <p:nvPr/>
        </p:nvSpPr>
        <p:spPr>
          <a:xfrm>
            <a:off x="443484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C82BA5-15E2-6E7E-FE19-A1583665133D}"/>
              </a:ext>
            </a:extLst>
          </p:cNvPr>
          <p:cNvSpPr/>
          <p:nvPr/>
        </p:nvSpPr>
        <p:spPr>
          <a:xfrm>
            <a:off x="4434840" y="146304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81E991-E167-E534-C227-BD8AADE8BE03}"/>
              </a:ext>
            </a:extLst>
          </p:cNvPr>
          <p:cNvSpPr txBox="1"/>
          <p:nvPr/>
        </p:nvSpPr>
        <p:spPr>
          <a:xfrm>
            <a:off x="470916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Income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046118-DDEF-CE46-F9F2-A1903EEA07D2}"/>
              </a:ext>
            </a:extLst>
          </p:cNvPr>
          <p:cNvSpPr txBox="1"/>
          <p:nvPr/>
        </p:nvSpPr>
        <p:spPr>
          <a:xfrm>
            <a:off x="470916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23 records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61186-E60E-B953-E2A0-67DB5E370D66}"/>
              </a:ext>
            </a:extLst>
          </p:cNvPr>
          <p:cNvSpPr txBox="1"/>
          <p:nvPr/>
        </p:nvSpPr>
        <p:spPr>
          <a:xfrm>
            <a:off x="4709160" y="260604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Action: Flagged as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Income_is_negative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5FEF43-4085-F544-69CE-AB0FD10570BC}"/>
              </a:ext>
            </a:extLst>
          </p:cNvPr>
          <p:cNvSpPr/>
          <p:nvPr/>
        </p:nvSpPr>
        <p:spPr>
          <a:xfrm>
            <a:off x="813816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87903A-93DE-8B97-E9BC-56FF1A75C477}"/>
              </a:ext>
            </a:extLst>
          </p:cNvPr>
          <p:cNvSpPr/>
          <p:nvPr/>
        </p:nvSpPr>
        <p:spPr>
          <a:xfrm>
            <a:off x="8138160" y="146304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0FB657-F738-12FA-B711-95CF2ABFCCEF}"/>
              </a:ext>
            </a:extLst>
          </p:cNvPr>
          <p:cNvSpPr txBox="1"/>
          <p:nvPr/>
        </p:nvSpPr>
        <p:spPr>
          <a:xfrm>
            <a:off x="841248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CreditLimit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BE3E4E-6C15-685F-FBCE-D346C278384B}"/>
              </a:ext>
            </a:extLst>
          </p:cNvPr>
          <p:cNvSpPr txBox="1"/>
          <p:nvPr/>
        </p:nvSpPr>
        <p:spPr>
          <a:xfrm>
            <a:off x="841248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142 records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0C6BE9-4CDD-3E48-1D21-274229B6FDA5}"/>
              </a:ext>
            </a:extLst>
          </p:cNvPr>
          <p:cNvSpPr txBox="1"/>
          <p:nvPr/>
        </p:nvSpPr>
        <p:spPr>
          <a:xfrm>
            <a:off x="8412480" y="260604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Flagged as CreditLimit_is_negative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8C76FB-C056-E8D1-EA65-EF36A6E29065}"/>
              </a:ext>
            </a:extLst>
          </p:cNvPr>
          <p:cNvSpPr/>
          <p:nvPr/>
        </p:nvSpPr>
        <p:spPr>
          <a:xfrm>
            <a:off x="73152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05BADF-C70D-D02A-59E5-5E188A56F3C9}"/>
              </a:ext>
            </a:extLst>
          </p:cNvPr>
          <p:cNvSpPr/>
          <p:nvPr/>
        </p:nvSpPr>
        <p:spPr>
          <a:xfrm>
            <a:off x="731520" y="384048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DB7ED-2F52-200A-B5DE-79CADC5131A1}"/>
              </a:ext>
            </a:extLst>
          </p:cNvPr>
          <p:cNvSpPr txBox="1"/>
          <p:nvPr/>
        </p:nvSpPr>
        <p:spPr>
          <a:xfrm>
            <a:off x="100584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TotalSpend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A6B8AE-C72B-3D88-E20C-5A407C0C264F}"/>
              </a:ext>
            </a:extLst>
          </p:cNvPr>
          <p:cNvSpPr txBox="1"/>
          <p:nvPr/>
        </p:nvSpPr>
        <p:spPr>
          <a:xfrm>
            <a:off x="100584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578 (~0.5%)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A3B362-938A-FEA6-36F1-8C36600A2B74}"/>
              </a:ext>
            </a:extLst>
          </p:cNvPr>
          <p:cNvSpPr txBox="1"/>
          <p:nvPr/>
        </p:nvSpPr>
        <p:spPr>
          <a:xfrm>
            <a:off x="1005840" y="498348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Flagged as TotalSpend_is_negative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A08A82-2106-3953-F128-56D38BEB21D0}"/>
              </a:ext>
            </a:extLst>
          </p:cNvPr>
          <p:cNvSpPr/>
          <p:nvPr/>
        </p:nvSpPr>
        <p:spPr>
          <a:xfrm>
            <a:off x="443484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1AFC17-FF8F-29AB-4FD7-A85ACBD8C874}"/>
              </a:ext>
            </a:extLst>
          </p:cNvPr>
          <p:cNvSpPr/>
          <p:nvPr/>
        </p:nvSpPr>
        <p:spPr>
          <a:xfrm>
            <a:off x="4434840" y="3840480"/>
            <a:ext cx="347472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FDC2B7-5845-54EC-1012-F4D6EFE40CEB}"/>
              </a:ext>
            </a:extLst>
          </p:cNvPr>
          <p:cNvSpPr txBox="1"/>
          <p:nvPr/>
        </p:nvSpPr>
        <p:spPr>
          <a:xfrm>
            <a:off x="470916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208090"/>
                </a:solidFill>
                <a:latin typeface="Arial" panose="020B0604020202020204" pitchFamily="34" charset="0"/>
              </a:rPr>
              <a:t>Duplicate Records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23C243-54AF-2870-FF1B-3589271DF175}"/>
              </a:ext>
            </a:extLst>
          </p:cNvPr>
          <p:cNvSpPr txBox="1"/>
          <p:nvPr/>
        </p:nvSpPr>
        <p:spPr>
          <a:xfrm>
            <a:off x="470916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1,000 exact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08D0DB-381A-4816-E293-71EFEB139110}"/>
              </a:ext>
            </a:extLst>
          </p:cNvPr>
          <p:cNvSpPr txBox="1"/>
          <p:nvPr/>
        </p:nvSpPr>
        <p:spPr>
          <a:xfrm>
            <a:off x="4709160" y="498348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Dropped via drop_duplicates()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FFB56C3-0F53-AAC9-A8AF-41932B3FF604}"/>
              </a:ext>
            </a:extLst>
          </p:cNvPr>
          <p:cNvSpPr/>
          <p:nvPr/>
        </p:nvSpPr>
        <p:spPr>
          <a:xfrm>
            <a:off x="813816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B11896-E4BF-AC9B-4F37-2B029C719258}"/>
              </a:ext>
            </a:extLst>
          </p:cNvPr>
          <p:cNvSpPr/>
          <p:nvPr/>
        </p:nvSpPr>
        <p:spPr>
          <a:xfrm>
            <a:off x="8138160" y="3840480"/>
            <a:ext cx="3474720" cy="54864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867BE4-CC42-15B9-D5DB-4D81C48CF6EE}"/>
              </a:ext>
            </a:extLst>
          </p:cNvPr>
          <p:cNvSpPr txBox="1"/>
          <p:nvPr/>
        </p:nvSpPr>
        <p:spPr>
          <a:xfrm>
            <a:off x="841248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62761"/>
                </a:solidFill>
                <a:latin typeface="Arial" panose="020B0604020202020204" pitchFamily="34" charset="0"/>
              </a:rPr>
              <a:t>High Cardinality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9446C2-8F16-697F-B99B-3F6623F0C98E}"/>
              </a:ext>
            </a:extLst>
          </p:cNvPr>
          <p:cNvSpPr txBox="1"/>
          <p:nvPr/>
        </p:nvSpPr>
        <p:spPr>
          <a:xfrm>
            <a:off x="841248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Country: 100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37E864-ADDE-22A2-EFE2-888D711749CB}"/>
              </a:ext>
            </a:extLst>
          </p:cNvPr>
          <p:cNvSpPr txBox="1"/>
          <p:nvPr/>
        </p:nvSpPr>
        <p:spPr>
          <a:xfrm>
            <a:off x="8412480" y="498348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Action: Target Encoding (smoothed)</a:t>
            </a:r>
          </a:p>
        </p:txBody>
      </p:sp>
    </p:spTree>
    <p:extLst>
      <p:ext uri="{BB962C8B-B14F-4D97-AF65-F5344CB8AC3E}">
        <p14:creationId xmlns:p14="http://schemas.microsoft.com/office/powerpoint/2010/main" val="217590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B1174A-BD83-A620-9195-79FE98EB8661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364F7-3E36-743F-245F-08B6DE4E844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1.4  Univariate Analysis (Categorical Features)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881EC-5EB9-2773-68AB-6FCA9A4B444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latin typeface="Arial" panose="020B0604020202020204" pitchFamily="34" charset="0"/>
              </a:rPr>
              <a:t>Chi-square tests reveal NO significant association with attrition</a:t>
            </a:r>
            <a:endParaRPr lang="en-PH" sz="16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94B5AE-9EF4-6CE2-6EE9-B27F020DF1AF}"/>
              </a:ext>
            </a:extLst>
          </p:cNvPr>
          <p:cNvSpPr/>
          <p:nvPr/>
        </p:nvSpPr>
        <p:spPr>
          <a:xfrm>
            <a:off x="79232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DFAE2-8640-03AF-0FC3-910B887B41AC}"/>
              </a:ext>
            </a:extLst>
          </p:cNvPr>
          <p:cNvSpPr txBox="1"/>
          <p:nvPr/>
        </p:nvSpPr>
        <p:spPr>
          <a:xfrm>
            <a:off x="102092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Gender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D7AE59-F477-7277-55DA-11D2B751A92C}"/>
              </a:ext>
            </a:extLst>
          </p:cNvPr>
          <p:cNvSpPr/>
          <p:nvPr/>
        </p:nvSpPr>
        <p:spPr>
          <a:xfrm>
            <a:off x="102092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AA9DB-535D-9AC5-3420-8ECEE7DCE80F}"/>
              </a:ext>
            </a:extLst>
          </p:cNvPr>
          <p:cNvSpPr txBox="1"/>
          <p:nvPr/>
        </p:nvSpPr>
        <p:spPr>
          <a:xfrm>
            <a:off x="102092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Male 5.02%  |  Female 4.91%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D169F-3A21-8772-E660-2DF97A737072}"/>
              </a:ext>
            </a:extLst>
          </p:cNvPr>
          <p:cNvSpPr txBox="1"/>
          <p:nvPr/>
        </p:nvSpPr>
        <p:spPr>
          <a:xfrm>
            <a:off x="102092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0.43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9D825E-AA32-0E82-C6F8-E5EA83DD9325}"/>
              </a:ext>
            </a:extLst>
          </p:cNvPr>
          <p:cNvSpPr/>
          <p:nvPr/>
        </p:nvSpPr>
        <p:spPr>
          <a:xfrm>
            <a:off x="102092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004F3-E890-BA74-BECF-C5FB5041BA14}"/>
              </a:ext>
            </a:extLst>
          </p:cNvPr>
          <p:cNvSpPr txBox="1"/>
          <p:nvPr/>
        </p:nvSpPr>
        <p:spPr>
          <a:xfrm>
            <a:off x="102092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BA3B8F-C9FE-985D-BA7C-CEB6EB87FFFD}"/>
              </a:ext>
            </a:extLst>
          </p:cNvPr>
          <p:cNvSpPr/>
          <p:nvPr/>
        </p:nvSpPr>
        <p:spPr>
          <a:xfrm>
            <a:off x="348980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DD96AB-3087-FC52-5A08-9023C41D9354}"/>
              </a:ext>
            </a:extLst>
          </p:cNvPr>
          <p:cNvSpPr txBox="1"/>
          <p:nvPr/>
        </p:nvSpPr>
        <p:spPr>
          <a:xfrm>
            <a:off x="371840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MaritalStatus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F4EB-7CD3-B8BA-8BB5-800D117B9014}"/>
              </a:ext>
            </a:extLst>
          </p:cNvPr>
          <p:cNvSpPr/>
          <p:nvPr/>
        </p:nvSpPr>
        <p:spPr>
          <a:xfrm>
            <a:off x="371840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1D112-09F6-0901-FBF4-52F7FF9AEAD9}"/>
              </a:ext>
            </a:extLst>
          </p:cNvPr>
          <p:cNvSpPr txBox="1"/>
          <p:nvPr/>
        </p:nvSpPr>
        <p:spPr>
          <a:xfrm>
            <a:off x="371840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Widowed 5.12%  |  Single 4.86%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F5F42-7900-8EB9-6D22-D054FE2C3A44}"/>
              </a:ext>
            </a:extLst>
          </p:cNvPr>
          <p:cNvSpPr txBox="1"/>
          <p:nvPr/>
        </p:nvSpPr>
        <p:spPr>
          <a:xfrm>
            <a:off x="371840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0.47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046DC3-05E2-1D9E-595D-CF7118A2F57A}"/>
              </a:ext>
            </a:extLst>
          </p:cNvPr>
          <p:cNvSpPr/>
          <p:nvPr/>
        </p:nvSpPr>
        <p:spPr>
          <a:xfrm>
            <a:off x="371840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92DFD-1F06-08CE-272C-96ABA7055366}"/>
              </a:ext>
            </a:extLst>
          </p:cNvPr>
          <p:cNvSpPr txBox="1"/>
          <p:nvPr/>
        </p:nvSpPr>
        <p:spPr>
          <a:xfrm>
            <a:off x="371840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FC032D-1819-9C29-AB48-B4120ACF7452}"/>
              </a:ext>
            </a:extLst>
          </p:cNvPr>
          <p:cNvSpPr/>
          <p:nvPr/>
        </p:nvSpPr>
        <p:spPr>
          <a:xfrm>
            <a:off x="6187287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166C0-35B4-8819-F56E-B82BB61EEFC5}"/>
              </a:ext>
            </a:extLst>
          </p:cNvPr>
          <p:cNvSpPr txBox="1"/>
          <p:nvPr/>
        </p:nvSpPr>
        <p:spPr>
          <a:xfrm>
            <a:off x="6415887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EducationLevel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2377-A53C-11F5-B7E1-C587707BEFA7}"/>
              </a:ext>
            </a:extLst>
          </p:cNvPr>
          <p:cNvSpPr/>
          <p:nvPr/>
        </p:nvSpPr>
        <p:spPr>
          <a:xfrm>
            <a:off x="6415887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3533EA-51D5-FC61-412E-31AB103D42E9}"/>
              </a:ext>
            </a:extLst>
          </p:cNvPr>
          <p:cNvSpPr txBox="1"/>
          <p:nvPr/>
        </p:nvSpPr>
        <p:spPr>
          <a:xfrm>
            <a:off x="6415887" y="233172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Master 5.12%  |  HS 4.80%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8BE7CD-D9DE-FA58-A6A8-965E8FC66E74}"/>
              </a:ext>
            </a:extLst>
          </p:cNvPr>
          <p:cNvSpPr txBox="1"/>
          <p:nvPr/>
        </p:nvSpPr>
        <p:spPr>
          <a:xfrm>
            <a:off x="6415887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0.33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E3CAA17-23B5-39ED-F162-08F497B82576}"/>
              </a:ext>
            </a:extLst>
          </p:cNvPr>
          <p:cNvSpPr/>
          <p:nvPr/>
        </p:nvSpPr>
        <p:spPr>
          <a:xfrm>
            <a:off x="6415887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79DD98-01ED-B238-265D-17D6B50BCD2B}"/>
              </a:ext>
            </a:extLst>
          </p:cNvPr>
          <p:cNvSpPr txBox="1"/>
          <p:nvPr/>
        </p:nvSpPr>
        <p:spPr>
          <a:xfrm>
            <a:off x="6415887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F10817A-4D42-3DD1-6297-82E569597F8F}"/>
              </a:ext>
            </a:extLst>
          </p:cNvPr>
          <p:cNvSpPr/>
          <p:nvPr/>
        </p:nvSpPr>
        <p:spPr>
          <a:xfrm>
            <a:off x="888476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4405A7-38FF-690E-53C8-EB8F3DB546C9}"/>
              </a:ext>
            </a:extLst>
          </p:cNvPr>
          <p:cNvSpPr txBox="1"/>
          <p:nvPr/>
        </p:nvSpPr>
        <p:spPr>
          <a:xfrm>
            <a:off x="911336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CardType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33204C-D235-5B73-173A-2D0C9D4F661D}"/>
              </a:ext>
            </a:extLst>
          </p:cNvPr>
          <p:cNvSpPr/>
          <p:nvPr/>
        </p:nvSpPr>
        <p:spPr>
          <a:xfrm>
            <a:off x="911336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14DA9D-1EDD-83C0-8F2E-F7238A182C8B}"/>
              </a:ext>
            </a:extLst>
          </p:cNvPr>
          <p:cNvSpPr txBox="1"/>
          <p:nvPr/>
        </p:nvSpPr>
        <p:spPr>
          <a:xfrm>
            <a:off x="911336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Marginal spread across types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AF5F49-F64E-815E-A15D-F29630573585}"/>
              </a:ext>
            </a:extLst>
          </p:cNvPr>
          <p:cNvSpPr txBox="1"/>
          <p:nvPr/>
        </p:nvSpPr>
        <p:spPr>
          <a:xfrm>
            <a:off x="911336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Cramer's V negligible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D93AFBB-27C4-1C7D-3C88-E23D4FDF1892}"/>
              </a:ext>
            </a:extLst>
          </p:cNvPr>
          <p:cNvSpPr/>
          <p:nvPr/>
        </p:nvSpPr>
        <p:spPr>
          <a:xfrm>
            <a:off x="911336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1867B9-D327-6EAF-CDAC-FA5E2C2BF968}"/>
              </a:ext>
            </a:extLst>
          </p:cNvPr>
          <p:cNvSpPr txBox="1"/>
          <p:nvPr/>
        </p:nvSpPr>
        <p:spPr>
          <a:xfrm>
            <a:off x="911336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B89D5C8-521D-E018-A0D4-63F53318A643}"/>
              </a:ext>
            </a:extLst>
          </p:cNvPr>
          <p:cNvSpPr/>
          <p:nvPr/>
        </p:nvSpPr>
        <p:spPr>
          <a:xfrm>
            <a:off x="731520" y="4846320"/>
            <a:ext cx="1069847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296D1B-184D-7730-B210-A1F33291D06A}"/>
              </a:ext>
            </a:extLst>
          </p:cNvPr>
          <p:cNvSpPr/>
          <p:nvPr/>
        </p:nvSpPr>
        <p:spPr>
          <a:xfrm>
            <a:off x="731520" y="4846320"/>
            <a:ext cx="54864" cy="128016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3636E7-B39A-F3BE-E468-4F8E6D471796}"/>
              </a:ext>
            </a:extLst>
          </p:cNvPr>
          <p:cNvSpPr txBox="1"/>
          <p:nvPr/>
        </p:nvSpPr>
        <p:spPr>
          <a:xfrm>
            <a:off x="1097280" y="4983480"/>
            <a:ext cx="3347398" cy="3200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solidFill>
                  <a:srgbClr val="1A2A3D"/>
                </a:solidFill>
                <a:latin typeface="Arial" panose="020B0604020202020204" pitchFamily="34" charset="0"/>
              </a:rPr>
              <a:t>N</a:t>
            </a:r>
            <a:r>
              <a:rPr lang="en-PH" sz="1400" b="1" dirty="0" err="1">
                <a:solidFill>
                  <a:srgbClr val="1A2A3D"/>
                </a:solidFill>
                <a:latin typeface="Arial" panose="020B0604020202020204" pitchFamily="34" charset="0"/>
              </a:rPr>
              <a:t>ote</a:t>
            </a:r>
            <a:r>
              <a:rPr lang="en-PH" sz="1400" b="1" dirty="0">
                <a:solidFill>
                  <a:srgbClr val="1A2A3D"/>
                </a:solidFill>
                <a:latin typeface="Arial" panose="020B0604020202020204" pitchFamily="34" charset="0"/>
              </a:rPr>
              <a:t> for Country (100 unique values)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1237B9-7A9E-755A-0942-5D61DF105699}"/>
              </a:ext>
            </a:extLst>
          </p:cNvPr>
          <p:cNvSpPr txBox="1"/>
          <p:nvPr/>
        </p:nvSpPr>
        <p:spPr>
          <a:xfrm>
            <a:off x="1097280" y="5349240"/>
            <a:ext cx="960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Target Encoding std dev = 0.0068 (extremely narrow). Zero high-risk countries identified (0 countries exceed 1.5x global churn rate). Geography adds no predictive value.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056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1BB262-82FE-767B-C43A-32906FFE2895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77BF2-4731-C1F0-E503-D2F172C10D2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sv-SE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1.5  Bivariate Analysis (Numeric vs. Attrition)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2F2F2-4E31-A3E0-DC1D-98929711F0D3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Median comparisons reveal near-zero difference across all features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C50F32-3FAD-82C2-4322-C6272B6A7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130569"/>
              </p:ext>
            </p:extLst>
          </p:nvPr>
        </p:nvGraphicFramePr>
        <p:xfrm>
          <a:off x="731520" y="1463040"/>
          <a:ext cx="10698480" cy="2926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7866615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6814175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144188152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76207996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656414560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 (Stayed)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 (Attrited)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T-Test p-value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Cohen's 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46508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Age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45.0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44.0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0.128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Negligible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5529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Not Sig.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Negligible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289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Not Sig.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Negligible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77341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TotalTransactions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0.499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-0.010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00131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0.186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+0.020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4085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0.104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-0.024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91274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168892-C466-58C5-47F4-2393A220D0F1}"/>
              </a:ext>
            </a:extLst>
          </p:cNvPr>
          <p:cNvSpPr/>
          <p:nvPr/>
        </p:nvSpPr>
        <p:spPr>
          <a:xfrm>
            <a:off x="731520" y="4754880"/>
            <a:ext cx="1069847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A39C02-CE11-4D3E-3E0B-84A1ADED482C}"/>
              </a:ext>
            </a:extLst>
          </p:cNvPr>
          <p:cNvSpPr/>
          <p:nvPr/>
        </p:nvSpPr>
        <p:spPr>
          <a:xfrm>
            <a:off x="731520" y="4754880"/>
            <a:ext cx="54864" cy="13716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209131-285B-6EEE-C405-22F0006419AD}"/>
              </a:ext>
            </a:extLst>
          </p:cNvPr>
          <p:cNvSpPr txBox="1"/>
          <p:nvPr/>
        </p:nvSpPr>
        <p:spPr>
          <a:xfrm>
            <a:off x="1097280" y="4846320"/>
            <a:ext cx="2743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KEY FINDING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18160-1169-C0A4-91B9-7922DF7C046B}"/>
              </a:ext>
            </a:extLst>
          </p:cNvPr>
          <p:cNvSpPr txBox="1"/>
          <p:nvPr/>
        </p:nvSpPr>
        <p:spPr>
          <a:xfrm>
            <a:off x="1097280" y="5212080"/>
            <a:ext cx="987552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All features show statistically identical medians between groups. Cohen's d values are uniformly below 0.1, confirming negligible effect sizes. No raw feature separates the two classes.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61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64B7BA-A2FE-8E4B-8ABC-A941B53356CA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D6A87-71B6-DF88-E1ED-8B0D465D587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1.6  </a:t>
            </a:r>
            <a:r>
              <a:rPr lang="fr-FR" sz="2800" b="1" dirty="0" err="1">
                <a:solidFill>
                  <a:srgbClr val="1A2A3D"/>
                </a:solidFill>
                <a:latin typeface="Arial" panose="020B0604020202020204" pitchFamily="34" charset="0"/>
              </a:rPr>
              <a:t>Multivariate</a:t>
            </a:r>
            <a:r>
              <a:rPr lang="fr-FR" sz="2800" b="1" dirty="0">
                <a:solidFill>
                  <a:srgbClr val="1A2A3D"/>
                </a:solidFill>
                <a:latin typeface="Arial" panose="020B0604020202020204" pitchFamily="34" charset="0"/>
              </a:rPr>
              <a:t> </a:t>
            </a:r>
            <a:r>
              <a:rPr lang="fr-FR" sz="2800" b="1" dirty="0" err="1">
                <a:solidFill>
                  <a:srgbClr val="1A2A3D"/>
                </a:solidFill>
                <a:latin typeface="Arial" panose="020B0604020202020204" pitchFamily="34" charset="0"/>
              </a:rPr>
              <a:t>Analysis</a:t>
            </a:r>
            <a:r>
              <a:rPr lang="fr-FR" sz="2800" b="1" dirty="0">
                <a:solidFill>
                  <a:srgbClr val="1A2A3D"/>
                </a:solidFill>
                <a:latin typeface="Arial" panose="020B0604020202020204" pitchFamily="34" charset="0"/>
              </a:rPr>
              <a:t> (</a:t>
            </a:r>
            <a:r>
              <a:rPr lang="fr-FR" sz="2800" b="1" dirty="0" err="1">
                <a:solidFill>
                  <a:srgbClr val="1A2A3D"/>
                </a:solidFill>
                <a:latin typeface="Arial" panose="020B0604020202020204" pitchFamily="34" charset="0"/>
              </a:rPr>
              <a:t>Correlation</a:t>
            </a:r>
            <a:r>
              <a:rPr lang="fr-FR" sz="2800" b="1" dirty="0">
                <a:solidFill>
                  <a:srgbClr val="1A2A3D"/>
                </a:solidFill>
                <a:latin typeface="Arial" panose="020B0604020202020204" pitchFamily="34" charset="0"/>
              </a:rPr>
              <a:t> Matrix)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F9FA8-2120-881A-CCE0-6A8E634AE95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All correlations with </a:t>
            </a:r>
            <a:r>
              <a:rPr lang="en-US" sz="1400" b="1" dirty="0" err="1">
                <a:latin typeface="Arial" panose="020B0604020202020204" pitchFamily="34" charset="0"/>
              </a:rPr>
              <a:t>AttritionFlag</a:t>
            </a:r>
            <a:r>
              <a:rPr lang="en-US" sz="1400" b="1" dirty="0">
                <a:latin typeface="Arial" panose="020B0604020202020204" pitchFamily="34" charset="0"/>
              </a:rPr>
              <a:t> are at noise level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6E8AFC-6EDF-736B-7868-9061AC9FDB74}"/>
              </a:ext>
            </a:extLst>
          </p:cNvPr>
          <p:cNvSpPr/>
          <p:nvPr/>
        </p:nvSpPr>
        <p:spPr>
          <a:xfrm>
            <a:off x="73152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2E4CF-7012-AD25-5F8C-D0621F3FCEA2}"/>
              </a:ext>
            </a:extLst>
          </p:cNvPr>
          <p:cNvSpPr txBox="1"/>
          <p:nvPr/>
        </p:nvSpPr>
        <p:spPr>
          <a:xfrm>
            <a:off x="91440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D4165-DBC0-D578-647A-901D28DF03C1}"/>
              </a:ext>
            </a:extLst>
          </p:cNvPr>
          <p:cNvSpPr txBox="1"/>
          <p:nvPr/>
        </p:nvSpPr>
        <p:spPr>
          <a:xfrm>
            <a:off x="91440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404CA-18AE-4AF2-0629-5C4B33592E83}"/>
              </a:ext>
            </a:extLst>
          </p:cNvPr>
          <p:cNvSpPr txBox="1"/>
          <p:nvPr/>
        </p:nvSpPr>
        <p:spPr>
          <a:xfrm>
            <a:off x="91440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-0.005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5DC84-21CA-E09A-59CE-F83F2436611F}"/>
              </a:ext>
            </a:extLst>
          </p:cNvPr>
          <p:cNvSpPr txBox="1"/>
          <p:nvPr/>
        </p:nvSpPr>
        <p:spPr>
          <a:xfrm>
            <a:off x="91440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CACEB3-A22C-A5A1-50AE-0ABF904A6920}"/>
              </a:ext>
            </a:extLst>
          </p:cNvPr>
          <p:cNvSpPr/>
          <p:nvPr/>
        </p:nvSpPr>
        <p:spPr>
          <a:xfrm>
            <a:off x="333756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1F057-3014-AC93-B6A4-445F29D9E667}"/>
              </a:ext>
            </a:extLst>
          </p:cNvPr>
          <p:cNvSpPr txBox="1"/>
          <p:nvPr/>
        </p:nvSpPr>
        <p:spPr>
          <a:xfrm>
            <a:off x="352044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Income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AC621-8E27-B6CE-3445-F8844D42C754}"/>
              </a:ext>
            </a:extLst>
          </p:cNvPr>
          <p:cNvSpPr txBox="1"/>
          <p:nvPr/>
        </p:nvSpPr>
        <p:spPr>
          <a:xfrm>
            <a:off x="352044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4821A-A067-2081-FDCE-85F2A9D22486}"/>
              </a:ext>
            </a:extLst>
          </p:cNvPr>
          <p:cNvSpPr txBox="1"/>
          <p:nvPr/>
        </p:nvSpPr>
        <p:spPr>
          <a:xfrm>
            <a:off x="352044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AD10E0-B9C7-A0F7-77AF-1CFAC2EBA73C}"/>
              </a:ext>
            </a:extLst>
          </p:cNvPr>
          <p:cNvSpPr txBox="1"/>
          <p:nvPr/>
        </p:nvSpPr>
        <p:spPr>
          <a:xfrm>
            <a:off x="352044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6AAD13-685C-CAC4-77FC-E68213EB714E}"/>
              </a:ext>
            </a:extLst>
          </p:cNvPr>
          <p:cNvSpPr/>
          <p:nvPr/>
        </p:nvSpPr>
        <p:spPr>
          <a:xfrm>
            <a:off x="594360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FC3EE8-8CBA-5C26-450E-DF4A4D925E90}"/>
              </a:ext>
            </a:extLst>
          </p:cNvPr>
          <p:cNvSpPr txBox="1"/>
          <p:nvPr/>
        </p:nvSpPr>
        <p:spPr>
          <a:xfrm>
            <a:off x="612648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CreditLimit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1CE3B-1D37-3544-0B92-A2AACEE3C263}"/>
              </a:ext>
            </a:extLst>
          </p:cNvPr>
          <p:cNvSpPr txBox="1"/>
          <p:nvPr/>
        </p:nvSpPr>
        <p:spPr>
          <a:xfrm>
            <a:off x="612648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792E83-6BA9-E8F4-8213-07893919BCAA}"/>
              </a:ext>
            </a:extLst>
          </p:cNvPr>
          <p:cNvSpPr txBox="1"/>
          <p:nvPr/>
        </p:nvSpPr>
        <p:spPr>
          <a:xfrm>
            <a:off x="612648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99041A-CD19-C6A5-6A3C-192D0CD92A01}"/>
              </a:ext>
            </a:extLst>
          </p:cNvPr>
          <p:cNvSpPr txBox="1"/>
          <p:nvPr/>
        </p:nvSpPr>
        <p:spPr>
          <a:xfrm>
            <a:off x="612648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EB5A32C-1E69-747D-4EC5-F5C5A0C37816}"/>
              </a:ext>
            </a:extLst>
          </p:cNvPr>
          <p:cNvSpPr/>
          <p:nvPr/>
        </p:nvSpPr>
        <p:spPr>
          <a:xfrm>
            <a:off x="854964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B48B80-23F7-51BB-1A1E-6759D714F058}"/>
              </a:ext>
            </a:extLst>
          </p:cNvPr>
          <p:cNvSpPr txBox="1"/>
          <p:nvPr/>
        </p:nvSpPr>
        <p:spPr>
          <a:xfrm>
            <a:off x="873252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TotalTxns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D2B901-EFC7-807D-649F-B4580840895C}"/>
              </a:ext>
            </a:extLst>
          </p:cNvPr>
          <p:cNvSpPr txBox="1"/>
          <p:nvPr/>
        </p:nvSpPr>
        <p:spPr>
          <a:xfrm>
            <a:off x="873252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DD392-471D-E832-1B09-F4B6F4C3DE66}"/>
              </a:ext>
            </a:extLst>
          </p:cNvPr>
          <p:cNvSpPr txBox="1"/>
          <p:nvPr/>
        </p:nvSpPr>
        <p:spPr>
          <a:xfrm>
            <a:off x="873252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0FB21F-A54D-ED1E-FDDB-C56C75A1B03A}"/>
              </a:ext>
            </a:extLst>
          </p:cNvPr>
          <p:cNvSpPr txBox="1"/>
          <p:nvPr/>
        </p:nvSpPr>
        <p:spPr>
          <a:xfrm>
            <a:off x="873252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AB0F37-DB72-CB2C-DEE3-42F56F3ED8DC}"/>
              </a:ext>
            </a:extLst>
          </p:cNvPr>
          <p:cNvSpPr/>
          <p:nvPr/>
        </p:nvSpPr>
        <p:spPr>
          <a:xfrm>
            <a:off x="73152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81C1EB-2DC7-08F5-357E-4894541DC465}"/>
              </a:ext>
            </a:extLst>
          </p:cNvPr>
          <p:cNvSpPr txBox="1"/>
          <p:nvPr/>
        </p:nvSpPr>
        <p:spPr>
          <a:xfrm>
            <a:off x="91440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TotalSpend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594725-C7DF-9D51-D1C8-42A31A1CAAE1}"/>
              </a:ext>
            </a:extLst>
          </p:cNvPr>
          <p:cNvSpPr txBox="1"/>
          <p:nvPr/>
        </p:nvSpPr>
        <p:spPr>
          <a:xfrm>
            <a:off x="91440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711187-9899-684C-3B29-B20EEED761B8}"/>
              </a:ext>
            </a:extLst>
          </p:cNvPr>
          <p:cNvSpPr txBox="1"/>
          <p:nvPr/>
        </p:nvSpPr>
        <p:spPr>
          <a:xfrm>
            <a:off x="91440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695124-8A15-2474-7017-6BDCFE76F3E0}"/>
              </a:ext>
            </a:extLst>
          </p:cNvPr>
          <p:cNvSpPr txBox="1"/>
          <p:nvPr/>
        </p:nvSpPr>
        <p:spPr>
          <a:xfrm>
            <a:off x="91440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03637CF-DF51-82E9-E50B-E9B6F1ACF3AD}"/>
              </a:ext>
            </a:extLst>
          </p:cNvPr>
          <p:cNvSpPr/>
          <p:nvPr/>
        </p:nvSpPr>
        <p:spPr>
          <a:xfrm>
            <a:off x="333756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BC62E1-7C7B-4C96-B40E-B527386180AB}"/>
              </a:ext>
            </a:extLst>
          </p:cNvPr>
          <p:cNvSpPr txBox="1"/>
          <p:nvPr/>
        </p:nvSpPr>
        <p:spPr>
          <a:xfrm>
            <a:off x="352044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Tenure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3060AD-5EB6-9582-391F-20A313A2006A}"/>
              </a:ext>
            </a:extLst>
          </p:cNvPr>
          <p:cNvSpPr txBox="1"/>
          <p:nvPr/>
        </p:nvSpPr>
        <p:spPr>
          <a:xfrm>
            <a:off x="352044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A032FC-AD2D-7B35-A4C8-3AB86EF90E39}"/>
              </a:ext>
            </a:extLst>
          </p:cNvPr>
          <p:cNvSpPr txBox="1"/>
          <p:nvPr/>
        </p:nvSpPr>
        <p:spPr>
          <a:xfrm>
            <a:off x="352044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-0.005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E9FEE0-3ABE-ED01-9CA1-0CF35B5F0093}"/>
              </a:ext>
            </a:extLst>
          </p:cNvPr>
          <p:cNvSpPr txBox="1"/>
          <p:nvPr/>
        </p:nvSpPr>
        <p:spPr>
          <a:xfrm>
            <a:off x="352044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BCC19DB-40B7-F37B-6A1D-422FCF10ADB4}"/>
              </a:ext>
            </a:extLst>
          </p:cNvPr>
          <p:cNvSpPr/>
          <p:nvPr/>
        </p:nvSpPr>
        <p:spPr>
          <a:xfrm>
            <a:off x="594360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D8859-6519-6E83-B731-E26B60A35F09}"/>
              </a:ext>
            </a:extLst>
          </p:cNvPr>
          <p:cNvSpPr txBox="1"/>
          <p:nvPr/>
        </p:nvSpPr>
        <p:spPr>
          <a:xfrm>
            <a:off x="612648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Avg_Txn/Tenure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5200C1-CEFA-D570-EAC9-95FC286C4A2F}"/>
              </a:ext>
            </a:extLst>
          </p:cNvPr>
          <p:cNvSpPr txBox="1"/>
          <p:nvPr/>
        </p:nvSpPr>
        <p:spPr>
          <a:xfrm>
            <a:off x="612648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487E9A-15CD-22DB-2D6C-1043B34F663F}"/>
              </a:ext>
            </a:extLst>
          </p:cNvPr>
          <p:cNvSpPr txBox="1"/>
          <p:nvPr/>
        </p:nvSpPr>
        <p:spPr>
          <a:xfrm>
            <a:off x="612648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+0.007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25CEBF-8290-8840-2AF1-A516A0E58AEB}"/>
              </a:ext>
            </a:extLst>
          </p:cNvPr>
          <p:cNvSpPr txBox="1"/>
          <p:nvPr/>
        </p:nvSpPr>
        <p:spPr>
          <a:xfrm>
            <a:off x="612648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5738702-B0CC-CF01-C061-EA5CE2641377}"/>
              </a:ext>
            </a:extLst>
          </p:cNvPr>
          <p:cNvSpPr/>
          <p:nvPr/>
        </p:nvSpPr>
        <p:spPr>
          <a:xfrm>
            <a:off x="854964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3A498E-279B-A797-C0D5-BE7E7FE4CB8F}"/>
              </a:ext>
            </a:extLst>
          </p:cNvPr>
          <p:cNvSpPr txBox="1"/>
          <p:nvPr/>
        </p:nvSpPr>
        <p:spPr>
          <a:xfrm>
            <a:off x="873252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Credit_Util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F39EB7-1064-BA3E-E65F-DE46E14047E8}"/>
              </a:ext>
            </a:extLst>
          </p:cNvPr>
          <p:cNvSpPr txBox="1"/>
          <p:nvPr/>
        </p:nvSpPr>
        <p:spPr>
          <a:xfrm>
            <a:off x="873252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B68E41-178A-69D8-695A-E108E2F59561}"/>
              </a:ext>
            </a:extLst>
          </p:cNvPr>
          <p:cNvSpPr txBox="1"/>
          <p:nvPr/>
        </p:nvSpPr>
        <p:spPr>
          <a:xfrm>
            <a:off x="873252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+0.003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E39A89-3BC2-EE99-269C-446F6AFE5DA1}"/>
              </a:ext>
            </a:extLst>
          </p:cNvPr>
          <p:cNvSpPr txBox="1"/>
          <p:nvPr/>
        </p:nvSpPr>
        <p:spPr>
          <a:xfrm>
            <a:off x="873252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BF8A509-9322-9B4D-7870-84DB7A9560D7}"/>
              </a:ext>
            </a:extLst>
          </p:cNvPr>
          <p:cNvSpPr/>
          <p:nvPr/>
        </p:nvSpPr>
        <p:spPr>
          <a:xfrm>
            <a:off x="731520" y="603504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23D63A-BFFE-F9DE-846D-CBAABBDAA30C}"/>
              </a:ext>
            </a:extLst>
          </p:cNvPr>
          <p:cNvSpPr txBox="1"/>
          <p:nvPr/>
        </p:nvSpPr>
        <p:spPr>
          <a:xfrm>
            <a:off x="1097280" y="6184463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rgbClr val="C8DCFC"/>
                </a:solidFill>
                <a:latin typeface="Arial" panose="020B0604020202020204" pitchFamily="34" charset="0"/>
              </a:rPr>
              <a:t>Even engineered features yield correlations below |r| = 0.03. Non-linear modeling might help.</a:t>
            </a:r>
            <a:endParaRPr lang="en-PH" sz="1400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05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19396B-6D8D-E052-8E11-3566C0EC0F6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E0FE6-586F-A880-EC12-2492AE2E8E9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1 Synthesis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2918D-9F7D-36CF-E3CD-626AA360B4EA}"/>
              </a:ext>
            </a:extLst>
          </p:cNvPr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 dirty="0">
                <a:solidFill>
                  <a:srgbClr val="F08248"/>
                </a:solidFill>
                <a:latin typeface="Arial" panose="020B0604020202020204" pitchFamily="34" charset="0"/>
              </a:rPr>
              <a:t>Raw features carry almost no discriminative signal for attrition</a:t>
            </a:r>
            <a:endParaRPr lang="en-PH" sz="1700" b="1" dirty="0">
              <a:solidFill>
                <a:srgbClr val="F08248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96BD38-93D3-A1E0-2A84-DCA429A0DF26}"/>
              </a:ext>
            </a:extLst>
          </p:cNvPr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98002-6C3A-C613-2B94-76EA3D4828BC}"/>
              </a:ext>
            </a:extLst>
          </p:cNvPr>
          <p:cNvSpPr txBox="1"/>
          <p:nvPr/>
        </p:nvSpPr>
        <p:spPr>
          <a:xfrm>
            <a:off x="1097280" y="173736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F08248"/>
                </a:solidFill>
                <a:latin typeface="Arial" panose="020B0604020202020204" pitchFamily="34" charset="0"/>
              </a:rPr>
              <a:t>WHAT THE DATA SHOWS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AC583-96F7-5D52-9DF1-02B407526B72}"/>
              </a:ext>
            </a:extLst>
          </p:cNvPr>
          <p:cNvSpPr txBox="1"/>
          <p:nvPr/>
        </p:nvSpPr>
        <p:spPr>
          <a:xfrm>
            <a:off x="1097280" y="2240280"/>
            <a:ext cx="4389120" cy="203132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Continuous features: near-identical distributions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Categorical features: uniformly balanced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Correlation matrix: all |r| &lt; 0.01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Engineered ratios: still weak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Chi-square: all p &gt; 0.05, Cramer's V negligible</a:t>
            </a:r>
            <a:endParaRPr lang="en-PH" sz="1600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FDA4FA-3083-3584-B277-65AC716FD636}"/>
              </a:ext>
            </a:extLst>
          </p:cNvPr>
          <p:cNvSpPr/>
          <p:nvPr/>
        </p:nvSpPr>
        <p:spPr>
          <a:xfrm>
            <a:off x="6217920" y="1554480"/>
            <a:ext cx="5212080" cy="43891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C1CCE-3547-B8F6-69DB-52208B0A64BB}"/>
              </a:ext>
            </a:extLst>
          </p:cNvPr>
          <p:cNvSpPr txBox="1"/>
          <p:nvPr/>
        </p:nvSpPr>
        <p:spPr>
          <a:xfrm>
            <a:off x="6583680" y="1737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208090"/>
                </a:solidFill>
                <a:latin typeface="Arial" panose="020B0604020202020204" pitchFamily="34" charset="0"/>
              </a:rPr>
              <a:t>MODELING IMPLICATIONS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D03D23-6002-F0C8-75BD-1291BAC3E533}"/>
              </a:ext>
            </a:extLst>
          </p:cNvPr>
          <p:cNvSpPr txBox="1"/>
          <p:nvPr/>
        </p:nvSpPr>
        <p:spPr>
          <a:xfrm>
            <a:off x="6583680" y="2240280"/>
            <a:ext cx="4572000" cy="203132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Simple rules CANNOT identify churners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Feature engineering: necessary but not sufficient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Non-linear ensembles (</a:t>
            </a:r>
            <a:r>
              <a:rPr lang="en-US" sz="1600" dirty="0" err="1">
                <a:solidFill>
                  <a:srgbClr val="C8DCFC"/>
                </a:solidFill>
                <a:latin typeface="Arial" panose="020B0604020202020204" pitchFamily="34" charset="0"/>
              </a:rPr>
              <a:t>XGBoost</a:t>
            </a:r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, RF) required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Class imbalance (95/5) must be handled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Target encoding needed for Country (100 cats)</a:t>
            </a:r>
            <a:endParaRPr lang="en-PH" sz="1600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345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4F25D3-91D9-202E-C9ED-45293741E5CD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2FA7FD-B766-4766-DA6F-04B7AEB65577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C7B49-6680-C0D0-DC4A-79407C8F21D6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 dirty="0">
                <a:solidFill>
                  <a:srgbClr val="FFFFFF"/>
                </a:solidFill>
                <a:latin typeface="Arial" panose="020B0604020202020204" pitchFamily="34" charset="0"/>
              </a:rPr>
              <a:t>Feature Discovery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B2F2E-DEA4-0AD8-A6A3-1EF488B2A625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Let’s answer business questions.</a:t>
            </a:r>
            <a:endParaRPr lang="en-PH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903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5C969A-10E6-BC81-4DA7-3B1E3766E708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9C406-0A7D-B636-6F64-86A37B8FC951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2.1  Behavioral &amp; Transactional Indicators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F06E0-821A-4BA1-E25B-DC6EE920D607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BEB66-590D-638E-7823-69DB56D8895F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Do churners show different transaction or spending patterns before leaving?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4B91C-6BBB-597E-D728-BE79D5B748F4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30491-AA02-7346-86A8-A9A239427BA2}"/>
              </a:ext>
            </a:extLst>
          </p:cNvPr>
          <p:cNvSpPr txBox="1"/>
          <p:nvPr/>
        </p:nvSpPr>
        <p:spPr>
          <a:xfrm>
            <a:off x="731519" y="2209502"/>
            <a:ext cx="1069848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dirty="0">
                <a:solidFill>
                  <a:srgbClr val="1A2A3D"/>
                </a:solidFill>
                <a:latin typeface="Arial" panose="020B0604020202020204" pitchFamily="34" charset="0"/>
              </a:rPr>
              <a:t>Churners and stayers are behaviorally indistinguishable.</a:t>
            </a:r>
            <a:endParaRPr lang="en-PH" sz="30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3BBB28-E202-ABC1-5B38-6CE9F50D882D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DE251-E9B4-3351-2A33-2F047BDC637F}"/>
              </a:ext>
            </a:extLst>
          </p:cNvPr>
          <p:cNvSpPr txBox="1"/>
          <p:nvPr/>
        </p:nvSpPr>
        <p:spPr>
          <a:xfrm>
            <a:off x="731520" y="306324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TotalTransactions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D0BB9-8AB2-89C6-BAF0-749B79925B40}"/>
              </a:ext>
            </a:extLst>
          </p:cNvPr>
          <p:cNvSpPr txBox="1"/>
          <p:nvPr/>
        </p:nvSpPr>
        <p:spPr>
          <a:xfrm>
            <a:off x="731520" y="3310128"/>
            <a:ext cx="32918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100 vs 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A66C2-0B47-2F31-0DDD-93DE6A163265}"/>
              </a:ext>
            </a:extLst>
          </p:cNvPr>
          <p:cNvSpPr txBox="1"/>
          <p:nvPr/>
        </p:nvSpPr>
        <p:spPr>
          <a:xfrm>
            <a:off x="731520" y="384048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p = 0.499   |   d = -0.010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96CB7C-CBE0-EF89-AAD9-838B9CBA08EC}"/>
              </a:ext>
            </a:extLst>
          </p:cNvPr>
          <p:cNvSpPr txBox="1"/>
          <p:nvPr/>
        </p:nvSpPr>
        <p:spPr>
          <a:xfrm>
            <a:off x="4480560" y="306324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TotalSpend  (median)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F8BE2D-4BAF-5E08-A824-C58F2AE2DE97}"/>
              </a:ext>
            </a:extLst>
          </p:cNvPr>
          <p:cNvSpPr txBox="1"/>
          <p:nvPr/>
        </p:nvSpPr>
        <p:spPr>
          <a:xfrm>
            <a:off x="4480560" y="3310128"/>
            <a:ext cx="347472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₱5,029 vs ₱5,029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39AD1-D7D2-C689-1FC9-77A8353365EF}"/>
              </a:ext>
            </a:extLst>
          </p:cNvPr>
          <p:cNvSpPr txBox="1"/>
          <p:nvPr/>
        </p:nvSpPr>
        <p:spPr>
          <a:xfrm>
            <a:off x="4480560" y="384048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p = 0.186   |   d = +0.020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C2B197-F45F-0333-7285-E3E781AEB272}"/>
              </a:ext>
            </a:extLst>
          </p:cNvPr>
          <p:cNvSpPr txBox="1"/>
          <p:nvPr/>
        </p:nvSpPr>
        <p:spPr>
          <a:xfrm>
            <a:off x="8229600" y="306324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Credit Utilization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7E428D-496B-0432-7B3B-D3DD6CC82C8C}"/>
              </a:ext>
            </a:extLst>
          </p:cNvPr>
          <p:cNvSpPr txBox="1"/>
          <p:nvPr/>
        </p:nvSpPr>
        <p:spPr>
          <a:xfrm>
            <a:off x="8229600" y="3310128"/>
            <a:ext cx="320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0.336 vs 0.337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572CA8-7A25-4953-EF64-8C0DF1E3EEDE}"/>
              </a:ext>
            </a:extLst>
          </p:cNvPr>
          <p:cNvSpPr txBox="1"/>
          <p:nvPr/>
        </p:nvSpPr>
        <p:spPr>
          <a:xfrm>
            <a:off x="8229600" y="384048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p = 0.429   |   r = 0.003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F8437E-EEDD-B218-87CE-39639B566F71}"/>
              </a:ext>
            </a:extLst>
          </p:cNvPr>
          <p:cNvSpPr/>
          <p:nvPr/>
        </p:nvSpPr>
        <p:spPr>
          <a:xfrm>
            <a:off x="731520" y="422452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8B78C-67A2-9345-91FB-F9246351AC98}"/>
              </a:ext>
            </a:extLst>
          </p:cNvPr>
          <p:cNvSpPr txBox="1"/>
          <p:nvPr/>
        </p:nvSpPr>
        <p:spPr>
          <a:xfrm>
            <a:off x="731520" y="434340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b="1">
                <a:solidFill>
                  <a:srgbClr val="F08248"/>
                </a:solidFill>
                <a:latin typeface="Arial" panose="020B0604020202020204" pitchFamily="34" charset="0"/>
              </a:rPr>
              <a:t>ADDITIONAL SIGNAL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825578-D220-7419-AE6D-C0792B73714A}"/>
              </a:ext>
            </a:extLst>
          </p:cNvPr>
          <p:cNvSpPr txBox="1"/>
          <p:nvPr/>
        </p:nvSpPr>
        <p:spPr>
          <a:xfrm>
            <a:off x="731520" y="4617720"/>
            <a:ext cx="106984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Anomaly flags (missing / negative spend, negative credit limit) produce a maximum lift of +0.67 pp.</a:t>
            </a:r>
          </a:p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This is below the 1 pp actionability threshold. No flag qualifies as a usable predictor.</a:t>
            </a:r>
            <a:endParaRPr lang="en-PH" sz="13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108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227B9D-3F54-6096-FCE5-532FBD91AEC8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FADEA-29D4-47CC-F259-7983EF54541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2.2  Tenure &amp; Customer Lifecycle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8399E-3688-D4C7-3D3D-59A2F96D8196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44B88-E5E4-39B3-520F-B684A9189E23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Do customers who are brand new, or have stayed longest, churn at higher rates?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810A51-313B-839D-385F-584A8992820C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8EAB1-CBEA-5B37-8756-F30BC5FBBB67}"/>
              </a:ext>
            </a:extLst>
          </p:cNvPr>
          <p:cNvSpPr txBox="1"/>
          <p:nvPr/>
        </p:nvSpPr>
        <p:spPr>
          <a:xfrm>
            <a:off x="731519" y="2207419"/>
            <a:ext cx="1069848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A2A3D"/>
                </a:solidFill>
                <a:latin typeface="Arial" panose="020B0604020202020204" pitchFamily="34" charset="0"/>
              </a:rPr>
              <a:t>There is no danger zone. Long tenure offers no protection.</a:t>
            </a:r>
            <a:endParaRPr lang="en-PH" sz="30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FAADCB-3850-EDE1-5D41-789F0DEDA564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4BE31-66BD-5544-2A70-668460DE996F}"/>
              </a:ext>
            </a:extLst>
          </p:cNvPr>
          <p:cNvSpPr txBox="1"/>
          <p:nvPr/>
        </p:nvSpPr>
        <p:spPr>
          <a:xfrm>
            <a:off x="731520" y="306324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Spearman correlation (tenure vs churn)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CF6B3-AF68-248E-B50E-555F86B7C281}"/>
              </a:ext>
            </a:extLst>
          </p:cNvPr>
          <p:cNvSpPr txBox="1"/>
          <p:nvPr/>
        </p:nvSpPr>
        <p:spPr>
          <a:xfrm>
            <a:off x="731520" y="3310128"/>
            <a:ext cx="32918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r = -0.005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91496-0273-CCE5-D3AC-B296592DD3D2}"/>
              </a:ext>
            </a:extLst>
          </p:cNvPr>
          <p:cNvSpPr txBox="1"/>
          <p:nvPr/>
        </p:nvSpPr>
        <p:spPr>
          <a:xfrm>
            <a:off x="731520" y="384048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Effectively zero — no linear pattern exists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1ACA5-867F-A3EE-FB0A-79020D400BB8}"/>
              </a:ext>
            </a:extLst>
          </p:cNvPr>
          <p:cNvSpPr txBox="1"/>
          <p:nvPr/>
        </p:nvSpPr>
        <p:spPr>
          <a:xfrm>
            <a:off x="4480560" y="306324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Highest single-year churn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255544-4342-2B81-B399-A95F5D566059}"/>
              </a:ext>
            </a:extLst>
          </p:cNvPr>
          <p:cNvSpPr txBox="1"/>
          <p:nvPr/>
        </p:nvSpPr>
        <p:spPr>
          <a:xfrm>
            <a:off x="4480560" y="3310128"/>
            <a:ext cx="347472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5.71%  (Year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CDBDC-F111-239A-F130-E34503FB3A03}"/>
              </a:ext>
            </a:extLst>
          </p:cNvPr>
          <p:cNvSpPr txBox="1"/>
          <p:nvPr/>
        </p:nvSpPr>
        <p:spPr>
          <a:xfrm>
            <a:off x="4480560" y="384048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+0.75 pp above baseline — not actionable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21AF99-DAEE-49DA-618F-6D14426033C6}"/>
              </a:ext>
            </a:extLst>
          </p:cNvPr>
          <p:cNvSpPr txBox="1"/>
          <p:nvPr/>
        </p:nvSpPr>
        <p:spPr>
          <a:xfrm>
            <a:off x="8229600" y="306324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Global baseline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35DBEA-BAAB-B746-9535-54349687105F}"/>
              </a:ext>
            </a:extLst>
          </p:cNvPr>
          <p:cNvSpPr txBox="1"/>
          <p:nvPr/>
        </p:nvSpPr>
        <p:spPr>
          <a:xfrm>
            <a:off x="8229600" y="3310128"/>
            <a:ext cx="320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4.96%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87729-4C1E-0DC8-6C32-2E97DA065EA1}"/>
              </a:ext>
            </a:extLst>
          </p:cNvPr>
          <p:cNvSpPr txBox="1"/>
          <p:nvPr/>
        </p:nvSpPr>
        <p:spPr>
          <a:xfrm>
            <a:off x="8229600" y="384048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50% of all churns occur by Year 10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E3528D-E516-E9FA-6095-2B0F3A53C33C}"/>
              </a:ext>
            </a:extLst>
          </p:cNvPr>
          <p:cNvSpPr/>
          <p:nvPr/>
        </p:nvSpPr>
        <p:spPr>
          <a:xfrm>
            <a:off x="731520" y="422452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D051B6-DB23-701F-2676-4F90CF17E30F}"/>
              </a:ext>
            </a:extLst>
          </p:cNvPr>
          <p:cNvSpPr txBox="1"/>
          <p:nvPr/>
        </p:nvSpPr>
        <p:spPr>
          <a:xfrm>
            <a:off x="731520" y="434340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b="1">
                <a:solidFill>
                  <a:srgbClr val="F08248"/>
                </a:solidFill>
                <a:latin typeface="Arial" panose="020B0604020202020204" pitchFamily="34" charset="0"/>
              </a:rPr>
              <a:t>IMPLICATION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0524E8-07F5-2FB5-5882-173760292E1B}"/>
              </a:ext>
            </a:extLst>
          </p:cNvPr>
          <p:cNvSpPr txBox="1"/>
          <p:nvPr/>
        </p:nvSpPr>
        <p:spPr>
          <a:xfrm>
            <a:off x="731520" y="4617720"/>
            <a:ext cx="106984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No early-warning signal exists in tenure data. The median cohort sits at the exact global baseline.</a:t>
            </a:r>
          </a:p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Tenure alone cannot serve as a trigger for retention outreach.</a:t>
            </a:r>
            <a:endParaRPr lang="en-PH" sz="13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379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66D3DD-2576-C5C7-5BA9-08E80138771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F8BAD-72B5-94E6-EDA5-E835CB6A7EB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2.3  Financial &amp; Demographic Profiles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B6E4D-FF47-F31C-4512-E4EC80782103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50CB3-26CA-E460-E953-FD7846E3E20D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Are wealthier clients, older clients, or premium cardholders less likely to churn?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FF802-FC32-98A2-3003-C0A6FB6BC3FE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23440-805E-841C-09BF-67913C3CDB0E}"/>
              </a:ext>
            </a:extLst>
          </p:cNvPr>
          <p:cNvSpPr txBox="1"/>
          <p:nvPr/>
        </p:nvSpPr>
        <p:spPr>
          <a:xfrm>
            <a:off x="731519" y="2195000"/>
            <a:ext cx="1069848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Income, age, and card type produce a perfectly flat churn rate.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D989BF-9C53-2FFB-EE26-CE28C77D0915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F37D0-8E1D-D332-48DE-D8F6A24AC801}"/>
              </a:ext>
            </a:extLst>
          </p:cNvPr>
          <p:cNvSpPr txBox="1"/>
          <p:nvPr/>
        </p:nvSpPr>
        <p:spPr>
          <a:xfrm>
            <a:off x="731520" y="306324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Income quintiles  (Q1 to Q5)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1C2B8-9F25-CB39-6A1E-A893E3FC3DC7}"/>
              </a:ext>
            </a:extLst>
          </p:cNvPr>
          <p:cNvSpPr txBox="1"/>
          <p:nvPr/>
        </p:nvSpPr>
        <p:spPr>
          <a:xfrm>
            <a:off x="731520" y="3310128"/>
            <a:ext cx="32918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All ~4.96%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BA807-F068-63AB-86A8-56D80B65D383}"/>
              </a:ext>
            </a:extLst>
          </p:cNvPr>
          <p:cNvSpPr txBox="1"/>
          <p:nvPr/>
        </p:nvSpPr>
        <p:spPr>
          <a:xfrm>
            <a:off x="731520" y="384048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Zero gradient from lowest to highest income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54413-AE40-297D-B7F2-93280B6D4AE3}"/>
              </a:ext>
            </a:extLst>
          </p:cNvPr>
          <p:cNvSpPr txBox="1"/>
          <p:nvPr/>
        </p:nvSpPr>
        <p:spPr>
          <a:xfrm>
            <a:off x="4480560" y="306324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Age bands  (&lt;30 to 60+)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18468-93E8-5E88-C093-874D7CA3A21A}"/>
              </a:ext>
            </a:extLst>
          </p:cNvPr>
          <p:cNvSpPr txBox="1"/>
          <p:nvPr/>
        </p:nvSpPr>
        <p:spPr>
          <a:xfrm>
            <a:off x="4480560" y="3310128"/>
            <a:ext cx="347472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All ~4.96%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3D2AE-794C-8211-BF64-C4E27E51E33E}"/>
              </a:ext>
            </a:extLst>
          </p:cNvPr>
          <p:cNvSpPr txBox="1"/>
          <p:nvPr/>
        </p:nvSpPr>
        <p:spPr>
          <a:xfrm>
            <a:off x="4480560" y="384048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No lifecycle dip or peak in any age group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BAD367-0B4D-AE77-4A06-A4326D265175}"/>
              </a:ext>
            </a:extLst>
          </p:cNvPr>
          <p:cNvSpPr txBox="1"/>
          <p:nvPr/>
        </p:nvSpPr>
        <p:spPr>
          <a:xfrm>
            <a:off x="8229600" y="306324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Card tier  (Blue / Silver / Gold / Platinum)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190D24-E0F3-10D4-FC45-81CF9C4B755E}"/>
              </a:ext>
            </a:extLst>
          </p:cNvPr>
          <p:cNvSpPr txBox="1"/>
          <p:nvPr/>
        </p:nvSpPr>
        <p:spPr>
          <a:xfrm>
            <a:off x="8229600" y="3310128"/>
            <a:ext cx="320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All ~4.96%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DD78A-5B84-3CB5-E2AE-D8BA481E09D0}"/>
              </a:ext>
            </a:extLst>
          </p:cNvPr>
          <p:cNvSpPr txBox="1"/>
          <p:nvPr/>
        </p:nvSpPr>
        <p:spPr>
          <a:xfrm>
            <a:off x="8229600" y="384048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Premium cardholders churn at the same rate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A62ED6-78C5-E1F3-66CD-C0D494EF4B0D}"/>
              </a:ext>
            </a:extLst>
          </p:cNvPr>
          <p:cNvSpPr/>
          <p:nvPr/>
        </p:nvSpPr>
        <p:spPr>
          <a:xfrm>
            <a:off x="731520" y="422452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72BC2-4C71-D7EC-E377-32ADA5E29EBA}"/>
              </a:ext>
            </a:extLst>
          </p:cNvPr>
          <p:cNvSpPr txBox="1"/>
          <p:nvPr/>
        </p:nvSpPr>
        <p:spPr>
          <a:xfrm>
            <a:off x="731520" y="434340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b="1">
                <a:solidFill>
                  <a:srgbClr val="F08248"/>
                </a:solidFill>
                <a:latin typeface="Arial" panose="020B0604020202020204" pitchFamily="34" charset="0"/>
              </a:rPr>
              <a:t>IMPLICATION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9DB041-F934-B818-7FE8-2763FBB2D694}"/>
              </a:ext>
            </a:extLst>
          </p:cNvPr>
          <p:cNvSpPr txBox="1"/>
          <p:nvPr/>
        </p:nvSpPr>
        <p:spPr>
          <a:xfrm>
            <a:off x="731520" y="4617720"/>
            <a:ext cx="106984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Neither wealth nor age nor card tier predicts attrition. Standard demographic segmentation has no retention value here.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All quintiles and bands cluster at the 4.96% global baseline.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261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BCF9D2-E7B1-A1BD-C49D-AC924BA8842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EA2C5-AA1A-4097-17F0-45C557C50BC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2.4  Social &amp; Geographic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C9D16-51B6-093C-31BE-E08C0C1FC06C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34C3D-6C87-2F54-6E53-800C502F125D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Do marital status, education, gender, or country of origin predict who will churn?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788B1-00CE-64E1-9C60-738788456B1A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45D8D-B322-655A-FF88-9AC66B0E3E6F}"/>
              </a:ext>
            </a:extLst>
          </p:cNvPr>
          <p:cNvSpPr txBox="1"/>
          <p:nvPr/>
        </p:nvSpPr>
        <p:spPr>
          <a:xfrm>
            <a:off x="731520" y="2226225"/>
            <a:ext cx="1069848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Zero high-risk countries. Zero significant demographics. 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7B538B-61AA-B1E4-83E1-3D6657F23CC2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482DE-3A3E-8F0D-3EA1-E5090B52EDF3}"/>
              </a:ext>
            </a:extLst>
          </p:cNvPr>
          <p:cNvSpPr txBox="1"/>
          <p:nvPr/>
        </p:nvSpPr>
        <p:spPr>
          <a:xfrm>
            <a:off x="731520" y="3063240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Gender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1EC40E-4292-A74F-D3FA-E46BC8F45570}"/>
              </a:ext>
            </a:extLst>
          </p:cNvPr>
          <p:cNvSpPr txBox="1"/>
          <p:nvPr/>
        </p:nvSpPr>
        <p:spPr>
          <a:xfrm>
            <a:off x="731520" y="3310128"/>
            <a:ext cx="5303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1A2A3D"/>
                </a:solidFill>
                <a:latin typeface="Arial" panose="020B0604020202020204" pitchFamily="34" charset="0"/>
              </a:rPr>
              <a:t>Chi² = 0.617   p = 0.432   V = 0.0025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51392-3FA8-F801-BD6C-2C4AECC431D4}"/>
              </a:ext>
            </a:extLst>
          </p:cNvPr>
          <p:cNvSpPr txBox="1"/>
          <p:nvPr/>
        </p:nvSpPr>
        <p:spPr>
          <a:xfrm>
            <a:off x="731520" y="3721608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2C145-F4E8-C203-0811-B0CC91431DCC}"/>
              </a:ext>
            </a:extLst>
          </p:cNvPr>
          <p:cNvSpPr txBox="1"/>
          <p:nvPr/>
        </p:nvSpPr>
        <p:spPr>
          <a:xfrm>
            <a:off x="6492240" y="3063240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MaritalStatus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AFD60-CB3B-C8FC-EBCA-FC4F215684B0}"/>
              </a:ext>
            </a:extLst>
          </p:cNvPr>
          <p:cNvSpPr txBox="1"/>
          <p:nvPr/>
        </p:nvSpPr>
        <p:spPr>
          <a:xfrm>
            <a:off x="6492240" y="3310128"/>
            <a:ext cx="5029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1A2A3D"/>
                </a:solidFill>
                <a:latin typeface="Arial" panose="020B0604020202020204" pitchFamily="34" charset="0"/>
              </a:rPr>
              <a:t>Chi² = 2.543   p = 0.468   V = 0.0050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600AE1-5F26-90DB-0CD5-E7A3D09ED1A5}"/>
              </a:ext>
            </a:extLst>
          </p:cNvPr>
          <p:cNvSpPr txBox="1"/>
          <p:nvPr/>
        </p:nvSpPr>
        <p:spPr>
          <a:xfrm>
            <a:off x="6492240" y="3721608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A491D4-0849-18FC-069E-23433D375223}"/>
              </a:ext>
            </a:extLst>
          </p:cNvPr>
          <p:cNvSpPr/>
          <p:nvPr/>
        </p:nvSpPr>
        <p:spPr>
          <a:xfrm>
            <a:off x="731520" y="409651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C2456-7F12-DECB-B417-778746B62187}"/>
              </a:ext>
            </a:extLst>
          </p:cNvPr>
          <p:cNvSpPr txBox="1"/>
          <p:nvPr/>
        </p:nvSpPr>
        <p:spPr>
          <a:xfrm>
            <a:off x="731520" y="4206240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EducationLevel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F981A1-3104-E50D-F8C4-2C651E0F5578}"/>
              </a:ext>
            </a:extLst>
          </p:cNvPr>
          <p:cNvSpPr txBox="1"/>
          <p:nvPr/>
        </p:nvSpPr>
        <p:spPr>
          <a:xfrm>
            <a:off x="731520" y="4453128"/>
            <a:ext cx="5303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1A2A3D"/>
                </a:solidFill>
                <a:latin typeface="Arial" panose="020B0604020202020204" pitchFamily="34" charset="0"/>
              </a:rPr>
              <a:t>Chi² = 3.394   p = 0.335   V = 0.0058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BFB1B6-363A-8E2A-CA45-F74166AD3C40}"/>
              </a:ext>
            </a:extLst>
          </p:cNvPr>
          <p:cNvSpPr txBox="1"/>
          <p:nvPr/>
        </p:nvSpPr>
        <p:spPr>
          <a:xfrm>
            <a:off x="731520" y="4864608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4E9E6D-683A-49A6-A498-AC1B1116CDD0}"/>
              </a:ext>
            </a:extLst>
          </p:cNvPr>
          <p:cNvSpPr txBox="1"/>
          <p:nvPr/>
        </p:nvSpPr>
        <p:spPr>
          <a:xfrm>
            <a:off x="6492240" y="4206240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Country  (100 categories, Target-Encoded)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D19558-5DAC-A7BC-3AC0-75C115E76771}"/>
              </a:ext>
            </a:extLst>
          </p:cNvPr>
          <p:cNvSpPr txBox="1"/>
          <p:nvPr/>
        </p:nvSpPr>
        <p:spPr>
          <a:xfrm>
            <a:off x="6492240" y="4453128"/>
            <a:ext cx="5029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D"/>
                </a:solidFill>
                <a:latin typeface="Arial" panose="020B0604020202020204" pitchFamily="34" charset="0"/>
              </a:rPr>
              <a:t>TE std dev = 0.0068   |   0 high-risk nations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EE2563-F327-57AB-535F-4E75BF7A9F7A}"/>
              </a:ext>
            </a:extLst>
          </p:cNvPr>
          <p:cNvSpPr txBox="1"/>
          <p:nvPr/>
        </p:nvSpPr>
        <p:spPr>
          <a:xfrm>
            <a:off x="6492240" y="4864608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Encoding range collapsed to noise level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424697-6960-68B8-F7CD-9B69079C86B7}"/>
              </a:ext>
            </a:extLst>
          </p:cNvPr>
          <p:cNvSpPr/>
          <p:nvPr/>
        </p:nvSpPr>
        <p:spPr>
          <a:xfrm>
            <a:off x="731520" y="523036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05771B-4E5B-FCC2-8AE6-F035EF45E9DF}"/>
              </a:ext>
            </a:extLst>
          </p:cNvPr>
          <p:cNvSpPr txBox="1"/>
          <p:nvPr/>
        </p:nvSpPr>
        <p:spPr>
          <a:xfrm>
            <a:off x="731520" y="5349240"/>
            <a:ext cx="106984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All social and geographic attributes fail to separate churners from non-churners. These features were retained for model completeness, not signal.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181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23E1BD-CC78-1FA6-E4D3-BC63080FCF0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3F59E-D911-C385-7AC0-ABEE624F7C04}"/>
              </a:ext>
            </a:extLst>
          </p:cNvPr>
          <p:cNvSpPr txBox="1"/>
          <p:nvPr/>
        </p:nvSpPr>
        <p:spPr>
          <a:xfrm>
            <a:off x="731520" y="4572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2 (EDA Synthesis)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11E883-20BA-8FEF-5B3F-EA8A2189868F}"/>
              </a:ext>
            </a:extLst>
          </p:cNvPr>
          <p:cNvSpPr/>
          <p:nvPr/>
        </p:nvSpPr>
        <p:spPr>
          <a:xfrm>
            <a:off x="731520" y="1280160"/>
            <a:ext cx="10698479" cy="18288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8081A-5A1F-4B99-34C8-41AE80139DDC}"/>
              </a:ext>
            </a:extLst>
          </p:cNvPr>
          <p:cNvSpPr txBox="1"/>
          <p:nvPr/>
        </p:nvSpPr>
        <p:spPr>
          <a:xfrm>
            <a:off x="1371600" y="1508760"/>
            <a:ext cx="9601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 dirty="0">
                <a:solidFill>
                  <a:srgbClr val="F08248"/>
                </a:solidFill>
                <a:latin typeface="Arial" panose="020B0604020202020204" pitchFamily="34" charset="0"/>
              </a:rPr>
              <a:t>No demographic, geographic, financial, or behavioral feature meaningfully separates </a:t>
            </a:r>
            <a:r>
              <a:rPr lang="en-US" b="1" dirty="0" err="1">
                <a:solidFill>
                  <a:srgbClr val="F08248"/>
                </a:solidFill>
                <a:latin typeface="Arial" panose="020B0604020202020204" pitchFamily="34" charset="0"/>
              </a:rPr>
              <a:t>attriters</a:t>
            </a:r>
            <a:r>
              <a:rPr lang="en-US" b="1" dirty="0">
                <a:solidFill>
                  <a:srgbClr val="F08248"/>
                </a:solidFill>
                <a:latin typeface="Arial" panose="020B0604020202020204" pitchFamily="34" charset="0"/>
              </a:rPr>
              <a:t> from non-</a:t>
            </a:r>
            <a:r>
              <a:rPr lang="en-US" b="1" dirty="0" err="1">
                <a:solidFill>
                  <a:srgbClr val="F08248"/>
                </a:solidFill>
                <a:latin typeface="Arial" panose="020B0604020202020204" pitchFamily="34" charset="0"/>
              </a:rPr>
              <a:t>attriters</a:t>
            </a:r>
            <a:r>
              <a:rPr lang="en-US" b="1" dirty="0">
                <a:solidFill>
                  <a:srgbClr val="F08248"/>
                </a:solidFill>
                <a:latin typeface="Arial" panose="020B0604020202020204" pitchFamily="34" charset="0"/>
              </a:rPr>
              <a:t>.</a:t>
            </a:r>
            <a:endParaRPr lang="en-PH" b="1" dirty="0">
              <a:solidFill>
                <a:srgbClr val="F08248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37246-04E7-91A1-38AA-9DB7FD226C58}"/>
              </a:ext>
            </a:extLst>
          </p:cNvPr>
          <p:cNvSpPr txBox="1"/>
          <p:nvPr/>
        </p:nvSpPr>
        <p:spPr>
          <a:xfrm>
            <a:off x="1371600" y="2148840"/>
            <a:ext cx="9601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C8DCFC"/>
                </a:solidFill>
                <a:latin typeface="Arial" panose="020B0604020202020204" pitchFamily="34" charset="0"/>
              </a:rPr>
              <a:t>The dataset appears to be synthetic noise around a ~5% random churn baseline, presenting a deliberate challenge to test modeling approaches.</a:t>
            </a:r>
            <a:endParaRPr lang="en-PH" sz="15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81EAD5-2561-66C9-88C5-EBAA21CE0523}"/>
              </a:ext>
            </a:extLst>
          </p:cNvPr>
          <p:cNvSpPr/>
          <p:nvPr/>
        </p:nvSpPr>
        <p:spPr>
          <a:xfrm>
            <a:off x="73152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74C5B4-A2EB-8C4E-DDD9-008E31E0EFB6}"/>
              </a:ext>
            </a:extLst>
          </p:cNvPr>
          <p:cNvSpPr/>
          <p:nvPr/>
        </p:nvSpPr>
        <p:spPr>
          <a:xfrm>
            <a:off x="731520" y="3474720"/>
            <a:ext cx="256032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62195-0BF9-F133-93BE-5D94B1ED86E9}"/>
              </a:ext>
            </a:extLst>
          </p:cNvPr>
          <p:cNvSpPr txBox="1"/>
          <p:nvPr/>
        </p:nvSpPr>
        <p:spPr>
          <a:xfrm>
            <a:off x="100584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Behavioral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EA5D3-3573-BC4B-32FD-B5DA893E4644}"/>
              </a:ext>
            </a:extLst>
          </p:cNvPr>
          <p:cNvSpPr txBox="1"/>
          <p:nvPr/>
        </p:nvSpPr>
        <p:spPr>
          <a:xfrm>
            <a:off x="1005840" y="416052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Zero transaction or spending difference between groups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DABEFF-ACF9-E9D2-BDE5-56C5854869A8}"/>
              </a:ext>
            </a:extLst>
          </p:cNvPr>
          <p:cNvSpPr/>
          <p:nvPr/>
        </p:nvSpPr>
        <p:spPr>
          <a:xfrm>
            <a:off x="352044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354810-7E4D-CCC6-BB12-3C367D30F6EC}"/>
              </a:ext>
            </a:extLst>
          </p:cNvPr>
          <p:cNvSpPr/>
          <p:nvPr/>
        </p:nvSpPr>
        <p:spPr>
          <a:xfrm>
            <a:off x="3520440" y="3474720"/>
            <a:ext cx="256032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8F7228-8EA1-7382-98B4-AB32A185A421}"/>
              </a:ext>
            </a:extLst>
          </p:cNvPr>
          <p:cNvSpPr txBox="1"/>
          <p:nvPr/>
        </p:nvSpPr>
        <p:spPr>
          <a:xfrm>
            <a:off x="379476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Lifecycle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B3BF0-AC01-AF17-BCB5-5AF5900E3AEB}"/>
              </a:ext>
            </a:extLst>
          </p:cNvPr>
          <p:cNvSpPr txBox="1"/>
          <p:nvPr/>
        </p:nvSpPr>
        <p:spPr>
          <a:xfrm>
            <a:off x="3794760" y="416052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No tenure danger zone; churn barely exceeds baseline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0951DBA-5BC4-755E-77B8-0BE9783204AA}"/>
              </a:ext>
            </a:extLst>
          </p:cNvPr>
          <p:cNvSpPr/>
          <p:nvPr/>
        </p:nvSpPr>
        <p:spPr>
          <a:xfrm>
            <a:off x="630936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019479-319F-D55A-6092-FB03125DB0E5}"/>
              </a:ext>
            </a:extLst>
          </p:cNvPr>
          <p:cNvSpPr/>
          <p:nvPr/>
        </p:nvSpPr>
        <p:spPr>
          <a:xfrm>
            <a:off x="6309360" y="3474720"/>
            <a:ext cx="2560320" cy="54864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403E97-5CB9-5AA5-02E1-B794F4A4A079}"/>
              </a:ext>
            </a:extLst>
          </p:cNvPr>
          <p:cNvSpPr txBox="1"/>
          <p:nvPr/>
        </p:nvSpPr>
        <p:spPr>
          <a:xfrm>
            <a:off x="658368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B839"/>
                </a:solidFill>
                <a:latin typeface="Arial" panose="020B0604020202020204" pitchFamily="34" charset="0"/>
              </a:rPr>
              <a:t>Financial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E5DC8A-1999-1CA0-2AD2-552AB9BCE2E7}"/>
              </a:ext>
            </a:extLst>
          </p:cNvPr>
          <p:cNvSpPr txBox="1"/>
          <p:nvPr/>
        </p:nvSpPr>
        <p:spPr>
          <a:xfrm>
            <a:off x="6583680" y="416052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income quintiles flat at ~4.96%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E27E43-5666-5023-F961-FCE3CC62E83A}"/>
              </a:ext>
            </a:extLst>
          </p:cNvPr>
          <p:cNvSpPr/>
          <p:nvPr/>
        </p:nvSpPr>
        <p:spPr>
          <a:xfrm>
            <a:off x="9098280" y="3474720"/>
            <a:ext cx="2560319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9ED645-949B-2A00-26FD-39E67752B7B4}"/>
              </a:ext>
            </a:extLst>
          </p:cNvPr>
          <p:cNvSpPr/>
          <p:nvPr/>
        </p:nvSpPr>
        <p:spPr>
          <a:xfrm>
            <a:off x="9098280" y="3474720"/>
            <a:ext cx="2560319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516D95-8E1E-B0F4-736D-B17DC8D700F9}"/>
              </a:ext>
            </a:extLst>
          </p:cNvPr>
          <p:cNvSpPr txBox="1"/>
          <p:nvPr/>
        </p:nvSpPr>
        <p:spPr>
          <a:xfrm>
            <a:off x="937260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Geographic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8B5559-5400-97A2-BCF4-C4C213739564}"/>
              </a:ext>
            </a:extLst>
          </p:cNvPr>
          <p:cNvSpPr txBox="1"/>
          <p:nvPr/>
        </p:nvSpPr>
        <p:spPr>
          <a:xfrm>
            <a:off x="9372600" y="416052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0 high-risk countries; TE range extremely narrow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62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37215-0971-FC95-33D4-07B10416C157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600" b="1" dirty="0">
                <a:solidFill>
                  <a:srgbClr val="F08248"/>
                </a:solidFill>
                <a:latin typeface="Arial" panose="020B0604020202020204" pitchFamily="34" charset="0"/>
              </a:rPr>
              <a:t>0</a:t>
            </a:r>
            <a:r>
              <a:rPr lang="en-PH" sz="9600" b="1" dirty="0">
                <a:solidFill>
                  <a:srgbClr val="F08248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3A611-88CE-0810-57A2-A87565AC1D39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961F68-BA16-9EB0-824A-4358755C97AC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Pre-processing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A8976-34E1-1BAC-AE82-D21D1151D0E7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C8DCFC"/>
                </a:solidFill>
                <a:latin typeface="Arial" panose="020B0604020202020204" pitchFamily="34" charset="0"/>
              </a:rPr>
              <a:t>Three model-specific data tables  |  Shared train/test indices  |  Fair comparison</a:t>
            </a:r>
            <a:endParaRPr lang="en-PH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45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7E6F3B-2DCA-6A82-7AD7-F0F8EDECF05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56C08-A388-8607-52A8-DCED7435CAE3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4.1. Pipeline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2A222-33D0-AC5C-4320-6E7E4712587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Clean once, branch twice  |  80/20 stratified split  |  ADASYN on train only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7F8924-B3AF-AB93-A16D-124A741BF13E}"/>
              </a:ext>
            </a:extLst>
          </p:cNvPr>
          <p:cNvSpPr/>
          <p:nvPr/>
        </p:nvSpPr>
        <p:spPr>
          <a:xfrm>
            <a:off x="4114800" y="1371600"/>
            <a:ext cx="39319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F404ED-4C27-CC62-0129-DE61B750AFD1}"/>
              </a:ext>
            </a:extLst>
          </p:cNvPr>
          <p:cNvSpPr/>
          <p:nvPr/>
        </p:nvSpPr>
        <p:spPr>
          <a:xfrm>
            <a:off x="4114800" y="1371600"/>
            <a:ext cx="393192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11AD1-A440-4A82-78CB-70BB2EB21215}"/>
              </a:ext>
            </a:extLst>
          </p:cNvPr>
          <p:cNvSpPr txBox="1"/>
          <p:nvPr/>
        </p:nvSpPr>
        <p:spPr>
          <a:xfrm>
            <a:off x="4389120" y="1554480"/>
            <a:ext cx="33832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df_base  (100K rows)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F23CC-6B1A-3DB1-6489-DBCB8FDDE664}"/>
              </a:ext>
            </a:extLst>
          </p:cNvPr>
          <p:cNvSpPr txBox="1"/>
          <p:nvPr/>
        </p:nvSpPr>
        <p:spPr>
          <a:xfrm>
            <a:off x="4389120" y="1920240"/>
            <a:ext cx="3383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Dedup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&gt; Median impute &gt; Negative flags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18332D-3DE7-F595-4E9B-8877B953EB8C}"/>
              </a:ext>
            </a:extLst>
          </p:cNvPr>
          <p:cNvSpPr/>
          <p:nvPr/>
        </p:nvSpPr>
        <p:spPr>
          <a:xfrm>
            <a:off x="3840480" y="2788920"/>
            <a:ext cx="2011680" cy="27432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FA07FC-6CDB-F196-A1CB-139B17D5E24B}"/>
              </a:ext>
            </a:extLst>
          </p:cNvPr>
          <p:cNvSpPr/>
          <p:nvPr/>
        </p:nvSpPr>
        <p:spPr>
          <a:xfrm>
            <a:off x="6400800" y="2788920"/>
            <a:ext cx="2011680" cy="27432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C69DEA-52AC-051A-0E7F-C6D875C8CE52}"/>
              </a:ext>
            </a:extLst>
          </p:cNvPr>
          <p:cNvSpPr/>
          <p:nvPr/>
        </p:nvSpPr>
        <p:spPr>
          <a:xfrm>
            <a:off x="731520" y="3108960"/>
            <a:ext cx="5029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8BF063-1A40-13B7-53E7-B6ED69F39E7C}"/>
              </a:ext>
            </a:extLst>
          </p:cNvPr>
          <p:cNvSpPr/>
          <p:nvPr/>
        </p:nvSpPr>
        <p:spPr>
          <a:xfrm>
            <a:off x="731520" y="3108960"/>
            <a:ext cx="73152" cy="310896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D7023F-F0D8-A35E-94C7-13C1B15E84B2}"/>
              </a:ext>
            </a:extLst>
          </p:cNvPr>
          <p:cNvSpPr txBox="1"/>
          <p:nvPr/>
        </p:nvSpPr>
        <p:spPr>
          <a:xfrm>
            <a:off x="1097280" y="3246120"/>
            <a:ext cx="438912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df_lr  (LR + EBM)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F27F4-27FD-2EEE-DFFE-7C6274200E48}"/>
              </a:ext>
            </a:extLst>
          </p:cNvPr>
          <p:cNvSpPr txBox="1"/>
          <p:nvPr/>
        </p:nvSpPr>
        <p:spPr>
          <a:xfrm>
            <a:off x="1097280" y="3703320"/>
            <a:ext cx="438912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Winsorized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(IQR 1.5x clip)</a:t>
            </a:r>
          </a:p>
          <a:p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2 engineered features kept:</a:t>
            </a: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Credit_Utilization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,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Avg_Txn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/Tenure</a:t>
            </a:r>
          </a:p>
          <a:p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OHE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drop_first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=True (26 cols)</a:t>
            </a: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Target Encoding for Country</a:t>
            </a:r>
          </a:p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StandardScaler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applied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6C637C-1D54-6902-A212-5AC6574E11F4}"/>
              </a:ext>
            </a:extLst>
          </p:cNvPr>
          <p:cNvSpPr/>
          <p:nvPr/>
        </p:nvSpPr>
        <p:spPr>
          <a:xfrm>
            <a:off x="6400800" y="3108960"/>
            <a:ext cx="5029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85C44F-4E8B-A4A2-3D06-1E5B70274B80}"/>
              </a:ext>
            </a:extLst>
          </p:cNvPr>
          <p:cNvSpPr/>
          <p:nvPr/>
        </p:nvSpPr>
        <p:spPr>
          <a:xfrm>
            <a:off x="6400800" y="3108960"/>
            <a:ext cx="73152" cy="310896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50F7AD-7693-A2B4-891C-61FF450EFB9F}"/>
              </a:ext>
            </a:extLst>
          </p:cNvPr>
          <p:cNvSpPr txBox="1"/>
          <p:nvPr/>
        </p:nvSpPr>
        <p:spPr>
          <a:xfrm>
            <a:off x="6766560" y="3246120"/>
            <a:ext cx="438912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df_tree  (XGBoost)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8AB167-44F6-BD3E-4AA2-CB6A440E9A6C}"/>
              </a:ext>
            </a:extLst>
          </p:cNvPr>
          <p:cNvSpPr txBox="1"/>
          <p:nvPr/>
        </p:nvSpPr>
        <p:spPr>
          <a:xfrm>
            <a:off x="6766560" y="3703320"/>
            <a:ext cx="438912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Raw outliers retained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All 6 engineered features kept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OHE full (no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drop_first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) -&gt; 34 cols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Target Encoding for Country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No scaling (rank-based splits)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ADASYN: 80K -&gt; 151,704 rows (50/50)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961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31E0D6-BF28-1016-B6E8-7698E7B24A4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87BC5-A7C7-15BC-D4AA-B7A786250B51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4.2  Pipeline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1EB7D-3247-9C03-4A5C-E1A59171205F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All tables share the same </a:t>
            </a:r>
            <a:r>
              <a:rPr lang="en-US" sz="1400" b="1" dirty="0" err="1">
                <a:latin typeface="Arial" panose="020B0604020202020204" pitchFamily="34" charset="0"/>
              </a:rPr>
              <a:t>train_idx</a:t>
            </a:r>
            <a:r>
              <a:rPr lang="en-US" sz="1400" b="1" dirty="0">
                <a:latin typeface="Arial" panose="020B0604020202020204" pitchFamily="34" charset="0"/>
              </a:rPr>
              <a:t> / </a:t>
            </a:r>
            <a:r>
              <a:rPr lang="en-US" sz="1400" b="1" dirty="0" err="1">
                <a:latin typeface="Arial" panose="020B0604020202020204" pitchFamily="34" charset="0"/>
              </a:rPr>
              <a:t>test_idx</a:t>
            </a:r>
            <a:r>
              <a:rPr lang="en-US" sz="1400" b="1" dirty="0">
                <a:latin typeface="Arial" panose="020B0604020202020204" pitchFamily="34" charset="0"/>
              </a:rPr>
              <a:t>  |  Apples-to-apples comparison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8F3492-E0B1-A14B-C8C7-FC7D73969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393757"/>
              </p:ext>
            </p:extLst>
          </p:nvPr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331786489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2664523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64691476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61914119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931253939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58451301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Table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Models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Base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Engineered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Encoding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Scaling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54431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df_base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Reference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Clean only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28153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df_lr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LR, EBM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Winsorized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2 features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OHE + 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StandardScaler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03969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df_tree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Raw outliers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All 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OHE full + 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3628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3C26FF-031F-5E7C-F142-99F44B20A448}"/>
              </a:ext>
            </a:extLst>
          </p:cNvPr>
          <p:cNvSpPr txBox="1"/>
          <p:nvPr/>
        </p:nvSpPr>
        <p:spPr>
          <a:xfrm>
            <a:off x="731520" y="4023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SPLIT VERIFICATION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DEB70-9274-A3D5-9057-7E8A4648BEE6}"/>
              </a:ext>
            </a:extLst>
          </p:cNvPr>
          <p:cNvSpPr/>
          <p:nvPr/>
        </p:nvSpPr>
        <p:spPr>
          <a:xfrm>
            <a:off x="731520" y="4480560"/>
            <a:ext cx="106984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B484BD-C3EE-1148-F03B-BC905A504EC9}"/>
              </a:ext>
            </a:extLst>
          </p:cNvPr>
          <p:cNvSpPr txBox="1"/>
          <p:nvPr/>
        </p:nvSpPr>
        <p:spPr>
          <a:xfrm>
            <a:off x="137160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80,000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758B9-4FE1-6E1C-5A26-597BB0722DD0}"/>
              </a:ext>
            </a:extLst>
          </p:cNvPr>
          <p:cNvSpPr txBox="1"/>
          <p:nvPr/>
        </p:nvSpPr>
        <p:spPr>
          <a:xfrm>
            <a:off x="137160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Train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F1E5C-D7DC-5DE8-8CC4-3334CAC4199A}"/>
              </a:ext>
            </a:extLst>
          </p:cNvPr>
          <p:cNvSpPr txBox="1"/>
          <p:nvPr/>
        </p:nvSpPr>
        <p:spPr>
          <a:xfrm>
            <a:off x="365760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20,000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1DC09-A435-A65E-B08D-5CD0981FBD25}"/>
              </a:ext>
            </a:extLst>
          </p:cNvPr>
          <p:cNvSpPr txBox="1"/>
          <p:nvPr/>
        </p:nvSpPr>
        <p:spPr>
          <a:xfrm>
            <a:off x="365760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Test 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A1C709-9306-6B31-AD05-03B6B6A56B47}"/>
              </a:ext>
            </a:extLst>
          </p:cNvPr>
          <p:cNvSpPr txBox="1"/>
          <p:nvPr/>
        </p:nvSpPr>
        <p:spPr>
          <a:xfrm>
            <a:off x="5943600" y="45720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4.96%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D1B0F-94E5-CAFA-3419-23AD0141C636}"/>
              </a:ext>
            </a:extLst>
          </p:cNvPr>
          <p:cNvSpPr txBox="1"/>
          <p:nvPr/>
        </p:nvSpPr>
        <p:spPr>
          <a:xfrm>
            <a:off x="5943600" y="507492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Churn rate (both sets)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57F8F-DA9B-89C5-FCC6-3E0904BB1ABF}"/>
              </a:ext>
            </a:extLst>
          </p:cNvPr>
          <p:cNvSpPr txBox="1"/>
          <p:nvPr/>
        </p:nvSpPr>
        <p:spPr>
          <a:xfrm>
            <a:off x="8503920" y="4572000"/>
            <a:ext cx="256032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208090"/>
                </a:solidFill>
                <a:latin typeface="Arial" panose="020B0604020202020204" pitchFamily="34" charset="0"/>
              </a:rPr>
              <a:t>151,704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FC0532-EF5F-0815-92C8-8BAE0133E8EC}"/>
              </a:ext>
            </a:extLst>
          </p:cNvPr>
          <p:cNvSpPr txBox="1"/>
          <p:nvPr/>
        </p:nvSpPr>
        <p:spPr>
          <a:xfrm>
            <a:off x="8503920" y="5074920"/>
            <a:ext cx="25603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Post-ADASYN train (tree)</a:t>
            </a:r>
          </a:p>
        </p:txBody>
      </p:sp>
    </p:spTree>
    <p:extLst>
      <p:ext uri="{BB962C8B-B14F-4D97-AF65-F5344CB8AC3E}">
        <p14:creationId xmlns:p14="http://schemas.microsoft.com/office/powerpoint/2010/main" val="1488597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7BAF88-FCCF-4678-0D45-7C618ED9D3CB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600" b="1" dirty="0">
                <a:solidFill>
                  <a:srgbClr val="F08248"/>
                </a:solidFill>
                <a:latin typeface="Arial" panose="020B0604020202020204" pitchFamily="34" charset="0"/>
              </a:rPr>
              <a:t>0</a:t>
            </a:r>
            <a:r>
              <a:rPr lang="en-PH" sz="9600" b="1" dirty="0">
                <a:solidFill>
                  <a:srgbClr val="F08248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D9FF78-C330-8249-389E-4763E824311E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D853D-0794-F298-FBA0-24A85913F679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Model Development &amp;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8F286-8B1C-2303-1E4D-F35BF55C4897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LR  |  EBM  |  </a:t>
            </a:r>
            <a:r>
              <a:rPr lang="en-US" dirty="0" err="1">
                <a:solidFill>
                  <a:srgbClr val="C8DCFC"/>
                </a:solidFill>
                <a:latin typeface="Arial" panose="020B0604020202020204" pitchFamily="34" charset="0"/>
              </a:rPr>
              <a:t>XGBoost</a:t>
            </a:r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  - tuned, evaluated, compared on same test set</a:t>
            </a:r>
            <a:endParaRPr lang="en-PH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69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903950-0BDA-7657-53AB-2EBA20A7E2F6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0DF42-B7AF-59E2-D1A2-8015129A5F1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5.0  Model Selection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0636C-E2F6-C0BC-31DC-C78E8A56CAEA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Three models which consider interpretability and prediction power.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328B0F-57AF-0DED-8A97-43684E9B24D4}"/>
              </a:ext>
            </a:extLst>
          </p:cNvPr>
          <p:cNvSpPr/>
          <p:nvPr/>
        </p:nvSpPr>
        <p:spPr>
          <a:xfrm>
            <a:off x="7315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32CBE-F1AA-3F36-22E1-BFE76F148D78}"/>
              </a:ext>
            </a:extLst>
          </p:cNvPr>
          <p:cNvSpPr/>
          <p:nvPr/>
        </p:nvSpPr>
        <p:spPr>
          <a:xfrm>
            <a:off x="731520" y="1554480"/>
            <a:ext cx="33832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B0F35-AAE6-42F9-2470-F8946D2E0531}"/>
              </a:ext>
            </a:extLst>
          </p:cNvPr>
          <p:cNvSpPr txBox="1"/>
          <p:nvPr/>
        </p:nvSpPr>
        <p:spPr>
          <a:xfrm>
            <a:off x="10058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CC706-8807-26FE-F0E6-EAAFB388EFA3}"/>
              </a:ext>
            </a:extLst>
          </p:cNvPr>
          <p:cNvSpPr txBox="1"/>
          <p:nvPr/>
        </p:nvSpPr>
        <p:spPr>
          <a:xfrm>
            <a:off x="10058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Interpretability Anchor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FD4E5-305A-74D2-EC2A-71AEEB823DDA}"/>
              </a:ext>
            </a:extLst>
          </p:cNvPr>
          <p:cNvSpPr txBox="1"/>
          <p:nvPr/>
        </p:nvSpPr>
        <p:spPr>
          <a:xfrm>
            <a:off x="10058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SMOTE inside imblearn pipeline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GridSearchCV (C, penalty, solver)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Optimized for Recall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6 assumptions checked: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Binary, Independent, VIF,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Box-Tidwell, Outliers, EPV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4B62C6-8097-C187-ABD5-7B7D5DF38921}"/>
              </a:ext>
            </a:extLst>
          </p:cNvPr>
          <p:cNvSpPr/>
          <p:nvPr/>
        </p:nvSpPr>
        <p:spPr>
          <a:xfrm>
            <a:off x="43891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777E81-53C0-42C7-3344-1A7098AB1AA3}"/>
              </a:ext>
            </a:extLst>
          </p:cNvPr>
          <p:cNvSpPr/>
          <p:nvPr/>
        </p:nvSpPr>
        <p:spPr>
          <a:xfrm>
            <a:off x="4389120" y="1554480"/>
            <a:ext cx="338328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FACEE-973A-000C-6CB1-1453EDEEF78B}"/>
              </a:ext>
            </a:extLst>
          </p:cNvPr>
          <p:cNvSpPr txBox="1"/>
          <p:nvPr/>
        </p:nvSpPr>
        <p:spPr>
          <a:xfrm>
            <a:off x="46634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EBM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BF053-209D-ADF9-238E-5460C98AB3AF}"/>
              </a:ext>
            </a:extLst>
          </p:cNvPr>
          <p:cNvSpPr txBox="1"/>
          <p:nvPr/>
        </p:nvSpPr>
        <p:spPr>
          <a:xfrm>
            <a:off x="46634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Glass-Box Bridge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5D0998-BDCC-3D50-555A-28478A82A018}"/>
              </a:ext>
            </a:extLst>
          </p:cNvPr>
          <p:cNvSpPr txBox="1"/>
          <p:nvPr/>
        </p:nvSpPr>
        <p:spPr>
          <a:xfrm>
            <a:off x="46634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GAM + pairwise interactions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(Microsoft Research)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RandomizedSearchCV (100 iter)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Handles Box-Tidwell violations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Per-feature shape functions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Best CV AUC: 0.5414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362053-81B2-C67B-4064-4709CA14EA1D}"/>
              </a:ext>
            </a:extLst>
          </p:cNvPr>
          <p:cNvSpPr/>
          <p:nvPr/>
        </p:nvSpPr>
        <p:spPr>
          <a:xfrm>
            <a:off x="80467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D2BFE8-99FD-3012-9873-69B99E204084}"/>
              </a:ext>
            </a:extLst>
          </p:cNvPr>
          <p:cNvSpPr/>
          <p:nvPr/>
        </p:nvSpPr>
        <p:spPr>
          <a:xfrm>
            <a:off x="8046720" y="1554480"/>
            <a:ext cx="338328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E7B20-8AD1-E6BF-37F0-5A30A73CE787}"/>
              </a:ext>
            </a:extLst>
          </p:cNvPr>
          <p:cNvSpPr txBox="1"/>
          <p:nvPr/>
        </p:nvSpPr>
        <p:spPr>
          <a:xfrm>
            <a:off x="83210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XGBoost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3CB1E0-9291-59FD-B760-2BEF83E0E105}"/>
              </a:ext>
            </a:extLst>
          </p:cNvPr>
          <p:cNvSpPr txBox="1"/>
          <p:nvPr/>
        </p:nvSpPr>
        <p:spPr>
          <a:xfrm>
            <a:off x="83210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Performance Ceiling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BBF361-41FD-AAAE-844F-C489E9E1A1C7}"/>
              </a:ext>
            </a:extLst>
          </p:cNvPr>
          <p:cNvSpPr txBox="1"/>
          <p:nvPr/>
        </p:nvSpPr>
        <p:spPr>
          <a:xfrm>
            <a:off x="83210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RandomizedSearchCV (60 iter)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scale_pos_weight = 19.16</a:t>
            </a:r>
          </a:p>
          <a:p>
            <a:endParaRPr lang="en-US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All 6 engineered features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ADASYN-balanced training</a:t>
            </a:r>
          </a:p>
          <a:p>
            <a:endParaRPr lang="en-US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max_depth=3, lr=0.01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Best CV Recall: 0.1932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AFC20C-676B-DB6D-CDF8-25915C27EF82}"/>
              </a:ext>
            </a:extLst>
          </p:cNvPr>
          <p:cNvSpPr/>
          <p:nvPr/>
        </p:nvSpPr>
        <p:spPr>
          <a:xfrm>
            <a:off x="731520" y="594360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C7293-4B6B-3564-C290-47CBF59B5D86}"/>
              </a:ext>
            </a:extLst>
          </p:cNvPr>
          <p:cNvSpPr txBox="1"/>
          <p:nvPr/>
        </p:nvSpPr>
        <p:spPr>
          <a:xfrm>
            <a:off x="1097280" y="6007608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Primary: PR-AUC (imbalance-aware)  |  Secondary: F2-Score (Recall-weighted)  |  Business: missed churner &gt; false alarm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005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213357-26D8-1D03-B1E8-42C065F0AD6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6A5F2-09BF-6BF9-957C-FEC3BFAD0B43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5.1.  Individual Model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DC72A-304C-278B-C36D-7C23DB706B1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All models evaluated at F2-optimal thresholds on the same held-out test set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C4E9F8-EB1B-2023-E5A9-4DF71BFFB394}"/>
              </a:ext>
            </a:extLst>
          </p:cNvPr>
          <p:cNvSpPr/>
          <p:nvPr/>
        </p:nvSpPr>
        <p:spPr>
          <a:xfrm>
            <a:off x="73152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0EB6BC-14CD-C01D-8C18-9655F24EB9E1}"/>
              </a:ext>
            </a:extLst>
          </p:cNvPr>
          <p:cNvSpPr/>
          <p:nvPr/>
        </p:nvSpPr>
        <p:spPr>
          <a:xfrm>
            <a:off x="731520" y="1463040"/>
            <a:ext cx="347472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7E8E6-C62F-4D55-CD7A-0AD1971C878F}"/>
              </a:ext>
            </a:extLst>
          </p:cNvPr>
          <p:cNvSpPr txBox="1"/>
          <p:nvPr/>
        </p:nvSpPr>
        <p:spPr>
          <a:xfrm>
            <a:off x="100584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3B382-6086-4CB0-C5E7-57153006BAA5}"/>
              </a:ext>
            </a:extLst>
          </p:cNvPr>
          <p:cNvSpPr txBox="1"/>
          <p:nvPr/>
        </p:nvSpPr>
        <p:spPr>
          <a:xfrm>
            <a:off x="100584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4A177A-4A53-2355-7E22-DC1BF265C059}"/>
              </a:ext>
            </a:extLst>
          </p:cNvPr>
          <p:cNvSpPr txBox="1"/>
          <p:nvPr/>
        </p:nvSpPr>
        <p:spPr>
          <a:xfrm>
            <a:off x="100584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0.0495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4367F3-BF07-F679-0081-8DC5C62389DC}"/>
              </a:ext>
            </a:extLst>
          </p:cNvPr>
          <p:cNvSpPr/>
          <p:nvPr/>
        </p:nvSpPr>
        <p:spPr>
          <a:xfrm>
            <a:off x="118872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597AB4-0D2F-F7F9-4989-6983634EED76}"/>
              </a:ext>
            </a:extLst>
          </p:cNvPr>
          <p:cNvSpPr txBox="1"/>
          <p:nvPr/>
        </p:nvSpPr>
        <p:spPr>
          <a:xfrm>
            <a:off x="100584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2A874-573F-ACE9-963B-DCCD3A50613E}"/>
              </a:ext>
            </a:extLst>
          </p:cNvPr>
          <p:cNvSpPr txBox="1"/>
          <p:nvPr/>
        </p:nvSpPr>
        <p:spPr>
          <a:xfrm>
            <a:off x="237744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~0.50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DA656F-8A88-B5B0-5C46-133CF0738BAC}"/>
              </a:ext>
            </a:extLst>
          </p:cNvPr>
          <p:cNvSpPr txBox="1"/>
          <p:nvPr/>
        </p:nvSpPr>
        <p:spPr>
          <a:xfrm>
            <a:off x="100584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EA09E3-DA5A-D3F4-ECBC-BC27331BEAEE}"/>
              </a:ext>
            </a:extLst>
          </p:cNvPr>
          <p:cNvSpPr txBox="1"/>
          <p:nvPr/>
        </p:nvSpPr>
        <p:spPr>
          <a:xfrm>
            <a:off x="237744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B4C661-9952-D159-1A45-545D37B1A147}"/>
              </a:ext>
            </a:extLst>
          </p:cNvPr>
          <p:cNvSpPr txBox="1"/>
          <p:nvPr/>
        </p:nvSpPr>
        <p:spPr>
          <a:xfrm>
            <a:off x="100584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CA5606-32AD-54C3-9F55-0F7663A3AF41}"/>
              </a:ext>
            </a:extLst>
          </p:cNvPr>
          <p:cNvSpPr txBox="1"/>
          <p:nvPr/>
        </p:nvSpPr>
        <p:spPr>
          <a:xfrm>
            <a:off x="237744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0FF990-5611-6F3C-5D32-46CC0783DA4C}"/>
              </a:ext>
            </a:extLst>
          </p:cNvPr>
          <p:cNvSpPr txBox="1"/>
          <p:nvPr/>
        </p:nvSpPr>
        <p:spPr>
          <a:xfrm>
            <a:off x="100584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2048CC-203C-1E9C-F3BC-090365013FFD}"/>
              </a:ext>
            </a:extLst>
          </p:cNvPr>
          <p:cNvSpPr/>
          <p:nvPr/>
        </p:nvSpPr>
        <p:spPr>
          <a:xfrm>
            <a:off x="448056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3D6861-80BE-4C4C-80DF-0E852FC3BAC9}"/>
              </a:ext>
            </a:extLst>
          </p:cNvPr>
          <p:cNvSpPr/>
          <p:nvPr/>
        </p:nvSpPr>
        <p:spPr>
          <a:xfrm>
            <a:off x="4480560" y="1463040"/>
            <a:ext cx="347472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8C7FF4-FC03-32B3-05E1-56A4BFC2C058}"/>
              </a:ext>
            </a:extLst>
          </p:cNvPr>
          <p:cNvSpPr txBox="1"/>
          <p:nvPr/>
        </p:nvSpPr>
        <p:spPr>
          <a:xfrm>
            <a:off x="475488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EBM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4B76DD-93FD-4D20-F77C-BBE220CA1F3A}"/>
              </a:ext>
            </a:extLst>
          </p:cNvPr>
          <p:cNvSpPr txBox="1"/>
          <p:nvPr/>
        </p:nvSpPr>
        <p:spPr>
          <a:xfrm>
            <a:off x="475488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8890B8-4473-A924-3C44-747A7A330865}"/>
              </a:ext>
            </a:extLst>
          </p:cNvPr>
          <p:cNvSpPr txBox="1"/>
          <p:nvPr/>
        </p:nvSpPr>
        <p:spPr>
          <a:xfrm>
            <a:off x="475488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0.0485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3ABCE0-8736-9AF3-8DA4-57F68348E0A8}"/>
              </a:ext>
            </a:extLst>
          </p:cNvPr>
          <p:cNvSpPr/>
          <p:nvPr/>
        </p:nvSpPr>
        <p:spPr>
          <a:xfrm>
            <a:off x="493776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5B361E-9307-AB5D-A904-4FEC1C0E7551}"/>
              </a:ext>
            </a:extLst>
          </p:cNvPr>
          <p:cNvSpPr txBox="1"/>
          <p:nvPr/>
        </p:nvSpPr>
        <p:spPr>
          <a:xfrm>
            <a:off x="475488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767738-87A8-8C0D-77EA-9481F4457971}"/>
              </a:ext>
            </a:extLst>
          </p:cNvPr>
          <p:cNvSpPr txBox="1"/>
          <p:nvPr/>
        </p:nvSpPr>
        <p:spPr>
          <a:xfrm>
            <a:off x="612648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0.495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116C7F-69BF-F91A-AEBD-CDD23E9730CD}"/>
              </a:ext>
            </a:extLst>
          </p:cNvPr>
          <p:cNvSpPr txBox="1"/>
          <p:nvPr/>
        </p:nvSpPr>
        <p:spPr>
          <a:xfrm>
            <a:off x="475488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0F98C-FBA5-81A2-8130-7618E24C228C}"/>
              </a:ext>
            </a:extLst>
          </p:cNvPr>
          <p:cNvSpPr txBox="1"/>
          <p:nvPr/>
        </p:nvSpPr>
        <p:spPr>
          <a:xfrm>
            <a:off x="612648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089B3E-3B55-73BB-C185-03DEDB9CBA15}"/>
              </a:ext>
            </a:extLst>
          </p:cNvPr>
          <p:cNvSpPr txBox="1"/>
          <p:nvPr/>
        </p:nvSpPr>
        <p:spPr>
          <a:xfrm>
            <a:off x="475488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C37AF4-155D-703F-291C-0C712C990187}"/>
              </a:ext>
            </a:extLst>
          </p:cNvPr>
          <p:cNvSpPr txBox="1"/>
          <p:nvPr/>
        </p:nvSpPr>
        <p:spPr>
          <a:xfrm>
            <a:off x="612648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F6E8E2-2687-C5ED-B6FC-C22B013E487C}"/>
              </a:ext>
            </a:extLst>
          </p:cNvPr>
          <p:cNvSpPr txBox="1"/>
          <p:nvPr/>
        </p:nvSpPr>
        <p:spPr>
          <a:xfrm>
            <a:off x="475488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2458CF-E881-6ED1-168F-C902C2B1212D}"/>
              </a:ext>
            </a:extLst>
          </p:cNvPr>
          <p:cNvSpPr/>
          <p:nvPr/>
        </p:nvSpPr>
        <p:spPr>
          <a:xfrm>
            <a:off x="822960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3ACA2C-1368-2B74-9907-0119C45A7F56}"/>
              </a:ext>
            </a:extLst>
          </p:cNvPr>
          <p:cNvSpPr/>
          <p:nvPr/>
        </p:nvSpPr>
        <p:spPr>
          <a:xfrm>
            <a:off x="8229600" y="1463040"/>
            <a:ext cx="347472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F5500E-96FD-2ADA-778F-43B198924C5E}"/>
              </a:ext>
            </a:extLst>
          </p:cNvPr>
          <p:cNvSpPr txBox="1"/>
          <p:nvPr/>
        </p:nvSpPr>
        <p:spPr>
          <a:xfrm>
            <a:off x="850392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XGBoost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441432-C456-8CE5-E86F-58C30F323CE2}"/>
              </a:ext>
            </a:extLst>
          </p:cNvPr>
          <p:cNvSpPr txBox="1"/>
          <p:nvPr/>
        </p:nvSpPr>
        <p:spPr>
          <a:xfrm>
            <a:off x="850392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03E933-0136-DFFF-1D3F-F9FF8FC50B42}"/>
              </a:ext>
            </a:extLst>
          </p:cNvPr>
          <p:cNvSpPr txBox="1"/>
          <p:nvPr/>
        </p:nvSpPr>
        <p:spPr>
          <a:xfrm>
            <a:off x="850392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0.0494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856858-B651-41A1-7895-C34B29DB4DC2}"/>
              </a:ext>
            </a:extLst>
          </p:cNvPr>
          <p:cNvSpPr/>
          <p:nvPr/>
        </p:nvSpPr>
        <p:spPr>
          <a:xfrm>
            <a:off x="868680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5169B5-3FFC-CAAF-FEBE-9D6095D73825}"/>
              </a:ext>
            </a:extLst>
          </p:cNvPr>
          <p:cNvSpPr txBox="1"/>
          <p:nvPr/>
        </p:nvSpPr>
        <p:spPr>
          <a:xfrm>
            <a:off x="850392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EC2E5A-7B7B-58CA-6A93-F7FAECEF30FA}"/>
              </a:ext>
            </a:extLst>
          </p:cNvPr>
          <p:cNvSpPr txBox="1"/>
          <p:nvPr/>
        </p:nvSpPr>
        <p:spPr>
          <a:xfrm>
            <a:off x="987552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0.502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575AEB-CD6A-C98A-0295-D21EB1AC365D}"/>
              </a:ext>
            </a:extLst>
          </p:cNvPr>
          <p:cNvSpPr txBox="1"/>
          <p:nvPr/>
        </p:nvSpPr>
        <p:spPr>
          <a:xfrm>
            <a:off x="850392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0D150F-2BBA-A196-84BF-8DF4C1451A29}"/>
              </a:ext>
            </a:extLst>
          </p:cNvPr>
          <p:cNvSpPr txBox="1"/>
          <p:nvPr/>
        </p:nvSpPr>
        <p:spPr>
          <a:xfrm>
            <a:off x="987552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1DFF0D-A995-A834-4C4F-ECE06D526DD8}"/>
              </a:ext>
            </a:extLst>
          </p:cNvPr>
          <p:cNvSpPr txBox="1"/>
          <p:nvPr/>
        </p:nvSpPr>
        <p:spPr>
          <a:xfrm>
            <a:off x="850392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D303F-0B5B-EA5A-A961-80BB5DEB3640}"/>
              </a:ext>
            </a:extLst>
          </p:cNvPr>
          <p:cNvSpPr txBox="1"/>
          <p:nvPr/>
        </p:nvSpPr>
        <p:spPr>
          <a:xfrm>
            <a:off x="987552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BC57B1-6989-79FE-3D04-8AEC59E6F9C8}"/>
              </a:ext>
            </a:extLst>
          </p:cNvPr>
          <p:cNvSpPr txBox="1"/>
          <p:nvPr/>
        </p:nvSpPr>
        <p:spPr>
          <a:xfrm>
            <a:off x="850392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B502307-CE26-F3BD-D350-300278256AA8}"/>
              </a:ext>
            </a:extLst>
          </p:cNvPr>
          <p:cNvSpPr/>
          <p:nvPr/>
        </p:nvSpPr>
        <p:spPr>
          <a:xfrm>
            <a:off x="731520" y="5577840"/>
            <a:ext cx="106984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068E998-7EAE-8B85-DB59-893898EA175A}"/>
              </a:ext>
            </a:extLst>
          </p:cNvPr>
          <p:cNvSpPr/>
          <p:nvPr/>
        </p:nvSpPr>
        <p:spPr>
          <a:xfrm>
            <a:off x="731520" y="5577840"/>
            <a:ext cx="54864" cy="100584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644046-6EDD-47B3-472C-5779A37B7B5A}"/>
              </a:ext>
            </a:extLst>
          </p:cNvPr>
          <p:cNvSpPr txBox="1"/>
          <p:nvPr/>
        </p:nvSpPr>
        <p:spPr>
          <a:xfrm>
            <a:off x="1097280" y="56692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INTERPRETATION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43B305-8554-0A0F-2C34-34D499F53D43}"/>
              </a:ext>
            </a:extLst>
          </p:cNvPr>
          <p:cNvSpPr txBox="1"/>
          <p:nvPr/>
        </p:nvSpPr>
        <p:spPr>
          <a:xfrm>
            <a:off x="1097280" y="5989320"/>
            <a:ext cx="1005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All three models converge to PR-AUC ≈ 0.05 (random baseline for 5% churn). At F2-optimal thresholds, all predict everyone as a churner.</a:t>
            </a:r>
            <a:endParaRPr lang="en-PH" sz="13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54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9864B0-AC44-63EA-FC47-8E5048192EB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93C57-CFED-99BB-B5B8-93A86156DF14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5.2  Final Model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C5F0F-541F-768B-3C99-F011DA323FFF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Same test set  |  Same metrics  |  Same conclusion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E92ABD-4059-FD74-80E4-6935B5CCF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761461"/>
              </p:ext>
            </p:extLst>
          </p:nvPr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1248558829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82376397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4012835097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3424160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44411906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1224473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PR-AUC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Recall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Precision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Threshold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0636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Logistic Regression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0.2070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28683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EBM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0.0485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0.2070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0.17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56653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0.2069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04552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939D40-F668-A667-9F38-B2848A744B17}"/>
              </a:ext>
            </a:extLst>
          </p:cNvPr>
          <p:cNvSpPr/>
          <p:nvPr/>
        </p:nvSpPr>
        <p:spPr>
          <a:xfrm>
            <a:off x="731520" y="402336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8EDDA-E666-633F-B9B9-E80CF5B24C3B}"/>
              </a:ext>
            </a:extLst>
          </p:cNvPr>
          <p:cNvSpPr/>
          <p:nvPr/>
        </p:nvSpPr>
        <p:spPr>
          <a:xfrm>
            <a:off x="731520" y="4023360"/>
            <a:ext cx="73152" cy="2286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24A1A-4C87-BA21-47A2-8DB4D6E818B9}"/>
              </a:ext>
            </a:extLst>
          </p:cNvPr>
          <p:cNvSpPr txBox="1"/>
          <p:nvPr/>
        </p:nvSpPr>
        <p:spPr>
          <a:xfrm>
            <a:off x="1097280" y="420624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RECOMMENDED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F83384-08A5-FAC3-0230-5AC8C7F15767}"/>
              </a:ext>
            </a:extLst>
          </p:cNvPr>
          <p:cNvSpPr txBox="1"/>
          <p:nvPr/>
        </p:nvSpPr>
        <p:spPr>
          <a:xfrm>
            <a:off x="1097280" y="4572000"/>
            <a:ext cx="43891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1A2A3D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EF219-983A-9438-CA2C-6ED24BA71709}"/>
              </a:ext>
            </a:extLst>
          </p:cNvPr>
          <p:cNvSpPr txBox="1"/>
          <p:nvPr/>
        </p:nvSpPr>
        <p:spPr>
          <a:xfrm>
            <a:off x="1097280" y="5074920"/>
            <a:ext cx="438912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Best PR-AUC (0.0495) and F2 (0.2070). Simplest, most interpretable, cheapest to deploy. All models are effectively random.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3DB5BF-278C-51D3-07B6-9ADCDD4812AE}"/>
              </a:ext>
            </a:extLst>
          </p:cNvPr>
          <p:cNvSpPr/>
          <p:nvPr/>
        </p:nvSpPr>
        <p:spPr>
          <a:xfrm>
            <a:off x="6217920" y="402336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0F9B4-B1B0-01F0-4F1B-6B26FA4383DB}"/>
              </a:ext>
            </a:extLst>
          </p:cNvPr>
          <p:cNvSpPr/>
          <p:nvPr/>
        </p:nvSpPr>
        <p:spPr>
          <a:xfrm>
            <a:off x="6217920" y="4023360"/>
            <a:ext cx="73152" cy="22860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B13F6F-517C-90DD-C3F0-B23D5E0B954E}"/>
              </a:ext>
            </a:extLst>
          </p:cNvPr>
          <p:cNvSpPr txBox="1"/>
          <p:nvPr/>
        </p:nvSpPr>
        <p:spPr>
          <a:xfrm>
            <a:off x="6583680" y="420624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ROOT CAUSE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D4325-E2C3-1805-8CB2-EFD89C6C6578}"/>
              </a:ext>
            </a:extLst>
          </p:cNvPr>
          <p:cNvSpPr txBox="1"/>
          <p:nvPr/>
        </p:nvSpPr>
        <p:spPr>
          <a:xfrm>
            <a:off x="6583680" y="4572000"/>
            <a:ext cx="4572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The bottleneck is not the model but the feature set. All 13 core features show zero discriminative signal. No algorithm can learn patterns that do not exist in the data.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518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F6A1DF-B829-A648-87DE-A8F0DA021E0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4CB96-4056-0FC1-DC3C-CEEE47181EE1}"/>
              </a:ext>
            </a:extLst>
          </p:cNvPr>
          <p:cNvSpPr txBox="1"/>
          <p:nvPr/>
        </p:nvSpPr>
        <p:spPr>
          <a:xfrm>
            <a:off x="731520" y="731520"/>
            <a:ext cx="10515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SECTIONS 1–5 VERDICT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73191D-C1DC-3EC6-3D34-AABE22F3D18F}"/>
              </a:ext>
            </a:extLst>
          </p:cNvPr>
          <p:cNvSpPr/>
          <p:nvPr/>
        </p:nvSpPr>
        <p:spPr>
          <a:xfrm>
            <a:off x="731520" y="1280160"/>
            <a:ext cx="36576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80C1B-4373-5F40-BFE5-B73D50201F02}"/>
              </a:ext>
            </a:extLst>
          </p:cNvPr>
          <p:cNvSpPr txBox="1"/>
          <p:nvPr/>
        </p:nvSpPr>
        <p:spPr>
          <a:xfrm>
            <a:off x="731520" y="1645920"/>
            <a:ext cx="105156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Models don't fail because of modeling.</a:t>
            </a:r>
          </a:p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They fail because the data has no signal.</a:t>
            </a:r>
            <a:endParaRPr lang="en-PH" sz="3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861CE0-7831-2DFB-4BB0-D49F9BBFCB33}"/>
              </a:ext>
            </a:extLst>
          </p:cNvPr>
          <p:cNvSpPr/>
          <p:nvPr/>
        </p:nvSpPr>
        <p:spPr>
          <a:xfrm>
            <a:off x="7315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F0B3B2-BF0A-43AF-4578-CBB612A5BAAA}"/>
              </a:ext>
            </a:extLst>
          </p:cNvPr>
          <p:cNvSpPr/>
          <p:nvPr/>
        </p:nvSpPr>
        <p:spPr>
          <a:xfrm>
            <a:off x="731520" y="3017520"/>
            <a:ext cx="338328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FDB66F-51DE-DB33-ADA4-28A2C375DE95}"/>
              </a:ext>
            </a:extLst>
          </p:cNvPr>
          <p:cNvSpPr txBox="1"/>
          <p:nvPr/>
        </p:nvSpPr>
        <p:spPr>
          <a:xfrm>
            <a:off x="10058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STATISTICAL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68363-B9FF-4316-7C6B-3E6AF0EDB4D2}"/>
              </a:ext>
            </a:extLst>
          </p:cNvPr>
          <p:cNvSpPr txBox="1"/>
          <p:nvPr/>
        </p:nvSpPr>
        <p:spPr>
          <a:xfrm>
            <a:off x="10058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t-tests, Chi-square, correlation: p &gt; 0.05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Cohen's d &lt; 0.03 everywhere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Even engineered features: |r| &lt; 0.01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FE0D95-7C04-8546-4685-0DF2331922AA}"/>
              </a:ext>
            </a:extLst>
          </p:cNvPr>
          <p:cNvSpPr/>
          <p:nvPr/>
        </p:nvSpPr>
        <p:spPr>
          <a:xfrm>
            <a:off x="43891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D0F3B2-D5CC-A480-1AD9-C94FDB9B6670}"/>
              </a:ext>
            </a:extLst>
          </p:cNvPr>
          <p:cNvSpPr/>
          <p:nvPr/>
        </p:nvSpPr>
        <p:spPr>
          <a:xfrm>
            <a:off x="4389120" y="3017520"/>
            <a:ext cx="338328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4B7B0-9771-3C62-8E9F-F8AB9991F629}"/>
              </a:ext>
            </a:extLst>
          </p:cNvPr>
          <p:cNvSpPr txBox="1"/>
          <p:nvPr/>
        </p:nvSpPr>
        <p:spPr>
          <a:xfrm>
            <a:off x="46634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EDA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9256A7-5C98-F45B-F08F-A9BA5139B06C}"/>
              </a:ext>
            </a:extLst>
          </p:cNvPr>
          <p:cNvSpPr txBox="1"/>
          <p:nvPr/>
        </p:nvSpPr>
        <p:spPr>
          <a:xfrm>
            <a:off x="46634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Perfect overlap in all distributions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income quintiles: ~4.96%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age bands: ~4.96%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0 high-risk countries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16D278-3B32-9F71-57EF-48E34C244893}"/>
              </a:ext>
            </a:extLst>
          </p:cNvPr>
          <p:cNvSpPr/>
          <p:nvPr/>
        </p:nvSpPr>
        <p:spPr>
          <a:xfrm>
            <a:off x="80467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64FB10-60C6-E057-4C22-580F13B337F0}"/>
              </a:ext>
            </a:extLst>
          </p:cNvPr>
          <p:cNvSpPr/>
          <p:nvPr/>
        </p:nvSpPr>
        <p:spPr>
          <a:xfrm>
            <a:off x="8046720" y="3017520"/>
            <a:ext cx="338328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1851D-3885-BC7E-D70B-912394526C3F}"/>
              </a:ext>
            </a:extLst>
          </p:cNvPr>
          <p:cNvSpPr txBox="1"/>
          <p:nvPr/>
        </p:nvSpPr>
        <p:spPr>
          <a:xfrm>
            <a:off x="83210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MODELING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5426D5-1495-B0D9-82C9-7AAFB4719221}"/>
              </a:ext>
            </a:extLst>
          </p:cNvPr>
          <p:cNvSpPr txBox="1"/>
          <p:nvPr/>
        </p:nvSpPr>
        <p:spPr>
          <a:xfrm>
            <a:off x="83210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LR, EBM, XGBoost: PR-AUC ≈ 0.05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Decision Tree: AUC = 0.503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Sec 3 XGBoost: AUC = 0.499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Tuned XGBoost: AUC = 0.502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E3850F7-18D4-4701-7160-EB022670A169}"/>
              </a:ext>
            </a:extLst>
          </p:cNvPr>
          <p:cNvSpPr/>
          <p:nvPr/>
        </p:nvSpPr>
        <p:spPr>
          <a:xfrm>
            <a:off x="731520" y="5669280"/>
            <a:ext cx="10698479" cy="82296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9DAD09-5A5D-B881-1214-2C99D428E0D0}"/>
              </a:ext>
            </a:extLst>
          </p:cNvPr>
          <p:cNvSpPr txBox="1"/>
          <p:nvPr/>
        </p:nvSpPr>
        <p:spPr>
          <a:xfrm>
            <a:off x="1097280" y="5779008"/>
            <a:ext cx="10058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dirty="0">
                <a:solidFill>
                  <a:srgbClr val="E8B839"/>
                </a:solidFill>
                <a:latin typeface="Arial" panose="020B0604020202020204" pitchFamily="34" charset="0"/>
              </a:rPr>
              <a:t>We need more and better data. The production pipeline is built and ready to ingest new features at scale.</a:t>
            </a:r>
            <a:endParaRPr lang="en-PH" sz="1500" dirty="0">
              <a:solidFill>
                <a:srgbClr val="E8B83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15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3DA17B-6549-6A46-D98E-27566B01CA5F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 dirty="0">
                <a:solidFill>
                  <a:srgbClr val="F08248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C19D4F-1695-F7B3-79FD-FED9A3D8A6FB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8EE8E-7D8A-3613-5711-EBD8139EA90C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 dirty="0">
                <a:solidFill>
                  <a:srgbClr val="FFFFFF"/>
                </a:solidFill>
                <a:latin typeface="Arial" panose="020B0604020202020204" pitchFamily="34" charset="0"/>
              </a:rPr>
              <a:t>Production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EEF87-9E83-B429-B0FE-B04E2792565E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>
                <a:solidFill>
                  <a:srgbClr val="C8DCFC"/>
                </a:solidFill>
                <a:latin typeface="Arial" panose="020B0604020202020204" pitchFamily="34" charset="0"/>
              </a:rPr>
              <a:t>FastAPI  |  PSI Drift Monitoring  |  Rule-Based Recommender  |  Docker</a:t>
            </a:r>
          </a:p>
        </p:txBody>
      </p:sp>
    </p:spTree>
    <p:extLst>
      <p:ext uri="{BB962C8B-B14F-4D97-AF65-F5344CB8AC3E}">
        <p14:creationId xmlns:p14="http://schemas.microsoft.com/office/powerpoint/2010/main" val="2517775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03E017-8D81-511D-325F-0E6C7F5CE5C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E86F-D5AA-C73E-53AE-DCA068C19799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6.1  Prediction API  (Endpoints)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1DC9-A1DA-794A-BD44-28B7AF11072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 err="1">
                <a:latin typeface="Arial" panose="020B0604020202020204" pitchFamily="34" charset="0"/>
              </a:rPr>
              <a:t>FastAPI</a:t>
            </a:r>
            <a:r>
              <a:rPr lang="en-US" sz="1400" b="1" dirty="0">
                <a:latin typeface="Arial" panose="020B0604020202020204" pitchFamily="34" charset="0"/>
              </a:rPr>
              <a:t> + </a:t>
            </a:r>
            <a:r>
              <a:rPr lang="en-US" sz="1400" b="1" dirty="0" err="1">
                <a:latin typeface="Arial" panose="020B0604020202020204" pitchFamily="34" charset="0"/>
              </a:rPr>
              <a:t>Pydantic</a:t>
            </a:r>
            <a:r>
              <a:rPr lang="en-US" sz="1400" b="1" dirty="0">
                <a:latin typeface="Arial" panose="020B0604020202020204" pitchFamily="34" charset="0"/>
              </a:rPr>
              <a:t>  |  Model loaded once at startup via @asynccontextmanager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097917-1D93-9B34-879D-506ACD74C53A}"/>
              </a:ext>
            </a:extLst>
          </p:cNvPr>
          <p:cNvSpPr/>
          <p:nvPr/>
        </p:nvSpPr>
        <p:spPr>
          <a:xfrm>
            <a:off x="731520" y="146304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44AF4-BDC7-19CF-54D6-D8F7C1C8B73E}"/>
              </a:ext>
            </a:extLst>
          </p:cNvPr>
          <p:cNvSpPr/>
          <p:nvPr/>
        </p:nvSpPr>
        <p:spPr>
          <a:xfrm>
            <a:off x="731520" y="1463040"/>
            <a:ext cx="52120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BE043-A459-461F-8345-B1C6F9A823C1}"/>
              </a:ext>
            </a:extLst>
          </p:cNvPr>
          <p:cNvSpPr txBox="1"/>
          <p:nvPr/>
        </p:nvSpPr>
        <p:spPr>
          <a:xfrm>
            <a:off x="1005840" y="169164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b="1">
                <a:solidFill>
                  <a:srgbClr val="F08248"/>
                </a:solidFill>
                <a:latin typeface="Arial" panose="020B0604020202020204" pitchFamily="34" charset="0"/>
              </a:rPr>
              <a:t>/predict/single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745C9-19FF-5555-53E1-CC37D3334382}"/>
              </a:ext>
            </a:extLst>
          </p:cNvPr>
          <p:cNvSpPr txBox="1"/>
          <p:nvPr/>
        </p:nvSpPr>
        <p:spPr>
          <a:xfrm>
            <a:off x="1005840" y="2103120"/>
            <a:ext cx="46634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Input: JSON  |  11 client fields  |  Pydantic-validated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CA8F64-217D-3B45-0F9F-E83EF49E6A2F}"/>
              </a:ext>
            </a:extLst>
          </p:cNvPr>
          <p:cNvSpPr txBox="1"/>
          <p:nvPr/>
        </p:nvSpPr>
        <p:spPr>
          <a:xfrm>
            <a:off x="1005840" y="2514600"/>
            <a:ext cx="466344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attrition_probability: 0.73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attrition_flag: 1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attrition_risk_tier: "High"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top_drivers: { Credit_Utilization: -0.42, ... }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recommended_products: [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  { product: "Rewards Upgrade",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    reason: "High churn risk" }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]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4B617A-C388-105D-0233-0B2571990E6A}"/>
              </a:ext>
            </a:extLst>
          </p:cNvPr>
          <p:cNvSpPr/>
          <p:nvPr/>
        </p:nvSpPr>
        <p:spPr>
          <a:xfrm>
            <a:off x="6217920" y="146304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0075B-D086-F08D-8590-9B1082DAFD7B}"/>
              </a:ext>
            </a:extLst>
          </p:cNvPr>
          <p:cNvSpPr/>
          <p:nvPr/>
        </p:nvSpPr>
        <p:spPr>
          <a:xfrm>
            <a:off x="6217920" y="1463040"/>
            <a:ext cx="521208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9DE6DF-F8B0-2B5D-DC07-A22821826280}"/>
              </a:ext>
            </a:extLst>
          </p:cNvPr>
          <p:cNvSpPr txBox="1"/>
          <p:nvPr/>
        </p:nvSpPr>
        <p:spPr>
          <a:xfrm>
            <a:off x="6492240" y="169164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b="1">
                <a:solidFill>
                  <a:srgbClr val="208090"/>
                </a:solidFill>
                <a:latin typeface="Arial" panose="020B0604020202020204" pitchFamily="34" charset="0"/>
              </a:rPr>
              <a:t>/predict/batch/upload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025DC-A789-BE4C-5786-3DDC9B1F0CB4}"/>
              </a:ext>
            </a:extLst>
          </p:cNvPr>
          <p:cNvSpPr txBox="1"/>
          <p:nvPr/>
        </p:nvSpPr>
        <p:spPr>
          <a:xfrm>
            <a:off x="6492240" y="2103120"/>
            <a:ext cx="46634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Input: CSV upload  |  UploadFile  |  Returns JSON array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E997D7-CEF0-E1E8-2BC8-24674F4966F8}"/>
              </a:ext>
            </a:extLst>
          </p:cNvPr>
          <p:cNvSpPr txBox="1"/>
          <p:nvPr/>
        </p:nvSpPr>
        <p:spPr>
          <a:xfrm>
            <a:off x="6492240" y="2514600"/>
            <a:ext cx="466344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Reads CSV → Pandas DataFrame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Validates all rows via schema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Runs pipeline.predict_proba()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Applies recommender per row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Returns full JSON array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Logs all predictions to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logs/predictions.csv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629B07-7B32-2076-5CC3-E06F2BCEFFDD}"/>
              </a:ext>
            </a:extLst>
          </p:cNvPr>
          <p:cNvSpPr/>
          <p:nvPr/>
        </p:nvSpPr>
        <p:spPr>
          <a:xfrm>
            <a:off x="731520" y="5486400"/>
            <a:ext cx="10698479" cy="68580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AB9D9D-967E-C394-CC0C-D3F233E8A7A4}"/>
              </a:ext>
            </a:extLst>
          </p:cNvPr>
          <p:cNvSpPr txBox="1"/>
          <p:nvPr/>
        </p:nvSpPr>
        <p:spPr>
          <a:xfrm>
            <a:off x="1097280" y="5577840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Invalid input on any field returns HTTP 422 with the exact missing/malformed field  —  zero custom validation code required.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691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2B4455-F32D-2679-8397-996ADB8ED82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5954A-6D90-BF43-D935-FAB443AF2F7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6.2  Data Drift Monitoring (PSI)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23742-C3EB-EE8B-A445-27638EB82048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 dirty="0">
                <a:latin typeface="Arial" panose="020B0604020202020204" pitchFamily="34" charset="0"/>
              </a:rPr>
              <a:t>Population Stability Index  |  SR 11-7 banking standard  |  Run weekly via scripts/monitor_drift.py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761C9D-9988-7ADB-F494-327F75DA2C16}"/>
              </a:ext>
            </a:extLst>
          </p:cNvPr>
          <p:cNvSpPr/>
          <p:nvPr/>
        </p:nvSpPr>
        <p:spPr>
          <a:xfrm>
            <a:off x="73152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B3AA20-6DC5-F590-3D51-4A3822F3204F}"/>
              </a:ext>
            </a:extLst>
          </p:cNvPr>
          <p:cNvSpPr/>
          <p:nvPr/>
        </p:nvSpPr>
        <p:spPr>
          <a:xfrm>
            <a:off x="731520" y="1463040"/>
            <a:ext cx="3474720" cy="64008"/>
          </a:xfrm>
          <a:prstGeom prst="rect">
            <a:avLst/>
          </a:prstGeom>
          <a:solidFill>
            <a:srgbClr val="59AA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BA46D-FB58-4CC0-CB34-DDDBB0EB4009}"/>
              </a:ext>
            </a:extLst>
          </p:cNvPr>
          <p:cNvSpPr txBox="1"/>
          <p:nvPr/>
        </p:nvSpPr>
        <p:spPr>
          <a:xfrm>
            <a:off x="100584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&lt; 0.10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D9C7C-0633-DB6C-FD77-6DB62A0DFFBB}"/>
              </a:ext>
            </a:extLst>
          </p:cNvPr>
          <p:cNvSpPr txBox="1"/>
          <p:nvPr/>
        </p:nvSpPr>
        <p:spPr>
          <a:xfrm>
            <a:off x="100584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59AA6D"/>
                </a:solidFill>
                <a:latin typeface="Arial" panose="020B0604020202020204" pitchFamily="34" charset="0"/>
              </a:rPr>
              <a:t>STABLE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45D54-5721-859C-D737-7DDD15424AA1}"/>
              </a:ext>
            </a:extLst>
          </p:cNvPr>
          <p:cNvSpPr txBox="1"/>
          <p:nvPr/>
        </p:nvSpPr>
        <p:spPr>
          <a:xfrm>
            <a:off x="100584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No action needed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9128A2-685A-DB1E-F532-36C643E751E8}"/>
              </a:ext>
            </a:extLst>
          </p:cNvPr>
          <p:cNvSpPr/>
          <p:nvPr/>
        </p:nvSpPr>
        <p:spPr>
          <a:xfrm>
            <a:off x="443484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91C226-E5E7-297F-8D54-6A94F2119A84}"/>
              </a:ext>
            </a:extLst>
          </p:cNvPr>
          <p:cNvSpPr/>
          <p:nvPr/>
        </p:nvSpPr>
        <p:spPr>
          <a:xfrm>
            <a:off x="4434840" y="1463040"/>
            <a:ext cx="3474720" cy="64008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6CDAF-053B-9FB6-DB72-9CA621D3A790}"/>
              </a:ext>
            </a:extLst>
          </p:cNvPr>
          <p:cNvSpPr txBox="1"/>
          <p:nvPr/>
        </p:nvSpPr>
        <p:spPr>
          <a:xfrm>
            <a:off x="470916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&lt; 0.20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9BF448-794A-A551-810A-D813A6FCDA22}"/>
              </a:ext>
            </a:extLst>
          </p:cNvPr>
          <p:cNvSpPr txBox="1"/>
          <p:nvPr/>
        </p:nvSpPr>
        <p:spPr>
          <a:xfrm>
            <a:off x="470916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B839"/>
                </a:solidFill>
                <a:latin typeface="Arial" panose="020B0604020202020204" pitchFamily="34" charset="0"/>
              </a:rPr>
              <a:t>MODERATE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A7BDB-8C61-2D14-5022-FA756248D3D2}"/>
              </a:ext>
            </a:extLst>
          </p:cNvPr>
          <p:cNvSpPr txBox="1"/>
          <p:nvPr/>
        </p:nvSpPr>
        <p:spPr>
          <a:xfrm>
            <a:off x="470916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Monitor closely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F728F6-6E5C-07EB-523B-1764F2C3FE13}"/>
              </a:ext>
            </a:extLst>
          </p:cNvPr>
          <p:cNvSpPr/>
          <p:nvPr/>
        </p:nvSpPr>
        <p:spPr>
          <a:xfrm>
            <a:off x="813816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31FEB8-4F0A-20F6-1D55-B3D1BAD4583C}"/>
              </a:ext>
            </a:extLst>
          </p:cNvPr>
          <p:cNvSpPr/>
          <p:nvPr/>
        </p:nvSpPr>
        <p:spPr>
          <a:xfrm>
            <a:off x="8138160" y="1463040"/>
            <a:ext cx="347472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64E1E8-8E47-B5EF-7123-69CEB22439A1}"/>
              </a:ext>
            </a:extLst>
          </p:cNvPr>
          <p:cNvSpPr txBox="1"/>
          <p:nvPr/>
        </p:nvSpPr>
        <p:spPr>
          <a:xfrm>
            <a:off x="841248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≥ 0.20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060AA0-AEA8-CA85-294F-53AE1E97E141}"/>
              </a:ext>
            </a:extLst>
          </p:cNvPr>
          <p:cNvSpPr txBox="1"/>
          <p:nvPr/>
        </p:nvSpPr>
        <p:spPr>
          <a:xfrm>
            <a:off x="841248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4747"/>
                </a:solidFill>
                <a:latin typeface="Arial" panose="020B0604020202020204" pitchFamily="34" charset="0"/>
              </a:rPr>
              <a:t>ALERT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839382-5EE0-AB59-4D45-5D9AA892DACE}"/>
              </a:ext>
            </a:extLst>
          </p:cNvPr>
          <p:cNvSpPr txBox="1"/>
          <p:nvPr/>
        </p:nvSpPr>
        <p:spPr>
          <a:xfrm>
            <a:off x="841248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Investigate &amp; retrain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3C506-4A63-91C7-9A67-F6E6ADC7C43A}"/>
              </a:ext>
            </a:extLst>
          </p:cNvPr>
          <p:cNvSpPr txBox="1"/>
          <p:nvPr/>
        </p:nvSpPr>
        <p:spPr>
          <a:xfrm>
            <a:off x="731520" y="342900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HOW IT WORKS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91982B-59C9-5913-2704-F2B1872C518B}"/>
              </a:ext>
            </a:extLst>
          </p:cNvPr>
          <p:cNvSpPr/>
          <p:nvPr/>
        </p:nvSpPr>
        <p:spPr>
          <a:xfrm>
            <a:off x="731520" y="3840480"/>
            <a:ext cx="1069847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25CB84-1FD7-E77A-0AFB-3F2631702AD2}"/>
              </a:ext>
            </a:extLst>
          </p:cNvPr>
          <p:cNvSpPr txBox="1"/>
          <p:nvPr/>
        </p:nvSpPr>
        <p:spPr>
          <a:xfrm>
            <a:off x="77724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1.  Serialize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8E5C71-07E1-023E-96A4-B168EAD6A129}"/>
              </a:ext>
            </a:extLst>
          </p:cNvPr>
          <p:cNvSpPr txBox="1"/>
          <p:nvPr/>
        </p:nvSpPr>
        <p:spPr>
          <a:xfrm>
            <a:off x="777240" y="4206240"/>
            <a:ext cx="246888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4B4B4B"/>
                </a:solidFill>
                <a:latin typeface="Arial" panose="020B0604020202020204" pitchFamily="34" charset="0"/>
              </a:rPr>
              <a:t>serialize_model.py saves training_profile.json</a:t>
            </a:r>
          </a:p>
          <a:p>
            <a:r>
              <a:rPr lang="en-PH" sz="1100">
                <a:solidFill>
                  <a:srgbClr val="4B4B4B"/>
                </a:solidFill>
                <a:latin typeface="Arial" panose="020B0604020202020204" pitchFamily="34" charset="0"/>
              </a:rPr>
              <a:t>(feature distributions + score dist.)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AF9C7E-9455-CF28-4D89-FF891F789414}"/>
              </a:ext>
            </a:extLst>
          </p:cNvPr>
          <p:cNvSpPr txBox="1"/>
          <p:nvPr/>
        </p:nvSpPr>
        <p:spPr>
          <a:xfrm>
            <a:off x="347472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2.  Log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EA126-074C-783B-123B-72098B7D160B}"/>
              </a:ext>
            </a:extLst>
          </p:cNvPr>
          <p:cNvSpPr txBox="1"/>
          <p:nvPr/>
        </p:nvSpPr>
        <p:spPr>
          <a:xfrm>
            <a:off x="347472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Every API prediction appended to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logs/predictions.csv with timestamp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465168-18C8-6F34-634F-56ACD144CB1D}"/>
              </a:ext>
            </a:extLst>
          </p:cNvPr>
          <p:cNvSpPr txBox="1"/>
          <p:nvPr/>
        </p:nvSpPr>
        <p:spPr>
          <a:xfrm>
            <a:off x="617220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3.  Compare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667A82-E798-9458-AF24-20A88654625E}"/>
              </a:ext>
            </a:extLst>
          </p:cNvPr>
          <p:cNvSpPr txBox="1"/>
          <p:nvPr/>
        </p:nvSpPr>
        <p:spPr>
          <a:xfrm>
            <a:off x="617220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monitor_drift.py computes PSI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per feature vs. training baseline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8A7414-029A-3FB0-0EBC-55D56CE3E308}"/>
              </a:ext>
            </a:extLst>
          </p:cNvPr>
          <p:cNvSpPr txBox="1"/>
          <p:nvPr/>
        </p:nvSpPr>
        <p:spPr>
          <a:xfrm>
            <a:off x="886968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4.  Alert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990D1F-8784-0DA8-12FA-8202703EC392}"/>
              </a:ext>
            </a:extLst>
          </p:cNvPr>
          <p:cNvSpPr txBox="1"/>
          <p:nvPr/>
        </p:nvSpPr>
        <p:spPr>
          <a:xfrm>
            <a:off x="886968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PSI ≥ 0.20 on any feature or score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triggers retraining flag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4CD0E04-987F-A052-E7E1-B354166B557B}"/>
              </a:ext>
            </a:extLst>
          </p:cNvPr>
          <p:cNvSpPr/>
          <p:nvPr/>
        </p:nvSpPr>
        <p:spPr>
          <a:xfrm>
            <a:off x="731520" y="507492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866707-5663-2A84-2ECE-0353E6AA132A}"/>
              </a:ext>
            </a:extLst>
          </p:cNvPr>
          <p:cNvSpPr txBox="1"/>
          <p:nvPr/>
        </p:nvSpPr>
        <p:spPr>
          <a:xfrm>
            <a:off x="1097280" y="5166360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Monitored:  Age  |  Income  |  CreditLimit  |  TotalTransactions  |  TotalSpend  |  Tenure  |  attrition_probability (score drift)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023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6B2EBF-67C1-EF89-B5B0-9380009EBE32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C2C05-525A-3003-B7E7-1FF983C00860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6.3  Rule-Based Recommender Engine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FB003-81BF-521C-165E-78D75B2151F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 dirty="0">
                <a:latin typeface="Arial" panose="020B0604020202020204" pitchFamily="34" charset="0"/>
              </a:rPr>
              <a:t>Post-prediction layer  |  api/recommender.py  |  Zero ML  |  Zero retraining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170263-322F-8420-9DBF-2EA258501089}"/>
              </a:ext>
            </a:extLst>
          </p:cNvPr>
          <p:cNvSpPr/>
          <p:nvPr/>
        </p:nvSpPr>
        <p:spPr>
          <a:xfrm>
            <a:off x="731520" y="1574780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98201-804D-4DA9-1416-5A233835F4D1}"/>
              </a:ext>
            </a:extLst>
          </p:cNvPr>
          <p:cNvSpPr/>
          <p:nvPr/>
        </p:nvSpPr>
        <p:spPr>
          <a:xfrm>
            <a:off x="731520" y="1574780"/>
            <a:ext cx="64008" cy="621792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6AC46-62E8-38CF-C705-A5E4D2A1F49F}"/>
              </a:ext>
            </a:extLst>
          </p:cNvPr>
          <p:cNvSpPr txBox="1"/>
          <p:nvPr/>
        </p:nvSpPr>
        <p:spPr>
          <a:xfrm>
            <a:off x="1005840" y="171194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Attrition Risk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DD147-B380-88A0-54B2-C9493E3838BC}"/>
              </a:ext>
            </a:extLst>
          </p:cNvPr>
          <p:cNvSpPr txBox="1"/>
          <p:nvPr/>
        </p:nvSpPr>
        <p:spPr>
          <a:xfrm>
            <a:off x="3200400" y="1711940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Probability ≥ 0.70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B6499-9AAD-4A8B-F9C3-DFC30745747B}"/>
              </a:ext>
            </a:extLst>
          </p:cNvPr>
          <p:cNvSpPr txBox="1"/>
          <p:nvPr/>
        </p:nvSpPr>
        <p:spPr>
          <a:xfrm>
            <a:off x="6675120" y="1711940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Rewards Upgrade  |  Retention cashback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96E4A5-A4C9-E24B-6DD1-1A670E87D69C}"/>
              </a:ext>
            </a:extLst>
          </p:cNvPr>
          <p:cNvSpPr/>
          <p:nvPr/>
        </p:nvSpPr>
        <p:spPr>
          <a:xfrm>
            <a:off x="731520" y="2324588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B0F56-31BF-53F4-129C-FAD9CC2D06C6}"/>
              </a:ext>
            </a:extLst>
          </p:cNvPr>
          <p:cNvSpPr/>
          <p:nvPr/>
        </p:nvSpPr>
        <p:spPr>
          <a:xfrm>
            <a:off x="731520" y="2324588"/>
            <a:ext cx="64008" cy="621792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723551-E409-D18D-5F12-E79744C7EAFD}"/>
              </a:ext>
            </a:extLst>
          </p:cNvPr>
          <p:cNvSpPr txBox="1"/>
          <p:nvPr/>
        </p:nvSpPr>
        <p:spPr>
          <a:xfrm>
            <a:off x="1005840" y="2461748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B839"/>
                </a:solidFill>
                <a:latin typeface="Arial" panose="020B0604020202020204" pitchFamily="34" charset="0"/>
              </a:rPr>
              <a:t>Card Upgrade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8BF0C4-3FD2-B5CD-D500-621BF1FAE000}"/>
              </a:ext>
            </a:extLst>
          </p:cNvPr>
          <p:cNvSpPr txBox="1"/>
          <p:nvPr/>
        </p:nvSpPr>
        <p:spPr>
          <a:xfrm>
            <a:off x="3200400" y="2461748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Income ≥ 80K + Blue/Silver card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01ACA-3ACF-2392-32D0-4549EA4E310A}"/>
              </a:ext>
            </a:extLst>
          </p:cNvPr>
          <p:cNvSpPr txBox="1"/>
          <p:nvPr/>
        </p:nvSpPr>
        <p:spPr>
          <a:xfrm>
            <a:off x="6675120" y="2461748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UnionBank Gold / Platinum Card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277226-097A-3FBC-027E-4853153D5730}"/>
              </a:ext>
            </a:extLst>
          </p:cNvPr>
          <p:cNvSpPr/>
          <p:nvPr/>
        </p:nvSpPr>
        <p:spPr>
          <a:xfrm>
            <a:off x="731520" y="3074396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27E152-EC69-4224-02FE-8D537E6A8B92}"/>
              </a:ext>
            </a:extLst>
          </p:cNvPr>
          <p:cNvSpPr/>
          <p:nvPr/>
        </p:nvSpPr>
        <p:spPr>
          <a:xfrm>
            <a:off x="731520" y="3074396"/>
            <a:ext cx="64008" cy="621792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977B1B-0AAA-2A9B-686D-90FA09AC44F9}"/>
              </a:ext>
            </a:extLst>
          </p:cNvPr>
          <p:cNvSpPr txBox="1"/>
          <p:nvPr/>
        </p:nvSpPr>
        <p:spPr>
          <a:xfrm>
            <a:off x="1005840" y="3211556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Wealth Tier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152DD6-8E9C-CF8A-A39F-95864B48F4C0}"/>
              </a:ext>
            </a:extLst>
          </p:cNvPr>
          <p:cNvSpPr txBox="1"/>
          <p:nvPr/>
        </p:nvSpPr>
        <p:spPr>
          <a:xfrm>
            <a:off x="3200400" y="3211556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Income ≥ 150K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9FEDE-8D67-73ED-04A2-3426E24BFAC6}"/>
              </a:ext>
            </a:extLst>
          </p:cNvPr>
          <p:cNvSpPr txBox="1"/>
          <p:nvPr/>
        </p:nvSpPr>
        <p:spPr>
          <a:xfrm>
            <a:off x="6675120" y="3211556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Wealth Management  |  Priority Banking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7D179A3-FF9C-7386-447D-279E1F9127CE}"/>
              </a:ext>
            </a:extLst>
          </p:cNvPr>
          <p:cNvSpPr/>
          <p:nvPr/>
        </p:nvSpPr>
        <p:spPr>
          <a:xfrm>
            <a:off x="762001" y="3824204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CCBACA-5D40-D3F0-37D3-E547756D2367}"/>
              </a:ext>
            </a:extLst>
          </p:cNvPr>
          <p:cNvSpPr/>
          <p:nvPr/>
        </p:nvSpPr>
        <p:spPr>
          <a:xfrm>
            <a:off x="731520" y="3824204"/>
            <a:ext cx="64008" cy="621792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CA049-2887-E6A4-41A6-C8DB1878602E}"/>
              </a:ext>
            </a:extLst>
          </p:cNvPr>
          <p:cNvSpPr txBox="1"/>
          <p:nvPr/>
        </p:nvSpPr>
        <p:spPr>
          <a:xfrm>
            <a:off x="1005840" y="3961364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Loyalty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316054-1676-8772-CDA0-5EBF4A6A32AF}"/>
              </a:ext>
            </a:extLst>
          </p:cNvPr>
          <p:cNvSpPr txBox="1"/>
          <p:nvPr/>
        </p:nvSpPr>
        <p:spPr>
          <a:xfrm>
            <a:off x="3200400" y="3961364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Tenure ≥ 48 months + prob ≥ 0.40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D9B879-9A12-0A4E-0498-BA873B821211}"/>
              </a:ext>
            </a:extLst>
          </p:cNvPr>
          <p:cNvSpPr txBox="1"/>
          <p:nvPr/>
        </p:nvSpPr>
        <p:spPr>
          <a:xfrm>
            <a:off x="6675120" y="3961364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Loyalty Cashback  |  Tenure reward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4FCB56E-87C8-6564-17F3-581AF02356E3}"/>
              </a:ext>
            </a:extLst>
          </p:cNvPr>
          <p:cNvSpPr/>
          <p:nvPr/>
        </p:nvSpPr>
        <p:spPr>
          <a:xfrm>
            <a:off x="731520" y="4574012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2D38AD-FB02-C039-450B-9F256D65D00F}"/>
              </a:ext>
            </a:extLst>
          </p:cNvPr>
          <p:cNvSpPr/>
          <p:nvPr/>
        </p:nvSpPr>
        <p:spPr>
          <a:xfrm>
            <a:off x="731520" y="4574012"/>
            <a:ext cx="64008" cy="621792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FD2E4F-05BE-EC4B-FC12-6084A7914144}"/>
              </a:ext>
            </a:extLst>
          </p:cNvPr>
          <p:cNvSpPr txBox="1"/>
          <p:nvPr/>
        </p:nvSpPr>
        <p:spPr>
          <a:xfrm>
            <a:off x="1005840" y="4711172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62761"/>
                </a:solidFill>
                <a:latin typeface="Arial" panose="020B0604020202020204" pitchFamily="34" charset="0"/>
              </a:rPr>
              <a:t>New Client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5EE9B-FC66-0757-6A3C-931602E5D4E0}"/>
              </a:ext>
            </a:extLst>
          </p:cNvPr>
          <p:cNvSpPr txBox="1"/>
          <p:nvPr/>
        </p:nvSpPr>
        <p:spPr>
          <a:xfrm>
            <a:off x="3200400" y="4711172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Tenure &lt; 12 months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8BB256-CC6E-B9AD-BB4F-2438160A33D9}"/>
              </a:ext>
            </a:extLst>
          </p:cNvPr>
          <p:cNvSpPr txBox="1"/>
          <p:nvPr/>
        </p:nvSpPr>
        <p:spPr>
          <a:xfrm>
            <a:off x="6675120" y="4711172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Digital Onboarding  |  UnionBank Online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F01C7-2478-9A59-CD4F-FFD72D9E7E8B}"/>
              </a:ext>
            </a:extLst>
          </p:cNvPr>
          <p:cNvSpPr txBox="1"/>
          <p:nvPr/>
        </p:nvSpPr>
        <p:spPr>
          <a:xfrm>
            <a:off x="1005840" y="1391900"/>
            <a:ext cx="201168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Rule Layer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CF9DE1-316E-AF27-EE49-92178905250E}"/>
              </a:ext>
            </a:extLst>
          </p:cNvPr>
          <p:cNvSpPr txBox="1"/>
          <p:nvPr/>
        </p:nvSpPr>
        <p:spPr>
          <a:xfrm>
            <a:off x="3200400" y="1391900"/>
            <a:ext cx="3200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Trigger Condition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74AFD9-345C-A8F2-7C61-89D55156BE90}"/>
              </a:ext>
            </a:extLst>
          </p:cNvPr>
          <p:cNvSpPr txBox="1"/>
          <p:nvPr/>
        </p:nvSpPr>
        <p:spPr>
          <a:xfrm>
            <a:off x="6675120" y="1391900"/>
            <a:ext cx="438912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Recommended Products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76BEB3-47C5-B15F-8ABB-31D0B583AB45}"/>
              </a:ext>
            </a:extLst>
          </p:cNvPr>
          <p:cNvSpPr/>
          <p:nvPr/>
        </p:nvSpPr>
        <p:spPr>
          <a:xfrm>
            <a:off x="731520" y="5643860"/>
            <a:ext cx="10698479" cy="68580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B290DB-B0F6-47BB-D828-C5A1FD1796CA}"/>
              </a:ext>
            </a:extLst>
          </p:cNvPr>
          <p:cNvSpPr txBox="1"/>
          <p:nvPr/>
        </p:nvSpPr>
        <p:spPr>
          <a:xfrm>
            <a:off x="1097280" y="5753588"/>
            <a:ext cx="1005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rgbClr val="C8DCFC"/>
                </a:solidFill>
                <a:latin typeface="Arial" panose="020B0604020202020204" pitchFamily="34" charset="0"/>
              </a:rPr>
              <a:t>Pipeline ends at probability  -&gt;  recommender reads output + raw features -&gt; New dataset ingestion capable.</a:t>
            </a:r>
            <a:endParaRPr lang="en-PH" sz="1400" b="1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493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7D6F0B-3E84-41B1-550E-06F67C2F9D6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C86A6-1461-A219-43F9-187471C20855}"/>
              </a:ext>
            </a:extLst>
          </p:cNvPr>
          <p:cNvSpPr txBox="1"/>
          <p:nvPr/>
        </p:nvSpPr>
        <p:spPr>
          <a:xfrm>
            <a:off x="838200" y="3013501"/>
            <a:ext cx="105156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4800" b="1" dirty="0">
                <a:latin typeface="Arial" panose="020B0604020202020204" pitchFamily="34" charset="0"/>
              </a:rPr>
              <a:t>Thank You.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089F56-E613-01F4-861D-00DA567581F7}"/>
              </a:ext>
            </a:extLst>
          </p:cNvPr>
          <p:cNvSpPr/>
          <p:nvPr/>
        </p:nvSpPr>
        <p:spPr>
          <a:xfrm>
            <a:off x="5044440" y="3844498"/>
            <a:ext cx="210312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883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FF1C56-5CF4-6931-A0C8-06FAE506A3C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A30B3-BF22-AC9E-38AE-5BB67619C457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Production Pipeline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54D44-6B31-F903-21B3-4B89B18FCEE6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Scalable, deployable, explainable — built and ready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3A03F1-9101-F720-16D7-8FDED387B7D0}"/>
              </a:ext>
            </a:extLst>
          </p:cNvPr>
          <p:cNvSpPr/>
          <p:nvPr/>
        </p:nvSpPr>
        <p:spPr>
          <a:xfrm>
            <a:off x="731520" y="1325880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29E4B5-88D3-2693-BCE5-4E4677CECEC9}"/>
              </a:ext>
            </a:extLst>
          </p:cNvPr>
          <p:cNvSpPr/>
          <p:nvPr/>
        </p:nvSpPr>
        <p:spPr>
          <a:xfrm>
            <a:off x="731520" y="1325880"/>
            <a:ext cx="73152" cy="8686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A3D130-2DD9-5646-8CE7-6E8DA0584B71}"/>
              </a:ext>
            </a:extLst>
          </p:cNvPr>
          <p:cNvSpPr txBox="1"/>
          <p:nvPr/>
        </p:nvSpPr>
        <p:spPr>
          <a:xfrm>
            <a:off x="1051560" y="1463040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F08248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28300-2EE7-9264-1214-22BC13C58A9E}"/>
              </a:ext>
            </a:extLst>
          </p:cNvPr>
          <p:cNvSpPr txBox="1"/>
          <p:nvPr/>
        </p:nvSpPr>
        <p:spPr>
          <a:xfrm>
            <a:off x="1828800" y="1399032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Data Ingestion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E6D80-6730-303A-C84F-0DB283AA367A}"/>
              </a:ext>
            </a:extLst>
          </p:cNvPr>
          <p:cNvSpPr txBox="1"/>
          <p:nvPr/>
        </p:nvSpPr>
        <p:spPr>
          <a:xfrm>
            <a:off x="1828800" y="1764792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FastAPI + Pydantic schemas. Auto-reject malformed rows with 422 errors.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FE7CD8-68A0-3896-9AFD-65BE49A8CDAD}"/>
              </a:ext>
            </a:extLst>
          </p:cNvPr>
          <p:cNvSpPr/>
          <p:nvPr/>
        </p:nvSpPr>
        <p:spPr>
          <a:xfrm>
            <a:off x="731520" y="2350008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962323-D6F2-3734-4D10-41F0A592E303}"/>
              </a:ext>
            </a:extLst>
          </p:cNvPr>
          <p:cNvSpPr/>
          <p:nvPr/>
        </p:nvSpPr>
        <p:spPr>
          <a:xfrm>
            <a:off x="731520" y="2350008"/>
            <a:ext cx="73152" cy="8686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624DB-11C8-654C-4A2B-015269EAD035}"/>
              </a:ext>
            </a:extLst>
          </p:cNvPr>
          <p:cNvSpPr txBox="1"/>
          <p:nvPr/>
        </p:nvSpPr>
        <p:spPr>
          <a:xfrm>
            <a:off x="1051560" y="2487168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20809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5910DD-4273-74B9-1DCE-DCA97C2A8E1D}"/>
              </a:ext>
            </a:extLst>
          </p:cNvPr>
          <p:cNvSpPr txBox="1"/>
          <p:nvPr/>
        </p:nvSpPr>
        <p:spPr>
          <a:xfrm>
            <a:off x="1828800" y="2423160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Batch &amp; Single Prediction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A38ED-42BC-FC6A-6A5D-52E478E50084}"/>
              </a:ext>
            </a:extLst>
          </p:cNvPr>
          <p:cNvSpPr txBox="1"/>
          <p:nvPr/>
        </p:nvSpPr>
        <p:spPr>
          <a:xfrm>
            <a:off x="1828800" y="2788920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/predict/single for real-time  |  /predict/batch with CSV upload for end-of-day runs.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7C9101-159E-E579-9284-980ACE0E20FF}"/>
              </a:ext>
            </a:extLst>
          </p:cNvPr>
          <p:cNvSpPr/>
          <p:nvPr/>
        </p:nvSpPr>
        <p:spPr>
          <a:xfrm>
            <a:off x="731520" y="3374136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B0F45-3731-4CFB-BE2D-887CCC662620}"/>
              </a:ext>
            </a:extLst>
          </p:cNvPr>
          <p:cNvSpPr/>
          <p:nvPr/>
        </p:nvSpPr>
        <p:spPr>
          <a:xfrm>
            <a:off x="731520" y="3374136"/>
            <a:ext cx="73152" cy="868680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80733D-6441-C028-34B1-5611DD155212}"/>
              </a:ext>
            </a:extLst>
          </p:cNvPr>
          <p:cNvSpPr txBox="1"/>
          <p:nvPr/>
        </p:nvSpPr>
        <p:spPr>
          <a:xfrm>
            <a:off x="1051560" y="3511296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B839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3078C1-1DBA-D153-3FBE-C9BF773B8D29}"/>
              </a:ext>
            </a:extLst>
          </p:cNvPr>
          <p:cNvSpPr txBox="1"/>
          <p:nvPr/>
        </p:nvSpPr>
        <p:spPr>
          <a:xfrm>
            <a:off x="1828800" y="3447288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Explainability Layer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77F59-8887-FB22-7DFA-A4F6F7D5D04E}"/>
              </a:ext>
            </a:extLst>
          </p:cNvPr>
          <p:cNvSpPr txBox="1"/>
          <p:nvPr/>
        </p:nvSpPr>
        <p:spPr>
          <a:xfrm>
            <a:off x="1828800" y="3813048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SHAP TreeExplainer for population-level drivers. Per-client attrition probability + top features.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3313CA-5C62-2855-AE3D-6EF623C503CF}"/>
              </a:ext>
            </a:extLst>
          </p:cNvPr>
          <p:cNvSpPr/>
          <p:nvPr/>
        </p:nvSpPr>
        <p:spPr>
          <a:xfrm>
            <a:off x="731520" y="4398264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762BCD-41BF-867A-9B05-85C13CF45C40}"/>
              </a:ext>
            </a:extLst>
          </p:cNvPr>
          <p:cNvSpPr/>
          <p:nvPr/>
        </p:nvSpPr>
        <p:spPr>
          <a:xfrm>
            <a:off x="731520" y="4398264"/>
            <a:ext cx="73152" cy="868680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82F2F7-7D9B-7B02-B8B4-06292A95A22D}"/>
              </a:ext>
            </a:extLst>
          </p:cNvPr>
          <p:cNvSpPr txBox="1"/>
          <p:nvPr/>
        </p:nvSpPr>
        <p:spPr>
          <a:xfrm>
            <a:off x="1051560" y="4535424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162761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6A7B54-3E8B-66AC-47F8-7362BD2BA287}"/>
              </a:ext>
            </a:extLst>
          </p:cNvPr>
          <p:cNvSpPr txBox="1"/>
          <p:nvPr/>
        </p:nvSpPr>
        <p:spPr>
          <a:xfrm>
            <a:off x="1828800" y="4471416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App Lifecycle &amp; State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891CFC-B1C0-8B58-DD6C-6A3124D944D6}"/>
              </a:ext>
            </a:extLst>
          </p:cNvPr>
          <p:cNvSpPr txBox="1"/>
          <p:nvPr/>
        </p:nvSpPr>
        <p:spPr>
          <a:xfrm>
            <a:off x="1828800" y="4837176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Model loaded once at startup via @asynccontextmanager. No disk I/O per request.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CEF1406-7023-ECCD-37B6-56465F164410}"/>
              </a:ext>
            </a:extLst>
          </p:cNvPr>
          <p:cNvSpPr/>
          <p:nvPr/>
        </p:nvSpPr>
        <p:spPr>
          <a:xfrm>
            <a:off x="731520" y="5422392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03ADC5-077B-5A4F-63AB-91B270E13F06}"/>
              </a:ext>
            </a:extLst>
          </p:cNvPr>
          <p:cNvSpPr/>
          <p:nvPr/>
        </p:nvSpPr>
        <p:spPr>
          <a:xfrm>
            <a:off x="731520" y="5422392"/>
            <a:ext cx="73152" cy="86868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98B2EB-D563-2C4D-5BDB-A47EE6C29F19}"/>
              </a:ext>
            </a:extLst>
          </p:cNvPr>
          <p:cNvSpPr txBox="1"/>
          <p:nvPr/>
        </p:nvSpPr>
        <p:spPr>
          <a:xfrm>
            <a:off x="1051560" y="5559552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4747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D938E6-9721-842F-C1B0-13D6BC64721B}"/>
              </a:ext>
            </a:extLst>
          </p:cNvPr>
          <p:cNvSpPr txBox="1"/>
          <p:nvPr/>
        </p:nvSpPr>
        <p:spPr>
          <a:xfrm>
            <a:off x="1828800" y="5495544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Containerized Deployment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24E774-9559-3229-76FB-C6FBC4D4FCC6}"/>
              </a:ext>
            </a:extLst>
          </p:cNvPr>
          <p:cNvSpPr txBox="1"/>
          <p:nvPr/>
        </p:nvSpPr>
        <p:spPr>
          <a:xfrm>
            <a:off x="1828800" y="5861304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Docker (python:3.10-slim) + uvicorn. Identical: local, staging, production.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5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95894-3AFC-92CA-1161-5734BB3CA727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C1A402-5F4D-83EF-0464-0ACE75B5884C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8298EA-9BD4-431C-BE56-2AA92A97F462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Model-Based Signal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4C2C2-58AE-8718-5CCC-DAE3D2B4DC71}"/>
              </a:ext>
            </a:extLst>
          </p:cNvPr>
          <p:cNvSpPr txBox="1"/>
          <p:nvPr/>
        </p:nvSpPr>
        <p:spPr>
          <a:xfrm>
            <a:off x="731520" y="2971353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Nonlinear models as confirmation of earlier EDA findings.</a:t>
            </a:r>
            <a:endParaRPr lang="en-PH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80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268643-9074-C7B9-6923-91FBF070DE4F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5DAF3-6117-76CF-530C-8042813E0F60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3.1  Setup &amp; Data Configuration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10AE62-BD50-A53B-B8BB-5F8D513E08F2}"/>
              </a:ext>
            </a:extLst>
          </p:cNvPr>
          <p:cNvSpPr/>
          <p:nvPr/>
        </p:nvSpPr>
        <p:spPr>
          <a:xfrm>
            <a:off x="731520" y="15544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51A3C5-18CC-05BC-473F-2A0BBE1DBFB6}"/>
              </a:ext>
            </a:extLst>
          </p:cNvPr>
          <p:cNvSpPr/>
          <p:nvPr/>
        </p:nvSpPr>
        <p:spPr>
          <a:xfrm>
            <a:off x="731520" y="1554480"/>
            <a:ext cx="54864" cy="41148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327DA-0FA5-D5C6-5404-A70D7B861137}"/>
              </a:ext>
            </a:extLst>
          </p:cNvPr>
          <p:cNvSpPr txBox="1"/>
          <p:nvPr/>
        </p:nvSpPr>
        <p:spPr>
          <a:xfrm>
            <a:off x="1097280" y="1737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7C690-D1E8-8174-AFD7-9615B9E9134B}"/>
              </a:ext>
            </a:extLst>
          </p:cNvPr>
          <p:cNvSpPr txBox="1"/>
          <p:nvPr/>
        </p:nvSpPr>
        <p:spPr>
          <a:xfrm>
            <a:off x="1097280" y="2194560"/>
            <a:ext cx="4572000" cy="224676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Full 63-column dataset (incl. Feature_0 to Feature_49)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101K raw &gt; 100K post-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dedup</a:t>
            </a:r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Churn rate: 4.96% (4,960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attrited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)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Stratified 70/30 train-test split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Decision Tree: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class_weight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='balanced'</a:t>
            </a:r>
          </a:p>
          <a:p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XGBoost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: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scale_pos_weight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 = 19.14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313B14-30B7-D315-7B6E-58A33D28EA61}"/>
              </a:ext>
            </a:extLst>
          </p:cNvPr>
          <p:cNvSpPr/>
          <p:nvPr/>
        </p:nvSpPr>
        <p:spPr>
          <a:xfrm>
            <a:off x="6400800" y="155448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E7FF16-7330-A970-4054-2504CAAAE282}"/>
              </a:ext>
            </a:extLst>
          </p:cNvPr>
          <p:cNvSpPr/>
          <p:nvPr/>
        </p:nvSpPr>
        <p:spPr>
          <a:xfrm>
            <a:off x="6400800" y="1554480"/>
            <a:ext cx="54864" cy="411480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9EEAE-53D4-AABF-042C-96244DC3C367}"/>
              </a:ext>
            </a:extLst>
          </p:cNvPr>
          <p:cNvSpPr txBox="1"/>
          <p:nvPr/>
        </p:nvSpPr>
        <p:spPr>
          <a:xfrm>
            <a:off x="6766560" y="173736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208090"/>
                </a:solidFill>
                <a:latin typeface="Arial" panose="020B0604020202020204" pitchFamily="34" charset="0"/>
              </a:rPr>
              <a:t>FEATURE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F7483-57D3-72D6-687D-296FB314CD5B}"/>
              </a:ext>
            </a:extLst>
          </p:cNvPr>
          <p:cNvSpPr txBox="1"/>
          <p:nvPr/>
        </p:nvSpPr>
        <p:spPr>
          <a:xfrm>
            <a:off x="6766560" y="2194560"/>
            <a:ext cx="4389120" cy="224676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SpendToLimit = TotalSpend / CreditLimit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TxPerTenure = TotalTransactions / Tenure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SpendPerTx = TotalSpend / TotalTransactions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log1p transforms: Income, CreditLimit, TotalSpend, TotalTransactions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Interaction terms: Age×Tenure, Income×CreditLimit</a:t>
            </a:r>
          </a:p>
        </p:txBody>
      </p:sp>
    </p:spTree>
    <p:extLst>
      <p:ext uri="{BB962C8B-B14F-4D97-AF65-F5344CB8AC3E}">
        <p14:creationId xmlns:p14="http://schemas.microsoft.com/office/powerpoint/2010/main" val="1312101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AF3DCA-468F-E99C-99D5-B14397DEC98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F3F90-4D50-A4E0-0996-E7D591E80682}"/>
              </a:ext>
            </a:extLst>
          </p:cNvPr>
          <p:cNvSpPr txBox="1"/>
          <p:nvPr/>
        </p:nvSpPr>
        <p:spPr>
          <a:xfrm>
            <a:off x="731520" y="76965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3.2  Shallow Decision Tree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8AE187-BC7C-DD08-A752-715B0778C7CD}"/>
              </a:ext>
            </a:extLst>
          </p:cNvPr>
          <p:cNvSpPr/>
          <p:nvPr/>
        </p:nvSpPr>
        <p:spPr>
          <a:xfrm>
            <a:off x="73152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5D9E5-90AB-5165-B12F-C8034F92254E}"/>
              </a:ext>
            </a:extLst>
          </p:cNvPr>
          <p:cNvSpPr txBox="1"/>
          <p:nvPr/>
        </p:nvSpPr>
        <p:spPr>
          <a:xfrm>
            <a:off x="100584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24E11-AA40-7DD8-7F41-2142FBEBEC67}"/>
              </a:ext>
            </a:extLst>
          </p:cNvPr>
          <p:cNvSpPr txBox="1"/>
          <p:nvPr/>
        </p:nvSpPr>
        <p:spPr>
          <a:xfrm>
            <a:off x="100584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AUC 0.489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D415E-D4E6-8CC5-AE70-9654B94839B0}"/>
              </a:ext>
            </a:extLst>
          </p:cNvPr>
          <p:cNvSpPr txBox="1"/>
          <p:nvPr/>
        </p:nvSpPr>
        <p:spPr>
          <a:xfrm>
            <a:off x="100584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Below random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8B482F-693D-9DF5-BF55-D2FDAF1C5E6A}"/>
              </a:ext>
            </a:extLst>
          </p:cNvPr>
          <p:cNvSpPr/>
          <p:nvPr/>
        </p:nvSpPr>
        <p:spPr>
          <a:xfrm>
            <a:off x="443484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A3E44F-C7A5-7A91-319F-722A3FD17776}"/>
              </a:ext>
            </a:extLst>
          </p:cNvPr>
          <p:cNvSpPr txBox="1"/>
          <p:nvPr/>
        </p:nvSpPr>
        <p:spPr>
          <a:xfrm>
            <a:off x="470916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FF9D5-8584-2D24-51BE-5A2820C80992}"/>
              </a:ext>
            </a:extLst>
          </p:cNvPr>
          <p:cNvSpPr txBox="1"/>
          <p:nvPr/>
        </p:nvSpPr>
        <p:spPr>
          <a:xfrm>
            <a:off x="470916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AUC 0.496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22F1B4-EDBD-3CF9-CFF8-405D0B66EBF6}"/>
              </a:ext>
            </a:extLst>
          </p:cNvPr>
          <p:cNvSpPr txBox="1"/>
          <p:nvPr/>
        </p:nvSpPr>
        <p:spPr>
          <a:xfrm>
            <a:off x="470916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Effectively random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0226653-392D-E7D5-0BB5-CE43E8C80E88}"/>
              </a:ext>
            </a:extLst>
          </p:cNvPr>
          <p:cNvSpPr/>
          <p:nvPr/>
        </p:nvSpPr>
        <p:spPr>
          <a:xfrm>
            <a:off x="813816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6648F-DF92-3CCC-9649-5D0972AF4AE4}"/>
              </a:ext>
            </a:extLst>
          </p:cNvPr>
          <p:cNvSpPr txBox="1"/>
          <p:nvPr/>
        </p:nvSpPr>
        <p:spPr>
          <a:xfrm>
            <a:off x="841248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AB85C-B809-457E-97D5-D7970353294A}"/>
              </a:ext>
            </a:extLst>
          </p:cNvPr>
          <p:cNvSpPr txBox="1"/>
          <p:nvPr/>
        </p:nvSpPr>
        <p:spPr>
          <a:xfrm>
            <a:off x="841248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B839"/>
                </a:solidFill>
                <a:latin typeface="Arial" panose="020B0604020202020204" pitchFamily="34" charset="0"/>
              </a:rPr>
              <a:t>AUC 0.503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775A74-E63E-C049-E752-3F6A3BED1652}"/>
              </a:ext>
            </a:extLst>
          </p:cNvPr>
          <p:cNvSpPr txBox="1"/>
          <p:nvPr/>
        </p:nvSpPr>
        <p:spPr>
          <a:xfrm>
            <a:off x="841248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Best (barely)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CAF06-95F3-C90E-CE10-75134DD260F7}"/>
              </a:ext>
            </a:extLst>
          </p:cNvPr>
          <p:cNvSpPr txBox="1"/>
          <p:nvPr/>
        </p:nvSpPr>
        <p:spPr>
          <a:xfrm>
            <a:off x="731520" y="3474720"/>
            <a:ext cx="7315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A2A3D"/>
                </a:solidFill>
                <a:latin typeface="Arial" panose="020B0604020202020204" pitchFamily="34" charset="0"/>
              </a:rPr>
              <a:t>BEST TREE (DEPTH 4) — FEATURE IMPORTANCE</a:t>
            </a:r>
            <a:endParaRPr lang="en-PH" sz="15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274FC6-71C9-C1FB-D023-736514C19E46}"/>
              </a:ext>
            </a:extLst>
          </p:cNvPr>
          <p:cNvSpPr/>
          <p:nvPr/>
        </p:nvSpPr>
        <p:spPr>
          <a:xfrm>
            <a:off x="731520" y="393192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26FE63-A55C-7C71-96DF-139F4C426268}"/>
              </a:ext>
            </a:extLst>
          </p:cNvPr>
          <p:cNvSpPr/>
          <p:nvPr/>
        </p:nvSpPr>
        <p:spPr>
          <a:xfrm>
            <a:off x="731520" y="3931920"/>
            <a:ext cx="8814816" cy="4572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5445C0-5424-5A28-7A70-F737420BD8B9}"/>
              </a:ext>
            </a:extLst>
          </p:cNvPr>
          <p:cNvSpPr txBox="1"/>
          <p:nvPr/>
        </p:nvSpPr>
        <p:spPr>
          <a:xfrm>
            <a:off x="1005840" y="395935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rial" panose="020B0604020202020204" pitchFamily="34" charset="0"/>
              </a:rPr>
              <a:t>log1p_Income  82.4%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E10AE32-6A52-5D2A-94D7-0787EAD086C4}"/>
              </a:ext>
            </a:extLst>
          </p:cNvPr>
          <p:cNvSpPr/>
          <p:nvPr/>
        </p:nvSpPr>
        <p:spPr>
          <a:xfrm>
            <a:off x="731520" y="452628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24EF31-1D74-8F7C-1CBA-75662EE24D8D}"/>
              </a:ext>
            </a:extLst>
          </p:cNvPr>
          <p:cNvSpPr/>
          <p:nvPr/>
        </p:nvSpPr>
        <p:spPr>
          <a:xfrm>
            <a:off x="731520" y="4526280"/>
            <a:ext cx="1883664" cy="45720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818759-DF82-A415-294A-4BE5322656C4}"/>
              </a:ext>
            </a:extLst>
          </p:cNvPr>
          <p:cNvSpPr txBox="1"/>
          <p:nvPr/>
        </p:nvSpPr>
        <p:spPr>
          <a:xfrm>
            <a:off x="1005840" y="455371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rial" panose="020B0604020202020204" pitchFamily="34" charset="0"/>
              </a:rPr>
              <a:t>log1p_TotalSpend  17.6%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3637B65-57E0-3E12-D309-DE534285CD86}"/>
              </a:ext>
            </a:extLst>
          </p:cNvPr>
          <p:cNvSpPr/>
          <p:nvPr/>
        </p:nvSpPr>
        <p:spPr>
          <a:xfrm>
            <a:off x="731520" y="512064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C103AF-1B64-1E41-BE92-F54AC813AF96}"/>
              </a:ext>
            </a:extLst>
          </p:cNvPr>
          <p:cNvSpPr txBox="1"/>
          <p:nvPr/>
        </p:nvSpPr>
        <p:spPr>
          <a:xfrm>
            <a:off x="1005840" y="514807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9E9E9E"/>
                </a:solidFill>
                <a:latin typeface="Arial" panose="020B0604020202020204" pitchFamily="34" charset="0"/>
              </a:rPr>
              <a:t>All other features  0.0%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06FCEF5-F795-7822-6082-8F100AEFCFC0}"/>
              </a:ext>
            </a:extLst>
          </p:cNvPr>
          <p:cNvSpPr/>
          <p:nvPr/>
        </p:nvSpPr>
        <p:spPr>
          <a:xfrm>
            <a:off x="731520" y="5852160"/>
            <a:ext cx="10698479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63874A-6B51-F516-1DDF-0195BBDDE414}"/>
              </a:ext>
            </a:extLst>
          </p:cNvPr>
          <p:cNvSpPr/>
          <p:nvPr/>
        </p:nvSpPr>
        <p:spPr>
          <a:xfrm>
            <a:off x="731520" y="5852160"/>
            <a:ext cx="54864" cy="73152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388EB-0539-8DA7-2B69-5C10B0442015}"/>
              </a:ext>
            </a:extLst>
          </p:cNvPr>
          <p:cNvSpPr txBox="1"/>
          <p:nvPr/>
        </p:nvSpPr>
        <p:spPr>
          <a:xfrm>
            <a:off x="1097280" y="594360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B4B4B"/>
                </a:solidFill>
                <a:latin typeface="Arial" panose="020B0604020202020204" pitchFamily="34" charset="0"/>
              </a:rPr>
              <a:t>Best leaf: 327 customers at 1.79x lift — too small for a bank-scale retention campaign.</a:t>
            </a:r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394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C0ABC0-B700-4B85-7858-87D12CEC8778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1143E-33EF-5B6C-B8B4-0F3EE964BE65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3.3  </a:t>
            </a:r>
            <a:r>
              <a:rPr lang="en-US" sz="2800" b="1" dirty="0" err="1">
                <a:solidFill>
                  <a:srgbClr val="1A2A3D"/>
                </a:solidFill>
                <a:latin typeface="Arial" panose="020B0604020202020204" pitchFamily="34" charset="0"/>
              </a:rPr>
              <a:t>XGBoost</a:t>
            </a:r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 — Full Feature Set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12518B-59B1-4681-9E0B-BDB20F036E2B}"/>
              </a:ext>
            </a:extLst>
          </p:cNvPr>
          <p:cNvSpPr/>
          <p:nvPr/>
        </p:nvSpPr>
        <p:spPr>
          <a:xfrm>
            <a:off x="731520" y="155448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C056B-0A7A-E081-410A-4841D3929914}"/>
              </a:ext>
            </a:extLst>
          </p:cNvPr>
          <p:cNvSpPr txBox="1"/>
          <p:nvPr/>
        </p:nvSpPr>
        <p:spPr>
          <a:xfrm>
            <a:off x="914400" y="1691640"/>
            <a:ext cx="329184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>
                <a:solidFill>
                  <a:srgbClr val="9E9E9E"/>
                </a:solidFill>
                <a:latin typeface="Arial" panose="020B0604020202020204" pitchFamily="34" charset="0"/>
              </a:rPr>
              <a:t>TEST ROC-AUC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DCDA4C-824C-E4E6-1AA1-110A6332FAF9}"/>
              </a:ext>
            </a:extLst>
          </p:cNvPr>
          <p:cNvSpPr txBox="1"/>
          <p:nvPr/>
        </p:nvSpPr>
        <p:spPr>
          <a:xfrm>
            <a:off x="914400" y="2011680"/>
            <a:ext cx="329184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5600" b="1">
                <a:solidFill>
                  <a:srgbClr val="E84747"/>
                </a:solidFill>
                <a:latin typeface="Arial" panose="020B0604020202020204" pitchFamily="34" charset="0"/>
              </a:rPr>
              <a:t>0.499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304AB-E8EC-90BC-71D7-D24B782B7739}"/>
              </a:ext>
            </a:extLst>
          </p:cNvPr>
          <p:cNvSpPr txBox="1"/>
          <p:nvPr/>
        </p:nvSpPr>
        <p:spPr>
          <a:xfrm>
            <a:off x="914400" y="3017520"/>
            <a:ext cx="329184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>
                <a:solidFill>
                  <a:srgbClr val="E84747"/>
                </a:solidFill>
                <a:latin typeface="Arial" panose="020B0604020202020204" pitchFamily="34" charset="0"/>
              </a:rPr>
              <a:t>Effectively a coin flip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B60E79-79CC-0FDB-E793-7C06E2F2E80E}"/>
              </a:ext>
            </a:extLst>
          </p:cNvPr>
          <p:cNvGraphicFramePr>
            <a:graphicFrameLocks noGrp="1"/>
          </p:cNvGraphicFramePr>
          <p:nvPr/>
        </p:nvGraphicFramePr>
        <p:xfrm>
          <a:off x="4754880" y="1554480"/>
          <a:ext cx="6675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80274988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757935055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3565832998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569176858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Decile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Attrition Rate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Avg Pred Prob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Lift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07933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9 (Top)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4.79%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0.549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0.96x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397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5.05%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0.517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1.02x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3914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5.18%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0.472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1.04x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107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 (Low)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4.98%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0.354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55100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B5D71D-8DEA-2698-B47B-585FDC12F7BD}"/>
              </a:ext>
            </a:extLst>
          </p:cNvPr>
          <p:cNvSpPr/>
          <p:nvPr/>
        </p:nvSpPr>
        <p:spPr>
          <a:xfrm>
            <a:off x="731520" y="4754880"/>
            <a:ext cx="1069847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3737DB-50A4-8C48-1A29-A8EC43A4196F}"/>
              </a:ext>
            </a:extLst>
          </p:cNvPr>
          <p:cNvSpPr/>
          <p:nvPr/>
        </p:nvSpPr>
        <p:spPr>
          <a:xfrm>
            <a:off x="731520" y="4754880"/>
            <a:ext cx="54864" cy="13716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C2E2DA-FB45-4A43-079D-1DFE664CEF19}"/>
              </a:ext>
            </a:extLst>
          </p:cNvPr>
          <p:cNvSpPr txBox="1"/>
          <p:nvPr/>
        </p:nvSpPr>
        <p:spPr>
          <a:xfrm>
            <a:off x="1097280" y="4892040"/>
            <a:ext cx="10058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VERDICT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43C67-8FCD-2276-B29A-956D96ADA1B0}"/>
              </a:ext>
            </a:extLst>
          </p:cNvPr>
          <p:cNvSpPr txBox="1"/>
          <p:nvPr/>
        </p:nvSpPr>
        <p:spPr>
          <a:xfrm>
            <a:off x="1097280" y="530352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B4B4B"/>
                </a:solidFill>
                <a:latin typeface="Arial" panose="020B0604020202020204" pitchFamily="34" charset="0"/>
              </a:rPr>
              <a:t>Decile lifts oscillate between 0.94x and 1.04x — no decile meaningfully concentrates attrition. The model cannot rank customers by attrition risk.</a:t>
            </a:r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154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2E796A-56DC-16E9-5D44-D47A2A0BC67E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6DB03-3171-2C10-D4B7-7E21A9BFD3E1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1A2A3D"/>
                </a:solidFill>
                <a:latin typeface="Arial" panose="020B0604020202020204" pitchFamily="34" charset="0"/>
              </a:rPr>
              <a:t>3.4  XGBoost Feature Importance (Gain)</a:t>
            </a:r>
            <a:endParaRPr lang="en-PH" sz="28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85603-F50B-3094-1657-9B8159C31A35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9E9E9E"/>
                </a:solidFill>
                <a:latin typeface="Arial" panose="020B0604020202020204" pitchFamily="34" charset="0"/>
              </a:rPr>
              <a:t>Model latches onto high-cardinality noise and statistically insignificant features</a:t>
            </a:r>
            <a:endParaRPr lang="en-PH" sz="14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F2E5E3-EC5F-A1E2-3636-C411B39B1011}"/>
              </a:ext>
            </a:extLst>
          </p:cNvPr>
          <p:cNvSpPr txBox="1"/>
          <p:nvPr/>
        </p:nvSpPr>
        <p:spPr>
          <a:xfrm>
            <a:off x="731520" y="14356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Country_19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22502F-D18B-66F7-EA54-E6CD096AA9B9}"/>
              </a:ext>
            </a:extLst>
          </p:cNvPr>
          <p:cNvSpPr/>
          <p:nvPr/>
        </p:nvSpPr>
        <p:spPr>
          <a:xfrm>
            <a:off x="2743200" y="1417320"/>
            <a:ext cx="6400800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27862-787D-2F1B-B63F-2CB2154C56BD}"/>
              </a:ext>
            </a:extLst>
          </p:cNvPr>
          <p:cNvSpPr txBox="1"/>
          <p:nvPr/>
        </p:nvSpPr>
        <p:spPr>
          <a:xfrm>
            <a:off x="9281160" y="14356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153.9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8C62E-D130-4167-FDF3-3E3ADC7857F1}"/>
              </a:ext>
            </a:extLst>
          </p:cNvPr>
          <p:cNvSpPr txBox="1"/>
          <p:nvPr/>
        </p:nvSpPr>
        <p:spPr>
          <a:xfrm>
            <a:off x="9601200" y="14356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8F5008-9F6A-CE7B-9376-46491CB52C80}"/>
              </a:ext>
            </a:extLst>
          </p:cNvPr>
          <p:cNvSpPr txBox="1"/>
          <p:nvPr/>
        </p:nvSpPr>
        <p:spPr>
          <a:xfrm>
            <a:off x="731520" y="21214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Country_22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C0BB9D-051A-4EC2-5D99-F81DA532F8AA}"/>
              </a:ext>
            </a:extLst>
          </p:cNvPr>
          <p:cNvSpPr/>
          <p:nvPr/>
        </p:nvSpPr>
        <p:spPr>
          <a:xfrm>
            <a:off x="2743200" y="2103120"/>
            <a:ext cx="4891060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FD791-15B4-14DA-3EC4-0A8D67D1A8F0}"/>
              </a:ext>
            </a:extLst>
          </p:cNvPr>
          <p:cNvSpPr txBox="1"/>
          <p:nvPr/>
        </p:nvSpPr>
        <p:spPr>
          <a:xfrm>
            <a:off x="7771420" y="21214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117.6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FC377-66FB-5F5E-D096-32A29DE12FC4}"/>
              </a:ext>
            </a:extLst>
          </p:cNvPr>
          <p:cNvSpPr txBox="1"/>
          <p:nvPr/>
        </p:nvSpPr>
        <p:spPr>
          <a:xfrm>
            <a:off x="9601200" y="21214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F5600-8581-B54C-C045-EA7480F7CB08}"/>
              </a:ext>
            </a:extLst>
          </p:cNvPr>
          <p:cNvSpPr txBox="1"/>
          <p:nvPr/>
        </p:nvSpPr>
        <p:spPr>
          <a:xfrm>
            <a:off x="731520" y="28072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Country_15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758A682-B1CD-5A34-C52B-89F07E249811}"/>
              </a:ext>
            </a:extLst>
          </p:cNvPr>
          <p:cNvSpPr/>
          <p:nvPr/>
        </p:nvSpPr>
        <p:spPr>
          <a:xfrm>
            <a:off x="2743200" y="2788920"/>
            <a:ext cx="4849469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FEE39C-8CCE-31BB-9247-9B38F154D408}"/>
              </a:ext>
            </a:extLst>
          </p:cNvPr>
          <p:cNvSpPr txBox="1"/>
          <p:nvPr/>
        </p:nvSpPr>
        <p:spPr>
          <a:xfrm>
            <a:off x="7729829" y="28072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116.6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37872-F741-8461-1377-E3CA9C1450B9}"/>
              </a:ext>
            </a:extLst>
          </p:cNvPr>
          <p:cNvSpPr txBox="1"/>
          <p:nvPr/>
        </p:nvSpPr>
        <p:spPr>
          <a:xfrm>
            <a:off x="9601200" y="28072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00C851-5DC3-A240-F8DF-38EAEBF2FA4E}"/>
              </a:ext>
            </a:extLst>
          </p:cNvPr>
          <p:cNvSpPr txBox="1"/>
          <p:nvPr/>
        </p:nvSpPr>
        <p:spPr>
          <a:xfrm>
            <a:off x="731520" y="34930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Edu_HighSchool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8D2AE4-5977-DFBD-E6EE-397D84ABC8B0}"/>
              </a:ext>
            </a:extLst>
          </p:cNvPr>
          <p:cNvSpPr/>
          <p:nvPr/>
        </p:nvSpPr>
        <p:spPr>
          <a:xfrm>
            <a:off x="2743200" y="3474720"/>
            <a:ext cx="4774606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6E4B4-7B66-C0E3-D562-556E6F414A0D}"/>
              </a:ext>
            </a:extLst>
          </p:cNvPr>
          <p:cNvSpPr txBox="1"/>
          <p:nvPr/>
        </p:nvSpPr>
        <p:spPr>
          <a:xfrm>
            <a:off x="7654966" y="34930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114.8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4B863E-CE1C-3ACD-8AE7-CC2EF5F9A16F}"/>
              </a:ext>
            </a:extLst>
          </p:cNvPr>
          <p:cNvSpPr txBox="1"/>
          <p:nvPr/>
        </p:nvSpPr>
        <p:spPr>
          <a:xfrm>
            <a:off x="9601200" y="34930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&gt; 0.33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428388-CD17-3B86-6C7A-E9E6242048CB}"/>
              </a:ext>
            </a:extLst>
          </p:cNvPr>
          <p:cNvSpPr txBox="1"/>
          <p:nvPr/>
        </p:nvSpPr>
        <p:spPr>
          <a:xfrm>
            <a:off x="731520" y="41788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Card_Platinum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4D94AD3-5493-9D76-66D7-8E7C0808874D}"/>
              </a:ext>
            </a:extLst>
          </p:cNvPr>
          <p:cNvSpPr/>
          <p:nvPr/>
        </p:nvSpPr>
        <p:spPr>
          <a:xfrm>
            <a:off x="2743200" y="4160520"/>
            <a:ext cx="4558334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125D51-659A-0FF7-574C-0502F517DF8E}"/>
              </a:ext>
            </a:extLst>
          </p:cNvPr>
          <p:cNvSpPr txBox="1"/>
          <p:nvPr/>
        </p:nvSpPr>
        <p:spPr>
          <a:xfrm>
            <a:off x="7438694" y="41788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109.6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339303-164D-31BE-ED9F-4603409AF234}"/>
              </a:ext>
            </a:extLst>
          </p:cNvPr>
          <p:cNvSpPr txBox="1"/>
          <p:nvPr/>
        </p:nvSpPr>
        <p:spPr>
          <a:xfrm>
            <a:off x="9601200" y="41788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Marginal at best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D9ECB-3141-B573-6D26-AFE20A28ECB7}"/>
              </a:ext>
            </a:extLst>
          </p:cNvPr>
          <p:cNvSpPr txBox="1"/>
          <p:nvPr/>
        </p:nvSpPr>
        <p:spPr>
          <a:xfrm>
            <a:off x="731520" y="48646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Feature_28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883786-5B6E-FA15-AC70-A55428D14E0C}"/>
              </a:ext>
            </a:extLst>
          </p:cNvPr>
          <p:cNvSpPr/>
          <p:nvPr/>
        </p:nvSpPr>
        <p:spPr>
          <a:xfrm>
            <a:off x="2743200" y="4846320"/>
            <a:ext cx="4308790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7FADA4-143B-6A44-DC33-CB954D3FC64D}"/>
              </a:ext>
            </a:extLst>
          </p:cNvPr>
          <p:cNvSpPr txBox="1"/>
          <p:nvPr/>
        </p:nvSpPr>
        <p:spPr>
          <a:xfrm>
            <a:off x="7189150" y="48646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103.6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AA83C1-5694-1E42-7FD8-14E3F0E1F865}"/>
              </a:ext>
            </a:extLst>
          </p:cNvPr>
          <p:cNvSpPr txBox="1"/>
          <p:nvPr/>
        </p:nvSpPr>
        <p:spPr>
          <a:xfrm>
            <a:off x="9601200" y="48646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Anonymous feature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4B45DB-68FD-FE5E-9F5C-71066986CF4B}"/>
              </a:ext>
            </a:extLst>
          </p:cNvPr>
          <p:cNvSpPr txBox="1"/>
          <p:nvPr/>
        </p:nvSpPr>
        <p:spPr>
          <a:xfrm>
            <a:off x="731520" y="55504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Tenure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5E44923-8011-12FD-17DF-5F741EF2C86D}"/>
              </a:ext>
            </a:extLst>
          </p:cNvPr>
          <p:cNvSpPr/>
          <p:nvPr/>
        </p:nvSpPr>
        <p:spPr>
          <a:xfrm>
            <a:off x="2743200" y="5532120"/>
            <a:ext cx="4067565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34C9D-8F16-CA12-FCC0-F58C972FB62F}"/>
              </a:ext>
            </a:extLst>
          </p:cNvPr>
          <p:cNvSpPr txBox="1"/>
          <p:nvPr/>
        </p:nvSpPr>
        <p:spPr>
          <a:xfrm>
            <a:off x="6947926" y="55504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97.8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395999-C06A-2CB9-3860-F2D84D09843E}"/>
              </a:ext>
            </a:extLst>
          </p:cNvPr>
          <p:cNvSpPr txBox="1"/>
          <p:nvPr/>
        </p:nvSpPr>
        <p:spPr>
          <a:xfrm>
            <a:off x="9601200" y="55504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Spearman r = -0.005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F0EF9DF-1AAB-4910-D410-5BF8AF3431E1}"/>
              </a:ext>
            </a:extLst>
          </p:cNvPr>
          <p:cNvSpPr/>
          <p:nvPr/>
        </p:nvSpPr>
        <p:spPr>
          <a:xfrm>
            <a:off x="731520" y="5760720"/>
            <a:ext cx="10698479" cy="8229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748C9C-953C-0DA9-E759-9BFB50682B04}"/>
              </a:ext>
            </a:extLst>
          </p:cNvPr>
          <p:cNvSpPr txBox="1"/>
          <p:nvPr/>
        </p:nvSpPr>
        <p:spPr>
          <a:xfrm>
            <a:off x="1066647" y="6018311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Top features are country dummies (noise) and insignificant categoricals. Consistent with AUC = 0.499.</a:t>
            </a:r>
            <a:endParaRPr lang="en-PH" sz="14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9913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6079CA-902B-7E5F-DD50-A1C362B9E492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CD3BB-D1C0-19C4-A5F2-BB87FFC481F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3 (Model Validation Summary)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77BFF8-C7FB-0224-03A6-B514C77BC754}"/>
              </a:ext>
            </a:extLst>
          </p:cNvPr>
          <p:cNvSpPr/>
          <p:nvPr/>
        </p:nvSpPr>
        <p:spPr>
          <a:xfrm>
            <a:off x="52504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3A0E7-E7D3-0734-602B-3BDA1A0B6D2C}"/>
              </a:ext>
            </a:extLst>
          </p:cNvPr>
          <p:cNvSpPr txBox="1"/>
          <p:nvPr/>
        </p:nvSpPr>
        <p:spPr>
          <a:xfrm>
            <a:off x="70792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7D889-90F5-9692-BC74-228C7BE0D2FF}"/>
              </a:ext>
            </a:extLst>
          </p:cNvPr>
          <p:cNvSpPr txBox="1"/>
          <p:nvPr/>
        </p:nvSpPr>
        <p:spPr>
          <a:xfrm>
            <a:off x="70792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95798-DA6A-2DF1-567C-935D0D4EBEF7}"/>
              </a:ext>
            </a:extLst>
          </p:cNvPr>
          <p:cNvSpPr txBox="1"/>
          <p:nvPr/>
        </p:nvSpPr>
        <p:spPr>
          <a:xfrm>
            <a:off x="70792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E9234B-0034-BC4D-9F4C-1C1F731A8F31}"/>
              </a:ext>
            </a:extLst>
          </p:cNvPr>
          <p:cNvSpPr/>
          <p:nvPr/>
        </p:nvSpPr>
        <p:spPr>
          <a:xfrm>
            <a:off x="89080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E97AA-DDB9-7FFD-2ADE-00783C6A7AA4}"/>
              </a:ext>
            </a:extLst>
          </p:cNvPr>
          <p:cNvSpPr txBox="1"/>
          <p:nvPr/>
        </p:nvSpPr>
        <p:spPr>
          <a:xfrm>
            <a:off x="70792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None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01C510-298A-3E95-D528-FC8AB74E666A}"/>
              </a:ext>
            </a:extLst>
          </p:cNvPr>
          <p:cNvSpPr txBox="1"/>
          <p:nvPr/>
        </p:nvSpPr>
        <p:spPr>
          <a:xfrm>
            <a:off x="70792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Below random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B72247-5D5A-3803-5121-7636E9E104E6}"/>
              </a:ext>
            </a:extLst>
          </p:cNvPr>
          <p:cNvSpPr/>
          <p:nvPr/>
        </p:nvSpPr>
        <p:spPr>
          <a:xfrm>
            <a:off x="335968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AA7DD-8654-8457-4F68-7F32B7BBB1B3}"/>
              </a:ext>
            </a:extLst>
          </p:cNvPr>
          <p:cNvSpPr txBox="1"/>
          <p:nvPr/>
        </p:nvSpPr>
        <p:spPr>
          <a:xfrm>
            <a:off x="354256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1E890-6C4E-7DA7-9E42-B447DD0CFE87}"/>
              </a:ext>
            </a:extLst>
          </p:cNvPr>
          <p:cNvSpPr txBox="1"/>
          <p:nvPr/>
        </p:nvSpPr>
        <p:spPr>
          <a:xfrm>
            <a:off x="354256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D64196-F8A2-EDB6-D9ED-C6813C46815B}"/>
              </a:ext>
            </a:extLst>
          </p:cNvPr>
          <p:cNvSpPr txBox="1"/>
          <p:nvPr/>
        </p:nvSpPr>
        <p:spPr>
          <a:xfrm>
            <a:off x="354256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4B3EF6-D516-A4CE-3F49-9BCB01711DCD}"/>
              </a:ext>
            </a:extLst>
          </p:cNvPr>
          <p:cNvSpPr/>
          <p:nvPr/>
        </p:nvSpPr>
        <p:spPr>
          <a:xfrm>
            <a:off x="372544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7783CD-91E8-F7B0-03BA-AF856295A8BF}"/>
              </a:ext>
            </a:extLst>
          </p:cNvPr>
          <p:cNvSpPr txBox="1"/>
          <p:nvPr/>
        </p:nvSpPr>
        <p:spPr>
          <a:xfrm>
            <a:off x="354256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Marginal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5D7678-522D-C916-AEC0-524681F534F2}"/>
              </a:ext>
            </a:extLst>
          </p:cNvPr>
          <p:cNvSpPr txBox="1"/>
          <p:nvPr/>
        </p:nvSpPr>
        <p:spPr>
          <a:xfrm>
            <a:off x="354256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Effectively random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D3C3A78-03EE-02D4-AC73-1311E8C496A3}"/>
              </a:ext>
            </a:extLst>
          </p:cNvPr>
          <p:cNvSpPr/>
          <p:nvPr/>
        </p:nvSpPr>
        <p:spPr>
          <a:xfrm>
            <a:off x="619432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4EFBB8-E776-2543-C2FB-794130A5BF9F}"/>
              </a:ext>
            </a:extLst>
          </p:cNvPr>
          <p:cNvSpPr txBox="1"/>
          <p:nvPr/>
        </p:nvSpPr>
        <p:spPr>
          <a:xfrm>
            <a:off x="637720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(d=4)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B22073-2658-36D4-C7BE-B7971E86944C}"/>
              </a:ext>
            </a:extLst>
          </p:cNvPr>
          <p:cNvSpPr txBox="1"/>
          <p:nvPr/>
        </p:nvSpPr>
        <p:spPr>
          <a:xfrm>
            <a:off x="637720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0.503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7E881-E262-17B4-0EC7-2269F5CB6715}"/>
              </a:ext>
            </a:extLst>
          </p:cNvPr>
          <p:cNvSpPr txBox="1"/>
          <p:nvPr/>
        </p:nvSpPr>
        <p:spPr>
          <a:xfrm>
            <a:off x="637720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3492F7-1E1D-6D56-5899-67087F1C6240}"/>
              </a:ext>
            </a:extLst>
          </p:cNvPr>
          <p:cNvSpPr/>
          <p:nvPr/>
        </p:nvSpPr>
        <p:spPr>
          <a:xfrm>
            <a:off x="656008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A93884-5E7B-4D7D-10C7-092B64B9807B}"/>
              </a:ext>
            </a:extLst>
          </p:cNvPr>
          <p:cNvSpPr txBox="1"/>
          <p:nvPr/>
        </p:nvSpPr>
        <p:spPr>
          <a:xfrm>
            <a:off x="637720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1.79x (n=327)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AC68DE-84B9-1F3F-46D5-451DCD35959E}"/>
              </a:ext>
            </a:extLst>
          </p:cNvPr>
          <p:cNvSpPr txBox="1"/>
          <p:nvPr/>
        </p:nvSpPr>
        <p:spPr>
          <a:xfrm>
            <a:off x="637720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Leaf too small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AB1B8EC-E6AB-1867-87AC-11C4C5ABF048}"/>
              </a:ext>
            </a:extLst>
          </p:cNvPr>
          <p:cNvSpPr/>
          <p:nvPr/>
        </p:nvSpPr>
        <p:spPr>
          <a:xfrm>
            <a:off x="902896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F04AC3-E799-9246-5A2C-067DE3F00801}"/>
              </a:ext>
            </a:extLst>
          </p:cNvPr>
          <p:cNvSpPr txBox="1"/>
          <p:nvPr/>
        </p:nvSpPr>
        <p:spPr>
          <a:xfrm>
            <a:off x="921184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XGBoost (4K)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D5DF2A-2D8E-5C37-DD86-CBF3A425ECE3}"/>
              </a:ext>
            </a:extLst>
          </p:cNvPr>
          <p:cNvSpPr txBox="1"/>
          <p:nvPr/>
        </p:nvSpPr>
        <p:spPr>
          <a:xfrm>
            <a:off x="921184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C5507-5EEE-4A2D-1A42-8FFC1ED01501}"/>
              </a:ext>
            </a:extLst>
          </p:cNvPr>
          <p:cNvSpPr txBox="1"/>
          <p:nvPr/>
        </p:nvSpPr>
        <p:spPr>
          <a:xfrm>
            <a:off x="921184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C40222-7040-CD77-7242-D214A0850002}"/>
              </a:ext>
            </a:extLst>
          </p:cNvPr>
          <p:cNvSpPr/>
          <p:nvPr/>
        </p:nvSpPr>
        <p:spPr>
          <a:xfrm>
            <a:off x="939472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E53819-3FF5-53D9-38D9-C8CCC427545C}"/>
              </a:ext>
            </a:extLst>
          </p:cNvPr>
          <p:cNvSpPr txBox="1"/>
          <p:nvPr/>
        </p:nvSpPr>
        <p:spPr>
          <a:xfrm>
            <a:off x="921184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1.04x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52D5E0-A643-CA78-3647-F2881A4423FB}"/>
              </a:ext>
            </a:extLst>
          </p:cNvPr>
          <p:cNvSpPr txBox="1"/>
          <p:nvPr/>
        </p:nvSpPr>
        <p:spPr>
          <a:xfrm>
            <a:off x="921184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 usable signal</a:t>
            </a:r>
          </a:p>
        </p:txBody>
      </p:sp>
    </p:spTree>
    <p:extLst>
      <p:ext uri="{BB962C8B-B14F-4D97-AF65-F5344CB8AC3E}">
        <p14:creationId xmlns:p14="http://schemas.microsoft.com/office/powerpoint/2010/main" val="82061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3385</Words>
  <Application>Microsoft Office PowerPoint</Application>
  <PresentationFormat>Widescreen</PresentationFormat>
  <Paragraphs>741</Paragraphs>
  <Slides>39</Slides>
  <Notes>3</Notes>
  <HiddenSlides>7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Roland</dc:creator>
  <cp:lastModifiedBy>Roland</cp:lastModifiedBy>
  <cp:revision>52</cp:revision>
  <dcterms:created xsi:type="dcterms:W3CDTF">2026-03-13T13:04:16Z</dcterms:created>
  <dcterms:modified xsi:type="dcterms:W3CDTF">2026-03-13T14:28:34Z</dcterms:modified>
</cp:coreProperties>
</file>